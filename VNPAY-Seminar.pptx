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Chào mọi người, mình là Đăng. Hôm nay mình trình bày cách một hệ thống chia service tích hợp cổng thanh toán VNPAY Sandbox. Mình dùng một đơn hàng 25.000 đồng xuyên suốt bài, đi qua ba phần: tạo yêu cầu thanh toán, nhận kết quả, và kiểm tra lại giao dịch. Code demo là SeminarDemo.java, mọi người đã có trong thư mục VNPAY-demo gửi trước buổi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Bài có bảy phần. Phần đầu trả lời VNPAY là gì và vì sao cần. Phần dài nhất là tham số và code, vì mục tiêu là mọi người hiểu vì sao dữ liệu phải gửi như vậy. Cuối buổi mọi người mở code đã gửi trước và tự thử vài tình huống ngay trên máy.</a:t>
            </a:r>
          </a:p>
          <a:p>
            <a:endParaRPr lang="vi-VN"/>
          </a:p>
          <a:p>
            <a:r>
              <a:rPr lang="vi-VN" sz="1600" b="1" dirty="0"/>
              <a:t>Hỏi: Bài dựa vào tài liệu nào?</a:t>
            </a:r>
          </a:p>
          <a:p>
            <a:r>
              <a:rPr lang="vi-VN" sz="1600" dirty="0"/>
              <a:t>Đáp: Tài liệu API v2.1.0 tại sandbox.vnpayment.vn/apis/docs, và các lần mình thử trực tiếp trên sandbox.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VNPAY là cổng thanh toán. Website không nói chuyện thẳng với ngân hàng mà chuyển khách sang trang của VNPAY, VNPAY lo phần thẻ và ngân hàng rồi báo kết quả lại.</a:t>
            </a:r>
          </a:p>
          <a:p>
            <a:endParaRPr lang="vi-VN"/>
          </a:p>
          <a:p>
            <a:r>
              <a:rPr lang="vi-VN" sz="1600" dirty="0"/>
              <a:t>Sandbox là môi trường thử của VNPAY. Đăng ký xong được cấp mã merchant và HashSecret, trả bằng thẻ test nên không mất tiền thật.</a:t>
            </a:r>
          </a:p>
          <a:p>
            <a:endParaRPr lang="vi-VN"/>
          </a:p>
          <a:p>
            <a:r>
              <a:rPr lang="vi-VN" sz="1600" dirty="0"/>
              <a:t>Demo viết bằng Java 17, chỉ dùng thư viện có sẵn của JDK cộng với org.json để đọc JSON. Không cần Spring hay Maven, ai có JDK là chạy được. Muốn chạy với sandbox thật thì thêm ngrok để VNPAY gọi được vào máy mình.</a:t>
            </a:r>
          </a:p>
          <a:p>
            <a:endParaRPr lang="vi-VN"/>
          </a:p>
          <a:p>
            <a:r>
              <a:rPr lang="vi-VN" sz="1600" b="1" dirty="0"/>
              <a:t>Hỏi: Sao không dùng Spring Boot?</a:t>
            </a:r>
          </a:p>
          <a:p>
            <a:r>
              <a:rPr lang="vi-VN" sz="1600" dirty="0"/>
              <a:t>Đáp: Để cả lớp chạy được ngay, không cần tải thư viện. Phần quan trọng là luồng dữ liệu, framework nào cũng làm y vậy.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Câu hỏi đầu tiên là sao phải cần VNPAY. Nếu web tự nhận số thẻ thì phải đạt chuẩn PCI-DSS, rất tốn công. Ngân hàng cũng không cấp API cho từng website nhỏ. Cổng thanh toán đứng giữa giải quyết hai chuyện đó.</a:t>
            </a:r>
          </a:p>
          <a:p>
            <a:endParaRPr lang="vi-VN"/>
          </a:p>
          <a:p>
            <a:r>
              <a:rPr lang="vi-VN" sz="1600" dirty="0"/>
              <a:t>Phần dưới là cái mình muốn mọi người mang về. Không chỉ là VNPAY, mà là cách một service gọi dịch vụ bên ngoài: dữ liệu phải ký, kết quả tới sau qua callback, và có lúc phải tự hỏi lại.</a:t>
            </a:r>
          </a:p>
          <a:p>
            <a:endParaRPr lang="vi-VN"/>
          </a:p>
          <a:p>
            <a:r>
              <a:rPr lang="vi-VN" sz="1600" b="1" dirty="0"/>
              <a:t>Hỏi: Vậy web mình có còn phải lo bảo mật không?</a:t>
            </a:r>
          </a:p>
          <a:p>
            <a:r>
              <a:rPr lang="vi-VN" sz="1600" dirty="0"/>
              <a:t>Đáp: Vẫn phải. Web không cầm số thẻ, nhưng phải giữ HashSecret và không tin dữ liệu khách gửi lên. Phần sau nói kỹ.</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VNPAY dùng lúc web bán hàng cần nhận tiền online. Giả sử mình đặt một món giá 25.000 đồng. Bấm thanh toán thì đơn được tạo ở trạng thái PENDING, khách được chuyển sang VNPAY để trả tiền. Câu hỏi là: khi khách quay về website, đổi đơn thành PAID ngay được không? Chưa được. Server phải tự kiểm tra kết quả từ VNPAY trước. Cả bài xoay quanh câu hỏi đó.</a:t>
            </a:r>
          </a:p>
          <a:p>
            <a:endParaRPr lang="vi-VN"/>
          </a:p>
          <a:p>
            <a:r>
              <a:rPr lang="vi-VN" sz="1600" b="1" dirty="0"/>
              <a:t>Hỏi: Vì sao không tin trang quay về?</a:t>
            </a:r>
          </a:p>
          <a:p>
            <a:r>
              <a:rPr lang="vi-VN" sz="1600" dirty="0"/>
              <a:t>Đáp: Trang quay về đi qua trình duyệt của khách, khách sửa được tham số trên URL hoặc đóng tab trước khi về.</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Demo có hai service. Order Service ở cổng 8090 giữ đơn hàng và số tiền. Payment Service ở cổng 8091 lo phần thanh toán: ký dữ liệu, nhận IPN, gọi querydr. Chỉ Payment biết HashSecret và nói chuyện với VNPAY.</a:t>
            </a:r>
          </a:p>
          <a:p>
            <a:endParaRPr lang="vi-VN"/>
          </a:p>
          <a:p>
            <a:r>
              <a:rPr lang="vi-VN" sz="1600" dirty="0"/>
              <a:t>Tách như vậy để Order không phải biết gì về VNPAY. Order chỉ thấy ba trạng thái PENDING, PAID, FAILED. Mai mốt đổi sang MoMo thì chỉ sửa Payment.</a:t>
            </a:r>
          </a:p>
          <a:p>
            <a:endParaRPr lang="vi-VN"/>
          </a:p>
          <a:p>
            <a:r>
              <a:rPr lang="vi-VN" sz="1600" dirty="0"/>
              <a:t>Để dễ chạy trong lớp, hai HTTP server nằm chung một chương trình Java. Nhưng Order không đọc map PAYMENTS, Payment không đọc map ORDERS, hai bên chỉ gọi nhau qua HTTP như hai service riêng.</a:t>
            </a:r>
          </a:p>
          <a:p>
            <a:endParaRPr lang="vi-VN"/>
          </a:p>
          <a:p>
            <a:r>
              <a:rPr lang="vi-VN" sz="1600" b="1" dirty="0"/>
              <a:t>Hỏi: Vì sao số tiền do Order quyết định?</a:t>
            </a:r>
          </a:p>
          <a:p>
            <a:r>
              <a:rPr lang="vi-VN" sz="1600" dirty="0"/>
              <a:t>Đáp: Đơn và giá nằm ở Order. Để trình duyệt gửi số tiền lên thì khách sửa được request.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hợp đồng giữa hai service, do mình tự đặt. Có ba endpoint, gửi và nhận đều là JSON.</a:t>
            </a:r>
          </a:p>
          <a:p>
            <a:endParaRPr lang="vi-VN"/>
          </a:p>
          <a:p>
            <a:r>
              <a:rPr lang="vi-VN" sz="1600" dirty="0"/>
              <a:t>Order gọi /payments để xin link thanh toán. Payment gọi /internal/result để báo kết quả đã kiểm tra xong. Order gọi /verify khi người dùng bấm Truy vấn.</a:t>
            </a:r>
          </a:p>
          <a:p>
            <a:endParaRPr lang="vi-VN"/>
          </a:p>
          <a:p>
            <a:r>
              <a:rPr lang="vi-VN" sz="1600" dirty="0"/>
              <a:t>Có ba điểm để ý. Thứ nhất, cả ba endpoint cần token trong header, nên bên ngoài không gọi thẳng vào được. Thứ hai, Order không tin hẳn Payment mà vẫn so lại số tiền. Thứ ba, /internal/result gọi lặp vẫn an toàn, vì đơn đã hết PENDING thì Order giữ nguyên. Điểm này quan trọng ở slide sự cố phía sau.</a:t>
            </a:r>
          </a:p>
          <a:p>
            <a:endParaRPr lang="vi-VN"/>
          </a:p>
          <a:p>
            <a:r>
              <a:rPr lang="vi-VN" sz="1600" b="1" dirty="0"/>
              <a:t>Hỏi: Hợp đồng nội bộ đổi thì sao?</a:t>
            </a:r>
          </a:p>
          <a:p>
            <a:r>
              <a:rPr lang="vi-VN" sz="1600" dirty="0"/>
              <a:t>Đáp: Hai service phải đổi cùng lúc. Hệ thống lớn sẽ đánh phiên bản cho API, kiểu /v1/payments.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Payment Service nói chuyện với VNPAY qua bốn kênh, cả bốn đều làm theo tài liệu VNPAY. Payment URL và ReturnURL đi qua trình duyệt của khách, gọi là front-channel. Vì là chuyển trang, trình duyệt chỉ mang dữ liệu theo link, nên dữ liệu nằm trên query string và phương thức là GET.</a:t>
            </a:r>
          </a:p>
          <a:p>
            <a:endParaRPr lang="vi-VN"/>
          </a:p>
          <a:p>
            <a:r>
              <a:rPr lang="vi-VN" sz="1600" dirty="0"/>
              <a:t>IPN và querydr là server gọi thẳng server, gọi là back-channel. IPN vẫn dùng query string và cùng cách ký, nên Payment dùng lại được hàm canonical. querydr là API riêng nên dùng POST với JSON.</a:t>
            </a:r>
          </a:p>
          <a:p>
            <a:endParaRPr lang="vi-VN"/>
          </a:p>
          <a:p>
            <a:r>
              <a:rPr lang="vi-VN" sz="1600" b="1" dirty="0"/>
              <a:t>Hỏi: Front-channel và back-channel khác nhau ở đâu?</a:t>
            </a:r>
          </a:p>
          <a:p>
            <a:r>
              <a:rPr lang="vi-VN" sz="1600" dirty="0"/>
              <a:t>Đáp: Front-channel đi qua trình duyệt, khách sửa được hoặc đóng tab giữa chừng. Back-channel thì khách không đụng tới, nên chỉ back-channel được đổi trạng thái đơn.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thứ tự request trong một lần thanh toán. Bước 1 là API nội bộ: Order gửi mã đơn và số tiền cho Payment. Bước 2 trình duyệt mở link VNPAY. Bước 3 VNPAY gọi IPN về Payment, Payment kiểm tra rồi báo cho Order. Bước 4 VNPAY đưa trình duyệt về, Payment chuyển tiếp sang trang kết quả của Order. Bước 5 là khi đơn vẫn PENDING, Payment chủ động hỏi VNPAY.</a:t>
            </a:r>
          </a:p>
          <a:p>
            <a:endParaRPr lang="vi-VN"/>
          </a:p>
          <a:p>
            <a:r>
              <a:rPr lang="vi-VN" sz="1600" dirty="0"/>
              <a:t>Nhãn bên phải cho biết request đi đường nào. Hai dòng tô xanh là hai chỗ được cập nhật trạng thái đơn, đều là server gọi server.</a:t>
            </a:r>
          </a:p>
          <a:p>
            <a:endParaRPr lang="vi-VN"/>
          </a:p>
          <a:p>
            <a:r>
              <a:rPr lang="vi-VN" sz="1600" b="1" dirty="0"/>
              <a:t>Hỏi: Bước 3 và bước 4 bước nào đến trước?</a:t>
            </a:r>
          </a:p>
          <a:p>
            <a:r>
              <a:rPr lang="vi-VN" sz="1600" dirty="0"/>
              <a:t>Đáp: Không cố định. Vì vậy trang kết quả đọc trạng thái đã lưu ở Order, không đọc kết quả trên URL.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Phần này mình gom lại mấy thứ VNPAY bắt buộc. Tài liệu chỉ ghi quy định chứ không ghi lý do, nên cột tại sao là mình tự giải thích.</a:t>
            </a:r>
          </a:p>
          <a:p>
            <a:endParaRPr lang="vi-VN"/>
          </a:p>
          <a:p>
            <a:r>
              <a:rPr lang="vi-VN" sz="1600" dirty="0"/>
              <a:t>Cái chính nhất là chuyển trang: khách nhập thẻ bên VNPAY, nên web mình không bao giờ cầm số thẻ. Mấy cái còn lại chủ yếu để hai bên hiểu dữ liệu giống nhau: tiền là số nguyên, giờ cùng một định dạng, mã đơn không trùng.</a:t>
            </a:r>
          </a:p>
          <a:p>
            <a:endParaRPr lang="vi-VN"/>
          </a:p>
          <a:p>
            <a:r>
              <a:rPr lang="vi-VN" sz="1600" b="1" dirty="0"/>
              <a:t>Hỏi: Sao không cho web tự gửi số thẻ qua API cho nhanh?</a:t>
            </a:r>
          </a:p>
          <a:p>
            <a:r>
              <a:rPr lang="vi-VN" sz="1600" dirty="0"/>
              <a:t>Đáp: Web nào cầm số thẻ thì phải đạt chuẩn PCI-DSS. Để khách nhập bên VNPAY thì chỉ VNPAY phải lo phần đó.</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Chữ ký là chỗ VNPAY bắt chặt nhất. Mình với VNPAY cùng giữ một key bí mật. Mình ghép dữ liệu thành chuỗi rồi băm bằng key đó, VNPAY làm y chang rồi so. Ai sửa số tiền trên URL thì chữ ký không khớp nữa.</a:t>
            </a:r>
          </a:p>
          <a:p>
            <a:endParaRPr lang="vi-VN"/>
          </a:p>
          <a:p>
            <a:r>
              <a:rPr lang="vi-VN" sz="1600" dirty="0"/>
              <a:t>Sắp xếp với encode là để hai bên ghép ra đúng cùng một chuỗi. Mình đã thử bỏ từng bước, bước nào cũng bị báo sai chữ ký.</a:t>
            </a:r>
          </a:p>
          <a:p>
            <a:endParaRPr lang="vi-VN"/>
          </a:p>
          <a:p>
            <a:r>
              <a:rPr lang="vi-VN" sz="1600" b="1" dirty="0"/>
              <a:t>Hỏi: Chữ ký có giấu được số tiền không?</a:t>
            </a:r>
          </a:p>
          <a:p>
            <a:r>
              <a:rPr lang="vi-VN" sz="1600" dirty="0"/>
              <a:t>Đáp: Không, số tiền vẫn đọc được trên URL. Chữ ký chỉ để biết có ai sửa hay không.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Phần cuối là lúc nhận kết quả. VNPAY ghi rõ trong tài liệu: đừng cập nhật đơn ở ReturnURL, hãy cập nhật ở IPN. Lý do là ReturnURL đi qua trình duyệt của khách, còn IPN là server VNPAY gọi thẳng server mình.</a:t>
            </a:r>
          </a:p>
          <a:p>
            <a:endParaRPr lang="vi-VN"/>
          </a:p>
          <a:p>
            <a:r>
              <a:rPr lang="vi-VN" sz="1600" dirty="0"/>
              <a:t>IPN có gọi lại: mình chưa trả 00 thì VNPAY gọi tiếp, tối đa 10 lần. Vì vậy code phải chịu được chuyện một IPN tới nhiều lần, đó là lý do có mã 02.</a:t>
            </a:r>
          </a:p>
          <a:p>
            <a:endParaRPr lang="vi-VN"/>
          </a:p>
          <a:p>
            <a:r>
              <a:rPr lang="vi-VN" sz="1600" b="1" dirty="0"/>
              <a:t>Hỏi: Có IPN rồi sao còn cần querydr?</a:t>
            </a:r>
          </a:p>
          <a:p>
            <a:r>
              <a:rPr lang="vi-VN" sz="1600" dirty="0"/>
              <a:t>Đáp: IPN có thể bị mất hoặc tới trễ. querydr là mình tự hỏi lại khi cần.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Từ slide này mình đi qua toàn bộ tham số gửi khi tạo thanh toán, chia ba nhóm. Cột Kiểu lấy từ tài liệu VNPAY: Alphanumeric là chữ và số, Alpha là chỉ chữ, Numeric là chỉ số, hai số trong ngoặc là độ dài tối thiểu và tối đa.</a:t>
            </a:r>
          </a:p>
          <a:p>
            <a:endParaRPr lang="vi-VN"/>
          </a:p>
          <a:p>
            <a:r>
              <a:rPr lang="vi-VN" sz="1600" dirty="0"/>
              <a:t>Nhóm đầu là định danh và số tiền. TmnCode cần vì mỗi merchant có HashSecret riêng. TxnRef là khoá nối kết quả với đơn: IPN và querydr đều gửi lại đúng mã này. Tài liệu chỉ cần không trùng trong ngày, demo dùng UUID cho chắc. Amount nhân 100: 25.000 đồng gửi đi là 2500000.</a:t>
            </a:r>
          </a:p>
          <a:p>
            <a:endParaRPr lang="vi-VN"/>
          </a:p>
          <a:p>
            <a:r>
              <a:rPr lang="vi-VN" sz="1600" b="1" dirty="0"/>
              <a:t>Hỏi: Thiếu một tham số bắt buộc thì sao?</a:t>
            </a:r>
          </a:p>
          <a:p>
            <a:r>
              <a:rPr lang="vi-VN" sz="1600" dirty="0"/>
              <a:t>Đáp: Mình thử trên sandbox: bỏ vnp_IpAddr, vnp_OrderInfo hoặc vnp_ReturnUrl thì VNPAY trả trang lỗi mã 03.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Nhóm thứ hai là phần mô tả và hiển thị. OrderInfo phải viết không dấu. Có bằng chứng: một giao dịch thử ngày 20/9 có nội dung viết có dấu, khi hỏi lại bằng querydr VNPAY trả về "C? ph? s?a ??". OrderType là mã loại hàng, demo dùng other như code mẫu của VNPAY. BankCode là tham số tuỳ chọn duy nhất, demo không gửi nên khách chọn phương thức trên trang VNPAY.</a:t>
            </a:r>
          </a:p>
          <a:p>
            <a:endParaRPr lang="vi-VN"/>
          </a:p>
          <a:p>
            <a:r>
              <a:rPr lang="vi-VN" sz="1600" b="1" dirty="0"/>
              <a:t>Hỏi: Vì sao văn bản có dấu bị lỗi?</a:t>
            </a:r>
          </a:p>
          <a:p>
            <a:r>
              <a:rPr lang="vi-VN" sz="1600" dirty="0"/>
              <a:t>Đáp: Dữ liệu đi qua nhiều hệ thống trước khi lưu, có hệ thống không xử lý ký tự Unicode. Viết không dấu thì khỏi lo chuyện đó.</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Nhóm cuối. CreateDate được dùng lại làm TransactionDate khi gọi querydr, nên Payment lưu nó ngay khi tạo giao dịch. ExpireDate giới hạn thời gian dùng link, demo đặt 15 phút. IpAddr theo tài liệu là IP của khách, demo để 127.0.0.1 cho gọn, hệ thống thật lấy IP từ request hoặc header của gateway. SecureHash không nằm trong chuỗi đem đi ký, nó được gắn vào cuối URL sau khi ký.</a:t>
            </a:r>
          </a:p>
          <a:p>
            <a:endParaRPr lang="vi-VN"/>
          </a:p>
          <a:p>
            <a:r>
              <a:rPr lang="vi-VN" sz="1600" b="1" dirty="0"/>
              <a:t>Hỏi: Bỏ ExpireDate thì sao?</a:t>
            </a:r>
          </a:p>
          <a:p>
            <a:r>
              <a:rPr lang="vi-VN" sz="1600" dirty="0"/>
              <a:t>Đáp: Mình thử trên sandbox thì vẫn mở được trang thanh toán, sandbox chưa chặn. Tài liệu ghi bắt buộc nên code vẫn gửi.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Toàn bộ dữ liệu đi dưới dạng chuỗi, trên URL hoặc trong JSON, nên VNPAY quy định định dạng cố định cho từng loại. Ngày giờ là 14 chữ số theo giờ Việt Nam, không có dấu gạch hay khoảng trắng. Số tiền là số nguyên nên không có vấn đề làm tròn. Chữ ký là 64 byte nhị phân, phải đổi sang hex mới đặt được lên URL.</a:t>
            </a:r>
          </a:p>
          <a:p>
            <a:endParaRPr lang="vi-VN"/>
          </a:p>
          <a:p>
            <a:r>
              <a:rPr lang="vi-VN" sz="1600" dirty="0"/>
              <a:t>Về múi giờ, demo dùng Asia/Ho_Chi_Minh. Một số code mẫu dùng Etc/GMT+7, nhưng tên Etc/GMT bị đảo dấu, nên Etc/GMT+7 thực ra là UTC trừ 7.</a:t>
            </a:r>
          </a:p>
          <a:p>
            <a:endParaRPr lang="vi-VN"/>
          </a:p>
          <a:p>
            <a:r>
              <a:rPr lang="vi-VN" sz="1600" b="1" dirty="0"/>
              <a:t>Hỏi: Giờ trên máy lệch thì sao?</a:t>
            </a:r>
          </a:p>
          <a:p>
            <a:r>
              <a:rPr lang="vi-VN" sz="1600" dirty="0"/>
              <a:t>Đáp: CreateDate và ExpireDate sai theo. Nếu giờ hết hạn đã qua theo giờ VNPAY, link báo giao dịch hết hạn.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Vì sao Payment URL dùng query string? Vì đây là chuyển trang: Payment Service không gọi VNPAY mà trả link để trình duyệt mở. Dữ liệu đi cùng link nên nằm trên query string.</a:t>
            </a:r>
          </a:p>
          <a:p>
            <a:endParaRPr lang="vi-VN"/>
          </a:p>
          <a:p>
            <a:r>
              <a:rPr lang="vi-VN" sz="1600" dirty="0"/>
              <a:t>Query string có cấu trúc riêng: dấu &amp; ngăn các tham số, dấu = ngăn tên và giá trị. Nếu giá trị chứa ký tự đặc biệt mà không encode thì URL bị hiểu sai. Ví dụ ReturnUrl có dấu hai chấm và gạch chéo, OrderInfo có dấu cách.</a:t>
            </a:r>
          </a:p>
          <a:p>
            <a:endParaRPr lang="vi-VN"/>
          </a:p>
          <a:p>
            <a:r>
              <a:rPr lang="vi-VN" sz="1600" b="1" dirty="0"/>
              <a:t>Hỏi: Dữ liệu trên URL có bị lộ không?</a:t>
            </a:r>
          </a:p>
          <a:p>
            <a:r>
              <a:rPr lang="vi-VN" sz="1600" dirty="0"/>
              <a:t>Đáp: Link chỉ có thông tin đơn, không có bí mật, và đi qua HTTPS. Rủi ro là bị sửa, nên cần chữ ký.</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Hai hàm này tạo chữ ký. canonical ghép tham số thành chuỗi: TreeMap sắp xếp theo tên, bỏ giá trị rỗng, encode từng cặp rồi nối bằng dấu &amp;. hmac băm chuỗi đó bằng HashSecret, ra 64 byte, đổi sang hex 128 ký tự.</a:t>
            </a:r>
          </a:p>
          <a:p>
            <a:endParaRPr lang="vi-VN"/>
          </a:p>
          <a:p>
            <a:r>
              <a:rPr lang="vi-VN" sz="1600" dirty="0"/>
              <a:t>Payment Service và VNPAY cùng giữ HashSecret. Hai bên ghép chuỗi theo cùng quy tắc rồi băm, kết quả phải giống nhau. Người ngoài sửa được dữ liệu trên URL nhưng không tạo lại được chữ ký vì không có HashSecret.</a:t>
            </a:r>
          </a:p>
          <a:p>
            <a:endParaRPr lang="vi-VN"/>
          </a:p>
          <a:p>
            <a:r>
              <a:rPr lang="vi-VN" sz="1600" b="1" dirty="0"/>
              <a:t>Hỏi: Chữ ký có mã hoá dữ liệu không?</a:t>
            </a:r>
          </a:p>
          <a:p>
            <a:r>
              <a:rPr lang="vi-VN" sz="1600" dirty="0"/>
              <a:t>Đáp: Không. Số tiền vẫn đọc được trên URL. Chữ ký chỉ đảm bảo dữ liệu không bị sửa và đúng là do bên có HashSecret tạo ra.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Hàm paymentUrl bỏ 13 tham số vào map, gọi canonical một lần, ký chuỗi đó, rồi gắn chữ ký vào cuối URL.</a:t>
            </a:r>
          </a:p>
          <a:p>
            <a:endParaRPr lang="vi-VN"/>
          </a:p>
          <a:p>
            <a:r>
              <a:rPr lang="vi-VN" sz="1600" dirty="0"/>
              <a:t>Có ba chỗ để ý. Số tiền lấy từ đối tượng Payment, mà Payment nhận số tiền từ Order Service, nên trình duyệt không sửa được. CreateDate là p.date, lưu ngay khi tạo Payment, vì lúc gọi querydr phải gửi lại đúng giá trị này. Và cùng một biến data vừa để ký vừa gắn lên URL, nên chuỗi VNPAY nhận đúng là chuỗi đã ký.</a:t>
            </a:r>
          </a:p>
          <a:p>
            <a:endParaRPr lang="vi-VN"/>
          </a:p>
          <a:p>
            <a:r>
              <a:rPr lang="vi-VN" sz="1600" b="1" dirty="0"/>
              <a:t>Hỏi: Vì sao không để web tự ký bằng JavaScript?</a:t>
            </a:r>
          </a:p>
          <a:p>
            <a:r>
              <a:rPr lang="vi-VN" sz="1600" dirty="0"/>
              <a:t>Đáp: HashSecret nằm trong JavaScript thì ai mở mã nguồn trang cũng đọc được, và tự tạo được link với số tiền tuỳ ý.</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Hai ảnh này chụp trên VNPAY sandbox ngày 10/10, bằng tài khoản sandbox của mình. Link được tạo theo đúng quy tắc ký ở các slide trước, bằng một bản code Java khác nhưng cùng cách ký.</a:t>
            </a:r>
          </a:p>
          <a:p>
            <a:endParaRPr lang="vi-VN"/>
          </a:p>
          <a:p>
            <a:r>
              <a:rPr lang="vi-VN" sz="1600" dirty="0"/>
              <a:t>Bên trái là link đúng: trang hiện 25.000 đồng, mã đơn, đồng hồ 15 phút từ ExpireDate. Bên phải là cùng link nhưng sửa số tiền sau khi ký: VNPAY báo sai chữ ký. Nghĩa là khách không sửa được giá trên URL.</a:t>
            </a:r>
          </a:p>
          <a:p>
            <a:endParaRPr lang="vi-VN"/>
          </a:p>
          <a:p>
            <a:r>
              <a:rPr lang="vi-VN" sz="1600" b="1" dirty="0"/>
              <a:t>Hỏi: Mở được trang thanh toán thì đã trả tiền chưa?</a:t>
            </a:r>
          </a:p>
          <a:p>
            <a:r>
              <a:rPr lang="vi-VN" sz="1600" dirty="0"/>
              <a:t>Đáp: Chưa. Mở được trang chỉ có nghĩa request đúng định dạng và đúng chữ ký. Khách vẫn phải nhập thẻ và xác nhận.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Để biết chắc quy tắc nào bắt buộc, mình tạo link rồi sửa từng phần. Sửa số tiền, ký chuỗi không sắp xếp hoặc chưa encode đều bị báo sai chữ ký. Bỏ tham số bắt buộc thì bị mã 03.</a:t>
            </a:r>
          </a:p>
          <a:p>
            <a:endParaRPr lang="vi-VN"/>
          </a:p>
          <a:p>
            <a:r>
              <a:rPr lang="vi-VN" sz="1600" dirty="0"/>
              <a:t>Có hai kết quả ngoài dự đoán: chữ ký viết hoa vẫn được nhận, và thiếu ExpireDate thì sandbox vẫn mở trang. Với ExpireDate, tài liệu ghi bắt buộc nên code vẫn gửi.</a:t>
            </a:r>
          </a:p>
          <a:p>
            <a:endParaRPr lang="vi-VN"/>
          </a:p>
          <a:p>
            <a:r>
              <a:rPr lang="vi-VN" sz="1600" b="1" dirty="0"/>
              <a:t>Hỏi: Mã 70 và 03 là gì?</a:t>
            </a:r>
          </a:p>
          <a:p>
            <a:r>
              <a:rPr lang="vi-VN" sz="1600" dirty="0"/>
              <a:t>Đáp: Mã lỗi trên trang lỗi của VNPAY, link có dạng Payment/Error.html?code=... Mã 70 là sai chữ ký, mã 03 là dữ liệu không đúng định dạng.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Cả hai đều xuất hiện sau khi thanh toán nên dễ nhầm. ReturnURL đi qua trình duyệt, chỉ để đưa khách về trang kết quả. IPN là VNPAY gọi thẳng Payment Service, khách có đóng tab thì IPN vẫn đến.</a:t>
            </a:r>
          </a:p>
          <a:p>
            <a:endParaRPr lang="vi-VN"/>
          </a:p>
          <a:p>
            <a:r>
              <a:rPr lang="vi-VN" sz="1600" dirty="0"/>
              <a:t>Hai câu trích là từ tài liệu VNPAY. Trong demo, /vnpay/return chỉ kiểm tra chữ ký rồi chuyển về trang kết quả của Order. Trang đó đọc trạng thái đã lưu, chưa xác nhận thì vẫn hiện PENDING.</a:t>
            </a:r>
          </a:p>
          <a:p>
            <a:endParaRPr lang="vi-VN"/>
          </a:p>
          <a:p>
            <a:r>
              <a:rPr lang="vi-VN" sz="1600" b="1" dirty="0"/>
              <a:t>Hỏi: ReturnURL có kiểm tra chữ ký không?</a:t>
            </a:r>
          </a:p>
          <a:p>
            <a:r>
              <a:rPr lang="vi-VN" sz="1600" dirty="0"/>
              <a:t>Đáp: Có, demo trả lỗi 400 nếu chữ ký sai. Nhưng dù chữ ký đúng, ReturnURL cũng không cập nhật đơn.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các tham số VNPAY gửi về IPN, ReturnURL cũng nhận đúng các tham số này. Cột cuối là code demo dùng tham số đó làm gì. Một số trường như BankCode, PayDate demo không đọc, nhưng vẫn phải giữ lại khi kiểm tra chữ ký vì VNPAY ký trên toàn bộ.</a:t>
            </a:r>
          </a:p>
          <a:p>
            <a:endParaRPr lang="vi-VN"/>
          </a:p>
          <a:p>
            <a:r>
              <a:rPr lang="vi-VN" sz="1600" dirty="0"/>
              <a:t>Hai trường kết quả: ResponseCode là mã phản hồi, TransactionStatus là trạng thái giao dịch. Tài liệu quy định thành công khi cả hai đều là 00.</a:t>
            </a:r>
          </a:p>
          <a:p>
            <a:endParaRPr lang="vi-VN"/>
          </a:p>
          <a:p>
            <a:r>
              <a:rPr lang="vi-VN" sz="1600" b="1" dirty="0"/>
              <a:t>Hỏi: Vì sao VNPAY gửi lại vnp_Amount?</a:t>
            </a:r>
          </a:p>
          <a:p>
            <a:r>
              <a:rPr lang="vi-VN" sz="1600" dirty="0"/>
              <a:t>Đáp: Để merchant so với số tiền của đơn. Chữ ký chỉ chứng minh dữ liệu do VNPAY gửi, còn so số tiền để chắc giao dịch khớp với đơn.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Hàm ipn đi theo thứ tự: chữ ký, mã merchant, tìm giao dịch, so số tiền, kiểm tra trạng thái, rồi mới cập nhật. Chữ ký kiểm tra trước vì dữ liệu chưa xác thực thì không nên dùng để tra cứu.</a:t>
            </a:r>
          </a:p>
          <a:p>
            <a:endParaRPr lang="vi-VN"/>
          </a:p>
          <a:p>
            <a:r>
              <a:rPr lang="vi-VN" sz="1600" dirty="0"/>
              <a:t>Hàm valid bỏ vnp_SecureHash và vnp_SecureHashType, ký lại phần còn lại bằng canonical và hmac, rồi so bằng MessageDigest.isEqual để thời gian so sánh không phụ thuộc vị trí ký tự sai.</a:t>
            </a:r>
          </a:p>
          <a:p>
            <a:endParaRPr lang="vi-VN"/>
          </a:p>
          <a:p>
            <a:r>
              <a:rPr lang="vi-VN" sz="1600" b="1" dirty="0"/>
              <a:t>Hỏi: Vì sao phải kiểm tra cả ResponseCode và TransactionStatus?</a:t>
            </a:r>
          </a:p>
          <a:p>
            <a:r>
              <a:rPr lang="vi-VN" sz="1600" dirty="0"/>
              <a:t>Đáp: Theo tài liệu, giao dịch thành công khi cả hai đều là 00. Một trường là mã phản hồi, một trường là trạng thái giao dịch tại VNPAY.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RspCode là mã Payment Service trả cho VNPAY, khác với vnp_ResponseCode VNPAY gửi sang. Mã 00 nghĩa là đã ghi nhận thông báo, không có nghĩa khách chắc chắn đã trả tiền thành công.</a:t>
            </a:r>
          </a:p>
          <a:p>
            <a:endParaRPr lang="vi-VN"/>
          </a:p>
          <a:p>
            <a:r>
              <a:rPr lang="vi-VN" sz="1600" dirty="0"/>
              <a:t>VNPAY đọc mã này để quyết định có gọi lại không: 00 và 02 thì dừng, các mã khác hoặc quá thời gian thì gọi lại, tối đa 10 lần, mỗi lần cách 5 phút. Đây là kiểu webhook có retry. Vì có retry nên Payment Service phải chịu được việc nhận cùng một IPN nhiều lần.</a:t>
            </a:r>
          </a:p>
          <a:p>
            <a:endParaRPr lang="vi-VN"/>
          </a:p>
          <a:p>
            <a:r>
              <a:rPr lang="vi-VN" sz="1600" b="1" dirty="0"/>
              <a:t>Hỏi: Server mình chết đúng lúc VNPAY gọi IPN thì sao?</a:t>
            </a:r>
          </a:p>
          <a:p>
            <a:r>
              <a:rPr lang="vi-VN" sz="1600" dirty="0"/>
              <a:t>Đáp: VNPAY gọi lại sau 5 phút. Gọi hết 10 lần vẫn lỗi thì còn querydr để hỏi lại.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phần xử lý idempotent, tức là gọi nhiều lần cũng như gọi một lần. Sau lần xác nhận đầu, trạng thái không còn PENDING, nên IPN thứ hai nhận mã 02 và không cập nhật lại. synchronized tránh trường hợp hai request cùng lúc đều thấy PENDING.</a:t>
            </a:r>
          </a:p>
          <a:p>
            <a:endParaRPr lang="vi-VN"/>
          </a:p>
          <a:p>
            <a:r>
              <a:rPr lang="vi-VN" sz="1600" dirty="0"/>
              <a:t>Thứ tự trong hàm confirm có chủ ý: gọi Order Service trước, thành công rồi mới lưu trạng thái của Payment. Nếu Order lỗi, hàm ném exception, Payment vẫn PENDING, IPN trả HTTP 500 và lần VNPAY gọi lại sẽ xử lý tiếp. Ngược lại nếu lưu Payment trước rồi Order lỗi, IPN sau sẽ nhận 02 và Order không bao giờ được báo.</a:t>
            </a:r>
          </a:p>
          <a:p>
            <a:endParaRPr lang="vi-VN"/>
          </a:p>
          <a:p>
            <a:r>
              <a:rPr lang="vi-VN" sz="1600" b="1" dirty="0"/>
              <a:t>Hỏi: Bỏ kiểm tra PENDING thì sao?</a:t>
            </a:r>
          </a:p>
          <a:p>
            <a:r>
              <a:rPr lang="vi-VN" sz="1600" dirty="0"/>
              <a:t>Đáp: VNPAY gọi lại mấy lần thì đơn bị xử lý mấy lần. Hệ thống thật có thể giao hàng hoặc cộng tiền nhiều lần.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Tình huống: khách nói đã trả tiền nhưng web vẫn hiện PENDING. Có thể IPN chưa tới hoặc chưa xử lý được. Lúc đó Payment Service dùng querydr để hỏi lại VNPAY.</a:t>
            </a:r>
          </a:p>
          <a:p>
            <a:endParaRPr lang="vi-VN"/>
          </a:p>
          <a:p>
            <a:r>
              <a:rPr lang="vi-VN" sz="1600" dirty="0"/>
              <a:t>querydr có bộ trường riêng. Hai trường dễ nhầm: TransactionDate là thời điểm tạo giao dịch gốc, lấy từ CreateDate lúc tạo link; còn CreateDate ở đây là thời điểm gửi lần hỏi này. RequestId mỗi lần hỏi phải khác nhau.</a:t>
            </a:r>
          </a:p>
          <a:p>
            <a:endParaRPr lang="vi-VN"/>
          </a:p>
          <a:p>
            <a:r>
              <a:rPr lang="vi-VN" sz="1600" b="1" dirty="0"/>
              <a:t>Hỏi: Vì sao TransactionDate phải là ngày của giao dịch gốc?</a:t>
            </a:r>
          </a:p>
          <a:p>
            <a:r>
              <a:rPr lang="vi-VN" sz="1600" dirty="0"/>
              <a:t>Đáp: VNPAY dùng TxnRef cùng TransactionDate để xác định giao dịch, vì TxnRef chỉ cần không trùng trong ngày.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querydr khác Payment URL ở hai điểm. Thứ nhất là POST với body JSON, vì đây là API server gọi server, không phải chuyển trang. Thứ hai là cách ký: danh sách trường cố định, nên chỉ cần nối 9 trường theo đúng thứ tự trong tài liệu bằng dấu gạch đứng, không cần sắp xếp hay encode. Vì vậy ở đây không dùng lại canonical.</a:t>
            </a:r>
          </a:p>
          <a:p>
            <a:endParaRPr lang="vi-VN"/>
          </a:p>
          <a:p>
            <a:r>
              <a:rPr lang="vi-VN" sz="1600" b="1" dirty="0"/>
              <a:t>Hỏi: Lỡ dùng canonical để ký querydr thì sao?</a:t>
            </a:r>
          </a:p>
          <a:p>
            <a:r>
              <a:rPr lang="vi-VN" sz="1600" dirty="0"/>
              <a:t>Đáp: Chuỗi đem đi ký khác với chuỗi VNPAY ghép, VNPAY trả mã 97, checksum không hợp lệ.</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Nhận được JSON chưa phải là xong. verifyQuery kiểm tra chữ ký của response và đối chiếu dữ liệu: đúng merchant, đúng mã đơn, đúng số tiền, đúng loại giao dịch thanh toán. Hàm này chỉ trả lời câu hỏi: response có đáng tin và có đúng giao dịch mình hỏi không.</a:t>
            </a:r>
          </a:p>
          <a:p>
            <a:endParaRPr lang="vi-VN"/>
          </a:p>
          <a:p>
            <a:r>
              <a:rPr lang="vi-VN" sz="1600" dirty="0"/>
              <a:t>Sau đó phía gọi mới xét TransactionStatus. ResponseCode 00 chỉ nói lần hỏi thành công. TransactionStatus 00 mới là giao dịch đã thanh toán. DemoChecks có kiểm tra tình huống này: API trả 00 nhưng TransactionStatus là 01, đơn vẫn PENDING.</a:t>
            </a:r>
          </a:p>
          <a:p>
            <a:endParaRPr lang="vi-VN"/>
          </a:p>
          <a:p>
            <a:r>
              <a:rPr lang="vi-VN" sz="1600" b="1" dirty="0"/>
              <a:t>Hỏi: Vì sao trạng thái khác 00 không ghi FAILED luôn?</a:t>
            </a:r>
          </a:p>
          <a:p>
            <a:r>
              <a:rPr lang="vi-VN" sz="1600" dirty="0"/>
              <a:t>Đáp: Trạng thái 01 nghĩa là giao dịch chưa xong, còn có thể đổi. Giữ PENDING để hỏi lại sau thì an toàn hơn.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request querydr thật mình gửi lên sandbox ngày 10/10, hỏi lại một giao dịch thử ngày 20/9. Mã merchant và chữ ký đã lược bớt. VNPAY trả HTTP 200 với JSON, đúng các trường mà verifyQuery đang kiểm tra. Mình tính lại chữ ký của response theo thứ tự trong tài liệu và kết quả khớp.</a:t>
            </a:r>
          </a:p>
          <a:p>
            <a:endParaRPr lang="vi-VN"/>
          </a:p>
          <a:p>
            <a:r>
              <a:rPr lang="vi-VN" sz="1600" dirty="0"/>
              <a:t>Lần gọi này dùng một bản code Java khác, nhưng cùng định dạng request và cách ký với hàm query của SeminarDemo.</a:t>
            </a:r>
          </a:p>
          <a:p>
            <a:endParaRPr lang="vi-VN"/>
          </a:p>
          <a:p>
            <a:r>
              <a:rPr lang="vi-VN" sz="1600" b="1" dirty="0"/>
              <a:t>Hỏi: Có thể gọi querydr liên tục để chờ kết quả không?</a:t>
            </a:r>
          </a:p>
          <a:p>
            <a:r>
              <a:rPr lang="vi-VN" sz="1600" dirty="0"/>
              <a:t>Đáp: Không nên. Tài liệu có mã 94 cho request trùng trong thời gian ngắn. Nên hỏi khi cần hoặc theo lịch có khoảng cách.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Slide này gom lại các tình huống lỗi, mỗi dòng là một chỗ trong code đã xử lý.</a:t>
            </a:r>
          </a:p>
          <a:p>
            <a:endParaRPr lang="vi-VN"/>
          </a:p>
          <a:p>
            <a:r>
              <a:rPr lang="vi-VN" sz="1600" dirty="0"/>
              <a:t>Dòng 2 và 3 là chỗ hai service có thể lệch nhau. Order lỗi thì Payment không lưu gì, để VNPAY gọi lại. Order lưu xong mà phản hồi không về kịp thì lần gọi sau Order thấy đơn đã PAID và giữ nguyên, nên hai bên vẫn khớp. Không cần transaction chung giữa hai service, chỉ cần mỗi bên gọi lặp cũng an toàn.</a:t>
            </a:r>
          </a:p>
          <a:p>
            <a:endParaRPr lang="vi-VN"/>
          </a:p>
          <a:p>
            <a:r>
              <a:rPr lang="vi-VN" sz="1600" dirty="0"/>
              <a:t>Dòng 4 là chỗ querydr cứu. Ba dòng cuối là chữ ký và số tiền chặn dữ liệu giả.</a:t>
            </a:r>
          </a:p>
          <a:p>
            <a:endParaRPr lang="vi-VN"/>
          </a:p>
          <a:p>
            <a:r>
              <a:rPr lang="vi-VN" sz="1600" b="1" dirty="0"/>
              <a:t>Hỏi: Sao không dùng một transaction chung cho hai service?</a:t>
            </a:r>
          </a:p>
          <a:p>
            <a:r>
              <a:rPr lang="vi-VN" sz="1600" dirty="0"/>
              <a:t>Đáp: Mỗi service một dữ liệu riêng, transaction phân tán vừa chậm vừa khó. Cho phép lệch một lúc rồi khớp lại bằng retry và querydr thì đơn giản hơn.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Demo có hai chế độ. Mặc định là mock local: không cần key, không gọi VNPAY, chương trình tự giả lập cổng thanh toán. Mình dùng chế độ này trên lớp để chủ động tạo hai tình huống khó tái hiện với sandbox thật: IPN đến hai lần, và khách quay về trước khi có IPN.</a:t>
            </a:r>
          </a:p>
          <a:p>
            <a:endParaRPr lang="vi-VN"/>
          </a:p>
          <a:p>
            <a:r>
              <a:rPr lang="vi-VN" sz="1600" dirty="0"/>
              <a:t>Mọi người mở terminal trong thư mục VNPAY-demo, gõ hai lệnh javac và java, rồi mở localhost 8090. Windows thì đổi dấu hai chấm thành dấu chấm phẩy trong classpath.</a:t>
            </a:r>
          </a:p>
          <a:p>
            <a:endParaRPr lang="vi-VN"/>
          </a:p>
          <a:p>
            <a:r>
              <a:rPr lang="vi-VN" sz="1600" dirty="0"/>
              <a:t>Chế độ sandbox cần ngrok, vì VNPAY phải gọi được IPN vào cổng 8091 qua HTTPS. Key đặt bằng biến môi trường.</a:t>
            </a:r>
          </a:p>
          <a:p>
            <a:endParaRPr lang="vi-VN"/>
          </a:p>
          <a:p>
            <a:r>
              <a:rPr lang="vi-VN" sz="1600" b="1" dirty="0"/>
              <a:t>Làm</a:t>
            </a:r>
          </a:p>
          <a:p>
            <a:r>
              <a:rPr lang="vi-VN" sz="1600" dirty="0"/>
              <a:t>Chạy demo trên máy chiếu, chờ cả lớp mở được localhost:8090.</a:t>
            </a:r>
          </a:p>
          <a:p>
            <a:endParaRPr lang="vi-VN"/>
          </a:p>
          <a:p>
            <a:r>
              <a:rPr lang="vi-VN" sz="1600" b="1" dirty="0"/>
              <a:t>Hỏi: Mock có chứng minh sandbox thật chấp nhận request không?</a:t>
            </a:r>
          </a:p>
          <a:p>
            <a:r>
              <a:rPr lang="vi-VN" sz="1600" dirty="0"/>
              <a:t>Đáp: Không. Mock dùng cùng hàm ký và kiểm tra, nhưng không gọi VNPAY. Bằng chứng với sandbox thật là các slide thử ngày 10/10.</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Tình huống đầu. Mình tạo đơn, chọn Thanh cong + IPN. Chương trình gửi cùng một IPN có chữ ký đến endpoint hai lần. Mọi người nhìn log: lần đầu trả 00, lần thứ hai trả 02. Sau đó trình duyệt quay về trang kết quả, đơn PAID.</a:t>
            </a:r>
          </a:p>
          <a:p>
            <a:endParaRPr lang="vi-VN"/>
          </a:p>
          <a:p>
            <a:r>
              <a:rPr lang="vi-VN" sz="1600" b="1" dirty="0"/>
              <a:t>Làm</a:t>
            </a:r>
          </a:p>
          <a:p>
            <a:r>
              <a:rPr lang="vi-VN" sz="1600" dirty="0"/>
              <a:t>Chạy demo trên máy, chỉ vào hai dòng log First IPN và Duplicate IPN.</a:t>
            </a:r>
          </a:p>
          <a:p>
            <a:endParaRPr lang="vi-VN"/>
          </a:p>
          <a:p>
            <a:r>
              <a:rPr lang="vi-VN" sz="1600" b="1" dirty="0"/>
              <a:t>Hỏi: Lần IPN thứ hai có làm đơn bị cập nhật lại không?</a:t>
            </a:r>
          </a:p>
          <a:p>
            <a:r>
              <a:rPr lang="vi-VN" sz="1600" dirty="0"/>
              <a:t>Đáp: Không. Đơn đã PAID nên confirm bỏ qua, ipn trả 02 để VNPAY dừng gọi.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Tình huống thứ hai. Mock lưu kết quả thành công nhưng cố tình không gửi IPN. Trình duyệt vẫn quay về website, đơn vẫn PENDING. Đây là lý do không cập nhật đơn tại ReturnURL: quay về chưa có nghĩa server đã có kết quả đáng tin.</a:t>
            </a:r>
          </a:p>
          <a:p>
            <a:endParaRPr lang="vi-VN"/>
          </a:p>
          <a:p>
            <a:r>
              <a:rPr lang="vi-VN" sz="1600" dirty="0"/>
              <a:t>Bấm Truy van giao dich, Payment Service gọi querydr, kiểm tra chữ ký, mã đơn, số tiền rồi mới cập nhật PAID. Log ghi verified=true. Ở chế độ mock, response querydr do chương trình tự tạo theo đúng cấu trúc và chữ ký của VNPAY.</a:t>
            </a:r>
          </a:p>
          <a:p>
            <a:endParaRPr lang="vi-VN"/>
          </a:p>
          <a:p>
            <a:r>
              <a:rPr lang="vi-VN" sz="1600" b="1" dirty="0"/>
              <a:t>Làm</a:t>
            </a:r>
          </a:p>
          <a:p>
            <a:r>
              <a:rPr lang="vi-VN" sz="1600" dirty="0"/>
              <a:t>Chạy demo, dừng ở trang PENDING để giải thích trước khi bấm truy vấn.</a:t>
            </a:r>
          </a:p>
          <a:p>
            <a:endParaRPr lang="vi-VN"/>
          </a:p>
          <a:p>
            <a:r>
              <a:rPr lang="vi-VN" sz="1600" b="1" dirty="0"/>
              <a:t>Hỏi: Nếu không ai bấm Truy vấn thì sao?</a:t>
            </a:r>
          </a:p>
          <a:p>
            <a:r>
              <a:rPr lang="vi-VN" sz="1600" dirty="0"/>
              <a:t>Đáp: Đơn kẹt PENDING tới khi IPN đến. Hệ thống thật nên có job định kỳ gọi querydr cho các đơn PENDING lâu.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Phần này mọi người tự làm trên máy, demo vẫn đang chạy, mở thêm một terminal.</a:t>
            </a:r>
          </a:p>
          <a:p>
            <a:endParaRPr lang="vi-VN"/>
          </a:p>
          <a:p>
            <a:r>
              <a:rPr lang="vi-VN" sz="1600" dirty="0"/>
              <a:t>Bài 1 gọi thẳng API nội bộ /payments mà không có token, kết quả là Forbidden. Nghĩa là bên ngoài không tự tạo giao dịch được.</a:t>
            </a:r>
          </a:p>
          <a:p>
            <a:endParaRPr lang="vi-VN"/>
          </a:p>
          <a:p>
            <a:r>
              <a:rPr lang="vi-VN" sz="1600" dirty="0"/>
              <a:t>Bài 2 gửi một IPN giả với chữ ký bừa, Payment trả 97 và đơn không đổi.</a:t>
            </a:r>
          </a:p>
          <a:p>
            <a:endParaRPr lang="vi-VN"/>
          </a:p>
          <a:p>
            <a:r>
              <a:rPr lang="vi-VN" sz="1600" dirty="0"/>
              <a:t>Bài 3 hay nhất. Mọi người bấm Thanh toán để ra trang mock, lấy mã REF trên thanh địa chỉ, rồi chạy lệnh curl thứ ba. Dòng Location trả về chính là link ReturnURL có chữ ký thật. Copy phần sau dấu chấm hỏi, gắn vào sau /vnpay/ipn? rồi gọi: lần đầu ra 00, đơn PAID. Gọi lại y chang ra 02. Sửa số tiền rồi gọi thì ra 97 vì chữ ký không khớp.</a:t>
            </a:r>
          </a:p>
          <a:p>
            <a:endParaRPr lang="vi-VN"/>
          </a:p>
          <a:p>
            <a:r>
              <a:rPr lang="vi-VN" sz="1600" b="1" dirty="0"/>
              <a:t>Làm</a:t>
            </a:r>
          </a:p>
          <a:p>
            <a:r>
              <a:rPr lang="vi-VN" sz="1600" dirty="0"/>
              <a:t>Làm mẫu bài 3 trên máy chiếu trước, rồi cho cả lớp làm. Chi tiết từng bước có trong HUONG-DAN.pdf, mục 5.</a:t>
            </a:r>
          </a:p>
          <a:p>
            <a:endParaRPr lang="vi-VN"/>
          </a:p>
          <a:p>
            <a:r>
              <a:rPr lang="vi-VN" sz="1600" b="1" dirty="0"/>
              <a:t>Hỏi: Sao link ReturnURL dùng làm IPN được?</a:t>
            </a:r>
          </a:p>
          <a:p>
            <a:r>
              <a:rPr lang="vi-VN" sz="1600" dirty="0"/>
              <a:t>Đáp: Trong mock, hai cái mang cùng bộ tham số và cùng chữ ký. VNPAY thật cũng gửi cùng bộ tham số cho ReturnURL và IPN.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Demo được giữ nhỏ để lớp theo dõi được luồng thanh toán. Bảng này là các chỗ đơn giản hoá và cách làm khi chạy thật. Phần tạo request, ký, xử lý IPN và querydr thì giữ nguyên.</a:t>
            </a:r>
          </a:p>
          <a:p>
            <a:endParaRPr lang="vi-VN"/>
          </a:p>
          <a:p>
            <a:r>
              <a:rPr lang="vi-VN" sz="1600" dirty="0"/>
              <a:t>Mấy dòng đáng nói: synchronized chỉ khoá trong một JVM, chạy hai instance Payment là hết tác dụng, nên phải khoá ở database bằng câu UPDATE có điều kiện. Payment đang gọi thẳng Order, Order chết thì Payment phải chờ VNPAY gọi lại; dùng outbox với message queue thì Payment lưu xong là trả 00 được, việc báo Order để queue lo. Còn TxnRef đang trùng với mã đơn, nên một đơn thanh toán hỏng không trả lại được với cùng mã.</a:t>
            </a:r>
          </a:p>
          <a:p>
            <a:endParaRPr lang="vi-VN"/>
          </a:p>
          <a:p>
            <a:r>
              <a:rPr lang="vi-VN" sz="1600" b="1" dirty="0"/>
              <a:t>Hỏi: Vì sao synchronized không đủ khi có nhiều instance?</a:t>
            </a:r>
          </a:p>
          <a:p>
            <a:r>
              <a:rPr lang="vi-VN" sz="1600" dirty="0"/>
              <a:t>Đáp: synchronized chỉ khoá trong một JVM. Hai instance khác nhau cùng nhận IPN thì vẫn có thể cùng cập nhật, nên phải khoá ở database.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Thay cho tóm tắt, mình hỏi ngược lại: mai đổi sang MoMo thì sửa gì. Cột giữa là phần dính với VNPAY, đổi cổng là viết lại theo tài liệu cổng mới. Cột phải là phần không dính, giữ nguyên. Order Service không đụng tới dòng nào, vì mọi thứ của VNPAY nằm gọn trong Payment.</a:t>
            </a:r>
          </a:p>
          <a:p>
            <a:endParaRPr lang="vi-VN"/>
          </a:p>
          <a:p>
            <a:r>
              <a:rPr lang="vi-VN" sz="1600" b="1" dirty="0"/>
              <a:t>Hỏi: Muốn chạy cả VNPAY và MoMo cùng lúc thì sao?</a:t>
            </a:r>
          </a:p>
          <a:p>
            <a:r>
              <a:rPr lang="vi-VN" sz="1600" dirty="0"/>
              <a:t>Đáp: Trong Payment tạo interface PaymentGateway, mỗi cổng một class. Order vẫn gọi /payments như cũ.</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Mình mời lớp trả lời ba tình huống vừa demo.</a:t>
            </a:r>
          </a:p>
          <a:p>
            <a:endParaRPr lang="vi-VN"/>
          </a:p>
          <a:p>
            <a:r>
              <a:rPr lang="vi-VN" sz="1600" b="1" dirty="0"/>
              <a:t>Hỏi: Khách đóng tab sau khi trả tiền, server nhận kết quả bằng cách nào?</a:t>
            </a:r>
          </a:p>
          <a:p>
            <a:r>
              <a:rPr lang="vi-VN" sz="1600" dirty="0"/>
              <a:t>Đáp: Qua IPN, VNPAY gọi thẳng server. Nếu IPN chưa về thì Payment Service gọi querydr.</a:t>
            </a:r>
          </a:p>
          <a:p>
            <a:endParaRPr lang="vi-VN"/>
          </a:p>
          <a:p>
            <a:r>
              <a:rPr lang="vi-VN" sz="1600" b="1" dirty="0"/>
              <a:t>Hỏi: IPN gửi hai lần, vì sao đơn không bị cập nhật hai lần?</a:t>
            </a:r>
          </a:p>
          <a:p>
            <a:r>
              <a:rPr lang="vi-VN" sz="1600" dirty="0"/>
              <a:t>Đáp: Lần sau thấy đơn không còn PENDING nên trả 02, confirm không chạy lại.</a:t>
            </a:r>
          </a:p>
          <a:p>
            <a:endParaRPr lang="vi-VN"/>
          </a:p>
          <a:p>
            <a:r>
              <a:rPr lang="vi-VN" sz="1600" b="1" dirty="0"/>
              <a:t>Hỏi: querydr trả ResponseCode 00 đã ghi PAID được chưa?</a:t>
            </a:r>
          </a:p>
          <a:p>
            <a:r>
              <a:rPr lang="vi-VN" sz="1600" dirty="0"/>
              <a:t>Đáp: Chưa. Phải kiểm tra chữ ký response, đối chiếu dữ liệu và TransactionStatus là 00.</a:t>
            </a:r>
          </a:p>
          <a:p>
            <a:endParaRPr lang="vi-VN"/>
          </a:p>
          <a:p>
            <a:r>
              <a:rPr lang="vi-VN" sz="1600" dirty="0"/>
              <a:t>Đó cũng là ba phần chính của bài: tạo request, xử lý callback và xác minh giao dịch. Cảm ơn mọi người.</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1942094"/>
            <a:ext cx="9810506" cy="1629095"/>
          </a:xfrm>
          <a:prstGeom prst="rect">
            <a:avLst/>
          </a:prstGeom>
          <a:noFill/>
          <a:ln/>
        </p:spPr>
        <p:txBody>
          <a:bodyPr wrap="square" lIns="0" tIns="0" rIns="0" bIns="0" rtlCol="0" anchor="t"/>
          <a:lstStyle/>
          <a:p>
            <a:pPr algn="l" indent="0" marL="0">
              <a:lnSpc>
                <a:spcPts val="5150"/>
              </a:lnSpc>
              <a:buNone/>
            </a:pPr>
            <a:r>
              <a:rPr lang="en-US" sz="4600" b="1" dirty="0">
                <a:solidFill>
                  <a:srgbClr val="111111"/>
                </a:solidFill>
                <a:latin typeface="Arial" pitchFamily="34" charset="0"/>
                <a:ea typeface="Arial" pitchFamily="34" charset="-122"/>
                <a:cs typeface="Arial" pitchFamily="34" charset="-120"/>
              </a:rPr>
              <a:t>Tích hợp VNPAY trong hệ thống microservice</a:t>
            </a:r>
            <a:endParaRPr lang="en-US" sz="4600" dirty="0"/>
          </a:p>
        </p:txBody>
      </p:sp>
      <p:sp>
        <p:nvSpPr>
          <p:cNvPr id="3" name="Text 1"/>
          <p:cNvSpPr txBox="1"/>
          <p:nvPr/>
        </p:nvSpPr>
        <p:spPr>
          <a:xfrm>
            <a:off x="660380" y="3446282"/>
            <a:ext cx="5870905" cy="285750"/>
          </a:xfrm>
          <a:prstGeom prst="rect">
            <a:avLst/>
          </a:prstGeom>
          <a:noFill/>
          <a:ln/>
        </p:spPr>
        <p:txBody>
          <a:bodyPr wrap="square" lIns="0" tIns="0" rIns="0" bIns="0" rtlCol="0" anchor="ctr"/>
          <a:lstStyle/>
          <a:p>
            <a:pPr algn="l" indent="0" marL="0">
              <a:buNone/>
            </a:pPr>
            <a:r>
              <a:rPr lang="en-US" sz="1500" dirty="0">
                <a:solidFill>
                  <a:srgbClr val="3F454D"/>
                </a:solidFill>
                <a:latin typeface="Arial" pitchFamily="34" charset="0"/>
                <a:ea typeface="Arial" pitchFamily="34" charset="-122"/>
                <a:cs typeface="Arial" pitchFamily="34" charset="-120"/>
              </a:rPr>
              <a:t>Tạo yêu cầu thanh toán · Xử lý kết quả trả về · Truy vấn giao dịch</a:t>
            </a:r>
            <a:endParaRPr lang="en-US" sz="1500" dirty="0"/>
          </a:p>
        </p:txBody>
      </p:sp>
      <p:sp>
        <p:nvSpPr>
          <p:cNvPr id="4" name="Text 2"/>
          <p:cNvSpPr txBox="1"/>
          <p:nvPr/>
        </p:nvSpPr>
        <p:spPr>
          <a:xfrm>
            <a:off x="660380" y="3808202"/>
            <a:ext cx="5833781" cy="285750"/>
          </a:xfrm>
          <a:prstGeom prst="rect">
            <a:avLst/>
          </a:prstGeom>
          <a:noFill/>
          <a:ln/>
        </p:spPr>
        <p:txBody>
          <a:bodyPr wrap="square" lIns="0" tIns="0" rIns="0" bIns="0" rtlCol="0" anchor="ctr"/>
          <a:lstStyle/>
          <a:p>
            <a:pPr algn="l" indent="0" marL="0">
              <a:buNone/>
            </a:pPr>
            <a:r>
              <a:rPr lang="en-US" sz="1500" dirty="0">
                <a:solidFill>
                  <a:srgbClr val="3F454D"/>
                </a:solidFill>
                <a:latin typeface="Arial" pitchFamily="34" charset="0"/>
                <a:ea typeface="Arial" pitchFamily="34" charset="-122"/>
                <a:cs typeface="Arial" pitchFamily="34" charset="-120"/>
              </a:rPr>
              <a:t>Thành phần dữ liệu gửi sang VNPAY, định dạng và cơ sở thiết kế</a:t>
            </a:r>
            <a:endParaRPr lang="en-US" sz="1500" dirty="0"/>
          </a:p>
        </p:txBody>
      </p:sp>
      <p:sp>
        <p:nvSpPr>
          <p:cNvPr id="5" name="Text 3"/>
          <p:cNvSpPr txBox="1"/>
          <p:nvPr/>
        </p:nvSpPr>
        <p:spPr>
          <a:xfrm>
            <a:off x="660380" y="4489155"/>
            <a:ext cx="3696553" cy="247620"/>
          </a:xfrm>
          <a:prstGeom prst="rect">
            <a:avLst/>
          </a:prstGeom>
          <a:noFill/>
          <a:ln/>
        </p:spPr>
        <p:txBody>
          <a:bodyPr wrap="square" lIns="0" tIns="0" rIns="0" bIns="0" rtlCol="0" anchor="ctr"/>
          <a:lstStyle/>
          <a:p>
            <a:pPr algn="l" indent="0" marL="0">
              <a:buNone/>
            </a:pPr>
            <a:r>
              <a:rPr lang="en-US" sz="1300" dirty="0">
                <a:solidFill>
                  <a:srgbClr val="6B7280"/>
                </a:solidFill>
                <a:latin typeface="Arial" pitchFamily="34" charset="0"/>
                <a:ea typeface="Arial" pitchFamily="34" charset="-122"/>
                <a:cs typeface="Arial" pitchFamily="34" charset="-120"/>
              </a:rPr>
              <a:t>Lê Minh Đăng – 520K0108 · Seminar môn SOA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73426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Giới thiệu</a:t>
            </a:r>
            <a:endParaRPr lang="en-US" sz="1100" dirty="0"/>
          </a:p>
        </p:txBody>
      </p:sp>
      <p:sp>
        <p:nvSpPr>
          <p:cNvPr id="3" name="Text 1"/>
          <p:cNvSpPr txBox="1"/>
          <p:nvPr/>
        </p:nvSpPr>
        <p:spPr>
          <a:xfrm>
            <a:off x="660380" y="643829"/>
            <a:ext cx="3421685"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Nội dung trình bày</a:t>
            </a:r>
            <a:endParaRPr lang="en-US" sz="3000" dirty="0"/>
          </a:p>
        </p:txBody>
      </p:sp>
      <p:sp>
        <p:nvSpPr>
          <p:cNvPr id="4" name="Text 2"/>
          <p:cNvSpPr txBox="1"/>
          <p:nvPr/>
        </p:nvSpPr>
        <p:spPr>
          <a:xfrm>
            <a:off x="660380" y="133667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965149" y="1368400"/>
            <a:ext cx="4411523"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Tổng quan VNPAY và lý do sử dụng cổng thanh toán</a:t>
            </a:r>
            <a:endParaRPr lang="en-US" sz="1400" dirty="0"/>
          </a:p>
        </p:txBody>
      </p:sp>
      <p:sp>
        <p:nvSpPr>
          <p:cNvPr id="6" name="Text 4"/>
          <p:cNvSpPr txBox="1"/>
          <p:nvPr/>
        </p:nvSpPr>
        <p:spPr>
          <a:xfrm>
            <a:off x="660380" y="169228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2.</a:t>
            </a:r>
            <a:endParaRPr lang="en-US" sz="1400" dirty="0"/>
          </a:p>
        </p:txBody>
      </p:sp>
      <p:sp>
        <p:nvSpPr>
          <p:cNvPr id="7" name="Text 5"/>
          <p:cNvSpPr txBox="1"/>
          <p:nvPr/>
        </p:nvSpPr>
        <p:spPr>
          <a:xfrm>
            <a:off x="965149" y="1724010"/>
            <a:ext cx="4263116"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Kiến trúc demo: Order Service và Payment Service</a:t>
            </a:r>
            <a:endParaRPr lang="en-US" sz="1400" dirty="0"/>
          </a:p>
        </p:txBody>
      </p:sp>
      <p:sp>
        <p:nvSpPr>
          <p:cNvPr id="8" name="Text 6"/>
          <p:cNvSpPr txBox="1"/>
          <p:nvPr/>
        </p:nvSpPr>
        <p:spPr>
          <a:xfrm>
            <a:off x="660380" y="204789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3.</a:t>
            </a:r>
            <a:endParaRPr lang="en-US" sz="1400" dirty="0"/>
          </a:p>
        </p:txBody>
      </p:sp>
      <p:sp>
        <p:nvSpPr>
          <p:cNvPr id="9" name="Text 7"/>
          <p:cNvSpPr txBox="1"/>
          <p:nvPr/>
        </p:nvSpPr>
        <p:spPr>
          <a:xfrm>
            <a:off x="965149" y="2079620"/>
            <a:ext cx="3691890"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Các kênh giao tiếp giữa hệ thống và VNPAY</a:t>
            </a:r>
            <a:endParaRPr lang="en-US" sz="1400" dirty="0"/>
          </a:p>
        </p:txBody>
      </p:sp>
      <p:sp>
        <p:nvSpPr>
          <p:cNvPr id="10" name="Text 8"/>
          <p:cNvSpPr txBox="1"/>
          <p:nvPr/>
        </p:nvSpPr>
        <p:spPr>
          <a:xfrm>
            <a:off x="660380" y="240350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4.</a:t>
            </a:r>
            <a:endParaRPr lang="en-US" sz="1400" dirty="0"/>
          </a:p>
        </p:txBody>
      </p:sp>
      <p:sp>
        <p:nvSpPr>
          <p:cNvPr id="11" name="Text 9"/>
          <p:cNvSpPr txBox="1"/>
          <p:nvPr/>
        </p:nvSpPr>
        <p:spPr>
          <a:xfrm>
            <a:off x="965149" y="2435230"/>
            <a:ext cx="5123840"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Tham số yêu cầu thanh toán: ý nghĩa, kiểu dữ liệu, định dạng</a:t>
            </a:r>
            <a:endParaRPr lang="en-US" sz="1400" dirty="0"/>
          </a:p>
        </p:txBody>
      </p:sp>
      <p:sp>
        <p:nvSpPr>
          <p:cNvPr id="12" name="Text 10"/>
          <p:cNvSpPr txBox="1"/>
          <p:nvPr/>
        </p:nvSpPr>
        <p:spPr>
          <a:xfrm>
            <a:off x="660380" y="2759019"/>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5.</a:t>
            </a:r>
            <a:endParaRPr lang="en-US" sz="1400" dirty="0"/>
          </a:p>
        </p:txBody>
      </p:sp>
      <p:sp>
        <p:nvSpPr>
          <p:cNvPr id="13" name="Text 11"/>
          <p:cNvSpPr txBox="1"/>
          <p:nvPr/>
        </p:nvSpPr>
        <p:spPr>
          <a:xfrm>
            <a:off x="965149" y="2790840"/>
            <a:ext cx="4022903"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Cài đặt: tạo yêu cầu, xử lý IPN, truy vấn querydr</a:t>
            </a:r>
            <a:endParaRPr lang="en-US" sz="1400" dirty="0"/>
          </a:p>
        </p:txBody>
      </p:sp>
      <p:sp>
        <p:nvSpPr>
          <p:cNvPr id="14" name="Text 12"/>
          <p:cNvSpPr txBox="1"/>
          <p:nvPr/>
        </p:nvSpPr>
        <p:spPr>
          <a:xfrm>
            <a:off x="660380" y="3114629"/>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6.</a:t>
            </a:r>
            <a:endParaRPr lang="en-US" sz="1400" dirty="0"/>
          </a:p>
        </p:txBody>
      </p:sp>
      <p:sp>
        <p:nvSpPr>
          <p:cNvPr id="15" name="Text 13"/>
          <p:cNvSpPr txBox="1"/>
          <p:nvPr/>
        </p:nvSpPr>
        <p:spPr>
          <a:xfrm>
            <a:off x="965149" y="3146359"/>
            <a:ext cx="3521629"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Xử lý sự cố và bảo đảm nhất quán dữ liệu</a:t>
            </a:r>
            <a:endParaRPr lang="en-US" sz="1400" dirty="0"/>
          </a:p>
        </p:txBody>
      </p:sp>
      <p:sp>
        <p:nvSpPr>
          <p:cNvPr id="16" name="Text 14"/>
          <p:cNvSpPr txBox="1"/>
          <p:nvPr/>
        </p:nvSpPr>
        <p:spPr>
          <a:xfrm>
            <a:off x="660380" y="3470239"/>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7.</a:t>
            </a:r>
            <a:endParaRPr lang="en-US" sz="1400" dirty="0"/>
          </a:p>
        </p:txBody>
      </p:sp>
      <p:sp>
        <p:nvSpPr>
          <p:cNvPr id="17" name="Text 15"/>
          <p:cNvSpPr txBox="1"/>
          <p:nvPr/>
        </p:nvSpPr>
        <p:spPr>
          <a:xfrm>
            <a:off x="965149" y="3501969"/>
            <a:ext cx="2229764"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Demo và thực hành tại lớp</a:t>
            </a:r>
            <a:endParaRPr lang="en-US" sz="1400" dirty="0"/>
          </a:p>
        </p:txBody>
      </p:sp>
      <p:sp>
        <p:nvSpPr>
          <p:cNvPr id="18" name="Text 16"/>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19" name="Text 17"/>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73426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Giới thiệu</a:t>
            </a:r>
            <a:endParaRPr lang="en-US" sz="1100" dirty="0"/>
          </a:p>
        </p:txBody>
      </p:sp>
      <p:sp>
        <p:nvSpPr>
          <p:cNvPr id="3" name="Text 1"/>
          <p:cNvSpPr txBox="1"/>
          <p:nvPr/>
        </p:nvSpPr>
        <p:spPr>
          <a:xfrm>
            <a:off x="660380" y="643829"/>
            <a:ext cx="7168256"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Tổng quan VNPAY và công cụ sử dụng</a:t>
            </a:r>
            <a:endParaRPr lang="en-US" sz="3000" dirty="0"/>
          </a:p>
        </p:txBody>
      </p:sp>
      <p:sp>
        <p:nvSpPr>
          <p:cNvPr id="4" name="Shape 2"/>
          <p:cNvSpPr/>
          <p:nvPr/>
        </p:nvSpPr>
        <p:spPr>
          <a:xfrm>
            <a:off x="660380" y="1347368"/>
            <a:ext cx="3513582" cy="1371600"/>
          </a:xfrm>
          <a:prstGeom prst="roundRect">
            <a:avLst>
              <a:gd name="adj" fmla="val 7407"/>
            </a:avLst>
          </a:prstGeom>
          <a:solidFill>
            <a:srgbClr val="FFFFFF"/>
          </a:solidFill>
          <a:ln w="6350">
            <a:solidFill>
              <a:srgbClr val="E3E6EA"/>
            </a:solidFill>
            <a:prstDash val="solid"/>
          </a:ln>
        </p:spPr>
      </p:sp>
      <p:sp>
        <p:nvSpPr>
          <p:cNvPr id="5" name="Text 3"/>
          <p:cNvSpPr txBox="1"/>
          <p:nvPr/>
        </p:nvSpPr>
        <p:spPr>
          <a:xfrm>
            <a:off x="857250" y="1539850"/>
            <a:ext cx="659282"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VNPAY</a:t>
            </a:r>
            <a:endParaRPr lang="en-US" sz="1400" dirty="0"/>
          </a:p>
        </p:txBody>
      </p:sp>
      <p:sp>
        <p:nvSpPr>
          <p:cNvPr id="6" name="Text 4"/>
          <p:cNvSpPr txBox="1"/>
          <p:nvPr/>
        </p:nvSpPr>
        <p:spPr>
          <a:xfrm>
            <a:off x="857250" y="1835018"/>
            <a:ext cx="3213476" cy="742950"/>
          </a:xfrm>
          <a:prstGeom prst="rect">
            <a:avLst/>
          </a:prstGeom>
          <a:noFill/>
          <a:ln/>
        </p:spPr>
        <p:txBody>
          <a:bodyPr wrap="square" lIns="0" tIns="0" rIns="0" bIns="0" rtlCol="0" anchor="t"/>
          <a:lstStyle/>
          <a:p>
            <a:pPr algn="l" indent="0" marL="0">
              <a:lnSpc>
                <a:spcPts val="1800"/>
              </a:lnSpc>
              <a:buNone/>
            </a:pPr>
            <a:r>
              <a:rPr lang="en-US" sz="1200" dirty="0">
                <a:solidFill>
                  <a:srgbClr val="3F454D"/>
                </a:solidFill>
                <a:latin typeface="Arial" pitchFamily="34" charset="0"/>
                <a:ea typeface="Arial" pitchFamily="34" charset="-122"/>
                <a:cs typeface="Arial" pitchFamily="34" charset="-120"/>
              </a:rPr>
              <a:t>Cổng thanh toán trung gian giữa website và ngân hàng. Hỗ trợ thẻ ATM nội địa, thẻ quốc tế và QR.</a:t>
            </a:r>
            <a:endParaRPr lang="en-US" sz="1200" dirty="0"/>
          </a:p>
        </p:txBody>
      </p:sp>
      <p:sp>
        <p:nvSpPr>
          <p:cNvPr id="7" name="Shape 5"/>
          <p:cNvSpPr/>
          <p:nvPr/>
        </p:nvSpPr>
        <p:spPr>
          <a:xfrm>
            <a:off x="4339011" y="1347368"/>
            <a:ext cx="3513673" cy="1371600"/>
          </a:xfrm>
          <a:prstGeom prst="roundRect">
            <a:avLst>
              <a:gd name="adj" fmla="val 7407"/>
            </a:avLst>
          </a:prstGeom>
          <a:solidFill>
            <a:srgbClr val="FFFFFF"/>
          </a:solidFill>
          <a:ln w="6350">
            <a:solidFill>
              <a:srgbClr val="E3E6EA"/>
            </a:solidFill>
            <a:prstDash val="solid"/>
          </a:ln>
        </p:spPr>
      </p:sp>
      <p:sp>
        <p:nvSpPr>
          <p:cNvPr id="8" name="Text 6"/>
          <p:cNvSpPr txBox="1"/>
          <p:nvPr/>
        </p:nvSpPr>
        <p:spPr>
          <a:xfrm>
            <a:off x="4535881" y="1539850"/>
            <a:ext cx="1462766"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VNPAY Sandbox</a:t>
            </a:r>
            <a:endParaRPr lang="en-US" sz="1400" dirty="0"/>
          </a:p>
        </p:txBody>
      </p:sp>
      <p:sp>
        <p:nvSpPr>
          <p:cNvPr id="9" name="Text 7"/>
          <p:cNvSpPr txBox="1"/>
          <p:nvPr/>
        </p:nvSpPr>
        <p:spPr>
          <a:xfrm>
            <a:off x="4535881" y="1835018"/>
            <a:ext cx="3213567" cy="742950"/>
          </a:xfrm>
          <a:prstGeom prst="rect">
            <a:avLst/>
          </a:prstGeom>
          <a:noFill/>
          <a:ln/>
        </p:spPr>
        <p:txBody>
          <a:bodyPr wrap="square" lIns="0" tIns="0" rIns="0" bIns="0" rtlCol="0" anchor="t"/>
          <a:lstStyle/>
          <a:p>
            <a:pPr algn="l" indent="0" marL="0">
              <a:lnSpc>
                <a:spcPts val="1800"/>
              </a:lnSpc>
              <a:buNone/>
            </a:pPr>
            <a:r>
              <a:rPr lang="en-US" sz="1200" dirty="0">
                <a:solidFill>
                  <a:srgbClr val="3F454D"/>
                </a:solidFill>
                <a:latin typeface="Arial" pitchFamily="34" charset="0"/>
                <a:ea typeface="Arial" pitchFamily="34" charset="-122"/>
                <a:cs typeface="Arial" pitchFamily="34" charset="-120"/>
              </a:rPr>
              <a:t>Môi trường thử nghiệm. Cấp mã merchant (TmnCode) và khóa bí mật (HashSecret); giao dịch dùng thẻ thử.</a:t>
            </a:r>
            <a:endParaRPr lang="en-US" sz="1200" dirty="0"/>
          </a:p>
        </p:txBody>
      </p:sp>
      <p:sp>
        <p:nvSpPr>
          <p:cNvPr id="10" name="Shape 8"/>
          <p:cNvSpPr/>
          <p:nvPr/>
        </p:nvSpPr>
        <p:spPr>
          <a:xfrm>
            <a:off x="8017734" y="1347368"/>
            <a:ext cx="3513582" cy="1371600"/>
          </a:xfrm>
          <a:prstGeom prst="roundRect">
            <a:avLst>
              <a:gd name="adj" fmla="val 7407"/>
            </a:avLst>
          </a:prstGeom>
          <a:solidFill>
            <a:srgbClr val="FFFFFF"/>
          </a:solidFill>
          <a:ln w="6350">
            <a:solidFill>
              <a:srgbClr val="E3E6EA"/>
            </a:solidFill>
            <a:prstDash val="solid"/>
          </a:ln>
        </p:spPr>
      </p:sp>
      <p:sp>
        <p:nvSpPr>
          <p:cNvPr id="11" name="Text 9"/>
          <p:cNvSpPr txBox="1"/>
          <p:nvPr/>
        </p:nvSpPr>
        <p:spPr>
          <a:xfrm>
            <a:off x="8214604" y="1539850"/>
            <a:ext cx="78739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Công cụ</a:t>
            </a:r>
            <a:endParaRPr lang="en-US" sz="1400" dirty="0"/>
          </a:p>
        </p:txBody>
      </p:sp>
      <p:sp>
        <p:nvSpPr>
          <p:cNvPr id="12" name="Text 10"/>
          <p:cNvSpPr txBox="1"/>
          <p:nvPr/>
        </p:nvSpPr>
        <p:spPr>
          <a:xfrm>
            <a:off x="8214604" y="1835018"/>
            <a:ext cx="3213476" cy="768370"/>
          </a:xfrm>
          <a:prstGeom prst="rect">
            <a:avLst/>
          </a:prstGeom>
          <a:noFill/>
          <a:ln/>
        </p:spPr>
        <p:txBody>
          <a:bodyPr wrap="square" lIns="0" tIns="0" rIns="0" bIns="0" rtlCol="0" anchor="t"/>
          <a:lstStyle/>
          <a:p>
            <a:pPr algn="l" indent="0" marL="0">
              <a:lnSpc>
                <a:spcPts val="1800"/>
              </a:lnSpc>
              <a:buNone/>
            </a:pPr>
            <a:r>
              <a:rPr lang="en-US" sz="1200" dirty="0">
                <a:solidFill>
                  <a:srgbClr val="3F454D"/>
                </a:solidFill>
                <a:latin typeface="Arial" pitchFamily="34" charset="0"/>
                <a:ea typeface="Arial" pitchFamily="34" charset="-122"/>
                <a:cs typeface="Arial" pitchFamily="34" charset="-120"/>
              </a:rPr>
              <a:t>Java 17 (</a:t>
            </a:r>
            <a:pPr algn="l" indent="0" marL="0">
              <a:lnSpc>
                <a:spcPts val="1800"/>
              </a:lnSpc>
              <a:buNone/>
            </a:pPr>
            <a:r>
              <a:rPr lang="en-US" sz="1200" dirty="0">
                <a:solidFill>
                  <a:srgbClr val="3F454D"/>
                </a:solidFill>
                <a:latin typeface="Courier New" pitchFamily="34" charset="0"/>
                <a:ea typeface="Courier New" pitchFamily="34" charset="-122"/>
                <a:cs typeface="Courier New" pitchFamily="34" charset="-120"/>
              </a:rPr>
              <a:t>HttpServer</a:t>
            </a:r>
            <a:pPr algn="l" indent="0" marL="0">
              <a:lnSpc>
                <a:spcPts val="1800"/>
              </a:lnSpc>
              <a:buNone/>
            </a:pPr>
            <a:r>
              <a:rPr lang="en-US" sz="1200" dirty="0">
                <a:solidFill>
                  <a:srgbClr val="3F454D"/>
                </a:solidFill>
                <a:latin typeface="Arial" pitchFamily="34" charset="0"/>
                <a:ea typeface="Arial" pitchFamily="34" charset="-122"/>
                <a:cs typeface="Arial" pitchFamily="34" charset="-120"/>
              </a:rPr>
              <a:t>, </a:t>
            </a:r>
            <a:pPr algn="l" indent="0" marL="0">
              <a:lnSpc>
                <a:spcPts val="1800"/>
              </a:lnSpc>
              <a:buNone/>
            </a:pPr>
            <a:r>
              <a:rPr lang="en-US" sz="1200" dirty="0">
                <a:solidFill>
                  <a:srgbClr val="3F454D"/>
                </a:solidFill>
                <a:latin typeface="Courier New" pitchFamily="34" charset="0"/>
                <a:ea typeface="Courier New" pitchFamily="34" charset="-122"/>
                <a:cs typeface="Courier New" pitchFamily="34" charset="-120"/>
              </a:rPr>
              <a:t>HttpClient</a:t>
            </a:r>
            <a:pPr algn="l" indent="0" marL="0">
              <a:lnSpc>
                <a:spcPts val="1800"/>
              </a:lnSpc>
              <a:buNone/>
            </a:pPr>
            <a:r>
              <a:rPr lang="en-US" sz="1200" dirty="0">
                <a:solidFill>
                  <a:srgbClr val="3F454D"/>
                </a:solidFill>
                <a:latin typeface="Arial" pitchFamily="34" charset="0"/>
                <a:ea typeface="Arial" pitchFamily="34" charset="-122"/>
                <a:cs typeface="Arial" pitchFamily="34" charset="-120"/>
              </a:rPr>
              <a:t>, </a:t>
            </a:r>
            <a:pPr algn="l" indent="0" marL="0">
              <a:lnSpc>
                <a:spcPts val="1800"/>
              </a:lnSpc>
              <a:buNone/>
            </a:pPr>
            <a:r>
              <a:rPr lang="en-US" sz="1200" dirty="0">
                <a:solidFill>
                  <a:srgbClr val="3F454D"/>
                </a:solidFill>
                <a:latin typeface="Courier New" pitchFamily="34" charset="0"/>
                <a:ea typeface="Courier New" pitchFamily="34" charset="-122"/>
                <a:cs typeface="Courier New" pitchFamily="34" charset="-120"/>
              </a:rPr>
              <a:t>javax.crypto</a:t>
            </a:r>
            <a:pPr algn="l" indent="0" marL="0">
              <a:lnSpc>
                <a:spcPts val="1800"/>
              </a:lnSpc>
              <a:buNone/>
            </a:pPr>
            <a:r>
              <a:rPr lang="en-US" sz="1200" dirty="0">
                <a:solidFill>
                  <a:srgbClr val="3F454D"/>
                </a:solidFill>
                <a:latin typeface="Arial" pitchFamily="34" charset="0"/>
                <a:ea typeface="Arial" pitchFamily="34" charset="-122"/>
                <a:cs typeface="Arial" pitchFamily="34" charset="-120"/>
              </a:rPr>
              <a:t>), thư viện org.json; ngrok khi kết nối sandbox.</a:t>
            </a:r>
            <a:endParaRPr lang="en-US" sz="1200" dirty="0"/>
          </a:p>
        </p:txBody>
      </p:sp>
      <p:sp>
        <p:nvSpPr>
          <p:cNvPr id="13" name="Shape 11"/>
          <p:cNvSpPr/>
          <p:nvPr/>
        </p:nvSpPr>
        <p:spPr>
          <a:xfrm>
            <a:off x="660380" y="2896728"/>
            <a:ext cx="10870936" cy="1552560"/>
          </a:xfrm>
          <a:prstGeom prst="roundRect">
            <a:avLst>
              <a:gd name="adj" fmla="val 6543"/>
            </a:avLst>
          </a:prstGeom>
          <a:solidFill>
            <a:srgbClr val="FFFFFF"/>
          </a:solidFill>
          <a:ln/>
        </p:spPr>
      </p:sp>
      <p:sp>
        <p:nvSpPr>
          <p:cNvPr id="14" name="Shape 12"/>
          <p:cNvSpPr/>
          <p:nvPr/>
        </p:nvSpPr>
        <p:spPr>
          <a:xfrm>
            <a:off x="660380" y="2896728"/>
            <a:ext cx="6522507" cy="422270"/>
          </a:xfrm>
          <a:prstGeom prst="rect">
            <a:avLst/>
          </a:prstGeom>
          <a:solidFill>
            <a:srgbClr val="ECF2FF"/>
          </a:solidFill>
          <a:ln/>
        </p:spPr>
      </p:sp>
      <p:sp>
        <p:nvSpPr>
          <p:cNvPr id="15" name="Text 13"/>
          <p:cNvSpPr txBox="1"/>
          <p:nvPr/>
        </p:nvSpPr>
        <p:spPr>
          <a:xfrm>
            <a:off x="825520" y="3028767"/>
            <a:ext cx="76197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NỘI DUNG</a:t>
            </a:r>
            <a:endParaRPr lang="en-US" sz="1000" dirty="0"/>
          </a:p>
        </p:txBody>
      </p:sp>
      <p:sp>
        <p:nvSpPr>
          <p:cNvPr id="16" name="Shape 14"/>
          <p:cNvSpPr/>
          <p:nvPr/>
        </p:nvSpPr>
        <p:spPr>
          <a:xfrm>
            <a:off x="7182886" y="2896728"/>
            <a:ext cx="4348429" cy="422270"/>
          </a:xfrm>
          <a:prstGeom prst="rect">
            <a:avLst/>
          </a:prstGeom>
          <a:solidFill>
            <a:srgbClr val="ECF2FF"/>
          </a:solidFill>
          <a:ln/>
        </p:spPr>
      </p:sp>
      <p:sp>
        <p:nvSpPr>
          <p:cNvPr id="17" name="Text 15"/>
          <p:cNvSpPr txBox="1"/>
          <p:nvPr/>
        </p:nvSpPr>
        <p:spPr>
          <a:xfrm>
            <a:off x="7347936" y="3028767"/>
            <a:ext cx="89483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THUẬT NGỮ</a:t>
            </a:r>
            <a:endParaRPr lang="en-US" sz="1000" dirty="0"/>
          </a:p>
        </p:txBody>
      </p:sp>
      <p:sp>
        <p:nvSpPr>
          <p:cNvPr id="18" name="Shape 16"/>
          <p:cNvSpPr/>
          <p:nvPr/>
        </p:nvSpPr>
        <p:spPr>
          <a:xfrm>
            <a:off x="660380" y="3318998"/>
            <a:ext cx="6522507" cy="6309"/>
          </a:xfrm>
          <a:prstGeom prst="rect">
            <a:avLst/>
          </a:prstGeom>
          <a:solidFill>
            <a:srgbClr val="E3E6EA"/>
          </a:solidFill>
          <a:ln/>
        </p:spPr>
      </p:sp>
      <p:sp>
        <p:nvSpPr>
          <p:cNvPr id="19" name="Text 17"/>
          <p:cNvSpPr txBox="1"/>
          <p:nvPr/>
        </p:nvSpPr>
        <p:spPr>
          <a:xfrm>
            <a:off x="800100" y="3415010"/>
            <a:ext cx="4215201"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Tạo yêu cầu thanh toán, chuyển khách hàng sang VNPAY</a:t>
            </a:r>
            <a:endParaRPr lang="en-US" sz="1150" dirty="0"/>
          </a:p>
        </p:txBody>
      </p:sp>
      <p:sp>
        <p:nvSpPr>
          <p:cNvPr id="20" name="Shape 18"/>
          <p:cNvSpPr/>
          <p:nvPr/>
        </p:nvSpPr>
        <p:spPr>
          <a:xfrm>
            <a:off x="7182886" y="3318998"/>
            <a:ext cx="4348429" cy="6309"/>
          </a:xfrm>
          <a:prstGeom prst="rect">
            <a:avLst/>
          </a:prstGeom>
          <a:solidFill>
            <a:srgbClr val="E3E6EA"/>
          </a:solidFill>
          <a:ln/>
        </p:spPr>
      </p:sp>
      <p:sp>
        <p:nvSpPr>
          <p:cNvPr id="21" name="Text 19"/>
          <p:cNvSpPr txBox="1"/>
          <p:nvPr/>
        </p:nvSpPr>
        <p:spPr>
          <a:xfrm>
            <a:off x="7322515" y="3415010"/>
            <a:ext cx="118030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Payment request</a:t>
            </a:r>
            <a:endParaRPr lang="en-US" sz="1150" dirty="0"/>
          </a:p>
        </p:txBody>
      </p:sp>
      <p:sp>
        <p:nvSpPr>
          <p:cNvPr id="22" name="Shape 20"/>
          <p:cNvSpPr/>
          <p:nvPr/>
        </p:nvSpPr>
        <p:spPr>
          <a:xfrm>
            <a:off x="660380" y="3696828"/>
            <a:ext cx="6522507" cy="6309"/>
          </a:xfrm>
          <a:prstGeom prst="rect">
            <a:avLst/>
          </a:prstGeom>
          <a:solidFill>
            <a:srgbClr val="E3E6EA"/>
          </a:solidFill>
          <a:ln/>
        </p:spPr>
      </p:sp>
      <p:sp>
        <p:nvSpPr>
          <p:cNvPr id="23" name="Text 21"/>
          <p:cNvSpPr txBox="1"/>
          <p:nvPr/>
        </p:nvSpPr>
        <p:spPr>
          <a:xfrm>
            <a:off x="800100" y="3792840"/>
            <a:ext cx="265633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Nhận và xử lý kết quả VNPAY gửi về</a:t>
            </a:r>
            <a:endParaRPr lang="en-US" sz="1150" dirty="0"/>
          </a:p>
        </p:txBody>
      </p:sp>
      <p:sp>
        <p:nvSpPr>
          <p:cNvPr id="24" name="Shape 22"/>
          <p:cNvSpPr/>
          <p:nvPr/>
        </p:nvSpPr>
        <p:spPr>
          <a:xfrm>
            <a:off x="7182886" y="3696828"/>
            <a:ext cx="4348429" cy="6309"/>
          </a:xfrm>
          <a:prstGeom prst="rect">
            <a:avLst/>
          </a:prstGeom>
          <a:solidFill>
            <a:srgbClr val="E3E6EA"/>
          </a:solidFill>
          <a:ln/>
        </p:spPr>
      </p:sp>
      <p:sp>
        <p:nvSpPr>
          <p:cNvPr id="25" name="Text 23"/>
          <p:cNvSpPr txBox="1"/>
          <p:nvPr/>
        </p:nvSpPr>
        <p:spPr>
          <a:xfrm>
            <a:off x="7322515" y="3792840"/>
            <a:ext cx="122922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Callback handling</a:t>
            </a:r>
            <a:endParaRPr lang="en-US" sz="1150" dirty="0"/>
          </a:p>
        </p:txBody>
      </p:sp>
      <p:sp>
        <p:nvSpPr>
          <p:cNvPr id="26" name="Shape 24"/>
          <p:cNvSpPr/>
          <p:nvPr/>
        </p:nvSpPr>
        <p:spPr>
          <a:xfrm>
            <a:off x="660380" y="4074658"/>
            <a:ext cx="6522507" cy="6309"/>
          </a:xfrm>
          <a:prstGeom prst="rect">
            <a:avLst/>
          </a:prstGeom>
          <a:solidFill>
            <a:srgbClr val="E3E6EA"/>
          </a:solidFill>
          <a:ln/>
        </p:spPr>
      </p:sp>
      <p:sp>
        <p:nvSpPr>
          <p:cNvPr id="27" name="Text 25"/>
          <p:cNvSpPr txBox="1"/>
          <p:nvPr/>
        </p:nvSpPr>
        <p:spPr>
          <a:xfrm>
            <a:off x="800100" y="4170578"/>
            <a:ext cx="2322667"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Truy vấn lại trạng thái giao dịch</a:t>
            </a:r>
            <a:endParaRPr lang="en-US" sz="1150" dirty="0"/>
          </a:p>
        </p:txBody>
      </p:sp>
      <p:sp>
        <p:nvSpPr>
          <p:cNvPr id="28" name="Shape 26"/>
          <p:cNvSpPr/>
          <p:nvPr/>
        </p:nvSpPr>
        <p:spPr>
          <a:xfrm>
            <a:off x="7182886" y="4074658"/>
            <a:ext cx="4348429" cy="6309"/>
          </a:xfrm>
          <a:prstGeom prst="rect">
            <a:avLst/>
          </a:prstGeom>
          <a:solidFill>
            <a:srgbClr val="E3E6EA"/>
          </a:solidFill>
          <a:ln/>
        </p:spPr>
      </p:sp>
      <p:sp>
        <p:nvSpPr>
          <p:cNvPr id="29" name="Text 27"/>
          <p:cNvSpPr txBox="1"/>
          <p:nvPr/>
        </p:nvSpPr>
        <p:spPr>
          <a:xfrm>
            <a:off x="7322515" y="4170578"/>
            <a:ext cx="158602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Transaction verification</a:t>
            </a:r>
            <a:endParaRPr lang="en-US" sz="1150" dirty="0"/>
          </a:p>
        </p:txBody>
      </p:sp>
      <p:sp>
        <p:nvSpPr>
          <p:cNvPr id="30" name="Text 28"/>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1" name="Text 29"/>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73426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Giới thiệu</a:t>
            </a:r>
            <a:endParaRPr lang="en-US" sz="1100" dirty="0"/>
          </a:p>
        </p:txBody>
      </p:sp>
      <p:sp>
        <p:nvSpPr>
          <p:cNvPr id="3" name="Text 1"/>
          <p:cNvSpPr txBox="1"/>
          <p:nvPr/>
        </p:nvSpPr>
        <p:spPr>
          <a:xfrm>
            <a:off x="660380" y="643829"/>
            <a:ext cx="5823722"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Lý do sử dụng cổng thanh toán</a:t>
            </a:r>
            <a:endParaRPr lang="en-US" sz="3000" dirty="0"/>
          </a:p>
        </p:txBody>
      </p:sp>
      <p:sp>
        <p:nvSpPr>
          <p:cNvPr id="4" name="Shape 2"/>
          <p:cNvSpPr/>
          <p:nvPr/>
        </p:nvSpPr>
        <p:spPr>
          <a:xfrm>
            <a:off x="660380" y="1347368"/>
            <a:ext cx="10870936" cy="1552560"/>
          </a:xfrm>
          <a:prstGeom prst="roundRect">
            <a:avLst>
              <a:gd name="adj" fmla="val 6543"/>
            </a:avLst>
          </a:prstGeom>
          <a:solidFill>
            <a:srgbClr val="FFFFFF"/>
          </a:solidFill>
          <a:ln/>
        </p:spPr>
      </p:sp>
      <p:sp>
        <p:nvSpPr>
          <p:cNvPr id="5" name="Shape 3"/>
          <p:cNvSpPr/>
          <p:nvPr/>
        </p:nvSpPr>
        <p:spPr>
          <a:xfrm>
            <a:off x="660380" y="1347368"/>
            <a:ext cx="5435468" cy="422270"/>
          </a:xfrm>
          <a:prstGeom prst="rect">
            <a:avLst/>
          </a:prstGeom>
          <a:solidFill>
            <a:srgbClr val="ECF2FF"/>
          </a:solidFill>
          <a:ln/>
        </p:spPr>
      </p:sp>
      <p:sp>
        <p:nvSpPr>
          <p:cNvPr id="6" name="Text 4"/>
          <p:cNvSpPr txBox="1"/>
          <p:nvPr/>
        </p:nvSpPr>
        <p:spPr>
          <a:xfrm>
            <a:off x="825520" y="1479408"/>
            <a:ext cx="169493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TỰ XỬ LÝ THANH TOÁN</a:t>
            </a:r>
            <a:endParaRPr lang="en-US" sz="1000" dirty="0"/>
          </a:p>
        </p:txBody>
      </p:sp>
      <p:sp>
        <p:nvSpPr>
          <p:cNvPr id="7" name="Shape 5"/>
          <p:cNvSpPr/>
          <p:nvPr/>
        </p:nvSpPr>
        <p:spPr>
          <a:xfrm>
            <a:off x="6095848" y="1347368"/>
            <a:ext cx="5435468" cy="422270"/>
          </a:xfrm>
          <a:prstGeom prst="rect">
            <a:avLst/>
          </a:prstGeom>
          <a:solidFill>
            <a:srgbClr val="ECF2FF"/>
          </a:solidFill>
          <a:ln/>
        </p:spPr>
      </p:sp>
      <p:sp>
        <p:nvSpPr>
          <p:cNvPr id="8" name="Text 6"/>
          <p:cNvSpPr txBox="1"/>
          <p:nvPr/>
        </p:nvSpPr>
        <p:spPr>
          <a:xfrm>
            <a:off x="6260988" y="1479408"/>
            <a:ext cx="1209843"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SỬ DỤNG VNPAY</a:t>
            </a:r>
            <a:endParaRPr lang="en-US" sz="1000" dirty="0"/>
          </a:p>
        </p:txBody>
      </p:sp>
      <p:sp>
        <p:nvSpPr>
          <p:cNvPr id="9" name="Shape 7"/>
          <p:cNvSpPr/>
          <p:nvPr/>
        </p:nvSpPr>
        <p:spPr>
          <a:xfrm>
            <a:off x="660380" y="1769638"/>
            <a:ext cx="5435468" cy="6309"/>
          </a:xfrm>
          <a:prstGeom prst="rect">
            <a:avLst/>
          </a:prstGeom>
          <a:solidFill>
            <a:srgbClr val="E3E6EA"/>
          </a:solidFill>
          <a:ln/>
        </p:spPr>
      </p:sp>
      <p:sp>
        <p:nvSpPr>
          <p:cNvPr id="10" name="Text 8"/>
          <p:cNvSpPr txBox="1"/>
          <p:nvPr/>
        </p:nvSpPr>
        <p:spPr>
          <a:xfrm>
            <a:off x="800100" y="1865650"/>
            <a:ext cx="308500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Tiếp nhận số thẻ: phải đạt chuẩn PCI-DSS</a:t>
            </a:r>
            <a:endParaRPr lang="en-US" sz="1150" dirty="0"/>
          </a:p>
        </p:txBody>
      </p:sp>
      <p:sp>
        <p:nvSpPr>
          <p:cNvPr id="11" name="Shape 9"/>
          <p:cNvSpPr/>
          <p:nvPr/>
        </p:nvSpPr>
        <p:spPr>
          <a:xfrm>
            <a:off x="6095848" y="1769638"/>
            <a:ext cx="5435468" cy="6309"/>
          </a:xfrm>
          <a:prstGeom prst="rect">
            <a:avLst/>
          </a:prstGeom>
          <a:solidFill>
            <a:srgbClr val="E3E6EA"/>
          </a:solidFill>
          <a:ln/>
        </p:spPr>
      </p:sp>
      <p:sp>
        <p:nvSpPr>
          <p:cNvPr id="12" name="Text 10"/>
          <p:cNvSpPr txBox="1"/>
          <p:nvPr/>
        </p:nvSpPr>
        <p:spPr>
          <a:xfrm>
            <a:off x="6235568" y="1865650"/>
            <a:ext cx="451155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Khách hàng nhập thẻ tại VNPAY; hệ thống không tiếp nhận số thẻ</a:t>
            </a:r>
            <a:endParaRPr lang="en-US" sz="1150" dirty="0"/>
          </a:p>
        </p:txBody>
      </p:sp>
      <p:sp>
        <p:nvSpPr>
          <p:cNvPr id="13" name="Shape 11"/>
          <p:cNvSpPr/>
          <p:nvPr/>
        </p:nvSpPr>
        <p:spPr>
          <a:xfrm>
            <a:off x="660380" y="2147468"/>
            <a:ext cx="5435468" cy="6309"/>
          </a:xfrm>
          <a:prstGeom prst="rect">
            <a:avLst/>
          </a:prstGeom>
          <a:solidFill>
            <a:srgbClr val="E3E6EA"/>
          </a:solidFill>
          <a:ln/>
        </p:spPr>
      </p:sp>
      <p:sp>
        <p:nvSpPr>
          <p:cNvPr id="14" name="Text 12"/>
          <p:cNvSpPr txBox="1"/>
          <p:nvPr/>
        </p:nvSpPr>
        <p:spPr>
          <a:xfrm>
            <a:off x="800100" y="2243480"/>
            <a:ext cx="2449678"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Kết nối riêng với từng ngân hàng</a:t>
            </a:r>
            <a:endParaRPr lang="en-US" sz="1150" dirty="0"/>
          </a:p>
        </p:txBody>
      </p:sp>
      <p:sp>
        <p:nvSpPr>
          <p:cNvPr id="15" name="Shape 13"/>
          <p:cNvSpPr/>
          <p:nvPr/>
        </p:nvSpPr>
        <p:spPr>
          <a:xfrm>
            <a:off x="6095848" y="2147468"/>
            <a:ext cx="5435468" cy="6309"/>
          </a:xfrm>
          <a:prstGeom prst="rect">
            <a:avLst/>
          </a:prstGeom>
          <a:solidFill>
            <a:srgbClr val="E3E6EA"/>
          </a:solidFill>
          <a:ln/>
        </p:spPr>
      </p:sp>
      <p:sp>
        <p:nvSpPr>
          <p:cNvPr id="16" name="Text 14"/>
          <p:cNvSpPr txBox="1"/>
          <p:nvPr/>
        </p:nvSpPr>
        <p:spPr>
          <a:xfrm>
            <a:off x="6235568" y="2243480"/>
            <a:ext cx="40145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Tích hợp một lần, hỗ trợ nhiều ngân hàng và phương thức</a:t>
            </a:r>
            <a:endParaRPr lang="en-US" sz="1150" dirty="0"/>
          </a:p>
        </p:txBody>
      </p:sp>
      <p:sp>
        <p:nvSpPr>
          <p:cNvPr id="17" name="Shape 15"/>
          <p:cNvSpPr/>
          <p:nvPr/>
        </p:nvSpPr>
        <p:spPr>
          <a:xfrm>
            <a:off x="660380" y="2525207"/>
            <a:ext cx="5435468" cy="6309"/>
          </a:xfrm>
          <a:prstGeom prst="rect">
            <a:avLst/>
          </a:prstGeom>
          <a:solidFill>
            <a:srgbClr val="E3E6EA"/>
          </a:solidFill>
          <a:ln/>
        </p:spPr>
      </p:sp>
      <p:sp>
        <p:nvSpPr>
          <p:cNvPr id="18" name="Text 16"/>
          <p:cNvSpPr txBox="1"/>
          <p:nvPr/>
        </p:nvSpPr>
        <p:spPr>
          <a:xfrm>
            <a:off x="800100" y="2621219"/>
            <a:ext cx="1669877"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Tự xử lý xác thực OTP</a:t>
            </a:r>
            <a:endParaRPr lang="en-US" sz="1150" dirty="0"/>
          </a:p>
        </p:txBody>
      </p:sp>
      <p:sp>
        <p:nvSpPr>
          <p:cNvPr id="19" name="Shape 17"/>
          <p:cNvSpPr/>
          <p:nvPr/>
        </p:nvSpPr>
        <p:spPr>
          <a:xfrm>
            <a:off x="6095848" y="2525207"/>
            <a:ext cx="5435468" cy="6309"/>
          </a:xfrm>
          <a:prstGeom prst="rect">
            <a:avLst/>
          </a:prstGeom>
          <a:solidFill>
            <a:srgbClr val="E3E6EA"/>
          </a:solidFill>
          <a:ln/>
        </p:spPr>
      </p:sp>
      <p:sp>
        <p:nvSpPr>
          <p:cNvPr id="20" name="Text 18"/>
          <p:cNvSpPr txBox="1"/>
          <p:nvPr/>
        </p:nvSpPr>
        <p:spPr>
          <a:xfrm>
            <a:off x="6235568" y="2621219"/>
            <a:ext cx="211720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xác thực và trả kết quả</a:t>
            </a:r>
            <a:endParaRPr lang="en-US" sz="1150" dirty="0"/>
          </a:p>
        </p:txBody>
      </p:sp>
      <p:sp>
        <p:nvSpPr>
          <p:cNvPr id="21" name="Shape 19"/>
          <p:cNvSpPr/>
          <p:nvPr/>
        </p:nvSpPr>
        <p:spPr>
          <a:xfrm>
            <a:off x="660380" y="3077688"/>
            <a:ext cx="10870936" cy="1396929"/>
          </a:xfrm>
          <a:prstGeom prst="roundRect">
            <a:avLst>
              <a:gd name="adj" fmla="val 6363"/>
            </a:avLst>
          </a:prstGeom>
          <a:solidFill>
            <a:srgbClr val="FFFFFF"/>
          </a:solidFill>
          <a:ln w="6350">
            <a:solidFill>
              <a:srgbClr val="E3E6EA"/>
            </a:solidFill>
            <a:prstDash val="solid"/>
          </a:ln>
        </p:spPr>
      </p:sp>
      <p:sp>
        <p:nvSpPr>
          <p:cNvPr id="22" name="Text 20"/>
          <p:cNvSpPr txBox="1"/>
          <p:nvPr/>
        </p:nvSpPr>
        <p:spPr>
          <a:xfrm>
            <a:off x="831830" y="3239994"/>
            <a:ext cx="1261689" cy="228600"/>
          </a:xfrm>
          <a:prstGeom prst="rect">
            <a:avLst/>
          </a:prstGeom>
          <a:noFill/>
          <a:ln/>
        </p:spPr>
        <p:txBody>
          <a:bodyPr wrap="square" lIns="0" tIns="0" rIns="0" bIns="0" rtlCol="0" anchor="ctr"/>
          <a:lstStyle/>
          <a:p>
            <a:pPr algn="l" indent="0" marL="0">
              <a:buNone/>
            </a:pPr>
            <a:r>
              <a:rPr lang="en-US" sz="1200" b="1" dirty="0">
                <a:solidFill>
                  <a:srgbClr val="0066FF"/>
                </a:solidFill>
                <a:latin typeface="Arial" pitchFamily="34" charset="0"/>
                <a:ea typeface="Arial" pitchFamily="34" charset="-122"/>
                <a:cs typeface="Arial" pitchFamily="34" charset="-120"/>
              </a:rPr>
              <a:t>Mục tiêu của bài</a:t>
            </a:r>
            <a:endParaRPr lang="en-US" sz="1200" dirty="0"/>
          </a:p>
        </p:txBody>
      </p:sp>
      <p:sp>
        <p:nvSpPr>
          <p:cNvPr id="23" name="Shape 21"/>
          <p:cNvSpPr/>
          <p:nvPr/>
        </p:nvSpPr>
        <p:spPr>
          <a:xfrm>
            <a:off x="869960" y="3623036"/>
            <a:ext cx="63459" cy="63459"/>
          </a:xfrm>
          <a:prstGeom prst="ellipse">
            <a:avLst/>
          </a:prstGeom>
          <a:solidFill>
            <a:srgbClr val="0066FF"/>
          </a:solidFill>
          <a:ln/>
        </p:spPr>
      </p:sp>
      <p:sp>
        <p:nvSpPr>
          <p:cNvPr id="24" name="Text 22"/>
          <p:cNvSpPr txBox="1"/>
          <p:nvPr/>
        </p:nvSpPr>
        <p:spPr>
          <a:xfrm>
            <a:off x="1047720" y="3532053"/>
            <a:ext cx="6619250" cy="228600"/>
          </a:xfrm>
          <a:prstGeom prst="rect">
            <a:avLst/>
          </a:prstGeom>
          <a:noFill/>
          <a:ln/>
        </p:spPr>
        <p:txBody>
          <a:bodyPr wrap="square" lIns="0" tIns="0" rIns="0" bIns="0" rtlCol="0" anchor="ctr"/>
          <a:lstStyle/>
          <a:p>
            <a:pPr algn="l" indent="0" marL="0">
              <a:buNone/>
            </a:pPr>
            <a:r>
              <a:rPr lang="en-US" sz="1200" dirty="0">
                <a:solidFill>
                  <a:srgbClr val="3F454D"/>
                </a:solidFill>
                <a:latin typeface="Arial" pitchFamily="34" charset="0"/>
                <a:ea typeface="Arial" pitchFamily="34" charset="-122"/>
                <a:cs typeface="Arial" pitchFamily="34" charset="-120"/>
              </a:rPr>
              <a:t>Trình bày cách một service tích hợp dịch vụ bên ngoài: ký dữ liệu, nhận callback, truy vấn lại</a:t>
            </a:r>
            <a:endParaRPr lang="en-US" sz="1200" dirty="0"/>
          </a:p>
        </p:txBody>
      </p:sp>
      <p:sp>
        <p:nvSpPr>
          <p:cNvPr id="25" name="Shape 23"/>
          <p:cNvSpPr/>
          <p:nvPr/>
        </p:nvSpPr>
        <p:spPr>
          <a:xfrm>
            <a:off x="869960" y="3915095"/>
            <a:ext cx="63459" cy="63459"/>
          </a:xfrm>
          <a:prstGeom prst="ellipse">
            <a:avLst/>
          </a:prstGeom>
          <a:solidFill>
            <a:srgbClr val="0066FF"/>
          </a:solidFill>
          <a:ln/>
        </p:spPr>
      </p:sp>
      <p:sp>
        <p:nvSpPr>
          <p:cNvPr id="26" name="Text 24"/>
          <p:cNvSpPr txBox="1"/>
          <p:nvPr/>
        </p:nvSpPr>
        <p:spPr>
          <a:xfrm>
            <a:off x="1047720" y="3824204"/>
            <a:ext cx="3718042" cy="228600"/>
          </a:xfrm>
          <a:prstGeom prst="rect">
            <a:avLst/>
          </a:prstGeom>
          <a:noFill/>
          <a:ln/>
        </p:spPr>
        <p:txBody>
          <a:bodyPr wrap="square" lIns="0" tIns="0" rIns="0" bIns="0" rtlCol="0" anchor="ctr"/>
          <a:lstStyle/>
          <a:p>
            <a:pPr algn="l" indent="0" marL="0">
              <a:buNone/>
            </a:pPr>
            <a:r>
              <a:rPr lang="en-US" sz="1200" dirty="0">
                <a:solidFill>
                  <a:srgbClr val="3F454D"/>
                </a:solidFill>
                <a:latin typeface="Arial" pitchFamily="34" charset="0"/>
                <a:ea typeface="Arial" pitchFamily="34" charset="-122"/>
                <a:cs typeface="Arial" pitchFamily="34" charset="-120"/>
              </a:rPr>
              <a:t>Làm rõ lý do không tin cậy dữ liệu đi qua trình duyệt</a:t>
            </a:r>
            <a:endParaRPr lang="en-US" sz="1200" dirty="0"/>
          </a:p>
        </p:txBody>
      </p:sp>
      <p:sp>
        <p:nvSpPr>
          <p:cNvPr id="27" name="Shape 25"/>
          <p:cNvSpPr/>
          <p:nvPr/>
        </p:nvSpPr>
        <p:spPr>
          <a:xfrm>
            <a:off x="869960" y="4207154"/>
            <a:ext cx="63459" cy="63459"/>
          </a:xfrm>
          <a:prstGeom prst="ellipse">
            <a:avLst/>
          </a:prstGeom>
          <a:solidFill>
            <a:srgbClr val="0066FF"/>
          </a:solidFill>
          <a:ln/>
        </p:spPr>
      </p:sp>
      <p:sp>
        <p:nvSpPr>
          <p:cNvPr id="28" name="Text 26"/>
          <p:cNvSpPr txBox="1"/>
          <p:nvPr/>
        </p:nvSpPr>
        <p:spPr>
          <a:xfrm>
            <a:off x="1047720" y="4116263"/>
            <a:ext cx="3264408" cy="228600"/>
          </a:xfrm>
          <a:prstGeom prst="rect">
            <a:avLst/>
          </a:prstGeom>
          <a:noFill/>
          <a:ln/>
        </p:spPr>
        <p:txBody>
          <a:bodyPr wrap="square" lIns="0" tIns="0" rIns="0" bIns="0" rtlCol="0" anchor="ctr"/>
          <a:lstStyle/>
          <a:p>
            <a:pPr algn="l" indent="0" marL="0">
              <a:buNone/>
            </a:pPr>
            <a:r>
              <a:rPr lang="en-US" sz="1200" dirty="0">
                <a:solidFill>
                  <a:srgbClr val="3F454D"/>
                </a:solidFill>
                <a:latin typeface="Arial" pitchFamily="34" charset="0"/>
                <a:ea typeface="Arial" pitchFamily="34" charset="-122"/>
                <a:cs typeface="Arial" pitchFamily="34" charset="-120"/>
              </a:rPr>
              <a:t>Áp dụng tương tự cho MoMo, ZaloPay, Stripe</a:t>
            </a:r>
            <a:endParaRPr lang="en-US" sz="1200" dirty="0"/>
          </a:p>
        </p:txBody>
      </p:sp>
      <p:sp>
        <p:nvSpPr>
          <p:cNvPr id="29" name="Text 27"/>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0" name="Text 28"/>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73426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Giới thiệu</a:t>
            </a:r>
            <a:endParaRPr lang="en-US" sz="1100" dirty="0"/>
          </a:p>
        </p:txBody>
      </p:sp>
      <p:sp>
        <p:nvSpPr>
          <p:cNvPr id="3" name="Text 1"/>
          <p:cNvSpPr txBox="1"/>
          <p:nvPr/>
        </p:nvSpPr>
        <p:spPr>
          <a:xfrm>
            <a:off x="660380" y="643829"/>
            <a:ext cx="9764238"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Bối cảnh sử dụng: thanh toán đơn hàng 25.000 đồng</a:t>
            </a:r>
            <a:endParaRPr lang="en-US" sz="3000" dirty="0"/>
          </a:p>
        </p:txBody>
      </p:sp>
      <p:sp>
        <p:nvSpPr>
          <p:cNvPr id="4" name="Shape 2"/>
          <p:cNvSpPr/>
          <p:nvPr/>
        </p:nvSpPr>
        <p:spPr>
          <a:xfrm>
            <a:off x="660380" y="1347368"/>
            <a:ext cx="10870936" cy="647670"/>
          </a:xfrm>
          <a:prstGeom prst="roundRect">
            <a:avLst>
              <a:gd name="adj" fmla="val 15685"/>
            </a:avLst>
          </a:prstGeom>
          <a:solidFill>
            <a:srgbClr val="FFFFFF"/>
          </a:solidFill>
          <a:ln w="6350">
            <a:solidFill>
              <a:srgbClr val="E3E6EA"/>
            </a:solidFill>
            <a:prstDash val="solid"/>
          </a:ln>
        </p:spPr>
      </p:sp>
      <p:sp>
        <p:nvSpPr>
          <p:cNvPr id="5" name="Shape 3"/>
          <p:cNvSpPr/>
          <p:nvPr/>
        </p:nvSpPr>
        <p:spPr>
          <a:xfrm>
            <a:off x="844540" y="1493398"/>
            <a:ext cx="355610" cy="355610"/>
          </a:xfrm>
          <a:prstGeom prst="roundRect">
            <a:avLst>
              <a:gd name="adj" fmla="val 21419"/>
            </a:avLst>
          </a:prstGeom>
          <a:solidFill>
            <a:srgbClr val="DDE3EA"/>
          </a:solidFill>
          <a:ln/>
        </p:spPr>
      </p:sp>
      <p:sp>
        <p:nvSpPr>
          <p:cNvPr id="6" name="Text 4"/>
          <p:cNvSpPr txBox="1"/>
          <p:nvPr/>
        </p:nvSpPr>
        <p:spPr>
          <a:xfrm>
            <a:off x="934608" y="1562892"/>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1</a:t>
            </a:r>
            <a:endParaRPr lang="en-US" sz="1300" dirty="0"/>
          </a:p>
        </p:txBody>
      </p:sp>
      <p:sp>
        <p:nvSpPr>
          <p:cNvPr id="7" name="Text 5"/>
          <p:cNvSpPr txBox="1"/>
          <p:nvPr/>
        </p:nvSpPr>
        <p:spPr>
          <a:xfrm>
            <a:off x="1377909" y="1583466"/>
            <a:ext cx="1505560"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Khách hàng đặt hàng</a:t>
            </a:r>
            <a:endParaRPr lang="en-US" sz="1100" dirty="0"/>
          </a:p>
        </p:txBody>
      </p:sp>
      <p:sp>
        <p:nvSpPr>
          <p:cNvPr id="8" name="Text 6"/>
          <p:cNvSpPr txBox="1"/>
          <p:nvPr/>
        </p:nvSpPr>
        <p:spPr>
          <a:xfrm>
            <a:off x="3397179" y="1564081"/>
            <a:ext cx="3533242" cy="257129"/>
          </a:xfrm>
          <a:prstGeom prst="rect">
            <a:avLst/>
          </a:prstGeom>
          <a:noFill/>
          <a:ln/>
        </p:spPr>
        <p:txBody>
          <a:bodyPr wrap="square" lIns="0" tIns="0" rIns="0" bIns="0" rtlCol="0" anchor="ctr"/>
          <a:lstStyle/>
          <a:p>
            <a:pPr algn="l" indent="0" marL="0">
              <a:buNone/>
            </a:pPr>
            <a:r>
              <a:rPr lang="en-US" sz="1350" dirty="0">
                <a:solidFill>
                  <a:srgbClr val="111111"/>
                </a:solidFill>
                <a:latin typeface="Arial" pitchFamily="34" charset="0"/>
                <a:ea typeface="Arial" pitchFamily="34" charset="-122"/>
                <a:cs typeface="Arial" pitchFamily="34" charset="-120"/>
              </a:rPr>
              <a:t>Order Service tạo đơn, trạng thái </a:t>
            </a:r>
            <a:pPr algn="l" indent="0" marL="0">
              <a:buNone/>
            </a:pPr>
            <a:r>
              <a:rPr lang="en-US" sz="1350" b="1" dirty="0">
                <a:solidFill>
                  <a:srgbClr val="111111"/>
                </a:solidFill>
                <a:latin typeface="Arial" pitchFamily="34" charset="0"/>
                <a:ea typeface="Arial" pitchFamily="34" charset="-122"/>
                <a:cs typeface="Arial" pitchFamily="34" charset="-120"/>
              </a:rPr>
              <a:t>PENDING</a:t>
            </a:r>
            <a:endParaRPr lang="en-US" sz="1350" dirty="0"/>
          </a:p>
        </p:txBody>
      </p:sp>
      <p:sp>
        <p:nvSpPr>
          <p:cNvPr id="9" name="Shape 7"/>
          <p:cNvSpPr/>
          <p:nvPr/>
        </p:nvSpPr>
        <p:spPr>
          <a:xfrm>
            <a:off x="660380" y="2172797"/>
            <a:ext cx="10870936" cy="647670"/>
          </a:xfrm>
          <a:prstGeom prst="roundRect">
            <a:avLst>
              <a:gd name="adj" fmla="val 15685"/>
            </a:avLst>
          </a:prstGeom>
          <a:solidFill>
            <a:srgbClr val="FFFFFF"/>
          </a:solidFill>
          <a:ln w="6350">
            <a:solidFill>
              <a:srgbClr val="E3E6EA"/>
            </a:solidFill>
            <a:prstDash val="solid"/>
          </a:ln>
        </p:spPr>
      </p:sp>
      <p:sp>
        <p:nvSpPr>
          <p:cNvPr id="10" name="Shape 8"/>
          <p:cNvSpPr/>
          <p:nvPr/>
        </p:nvSpPr>
        <p:spPr>
          <a:xfrm>
            <a:off x="844540" y="2318918"/>
            <a:ext cx="355610" cy="355610"/>
          </a:xfrm>
          <a:prstGeom prst="roundRect">
            <a:avLst>
              <a:gd name="adj" fmla="val 21419"/>
            </a:avLst>
          </a:prstGeom>
          <a:solidFill>
            <a:srgbClr val="DDE3EA"/>
          </a:solidFill>
          <a:ln/>
        </p:spPr>
      </p:sp>
      <p:sp>
        <p:nvSpPr>
          <p:cNvPr id="11" name="Text 9"/>
          <p:cNvSpPr txBox="1"/>
          <p:nvPr/>
        </p:nvSpPr>
        <p:spPr>
          <a:xfrm>
            <a:off x="934608" y="2388321"/>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2</a:t>
            </a:r>
            <a:endParaRPr lang="en-US" sz="1300" dirty="0"/>
          </a:p>
        </p:txBody>
      </p:sp>
      <p:sp>
        <p:nvSpPr>
          <p:cNvPr id="12" name="Text 10"/>
          <p:cNvSpPr txBox="1"/>
          <p:nvPr/>
        </p:nvSpPr>
        <p:spPr>
          <a:xfrm>
            <a:off x="1377909" y="2408895"/>
            <a:ext cx="1456456"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Chuyển sang VNPAY</a:t>
            </a:r>
            <a:endParaRPr lang="en-US" sz="1100" dirty="0"/>
          </a:p>
        </p:txBody>
      </p:sp>
      <p:sp>
        <p:nvSpPr>
          <p:cNvPr id="13" name="Text 11"/>
          <p:cNvSpPr txBox="1"/>
          <p:nvPr/>
        </p:nvSpPr>
        <p:spPr>
          <a:xfrm>
            <a:off x="3397179" y="2389602"/>
            <a:ext cx="3357768" cy="257129"/>
          </a:xfrm>
          <a:prstGeom prst="rect">
            <a:avLst/>
          </a:prstGeom>
          <a:noFill/>
          <a:ln/>
        </p:spPr>
        <p:txBody>
          <a:bodyPr wrap="square" lIns="0" tIns="0" rIns="0" bIns="0" rtlCol="0" anchor="ctr"/>
          <a:lstStyle/>
          <a:p>
            <a:pPr algn="l" indent="0" marL="0">
              <a:buNone/>
            </a:pPr>
            <a:r>
              <a:rPr lang="en-US" sz="1350" dirty="0">
                <a:solidFill>
                  <a:srgbClr val="111111"/>
                </a:solidFill>
                <a:latin typeface="Arial" pitchFamily="34" charset="0"/>
                <a:ea typeface="Arial" pitchFamily="34" charset="-122"/>
                <a:cs typeface="Arial" pitchFamily="34" charset="-120"/>
              </a:rPr>
              <a:t>Khách hàng nhập thông tin thẻ tại VNPAY</a:t>
            </a:r>
            <a:endParaRPr lang="en-US" sz="1350" dirty="0"/>
          </a:p>
        </p:txBody>
      </p:sp>
      <p:sp>
        <p:nvSpPr>
          <p:cNvPr id="14" name="Shape 12"/>
          <p:cNvSpPr/>
          <p:nvPr/>
        </p:nvSpPr>
        <p:spPr>
          <a:xfrm>
            <a:off x="660380" y="2998318"/>
            <a:ext cx="10870936" cy="647670"/>
          </a:xfrm>
          <a:prstGeom prst="roundRect">
            <a:avLst>
              <a:gd name="adj" fmla="val 15685"/>
            </a:avLst>
          </a:prstGeom>
          <a:solidFill>
            <a:srgbClr val="FFFFFF"/>
          </a:solidFill>
          <a:ln w="6350">
            <a:solidFill>
              <a:srgbClr val="E3E6EA"/>
            </a:solidFill>
            <a:prstDash val="solid"/>
          </a:ln>
        </p:spPr>
      </p:sp>
      <p:sp>
        <p:nvSpPr>
          <p:cNvPr id="15" name="Shape 13"/>
          <p:cNvSpPr/>
          <p:nvPr/>
        </p:nvSpPr>
        <p:spPr>
          <a:xfrm>
            <a:off x="844540" y="3144347"/>
            <a:ext cx="355610" cy="355610"/>
          </a:xfrm>
          <a:prstGeom prst="roundRect">
            <a:avLst>
              <a:gd name="adj" fmla="val 21419"/>
            </a:avLst>
          </a:prstGeom>
          <a:solidFill>
            <a:srgbClr val="DDE3EA"/>
          </a:solidFill>
          <a:ln/>
        </p:spPr>
      </p:sp>
      <p:sp>
        <p:nvSpPr>
          <p:cNvPr id="16" name="Text 14"/>
          <p:cNvSpPr txBox="1"/>
          <p:nvPr/>
        </p:nvSpPr>
        <p:spPr>
          <a:xfrm>
            <a:off x="934608" y="3213842"/>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3</a:t>
            </a:r>
            <a:endParaRPr lang="en-US" sz="1300" dirty="0"/>
          </a:p>
        </p:txBody>
      </p:sp>
      <p:sp>
        <p:nvSpPr>
          <p:cNvPr id="17" name="Text 15"/>
          <p:cNvSpPr txBox="1"/>
          <p:nvPr/>
        </p:nvSpPr>
        <p:spPr>
          <a:xfrm>
            <a:off x="1377909" y="3234416"/>
            <a:ext cx="1171072"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Quay về website</a:t>
            </a:r>
            <a:endParaRPr lang="en-US" sz="1100" dirty="0"/>
          </a:p>
        </p:txBody>
      </p:sp>
      <p:sp>
        <p:nvSpPr>
          <p:cNvPr id="18" name="Text 16"/>
          <p:cNvSpPr txBox="1"/>
          <p:nvPr/>
        </p:nvSpPr>
        <p:spPr>
          <a:xfrm>
            <a:off x="3397179" y="3215030"/>
            <a:ext cx="3494562" cy="257129"/>
          </a:xfrm>
          <a:prstGeom prst="rect">
            <a:avLst/>
          </a:prstGeom>
          <a:noFill/>
          <a:ln/>
        </p:spPr>
        <p:txBody>
          <a:bodyPr wrap="square" lIns="0" tIns="0" rIns="0" bIns="0" rtlCol="0" anchor="ctr"/>
          <a:lstStyle/>
          <a:p>
            <a:pPr algn="l" indent="0" marL="0">
              <a:buNone/>
            </a:pPr>
            <a:r>
              <a:rPr lang="en-US" sz="1350" dirty="0">
                <a:solidFill>
                  <a:srgbClr val="111111"/>
                </a:solidFill>
                <a:latin typeface="Arial" pitchFamily="34" charset="0"/>
                <a:ea typeface="Arial" pitchFamily="34" charset="-122"/>
                <a:cs typeface="Arial" pitchFamily="34" charset="-120"/>
              </a:rPr>
              <a:t>Chưa đủ căn cứ để cập nhật trạng thái đơn</a:t>
            </a:r>
            <a:endParaRPr lang="en-US" sz="1350" dirty="0"/>
          </a:p>
        </p:txBody>
      </p:sp>
      <p:sp>
        <p:nvSpPr>
          <p:cNvPr id="19" name="Shape 17"/>
          <p:cNvSpPr/>
          <p:nvPr/>
        </p:nvSpPr>
        <p:spPr>
          <a:xfrm>
            <a:off x="10114818" y="3166567"/>
            <a:ext cx="1232337" cy="311170"/>
          </a:xfrm>
          <a:prstGeom prst="roundRect">
            <a:avLst>
              <a:gd name="adj" fmla="val 49985"/>
            </a:avLst>
          </a:prstGeom>
          <a:solidFill>
            <a:srgbClr val="FDE8E6"/>
          </a:solidFill>
          <a:ln/>
        </p:spPr>
      </p:sp>
      <p:sp>
        <p:nvSpPr>
          <p:cNvPr id="20" name="Text 18"/>
          <p:cNvSpPr txBox="1"/>
          <p:nvPr/>
        </p:nvSpPr>
        <p:spPr>
          <a:xfrm>
            <a:off x="10241829" y="3234416"/>
            <a:ext cx="1054578" cy="209580"/>
          </a:xfrm>
          <a:prstGeom prst="rect">
            <a:avLst/>
          </a:prstGeom>
          <a:noFill/>
          <a:ln/>
        </p:spPr>
        <p:txBody>
          <a:bodyPr wrap="square" lIns="0" tIns="0" rIns="0" bIns="0" rtlCol="0" anchor="ctr"/>
          <a:lstStyle/>
          <a:p>
            <a:pPr algn="l" indent="0" marL="0">
              <a:buNone/>
            </a:pPr>
            <a:r>
              <a:rPr lang="en-US" sz="1100" b="1" dirty="0">
                <a:solidFill>
                  <a:srgbClr val="C42B22"/>
                </a:solidFill>
                <a:latin typeface="Arial" pitchFamily="34" charset="0"/>
                <a:ea typeface="Arial" pitchFamily="34" charset="-122"/>
                <a:cs typeface="Arial" pitchFamily="34" charset="-120"/>
              </a:rPr>
              <a:t>Chưa cập nhật</a:t>
            </a:r>
            <a:endParaRPr lang="en-US" sz="1100" dirty="0"/>
          </a:p>
        </p:txBody>
      </p:sp>
      <p:sp>
        <p:nvSpPr>
          <p:cNvPr id="21" name="Shape 19"/>
          <p:cNvSpPr/>
          <p:nvPr/>
        </p:nvSpPr>
        <p:spPr>
          <a:xfrm>
            <a:off x="660380" y="3823838"/>
            <a:ext cx="10870936" cy="647670"/>
          </a:xfrm>
          <a:prstGeom prst="roundRect">
            <a:avLst>
              <a:gd name="adj" fmla="val 15685"/>
            </a:avLst>
          </a:prstGeom>
          <a:solidFill>
            <a:srgbClr val="ECF2FF"/>
          </a:solidFill>
          <a:ln w="6350">
            <a:solidFill>
              <a:srgbClr val="E3E6EA"/>
            </a:solidFill>
            <a:prstDash val="solid"/>
          </a:ln>
        </p:spPr>
      </p:sp>
      <p:sp>
        <p:nvSpPr>
          <p:cNvPr id="22" name="Shape 20"/>
          <p:cNvSpPr/>
          <p:nvPr/>
        </p:nvSpPr>
        <p:spPr>
          <a:xfrm>
            <a:off x="844540" y="3969868"/>
            <a:ext cx="355610" cy="355610"/>
          </a:xfrm>
          <a:prstGeom prst="roundRect">
            <a:avLst>
              <a:gd name="adj" fmla="val 21419"/>
            </a:avLst>
          </a:prstGeom>
          <a:solidFill>
            <a:srgbClr val="0066FF"/>
          </a:solidFill>
          <a:ln/>
        </p:spPr>
      </p:sp>
      <p:sp>
        <p:nvSpPr>
          <p:cNvPr id="23" name="Text 21"/>
          <p:cNvSpPr txBox="1"/>
          <p:nvPr/>
        </p:nvSpPr>
        <p:spPr>
          <a:xfrm>
            <a:off x="934608" y="4039271"/>
            <a:ext cx="175290" cy="2476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24" name="Text 22"/>
          <p:cNvSpPr txBox="1"/>
          <p:nvPr/>
        </p:nvSpPr>
        <p:spPr>
          <a:xfrm>
            <a:off x="1377909" y="4059845"/>
            <a:ext cx="1155527"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Server xác minh</a:t>
            </a:r>
            <a:endParaRPr lang="en-US" sz="1100" dirty="0"/>
          </a:p>
        </p:txBody>
      </p:sp>
      <p:sp>
        <p:nvSpPr>
          <p:cNvPr id="25" name="Text 23"/>
          <p:cNvSpPr txBox="1"/>
          <p:nvPr/>
        </p:nvSpPr>
        <p:spPr>
          <a:xfrm>
            <a:off x="3397179" y="4040551"/>
            <a:ext cx="3634740" cy="257129"/>
          </a:xfrm>
          <a:prstGeom prst="rect">
            <a:avLst/>
          </a:prstGeom>
          <a:noFill/>
          <a:ln/>
        </p:spPr>
        <p:txBody>
          <a:bodyPr wrap="square" lIns="0" tIns="0" rIns="0" bIns="0" rtlCol="0" anchor="ctr"/>
          <a:lstStyle/>
          <a:p>
            <a:pPr algn="l" indent="0" marL="0">
              <a:buNone/>
            </a:pPr>
            <a:r>
              <a:rPr lang="en-US" sz="1350" dirty="0">
                <a:solidFill>
                  <a:srgbClr val="111111"/>
                </a:solidFill>
                <a:latin typeface="Arial" pitchFamily="34" charset="0"/>
                <a:ea typeface="Arial" pitchFamily="34" charset="-122"/>
                <a:cs typeface="Arial" pitchFamily="34" charset="-120"/>
              </a:rPr>
              <a:t>Kiểm tra chữ ký, mã đơn, số tiền rồi cập nhật</a:t>
            </a:r>
            <a:endParaRPr lang="en-US" sz="1350" dirty="0"/>
          </a:p>
        </p:txBody>
      </p:sp>
      <p:sp>
        <p:nvSpPr>
          <p:cNvPr id="26" name="Shape 24"/>
          <p:cNvSpPr/>
          <p:nvPr/>
        </p:nvSpPr>
        <p:spPr>
          <a:xfrm>
            <a:off x="10769712" y="3992088"/>
            <a:ext cx="577444" cy="311170"/>
          </a:xfrm>
          <a:prstGeom prst="roundRect">
            <a:avLst>
              <a:gd name="adj" fmla="val 49985"/>
            </a:avLst>
          </a:prstGeom>
          <a:solidFill>
            <a:srgbClr val="DEF3E8"/>
          </a:solidFill>
          <a:ln/>
        </p:spPr>
      </p:sp>
      <p:sp>
        <p:nvSpPr>
          <p:cNvPr id="27" name="Text 25"/>
          <p:cNvSpPr txBox="1"/>
          <p:nvPr/>
        </p:nvSpPr>
        <p:spPr>
          <a:xfrm>
            <a:off x="10896722" y="4059845"/>
            <a:ext cx="399684" cy="209580"/>
          </a:xfrm>
          <a:prstGeom prst="rect">
            <a:avLst/>
          </a:prstGeom>
          <a:noFill/>
          <a:ln/>
        </p:spPr>
        <p:txBody>
          <a:bodyPr wrap="square" lIns="0" tIns="0" rIns="0" bIns="0" rtlCol="0" anchor="ctr"/>
          <a:lstStyle/>
          <a:p>
            <a:pPr algn="l" indent="0" marL="0">
              <a:buNone/>
            </a:pPr>
            <a:r>
              <a:rPr lang="en-US" sz="1100" b="1" dirty="0">
                <a:solidFill>
                  <a:srgbClr val="0B6B47"/>
                </a:solidFill>
                <a:latin typeface="Arial" pitchFamily="34" charset="0"/>
                <a:ea typeface="Arial" pitchFamily="34" charset="-122"/>
                <a:cs typeface="Arial" pitchFamily="34" charset="-120"/>
              </a:rPr>
              <a:t>PAID</a:t>
            </a:r>
            <a:endParaRPr lang="en-US" sz="1100" dirty="0"/>
          </a:p>
        </p:txBody>
      </p:sp>
      <p:sp>
        <p:nvSpPr>
          <p:cNvPr id="28" name="Text 26"/>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9" name="Text 27"/>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10152"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Kiến trúc hệ thống</a:t>
            </a:r>
            <a:endParaRPr lang="en-US" sz="1100" dirty="0"/>
          </a:p>
        </p:txBody>
      </p:sp>
      <p:sp>
        <p:nvSpPr>
          <p:cNvPr id="3" name="Text 1"/>
          <p:cNvSpPr txBox="1"/>
          <p:nvPr/>
        </p:nvSpPr>
        <p:spPr>
          <a:xfrm>
            <a:off x="660380" y="643829"/>
            <a:ext cx="8258404"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Phân tách Order Service và Payment Service</a:t>
            </a:r>
            <a:endParaRPr lang="en-US" sz="3000" dirty="0"/>
          </a:p>
        </p:txBody>
      </p:sp>
      <p:sp>
        <p:nvSpPr>
          <p:cNvPr id="4" name="Shape 2"/>
          <p:cNvSpPr/>
          <p:nvPr/>
        </p:nvSpPr>
        <p:spPr>
          <a:xfrm>
            <a:off x="660380" y="1410828"/>
            <a:ext cx="2317730" cy="984260"/>
          </a:xfrm>
          <a:prstGeom prst="roundRect">
            <a:avLst>
              <a:gd name="adj" fmla="val 9030"/>
            </a:avLst>
          </a:prstGeom>
          <a:solidFill>
            <a:srgbClr val="FFFFFF"/>
          </a:solidFill>
          <a:ln w="12700">
            <a:solidFill>
              <a:srgbClr val="E3E6EA"/>
            </a:solidFill>
            <a:prstDash val="solid"/>
          </a:ln>
        </p:spPr>
      </p:sp>
      <p:sp>
        <p:nvSpPr>
          <p:cNvPr id="5" name="Text 3"/>
          <p:cNvSpPr txBox="1"/>
          <p:nvPr/>
        </p:nvSpPr>
        <p:spPr>
          <a:xfrm>
            <a:off x="1267816" y="1666128"/>
            <a:ext cx="1102858" cy="285750"/>
          </a:xfrm>
          <a:prstGeom prst="rect">
            <a:avLst/>
          </a:prstGeom>
          <a:noFill/>
          <a:ln/>
        </p:spPr>
        <p:txBody>
          <a:bodyPr wrap="square" lIns="0" tIns="0" rIns="0" bIns="0" rtlCol="0" anchor="ctr"/>
          <a:lstStyle/>
          <a:p>
            <a:pPr algn="ctr" indent="0" marL="0">
              <a:buNone/>
            </a:pPr>
            <a:r>
              <a:rPr lang="en-US" sz="1500" b="1" dirty="0">
                <a:solidFill>
                  <a:srgbClr val="111111"/>
                </a:solidFill>
                <a:latin typeface="Arial" pitchFamily="34" charset="0"/>
                <a:ea typeface="Arial" pitchFamily="34" charset="-122"/>
                <a:cs typeface="Arial" pitchFamily="34" charset="-120"/>
              </a:rPr>
              <a:t>Trình duyệt</a:t>
            </a:r>
            <a:endParaRPr lang="en-US" sz="1500" dirty="0"/>
          </a:p>
        </p:txBody>
      </p:sp>
      <p:sp>
        <p:nvSpPr>
          <p:cNvPr id="6" name="Text 4"/>
          <p:cNvSpPr txBox="1"/>
          <p:nvPr/>
        </p:nvSpPr>
        <p:spPr>
          <a:xfrm>
            <a:off x="1452707" y="1993758"/>
            <a:ext cx="732892" cy="19047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khách hàng</a:t>
            </a:r>
            <a:endParaRPr lang="en-US" sz="1000" dirty="0"/>
          </a:p>
        </p:txBody>
      </p:sp>
      <p:sp>
        <p:nvSpPr>
          <p:cNvPr id="7" name="Text 5"/>
          <p:cNvSpPr txBox="1"/>
          <p:nvPr/>
        </p:nvSpPr>
        <p:spPr>
          <a:xfrm>
            <a:off x="3079699" y="1748058"/>
            <a:ext cx="330190" cy="381030"/>
          </a:xfrm>
          <a:prstGeom prst="rect">
            <a:avLst/>
          </a:prstGeom>
          <a:noFill/>
          <a:ln/>
        </p:spPr>
        <p:txBody>
          <a:bodyPr wrap="square" lIns="0" tIns="0" rIns="0" bIns="0" rtlCol="0" anchor="ctr"/>
          <a:lstStyle/>
          <a:p>
            <a:pPr algn="ctr" indent="0" marL="0">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3511479" y="1410828"/>
            <a:ext cx="2317730" cy="984260"/>
          </a:xfrm>
          <a:prstGeom prst="roundRect">
            <a:avLst>
              <a:gd name="adj" fmla="val 9030"/>
            </a:avLst>
          </a:prstGeom>
          <a:solidFill>
            <a:srgbClr val="FFFFFF"/>
          </a:solidFill>
          <a:ln w="12700">
            <a:solidFill>
              <a:srgbClr val="E3E6EA"/>
            </a:solidFill>
            <a:prstDash val="solid"/>
          </a:ln>
        </p:spPr>
      </p:sp>
      <p:sp>
        <p:nvSpPr>
          <p:cNvPr id="9" name="Text 7"/>
          <p:cNvSpPr txBox="1"/>
          <p:nvPr/>
        </p:nvSpPr>
        <p:spPr>
          <a:xfrm>
            <a:off x="4007358" y="1666128"/>
            <a:ext cx="1325789" cy="285750"/>
          </a:xfrm>
          <a:prstGeom prst="rect">
            <a:avLst/>
          </a:prstGeom>
          <a:noFill/>
          <a:ln/>
        </p:spPr>
        <p:txBody>
          <a:bodyPr wrap="square" lIns="0" tIns="0" rIns="0" bIns="0" rtlCol="0" anchor="ctr"/>
          <a:lstStyle/>
          <a:p>
            <a:pPr algn="ctr" indent="0" marL="0">
              <a:buNone/>
            </a:pPr>
            <a:r>
              <a:rPr lang="en-US" sz="1500" b="1" dirty="0">
                <a:solidFill>
                  <a:srgbClr val="111111"/>
                </a:solidFill>
                <a:latin typeface="Arial" pitchFamily="34" charset="0"/>
                <a:ea typeface="Arial" pitchFamily="34" charset="-122"/>
                <a:cs typeface="Arial" pitchFamily="34" charset="-120"/>
              </a:rPr>
              <a:t>Order Service</a:t>
            </a:r>
            <a:endParaRPr lang="en-US" sz="1500" dirty="0"/>
          </a:p>
        </p:txBody>
      </p:sp>
      <p:sp>
        <p:nvSpPr>
          <p:cNvPr id="10" name="Text 8"/>
          <p:cNvSpPr txBox="1"/>
          <p:nvPr/>
        </p:nvSpPr>
        <p:spPr>
          <a:xfrm>
            <a:off x="3881445" y="1993758"/>
            <a:ext cx="1577706" cy="19047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cổng 8090 · đơn hàng, giá</a:t>
            </a:r>
            <a:endParaRPr lang="en-US" sz="1000" dirty="0"/>
          </a:p>
        </p:txBody>
      </p:sp>
      <p:sp>
        <p:nvSpPr>
          <p:cNvPr id="11" name="Text 9"/>
          <p:cNvSpPr txBox="1"/>
          <p:nvPr/>
        </p:nvSpPr>
        <p:spPr>
          <a:xfrm>
            <a:off x="5930707" y="1748058"/>
            <a:ext cx="330190" cy="381030"/>
          </a:xfrm>
          <a:prstGeom prst="rect">
            <a:avLst/>
          </a:prstGeom>
          <a:noFill/>
          <a:ln/>
        </p:spPr>
        <p:txBody>
          <a:bodyPr wrap="square" lIns="0" tIns="0" rIns="0" bIns="0" rtlCol="0" anchor="ctr"/>
          <a:lstStyle/>
          <a:p>
            <a:pPr algn="ctr" indent="0" marL="0">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6362578" y="1410828"/>
            <a:ext cx="2317730" cy="984260"/>
          </a:xfrm>
          <a:prstGeom prst="roundRect">
            <a:avLst>
              <a:gd name="adj" fmla="val 9030"/>
            </a:avLst>
          </a:prstGeom>
          <a:solidFill>
            <a:srgbClr val="ECF2FF"/>
          </a:solidFill>
          <a:ln w="12700">
            <a:solidFill>
              <a:srgbClr val="0066FF"/>
            </a:solidFill>
            <a:prstDash val="solid"/>
          </a:ln>
        </p:spPr>
      </p:sp>
      <p:sp>
        <p:nvSpPr>
          <p:cNvPr id="13" name="Text 11"/>
          <p:cNvSpPr txBox="1"/>
          <p:nvPr/>
        </p:nvSpPr>
        <p:spPr>
          <a:xfrm>
            <a:off x="6713159" y="1666128"/>
            <a:ext cx="1616476" cy="285750"/>
          </a:xfrm>
          <a:prstGeom prst="rect">
            <a:avLst/>
          </a:prstGeom>
          <a:noFill/>
          <a:ln/>
        </p:spPr>
        <p:txBody>
          <a:bodyPr wrap="square" lIns="0" tIns="0" rIns="0" bIns="0" rtlCol="0" anchor="ctr"/>
          <a:lstStyle/>
          <a:p>
            <a:pPr algn="ctr" indent="0" marL="0">
              <a:buNone/>
            </a:pPr>
            <a:r>
              <a:rPr lang="en-US" sz="1500" b="1" dirty="0">
                <a:solidFill>
                  <a:srgbClr val="111111"/>
                </a:solidFill>
                <a:latin typeface="Arial" pitchFamily="34" charset="0"/>
                <a:ea typeface="Arial" pitchFamily="34" charset="-122"/>
                <a:cs typeface="Arial" pitchFamily="34" charset="-120"/>
              </a:rPr>
              <a:t>Payment Service</a:t>
            </a:r>
            <a:endParaRPr lang="en-US" sz="1500" dirty="0"/>
          </a:p>
        </p:txBody>
      </p:sp>
      <p:sp>
        <p:nvSpPr>
          <p:cNvPr id="14" name="Text 12"/>
          <p:cNvSpPr txBox="1"/>
          <p:nvPr/>
        </p:nvSpPr>
        <p:spPr>
          <a:xfrm>
            <a:off x="6488582" y="1993758"/>
            <a:ext cx="2065447" cy="19047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cổng 8091 · giao dịch, HashSecret</a:t>
            </a:r>
            <a:endParaRPr lang="en-US" sz="1000" dirty="0"/>
          </a:p>
        </p:txBody>
      </p:sp>
      <p:sp>
        <p:nvSpPr>
          <p:cNvPr id="15" name="Text 13"/>
          <p:cNvSpPr txBox="1"/>
          <p:nvPr/>
        </p:nvSpPr>
        <p:spPr>
          <a:xfrm>
            <a:off x="8781806" y="1748058"/>
            <a:ext cx="330190" cy="381030"/>
          </a:xfrm>
          <a:prstGeom prst="rect">
            <a:avLst/>
          </a:prstGeom>
          <a:noFill/>
          <a:ln/>
        </p:spPr>
        <p:txBody>
          <a:bodyPr wrap="square" lIns="0" tIns="0" rIns="0" bIns="0" rtlCol="0" anchor="ctr"/>
          <a:lstStyle/>
          <a:p>
            <a:pPr algn="ctr" indent="0" marL="0">
              <a:buNone/>
            </a:pPr>
            <a:r>
              <a:rPr lang="en-US" sz="2000" dirty="0">
                <a:solidFill>
                  <a:srgbClr val="6B7280"/>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9213586" y="1410828"/>
            <a:ext cx="2317730" cy="984260"/>
          </a:xfrm>
          <a:prstGeom prst="roundRect">
            <a:avLst>
              <a:gd name="adj" fmla="val 9030"/>
            </a:avLst>
          </a:prstGeom>
          <a:solidFill>
            <a:srgbClr val="FFF5F4"/>
          </a:solidFill>
          <a:ln w="12700">
            <a:solidFill>
              <a:srgbClr val="B42318"/>
            </a:solidFill>
            <a:prstDash val="solid"/>
          </a:ln>
        </p:spPr>
      </p:sp>
      <p:sp>
        <p:nvSpPr>
          <p:cNvPr id="17" name="Text 15"/>
          <p:cNvSpPr txBox="1"/>
          <p:nvPr/>
        </p:nvSpPr>
        <p:spPr>
          <a:xfrm>
            <a:off x="10021915" y="1666128"/>
            <a:ext cx="700979" cy="285750"/>
          </a:xfrm>
          <a:prstGeom prst="rect">
            <a:avLst/>
          </a:prstGeom>
          <a:noFill/>
          <a:ln/>
        </p:spPr>
        <p:txBody>
          <a:bodyPr wrap="square" lIns="0" tIns="0" rIns="0" bIns="0" rtlCol="0" anchor="ctr"/>
          <a:lstStyle/>
          <a:p>
            <a:pPr algn="ctr" indent="0" marL="0">
              <a:buNone/>
            </a:pPr>
            <a:r>
              <a:rPr lang="en-US" sz="1500" b="1" dirty="0">
                <a:solidFill>
                  <a:srgbClr val="111111"/>
                </a:solidFill>
                <a:latin typeface="Arial" pitchFamily="34" charset="0"/>
                <a:ea typeface="Arial" pitchFamily="34" charset="-122"/>
                <a:cs typeface="Arial" pitchFamily="34" charset="-120"/>
              </a:rPr>
              <a:t>VNPAY</a:t>
            </a:r>
            <a:endParaRPr lang="en-US" sz="1500" dirty="0"/>
          </a:p>
        </p:txBody>
      </p:sp>
      <p:sp>
        <p:nvSpPr>
          <p:cNvPr id="18" name="Text 16"/>
          <p:cNvSpPr txBox="1"/>
          <p:nvPr/>
        </p:nvSpPr>
        <p:spPr>
          <a:xfrm>
            <a:off x="9836475" y="1993758"/>
            <a:ext cx="1071860" cy="19047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dịch vụ bên ngoài</a:t>
            </a:r>
            <a:endParaRPr lang="en-US" sz="1000" dirty="0"/>
          </a:p>
        </p:txBody>
      </p:sp>
      <p:sp>
        <p:nvSpPr>
          <p:cNvPr id="19" name="Shape 17"/>
          <p:cNvSpPr/>
          <p:nvPr/>
        </p:nvSpPr>
        <p:spPr>
          <a:xfrm>
            <a:off x="660380" y="2623688"/>
            <a:ext cx="10870936" cy="386060"/>
          </a:xfrm>
          <a:prstGeom prst="roundRect">
            <a:avLst>
              <a:gd name="adj" fmla="val 19730"/>
            </a:avLst>
          </a:prstGeom>
          <a:solidFill>
            <a:srgbClr val="FFFFFF"/>
          </a:solidFill>
          <a:ln w="6350">
            <a:solidFill>
              <a:srgbClr val="E3E6EA"/>
            </a:solidFill>
            <a:prstDash val="solid"/>
          </a:ln>
        </p:spPr>
      </p:sp>
      <p:sp>
        <p:nvSpPr>
          <p:cNvPr id="20" name="Text 18"/>
          <p:cNvSpPr txBox="1"/>
          <p:nvPr/>
        </p:nvSpPr>
        <p:spPr>
          <a:xfrm>
            <a:off x="780989" y="2723266"/>
            <a:ext cx="5908304"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Order Service quản lý đơn hàng và giá; Payment Service quản lý giao dịch và HashSecret</a:t>
            </a:r>
            <a:endParaRPr lang="en-US" sz="1100" dirty="0"/>
          </a:p>
        </p:txBody>
      </p:sp>
      <p:sp>
        <p:nvSpPr>
          <p:cNvPr id="21" name="Shape 19"/>
          <p:cNvSpPr/>
          <p:nvPr/>
        </p:nvSpPr>
        <p:spPr>
          <a:xfrm>
            <a:off x="660380" y="3085917"/>
            <a:ext cx="10870936" cy="386060"/>
          </a:xfrm>
          <a:prstGeom prst="roundRect">
            <a:avLst>
              <a:gd name="adj" fmla="val 19730"/>
            </a:avLst>
          </a:prstGeom>
          <a:solidFill>
            <a:srgbClr val="FFFFFF"/>
          </a:solidFill>
          <a:ln w="6350">
            <a:solidFill>
              <a:srgbClr val="E3E6EA"/>
            </a:solidFill>
            <a:prstDash val="solid"/>
          </a:ln>
        </p:spPr>
      </p:sp>
      <p:sp>
        <p:nvSpPr>
          <p:cNvPr id="22" name="Text 20"/>
          <p:cNvSpPr txBox="1"/>
          <p:nvPr/>
        </p:nvSpPr>
        <p:spPr>
          <a:xfrm>
            <a:off x="780989" y="3185495"/>
            <a:ext cx="6720840"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Chỉ Payment Service giao tiếp với VNPAY; Order Service chỉ nhận trạng thái PENDING, PAID, FAILED</a:t>
            </a:r>
            <a:endParaRPr lang="en-US" sz="1100" dirty="0"/>
          </a:p>
        </p:txBody>
      </p:sp>
      <p:sp>
        <p:nvSpPr>
          <p:cNvPr id="23" name="Shape 21"/>
          <p:cNvSpPr/>
          <p:nvPr/>
        </p:nvSpPr>
        <p:spPr>
          <a:xfrm>
            <a:off x="660380" y="3548146"/>
            <a:ext cx="10870936" cy="386060"/>
          </a:xfrm>
          <a:prstGeom prst="roundRect">
            <a:avLst>
              <a:gd name="adj" fmla="val 19730"/>
            </a:avLst>
          </a:prstGeom>
          <a:solidFill>
            <a:srgbClr val="FFFFFF"/>
          </a:solidFill>
          <a:ln w="6350">
            <a:solidFill>
              <a:srgbClr val="E3E6EA"/>
            </a:solidFill>
            <a:prstDash val="solid"/>
          </a:ln>
        </p:spPr>
      </p:sp>
      <p:sp>
        <p:nvSpPr>
          <p:cNvPr id="24" name="Text 22"/>
          <p:cNvSpPr txBox="1"/>
          <p:nvPr/>
        </p:nvSpPr>
        <p:spPr>
          <a:xfrm>
            <a:off x="780989" y="3647724"/>
            <a:ext cx="4165001"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Mỗi service có cổng và dữ liệu riêng, giao tiếp qua HTTP/JSON</a:t>
            </a:r>
            <a:endParaRPr lang="en-US" sz="1100" dirty="0"/>
          </a:p>
        </p:txBody>
      </p:sp>
      <p:sp>
        <p:nvSpPr>
          <p:cNvPr id="25" name="Shape 23"/>
          <p:cNvSpPr/>
          <p:nvPr/>
        </p:nvSpPr>
        <p:spPr>
          <a:xfrm>
            <a:off x="660380" y="4112057"/>
            <a:ext cx="10870936" cy="565648"/>
          </a:xfrm>
          <a:prstGeom prst="rect">
            <a:avLst/>
          </a:prstGeom>
          <a:solidFill>
            <a:srgbClr val="FFFAF0"/>
          </a:solidFill>
          <a:ln/>
        </p:spPr>
      </p:sp>
      <p:sp>
        <p:nvSpPr>
          <p:cNvPr id="26" name="Shape 24"/>
          <p:cNvSpPr/>
          <p:nvPr/>
        </p:nvSpPr>
        <p:spPr>
          <a:xfrm>
            <a:off x="660380" y="4112057"/>
            <a:ext cx="10870936" cy="6309"/>
          </a:xfrm>
          <a:prstGeom prst="rect">
            <a:avLst/>
          </a:prstGeom>
          <a:solidFill>
            <a:srgbClr val="F3DFB5"/>
          </a:solidFill>
          <a:ln/>
        </p:spPr>
      </p:sp>
      <p:sp>
        <p:nvSpPr>
          <p:cNvPr id="27" name="Shape 25"/>
          <p:cNvSpPr/>
          <p:nvPr/>
        </p:nvSpPr>
        <p:spPr>
          <a:xfrm>
            <a:off x="660380" y="4671304"/>
            <a:ext cx="10870936" cy="6309"/>
          </a:xfrm>
          <a:prstGeom prst="rect">
            <a:avLst/>
          </a:prstGeom>
          <a:solidFill>
            <a:srgbClr val="F3DFB5"/>
          </a:solidFill>
          <a:ln/>
        </p:spPr>
      </p:sp>
      <p:sp>
        <p:nvSpPr>
          <p:cNvPr id="28" name="Shape 26"/>
          <p:cNvSpPr/>
          <p:nvPr/>
        </p:nvSpPr>
        <p:spPr>
          <a:xfrm>
            <a:off x="660380" y="4112057"/>
            <a:ext cx="38130" cy="565648"/>
          </a:xfrm>
          <a:prstGeom prst="rect">
            <a:avLst/>
          </a:prstGeom>
          <a:solidFill>
            <a:srgbClr val="E8A317"/>
          </a:solidFill>
          <a:ln/>
        </p:spPr>
      </p:sp>
      <p:sp>
        <p:nvSpPr>
          <p:cNvPr id="29" name="Text 27"/>
          <p:cNvSpPr txBox="1"/>
          <p:nvPr/>
        </p:nvSpPr>
        <p:spPr>
          <a:xfrm>
            <a:off x="825520" y="4198925"/>
            <a:ext cx="4096786" cy="188549"/>
          </a:xfrm>
          <a:prstGeom prst="rect">
            <a:avLst/>
          </a:prstGeom>
          <a:noFill/>
          <a:ln/>
        </p:spPr>
        <p:txBody>
          <a:bodyPr wrap="square" lIns="0" tIns="0" rIns="0" bIns="0" rtlCol="0" anchor="ctr"/>
          <a:lstStyle/>
          <a:p>
            <a:pPr algn="l" indent="0" marL="0">
              <a:buNone/>
            </a:pPr>
            <a:r>
              <a:rPr lang="en-US" sz="1100" b="1" dirty="0">
                <a:solidFill>
                  <a:srgbClr val="111111"/>
                </a:solidFill>
                <a:latin typeface="Arial" pitchFamily="34" charset="0"/>
                <a:ea typeface="Arial" pitchFamily="34" charset="-122"/>
                <a:cs typeface="Arial" pitchFamily="34" charset="-120"/>
              </a:rPr>
              <a:t>Hai service chạy chung một JVM có được xem là độc lập?</a:t>
            </a:r>
            <a:endParaRPr lang="en-US" sz="1100" dirty="0"/>
          </a:p>
        </p:txBody>
      </p:sp>
      <p:sp>
        <p:nvSpPr>
          <p:cNvPr id="30" name="Text 28"/>
          <p:cNvSpPr txBox="1"/>
          <p:nvPr/>
        </p:nvSpPr>
        <p:spPr>
          <a:xfrm>
            <a:off x="825520" y="4419570"/>
            <a:ext cx="9009949" cy="186720"/>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Về logic là độc lập: dữ liệu tách biệt, chỉ giao tiếp qua HTTP. Demo chưa triển khai riêng; khi tách thành hai chương trình, giao thức giữ nguyên.</a:t>
            </a:r>
            <a:endParaRPr lang="en-US" sz="1050" dirty="0"/>
          </a:p>
        </p:txBody>
      </p:sp>
      <p:sp>
        <p:nvSpPr>
          <p:cNvPr id="31" name="Text 29"/>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2" name="Text 30"/>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10152"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Kiến trúc hệ thống</a:t>
            </a:r>
            <a:endParaRPr lang="en-US" sz="1100" dirty="0"/>
          </a:p>
        </p:txBody>
      </p:sp>
      <p:sp>
        <p:nvSpPr>
          <p:cNvPr id="3" name="Text 1"/>
          <p:cNvSpPr txBox="1"/>
          <p:nvPr/>
        </p:nvSpPr>
        <p:spPr>
          <a:xfrm>
            <a:off x="660380" y="643829"/>
            <a:ext cx="8244230"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Hợp đồng API nội bộ giữa Order và Payment</a:t>
            </a:r>
            <a:endParaRPr lang="en-US" sz="3000" dirty="0"/>
          </a:p>
        </p:txBody>
      </p:sp>
      <p:sp>
        <p:nvSpPr>
          <p:cNvPr id="4" name="Shape 2"/>
          <p:cNvSpPr/>
          <p:nvPr/>
        </p:nvSpPr>
        <p:spPr>
          <a:xfrm>
            <a:off x="660380" y="1347368"/>
            <a:ext cx="10870936" cy="1600200"/>
          </a:xfrm>
          <a:prstGeom prst="roundRect">
            <a:avLst>
              <a:gd name="adj" fmla="val 6349"/>
            </a:avLst>
          </a:prstGeom>
          <a:solidFill>
            <a:srgbClr val="FFFFFF"/>
          </a:solidFill>
          <a:ln/>
        </p:spPr>
      </p:sp>
      <p:sp>
        <p:nvSpPr>
          <p:cNvPr id="5" name="Shape 3"/>
          <p:cNvSpPr/>
          <p:nvPr/>
        </p:nvSpPr>
        <p:spPr>
          <a:xfrm>
            <a:off x="660380" y="1347368"/>
            <a:ext cx="2935133" cy="422270"/>
          </a:xfrm>
          <a:prstGeom prst="rect">
            <a:avLst/>
          </a:prstGeom>
          <a:solidFill>
            <a:srgbClr val="ECF2FF"/>
          </a:solidFill>
          <a:ln/>
        </p:spPr>
      </p:sp>
      <p:sp>
        <p:nvSpPr>
          <p:cNvPr id="6" name="Text 4"/>
          <p:cNvSpPr txBox="1"/>
          <p:nvPr/>
        </p:nvSpPr>
        <p:spPr>
          <a:xfrm>
            <a:off x="825520" y="1479408"/>
            <a:ext cx="78318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ENDPOINT</a:t>
            </a:r>
            <a:endParaRPr lang="en-US" sz="1000" dirty="0"/>
          </a:p>
        </p:txBody>
      </p:sp>
      <p:sp>
        <p:nvSpPr>
          <p:cNvPr id="7" name="Shape 5"/>
          <p:cNvSpPr/>
          <p:nvPr/>
        </p:nvSpPr>
        <p:spPr>
          <a:xfrm>
            <a:off x="3595512" y="1347368"/>
            <a:ext cx="2174169" cy="422270"/>
          </a:xfrm>
          <a:prstGeom prst="rect">
            <a:avLst/>
          </a:prstGeom>
          <a:solidFill>
            <a:srgbClr val="ECF2FF"/>
          </a:solidFill>
          <a:ln/>
        </p:spPr>
      </p:sp>
      <p:sp>
        <p:nvSpPr>
          <p:cNvPr id="8" name="Text 6"/>
          <p:cNvSpPr txBox="1"/>
          <p:nvPr/>
        </p:nvSpPr>
        <p:spPr>
          <a:xfrm>
            <a:off x="3760561" y="1479408"/>
            <a:ext cx="656905"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BÊN GỌI</a:t>
            </a:r>
            <a:endParaRPr lang="en-US" sz="1000" dirty="0"/>
          </a:p>
        </p:txBody>
      </p:sp>
      <p:sp>
        <p:nvSpPr>
          <p:cNvPr id="9" name="Shape 7"/>
          <p:cNvSpPr/>
          <p:nvPr/>
        </p:nvSpPr>
        <p:spPr>
          <a:xfrm>
            <a:off x="5769590" y="1347368"/>
            <a:ext cx="2717688" cy="422270"/>
          </a:xfrm>
          <a:prstGeom prst="rect">
            <a:avLst/>
          </a:prstGeom>
          <a:solidFill>
            <a:srgbClr val="ECF2FF"/>
          </a:solidFill>
          <a:ln/>
        </p:spPr>
      </p:sp>
      <p:sp>
        <p:nvSpPr>
          <p:cNvPr id="10" name="Text 8"/>
          <p:cNvSpPr txBox="1"/>
          <p:nvPr/>
        </p:nvSpPr>
        <p:spPr>
          <a:xfrm>
            <a:off x="5934730" y="1479408"/>
            <a:ext cx="73462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REQUEST</a:t>
            </a:r>
            <a:endParaRPr lang="en-US" sz="1000" dirty="0"/>
          </a:p>
        </p:txBody>
      </p:sp>
      <p:sp>
        <p:nvSpPr>
          <p:cNvPr id="11" name="Shape 9"/>
          <p:cNvSpPr/>
          <p:nvPr/>
        </p:nvSpPr>
        <p:spPr>
          <a:xfrm>
            <a:off x="8487369" y="1347368"/>
            <a:ext cx="3043946" cy="422270"/>
          </a:xfrm>
          <a:prstGeom prst="rect">
            <a:avLst/>
          </a:prstGeom>
          <a:solidFill>
            <a:srgbClr val="ECF2FF"/>
          </a:solidFill>
          <a:ln/>
        </p:spPr>
      </p:sp>
      <p:sp>
        <p:nvSpPr>
          <p:cNvPr id="12" name="Text 10"/>
          <p:cNvSpPr txBox="1"/>
          <p:nvPr/>
        </p:nvSpPr>
        <p:spPr>
          <a:xfrm>
            <a:off x="8652419" y="1479408"/>
            <a:ext cx="832836"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RESPONSE</a:t>
            </a:r>
            <a:endParaRPr lang="en-US" sz="1000" dirty="0"/>
          </a:p>
        </p:txBody>
      </p:sp>
      <p:sp>
        <p:nvSpPr>
          <p:cNvPr id="13" name="Shape 11"/>
          <p:cNvSpPr/>
          <p:nvPr/>
        </p:nvSpPr>
        <p:spPr>
          <a:xfrm>
            <a:off x="660380" y="1769638"/>
            <a:ext cx="2935133" cy="6309"/>
          </a:xfrm>
          <a:prstGeom prst="rect">
            <a:avLst/>
          </a:prstGeom>
          <a:solidFill>
            <a:srgbClr val="E3E6EA"/>
          </a:solidFill>
          <a:ln/>
        </p:spPr>
      </p:sp>
      <p:sp>
        <p:nvSpPr>
          <p:cNvPr id="14" name="Text 12"/>
          <p:cNvSpPr txBox="1"/>
          <p:nvPr/>
        </p:nvSpPr>
        <p:spPr>
          <a:xfrm>
            <a:off x="800100" y="1871594"/>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POST /payments</a:t>
            </a:r>
            <a:endParaRPr lang="en-US" sz="1200" dirty="0"/>
          </a:p>
        </p:txBody>
      </p:sp>
      <p:sp>
        <p:nvSpPr>
          <p:cNvPr id="15" name="Shape 13"/>
          <p:cNvSpPr/>
          <p:nvPr/>
        </p:nvSpPr>
        <p:spPr>
          <a:xfrm>
            <a:off x="3595512" y="1769638"/>
            <a:ext cx="2174169" cy="6309"/>
          </a:xfrm>
          <a:prstGeom prst="rect">
            <a:avLst/>
          </a:prstGeom>
          <a:solidFill>
            <a:srgbClr val="E3E6EA"/>
          </a:solidFill>
          <a:ln/>
        </p:spPr>
      </p:sp>
      <p:sp>
        <p:nvSpPr>
          <p:cNvPr id="16" name="Text 14"/>
          <p:cNvSpPr txBox="1"/>
          <p:nvPr/>
        </p:nvSpPr>
        <p:spPr>
          <a:xfrm>
            <a:off x="3735233" y="1873606"/>
            <a:ext cx="125309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Order → Payment</a:t>
            </a:r>
            <a:endParaRPr lang="en-US" sz="1150" dirty="0"/>
          </a:p>
        </p:txBody>
      </p:sp>
      <p:sp>
        <p:nvSpPr>
          <p:cNvPr id="17" name="Shape 15"/>
          <p:cNvSpPr/>
          <p:nvPr/>
        </p:nvSpPr>
        <p:spPr>
          <a:xfrm>
            <a:off x="5769590" y="1769638"/>
            <a:ext cx="2717688" cy="6309"/>
          </a:xfrm>
          <a:prstGeom prst="rect">
            <a:avLst/>
          </a:prstGeom>
          <a:solidFill>
            <a:srgbClr val="E3E6EA"/>
          </a:solidFill>
          <a:ln/>
        </p:spPr>
      </p:sp>
      <p:sp>
        <p:nvSpPr>
          <p:cNvPr id="18" name="Text 16"/>
          <p:cNvSpPr txBox="1"/>
          <p:nvPr/>
        </p:nvSpPr>
        <p:spPr>
          <a:xfrm>
            <a:off x="5909310" y="1871594"/>
            <a:ext cx="126507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{ref, amount}</a:t>
            </a:r>
            <a:endParaRPr lang="en-US" sz="1200" dirty="0"/>
          </a:p>
        </p:txBody>
      </p:sp>
      <p:sp>
        <p:nvSpPr>
          <p:cNvPr id="19" name="Shape 17"/>
          <p:cNvSpPr/>
          <p:nvPr/>
        </p:nvSpPr>
        <p:spPr>
          <a:xfrm>
            <a:off x="8487369" y="1769638"/>
            <a:ext cx="3043946" cy="6309"/>
          </a:xfrm>
          <a:prstGeom prst="rect">
            <a:avLst/>
          </a:prstGeom>
          <a:solidFill>
            <a:srgbClr val="E3E6EA"/>
          </a:solidFill>
          <a:ln/>
        </p:spPr>
      </p:sp>
      <p:sp>
        <p:nvSpPr>
          <p:cNvPr id="20" name="Text 18"/>
          <p:cNvSpPr txBox="1"/>
          <p:nvPr/>
        </p:nvSpPr>
        <p:spPr>
          <a:xfrm>
            <a:off x="8627090" y="1865285"/>
            <a:ext cx="1793047"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{url}</a:t>
            </a:r>
            <a:pPr algn="l" indent="0" marL="0">
              <a:buNone/>
            </a:pPr>
            <a:r>
              <a:rPr lang="en-US" sz="1150" dirty="0">
                <a:solidFill>
                  <a:srgbClr val="3F454D"/>
                </a:solidFill>
                <a:latin typeface="Arial" pitchFamily="34" charset="0"/>
                <a:ea typeface="Arial" pitchFamily="34" charset="-122"/>
                <a:cs typeface="Arial" pitchFamily="34" charset="-120"/>
              </a:rPr>
              <a:t> liên kết thanh toán</a:t>
            </a:r>
            <a:endParaRPr lang="en-US" sz="1200" dirty="0"/>
          </a:p>
        </p:txBody>
      </p:sp>
      <p:sp>
        <p:nvSpPr>
          <p:cNvPr id="21" name="Shape 19"/>
          <p:cNvSpPr/>
          <p:nvPr/>
        </p:nvSpPr>
        <p:spPr>
          <a:xfrm>
            <a:off x="660380" y="2163288"/>
            <a:ext cx="2935133" cy="6309"/>
          </a:xfrm>
          <a:prstGeom prst="rect">
            <a:avLst/>
          </a:prstGeom>
          <a:solidFill>
            <a:srgbClr val="E3E6EA"/>
          </a:solidFill>
          <a:ln/>
        </p:spPr>
      </p:sp>
      <p:sp>
        <p:nvSpPr>
          <p:cNvPr id="22" name="Text 20"/>
          <p:cNvSpPr txBox="1"/>
          <p:nvPr/>
        </p:nvSpPr>
        <p:spPr>
          <a:xfrm>
            <a:off x="800100" y="2265335"/>
            <a:ext cx="2035729"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POST /internal/result</a:t>
            </a:r>
            <a:endParaRPr lang="en-US" sz="1200" dirty="0"/>
          </a:p>
        </p:txBody>
      </p:sp>
      <p:sp>
        <p:nvSpPr>
          <p:cNvPr id="23" name="Shape 21"/>
          <p:cNvSpPr/>
          <p:nvPr/>
        </p:nvSpPr>
        <p:spPr>
          <a:xfrm>
            <a:off x="3595512" y="2163288"/>
            <a:ext cx="2174169" cy="6309"/>
          </a:xfrm>
          <a:prstGeom prst="rect">
            <a:avLst/>
          </a:prstGeom>
          <a:solidFill>
            <a:srgbClr val="E3E6EA"/>
          </a:solidFill>
          <a:ln/>
        </p:spPr>
      </p:sp>
      <p:sp>
        <p:nvSpPr>
          <p:cNvPr id="24" name="Text 22"/>
          <p:cNvSpPr txBox="1"/>
          <p:nvPr/>
        </p:nvSpPr>
        <p:spPr>
          <a:xfrm>
            <a:off x="3735233" y="2267255"/>
            <a:ext cx="125309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Payment → Order</a:t>
            </a:r>
            <a:endParaRPr lang="en-US" sz="1150" dirty="0"/>
          </a:p>
        </p:txBody>
      </p:sp>
      <p:sp>
        <p:nvSpPr>
          <p:cNvPr id="25" name="Shape 23"/>
          <p:cNvSpPr/>
          <p:nvPr/>
        </p:nvSpPr>
        <p:spPr>
          <a:xfrm>
            <a:off x="5769590" y="2163288"/>
            <a:ext cx="2717688" cy="6309"/>
          </a:xfrm>
          <a:prstGeom prst="rect">
            <a:avLst/>
          </a:prstGeom>
          <a:solidFill>
            <a:srgbClr val="E3E6EA"/>
          </a:solidFill>
          <a:ln/>
        </p:spPr>
      </p:sp>
      <p:sp>
        <p:nvSpPr>
          <p:cNvPr id="26" name="Text 24"/>
          <p:cNvSpPr txBox="1"/>
          <p:nvPr/>
        </p:nvSpPr>
        <p:spPr>
          <a:xfrm>
            <a:off x="5909310" y="2265335"/>
            <a:ext cx="2035729"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{ref, amount, status}</a:t>
            </a:r>
            <a:endParaRPr lang="en-US" sz="1200" dirty="0"/>
          </a:p>
        </p:txBody>
      </p:sp>
      <p:sp>
        <p:nvSpPr>
          <p:cNvPr id="27" name="Shape 25"/>
          <p:cNvSpPr/>
          <p:nvPr/>
        </p:nvSpPr>
        <p:spPr>
          <a:xfrm>
            <a:off x="8487369" y="2163288"/>
            <a:ext cx="3043946" cy="6309"/>
          </a:xfrm>
          <a:prstGeom prst="rect">
            <a:avLst/>
          </a:prstGeom>
          <a:solidFill>
            <a:srgbClr val="E3E6EA"/>
          </a:solidFill>
          <a:ln/>
        </p:spPr>
      </p:sp>
      <p:sp>
        <p:nvSpPr>
          <p:cNvPr id="28" name="Text 26"/>
          <p:cNvSpPr txBox="1"/>
          <p:nvPr/>
        </p:nvSpPr>
        <p:spPr>
          <a:xfrm>
            <a:off x="8627090" y="2258934"/>
            <a:ext cx="1780703"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{status}</a:t>
            </a:r>
            <a:pPr algn="l" indent="0" marL="0">
              <a:buNone/>
            </a:pPr>
            <a:r>
              <a:rPr lang="en-US" sz="1150" dirty="0">
                <a:solidFill>
                  <a:srgbClr val="3F454D"/>
                </a:solidFill>
                <a:latin typeface="Arial" pitchFamily="34" charset="0"/>
                <a:ea typeface="Arial" pitchFamily="34" charset="-122"/>
                <a:cs typeface="Arial" pitchFamily="34" charset="-120"/>
              </a:rPr>
              <a:t> trạng thái đơn</a:t>
            </a:r>
            <a:endParaRPr lang="en-US" sz="1200" dirty="0"/>
          </a:p>
        </p:txBody>
      </p:sp>
      <p:sp>
        <p:nvSpPr>
          <p:cNvPr id="29" name="Shape 27"/>
          <p:cNvSpPr/>
          <p:nvPr/>
        </p:nvSpPr>
        <p:spPr>
          <a:xfrm>
            <a:off x="660380" y="2557028"/>
            <a:ext cx="2935133" cy="6309"/>
          </a:xfrm>
          <a:prstGeom prst="rect">
            <a:avLst/>
          </a:prstGeom>
          <a:solidFill>
            <a:srgbClr val="E3E6EA"/>
          </a:solidFill>
          <a:ln/>
        </p:spPr>
      </p:sp>
      <p:sp>
        <p:nvSpPr>
          <p:cNvPr id="30" name="Text 28"/>
          <p:cNvSpPr txBox="1"/>
          <p:nvPr/>
        </p:nvSpPr>
        <p:spPr>
          <a:xfrm>
            <a:off x="800100" y="2658984"/>
            <a:ext cx="117363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POST /verify</a:t>
            </a:r>
            <a:endParaRPr lang="en-US" sz="1200" dirty="0"/>
          </a:p>
        </p:txBody>
      </p:sp>
      <p:sp>
        <p:nvSpPr>
          <p:cNvPr id="31" name="Shape 29"/>
          <p:cNvSpPr/>
          <p:nvPr/>
        </p:nvSpPr>
        <p:spPr>
          <a:xfrm>
            <a:off x="3595512" y="2557028"/>
            <a:ext cx="2174169" cy="6309"/>
          </a:xfrm>
          <a:prstGeom prst="rect">
            <a:avLst/>
          </a:prstGeom>
          <a:solidFill>
            <a:srgbClr val="E3E6EA"/>
          </a:solidFill>
          <a:ln/>
        </p:spPr>
      </p:sp>
      <p:sp>
        <p:nvSpPr>
          <p:cNvPr id="32" name="Text 30"/>
          <p:cNvSpPr txBox="1"/>
          <p:nvPr/>
        </p:nvSpPr>
        <p:spPr>
          <a:xfrm>
            <a:off x="3735233" y="2660904"/>
            <a:ext cx="125309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Order → Payment</a:t>
            </a:r>
            <a:endParaRPr lang="en-US" sz="1150" dirty="0"/>
          </a:p>
        </p:txBody>
      </p:sp>
      <p:sp>
        <p:nvSpPr>
          <p:cNvPr id="33" name="Shape 31"/>
          <p:cNvSpPr/>
          <p:nvPr/>
        </p:nvSpPr>
        <p:spPr>
          <a:xfrm>
            <a:off x="5769590" y="2557028"/>
            <a:ext cx="2717688" cy="6309"/>
          </a:xfrm>
          <a:prstGeom prst="rect">
            <a:avLst/>
          </a:prstGeom>
          <a:solidFill>
            <a:srgbClr val="E3E6EA"/>
          </a:solidFill>
          <a:ln/>
        </p:spPr>
      </p:sp>
      <p:sp>
        <p:nvSpPr>
          <p:cNvPr id="34" name="Text 32"/>
          <p:cNvSpPr txBox="1"/>
          <p:nvPr/>
        </p:nvSpPr>
        <p:spPr>
          <a:xfrm>
            <a:off x="5909310" y="2658984"/>
            <a:ext cx="53346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{ref}</a:t>
            </a:r>
            <a:endParaRPr lang="en-US" sz="1200" dirty="0"/>
          </a:p>
        </p:txBody>
      </p:sp>
      <p:sp>
        <p:nvSpPr>
          <p:cNvPr id="35" name="Shape 33"/>
          <p:cNvSpPr/>
          <p:nvPr/>
        </p:nvSpPr>
        <p:spPr>
          <a:xfrm>
            <a:off x="8487369" y="2557028"/>
            <a:ext cx="3043946" cy="6309"/>
          </a:xfrm>
          <a:prstGeom prst="rect">
            <a:avLst/>
          </a:prstGeom>
          <a:solidFill>
            <a:srgbClr val="E3E6EA"/>
          </a:solidFill>
          <a:ln/>
        </p:spPr>
      </p:sp>
      <p:sp>
        <p:nvSpPr>
          <p:cNvPr id="36" name="Text 34"/>
          <p:cNvSpPr txBox="1"/>
          <p:nvPr/>
        </p:nvSpPr>
        <p:spPr>
          <a:xfrm>
            <a:off x="8627090" y="2658984"/>
            <a:ext cx="1744950"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{verified, status}</a:t>
            </a:r>
            <a:endParaRPr lang="en-US" sz="1200" dirty="0"/>
          </a:p>
        </p:txBody>
      </p:sp>
      <p:sp>
        <p:nvSpPr>
          <p:cNvPr id="37" name="Shape 35"/>
          <p:cNvSpPr/>
          <p:nvPr/>
        </p:nvSpPr>
        <p:spPr>
          <a:xfrm>
            <a:off x="660380" y="3125328"/>
            <a:ext cx="10870936" cy="398770"/>
          </a:xfrm>
          <a:prstGeom prst="roundRect">
            <a:avLst>
              <a:gd name="adj" fmla="val 19101"/>
            </a:avLst>
          </a:prstGeom>
          <a:solidFill>
            <a:srgbClr val="FFFFFF"/>
          </a:solidFill>
          <a:ln w="6350">
            <a:solidFill>
              <a:srgbClr val="E3E6EA"/>
            </a:solidFill>
            <a:prstDash val="solid"/>
          </a:ln>
        </p:spPr>
      </p:sp>
      <p:sp>
        <p:nvSpPr>
          <p:cNvPr id="38" name="Text 36"/>
          <p:cNvSpPr txBox="1"/>
          <p:nvPr/>
        </p:nvSpPr>
        <p:spPr>
          <a:xfrm>
            <a:off x="780989" y="3224906"/>
            <a:ext cx="4770973"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Mọi endpoint nội bộ yêu cầu header </a:t>
            </a:r>
            <a:pPr algn="l" indent="0" marL="0">
              <a:buNone/>
            </a:pPr>
            <a:r>
              <a:rPr lang="en-US" sz="1100" dirty="0">
                <a:solidFill>
                  <a:srgbClr val="3F454D"/>
                </a:solidFill>
                <a:latin typeface="Courier New" pitchFamily="34" charset="0"/>
                <a:ea typeface="Courier New" pitchFamily="34" charset="-122"/>
                <a:cs typeface="Courier New" pitchFamily="34" charset="-120"/>
              </a:rPr>
              <a:t>X-Demo-Token</a:t>
            </a:r>
            <a:pPr algn="l" indent="0" marL="0">
              <a:buNone/>
            </a:pPr>
            <a:r>
              <a:rPr lang="en-US" sz="1100" dirty="0">
                <a:solidFill>
                  <a:srgbClr val="3F454D"/>
                </a:solidFill>
                <a:latin typeface="Arial" pitchFamily="34" charset="0"/>
                <a:ea typeface="Arial" pitchFamily="34" charset="-122"/>
                <a:cs typeface="Arial" pitchFamily="34" charset="-120"/>
              </a:rPr>
              <a:t>; thiếu token trả 403</a:t>
            </a:r>
            <a:endParaRPr lang="en-US" sz="1100" dirty="0"/>
          </a:p>
        </p:txBody>
      </p:sp>
      <p:sp>
        <p:nvSpPr>
          <p:cNvPr id="39" name="Shape 37"/>
          <p:cNvSpPr/>
          <p:nvPr/>
        </p:nvSpPr>
        <p:spPr>
          <a:xfrm>
            <a:off x="660380" y="3600267"/>
            <a:ext cx="10870936" cy="386060"/>
          </a:xfrm>
          <a:prstGeom prst="roundRect">
            <a:avLst>
              <a:gd name="adj" fmla="val 19730"/>
            </a:avLst>
          </a:prstGeom>
          <a:solidFill>
            <a:srgbClr val="FFFFFF"/>
          </a:solidFill>
          <a:ln w="6350">
            <a:solidFill>
              <a:srgbClr val="E3E6EA"/>
            </a:solidFill>
            <a:prstDash val="solid"/>
          </a:ln>
        </p:spPr>
      </p:sp>
      <p:sp>
        <p:nvSpPr>
          <p:cNvPr id="40" name="Text 38"/>
          <p:cNvSpPr txBox="1"/>
          <p:nvPr/>
        </p:nvSpPr>
        <p:spPr>
          <a:xfrm>
            <a:off x="780989" y="3699845"/>
            <a:ext cx="442843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Order Service đối chiếu lại số tiền khi nhận kết quả; sai lệch trả 400</a:t>
            </a:r>
            <a:endParaRPr lang="en-US" sz="1100" dirty="0"/>
          </a:p>
        </p:txBody>
      </p:sp>
      <p:sp>
        <p:nvSpPr>
          <p:cNvPr id="41" name="Shape 39"/>
          <p:cNvSpPr/>
          <p:nvPr/>
        </p:nvSpPr>
        <p:spPr>
          <a:xfrm>
            <a:off x="660380" y="4062496"/>
            <a:ext cx="10870936" cy="398770"/>
          </a:xfrm>
          <a:prstGeom prst="roundRect">
            <a:avLst>
              <a:gd name="adj" fmla="val 19101"/>
            </a:avLst>
          </a:prstGeom>
          <a:solidFill>
            <a:srgbClr val="FFFFFF"/>
          </a:solidFill>
          <a:ln w="6350">
            <a:solidFill>
              <a:srgbClr val="E3E6EA"/>
            </a:solidFill>
            <a:prstDash val="solid"/>
          </a:ln>
        </p:spPr>
      </p:sp>
      <p:sp>
        <p:nvSpPr>
          <p:cNvPr id="42" name="Text 40"/>
          <p:cNvSpPr txBox="1"/>
          <p:nvPr/>
        </p:nvSpPr>
        <p:spPr>
          <a:xfrm>
            <a:off x="780989" y="4162074"/>
            <a:ext cx="5437754"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/internal/result</a:t>
            </a:r>
            <a:pPr algn="l" indent="0" marL="0">
              <a:buNone/>
            </a:pPr>
            <a:r>
              <a:rPr lang="en-US" sz="1100" dirty="0">
                <a:solidFill>
                  <a:srgbClr val="3F454D"/>
                </a:solidFill>
                <a:latin typeface="Arial" pitchFamily="34" charset="0"/>
                <a:ea typeface="Arial" pitchFamily="34" charset="-122"/>
                <a:cs typeface="Arial" pitchFamily="34" charset="-120"/>
              </a:rPr>
              <a:t> có tính idempotent: đơn đã kết thúc thì giữ nguyên trạng thái</a:t>
            </a:r>
            <a:endParaRPr lang="en-US" sz="1100" dirty="0"/>
          </a:p>
        </p:txBody>
      </p:sp>
      <p:sp>
        <p:nvSpPr>
          <p:cNvPr id="43" name="Shape 41"/>
          <p:cNvSpPr/>
          <p:nvPr/>
        </p:nvSpPr>
        <p:spPr>
          <a:xfrm>
            <a:off x="660380" y="4639026"/>
            <a:ext cx="10870936" cy="565648"/>
          </a:xfrm>
          <a:prstGeom prst="rect">
            <a:avLst/>
          </a:prstGeom>
          <a:solidFill>
            <a:srgbClr val="FFFAF0"/>
          </a:solidFill>
          <a:ln/>
        </p:spPr>
      </p:sp>
      <p:sp>
        <p:nvSpPr>
          <p:cNvPr id="44" name="Shape 42"/>
          <p:cNvSpPr/>
          <p:nvPr/>
        </p:nvSpPr>
        <p:spPr>
          <a:xfrm>
            <a:off x="660380" y="4639026"/>
            <a:ext cx="10870936" cy="6309"/>
          </a:xfrm>
          <a:prstGeom prst="rect">
            <a:avLst/>
          </a:prstGeom>
          <a:solidFill>
            <a:srgbClr val="F3DFB5"/>
          </a:solidFill>
          <a:ln/>
        </p:spPr>
      </p:sp>
      <p:sp>
        <p:nvSpPr>
          <p:cNvPr id="45" name="Shape 43"/>
          <p:cNvSpPr/>
          <p:nvPr/>
        </p:nvSpPr>
        <p:spPr>
          <a:xfrm>
            <a:off x="660380" y="5198364"/>
            <a:ext cx="10870936" cy="6309"/>
          </a:xfrm>
          <a:prstGeom prst="rect">
            <a:avLst/>
          </a:prstGeom>
          <a:solidFill>
            <a:srgbClr val="F3DFB5"/>
          </a:solidFill>
          <a:ln/>
        </p:spPr>
      </p:sp>
      <p:sp>
        <p:nvSpPr>
          <p:cNvPr id="46" name="Shape 44"/>
          <p:cNvSpPr/>
          <p:nvPr/>
        </p:nvSpPr>
        <p:spPr>
          <a:xfrm>
            <a:off x="660380" y="4639026"/>
            <a:ext cx="38130" cy="565648"/>
          </a:xfrm>
          <a:prstGeom prst="rect">
            <a:avLst/>
          </a:prstGeom>
          <a:solidFill>
            <a:srgbClr val="E8A317"/>
          </a:solidFill>
          <a:ln/>
        </p:spPr>
      </p:sp>
      <p:sp>
        <p:nvSpPr>
          <p:cNvPr id="47" name="Text 45"/>
          <p:cNvSpPr txBox="1"/>
          <p:nvPr/>
        </p:nvSpPr>
        <p:spPr>
          <a:xfrm>
            <a:off x="825520" y="4725894"/>
            <a:ext cx="2797881" cy="188549"/>
          </a:xfrm>
          <a:prstGeom prst="rect">
            <a:avLst/>
          </a:prstGeom>
          <a:noFill/>
          <a:ln/>
        </p:spPr>
        <p:txBody>
          <a:bodyPr wrap="square" lIns="0" tIns="0" rIns="0" bIns="0" rtlCol="0" anchor="ctr"/>
          <a:lstStyle/>
          <a:p>
            <a:pPr algn="l" indent="0" marL="0">
              <a:buNone/>
            </a:pPr>
            <a:r>
              <a:rPr lang="en-US" sz="1100" b="1" dirty="0">
                <a:solidFill>
                  <a:srgbClr val="111111"/>
                </a:solidFill>
                <a:latin typeface="Arial" pitchFamily="34" charset="0"/>
                <a:ea typeface="Arial" pitchFamily="34" charset="-122"/>
                <a:cs typeface="Arial" pitchFamily="34" charset="-120"/>
              </a:rPr>
              <a:t>Vì sao không sử dụng message queue?</a:t>
            </a:r>
            <a:endParaRPr lang="en-US" sz="1100" dirty="0"/>
          </a:p>
        </p:txBody>
      </p:sp>
      <p:sp>
        <p:nvSpPr>
          <p:cNvPr id="48" name="Text 46"/>
          <p:cNvSpPr txBox="1"/>
          <p:nvPr/>
        </p:nvSpPr>
        <p:spPr>
          <a:xfrm>
            <a:off x="825520" y="4946538"/>
            <a:ext cx="9222181" cy="186720"/>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Nhằm giữ demo đơn giản: khi Order lỗi, Payment giữ PENDING và VNPAY gửi lại IPN. Hệ thống thực tế nên dùng outbox kết hợp message queue.</a:t>
            </a:r>
            <a:endParaRPr lang="en-US" sz="1050" dirty="0"/>
          </a:p>
        </p:txBody>
      </p:sp>
      <p:sp>
        <p:nvSpPr>
          <p:cNvPr id="49" name="Text 47"/>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0" name="Text 48"/>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43021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Giao tiếp với VNPAY</a:t>
            </a:r>
            <a:endParaRPr lang="en-US" sz="1100" dirty="0"/>
          </a:p>
        </p:txBody>
      </p:sp>
      <p:sp>
        <p:nvSpPr>
          <p:cNvPr id="3" name="Text 1"/>
          <p:cNvSpPr txBox="1"/>
          <p:nvPr/>
        </p:nvSpPr>
        <p:spPr>
          <a:xfrm>
            <a:off x="660380" y="643829"/>
            <a:ext cx="5558912"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Bốn kênh giao tiếp với VNPAY</a:t>
            </a:r>
            <a:endParaRPr lang="en-US" sz="3000" dirty="0"/>
          </a:p>
        </p:txBody>
      </p:sp>
      <p:sp>
        <p:nvSpPr>
          <p:cNvPr id="4" name="Shape 2"/>
          <p:cNvSpPr/>
          <p:nvPr/>
        </p:nvSpPr>
        <p:spPr>
          <a:xfrm>
            <a:off x="660380" y="1347368"/>
            <a:ext cx="10870936" cy="2603480"/>
          </a:xfrm>
          <a:prstGeom prst="roundRect">
            <a:avLst>
              <a:gd name="adj" fmla="val 3902"/>
            </a:avLst>
          </a:prstGeom>
          <a:solidFill>
            <a:srgbClr val="FFFFFF"/>
          </a:solidFill>
          <a:ln/>
        </p:spPr>
      </p:sp>
      <p:sp>
        <p:nvSpPr>
          <p:cNvPr id="5" name="Shape 3"/>
          <p:cNvSpPr/>
          <p:nvPr/>
        </p:nvSpPr>
        <p:spPr>
          <a:xfrm>
            <a:off x="660380" y="1347368"/>
            <a:ext cx="1630650" cy="422270"/>
          </a:xfrm>
          <a:prstGeom prst="rect">
            <a:avLst/>
          </a:prstGeom>
          <a:solidFill>
            <a:srgbClr val="ECF2FF"/>
          </a:solidFill>
          <a:ln/>
        </p:spPr>
      </p:sp>
      <p:sp>
        <p:nvSpPr>
          <p:cNvPr id="6" name="Text 4"/>
          <p:cNvSpPr txBox="1"/>
          <p:nvPr/>
        </p:nvSpPr>
        <p:spPr>
          <a:xfrm>
            <a:off x="825520" y="1479408"/>
            <a:ext cx="461498"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KÊNH</a:t>
            </a:r>
            <a:endParaRPr lang="en-US" sz="1000" dirty="0"/>
          </a:p>
        </p:txBody>
      </p:sp>
      <p:sp>
        <p:nvSpPr>
          <p:cNvPr id="7" name="Shape 5"/>
          <p:cNvSpPr/>
          <p:nvPr/>
        </p:nvSpPr>
        <p:spPr>
          <a:xfrm>
            <a:off x="2291029" y="1347368"/>
            <a:ext cx="2391522" cy="422270"/>
          </a:xfrm>
          <a:prstGeom prst="rect">
            <a:avLst/>
          </a:prstGeom>
          <a:solidFill>
            <a:srgbClr val="ECF2FF"/>
          </a:solidFill>
          <a:ln/>
        </p:spPr>
      </p:sp>
      <p:sp>
        <p:nvSpPr>
          <p:cNvPr id="8" name="Text 6"/>
          <p:cNvSpPr txBox="1"/>
          <p:nvPr/>
        </p:nvSpPr>
        <p:spPr>
          <a:xfrm>
            <a:off x="2456078" y="1479408"/>
            <a:ext cx="796625"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CHIỀU GỌI</a:t>
            </a:r>
            <a:endParaRPr lang="en-US" sz="1000" dirty="0"/>
          </a:p>
        </p:txBody>
      </p:sp>
      <p:sp>
        <p:nvSpPr>
          <p:cNvPr id="9" name="Shape 7"/>
          <p:cNvSpPr/>
          <p:nvPr/>
        </p:nvSpPr>
        <p:spPr>
          <a:xfrm>
            <a:off x="4682551" y="1347368"/>
            <a:ext cx="2608966" cy="422270"/>
          </a:xfrm>
          <a:prstGeom prst="rect">
            <a:avLst/>
          </a:prstGeom>
          <a:solidFill>
            <a:srgbClr val="ECF2FF"/>
          </a:solidFill>
          <a:ln/>
        </p:spPr>
      </p:sp>
      <p:sp>
        <p:nvSpPr>
          <p:cNvPr id="10" name="Text 8"/>
          <p:cNvSpPr txBox="1"/>
          <p:nvPr/>
        </p:nvSpPr>
        <p:spPr>
          <a:xfrm>
            <a:off x="4847600" y="1479408"/>
            <a:ext cx="202695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PHƯƠNG THỨC, ĐỊNH DẠNG</a:t>
            </a:r>
            <a:endParaRPr lang="en-US" sz="1000" dirty="0"/>
          </a:p>
        </p:txBody>
      </p:sp>
      <p:sp>
        <p:nvSpPr>
          <p:cNvPr id="11" name="Shape 9"/>
          <p:cNvSpPr/>
          <p:nvPr/>
        </p:nvSpPr>
        <p:spPr>
          <a:xfrm>
            <a:off x="7291517" y="1347368"/>
            <a:ext cx="4239798" cy="422270"/>
          </a:xfrm>
          <a:prstGeom prst="rect">
            <a:avLst/>
          </a:prstGeom>
          <a:solidFill>
            <a:srgbClr val="ECF2FF"/>
          </a:solidFill>
          <a:ln/>
        </p:spPr>
      </p:sp>
      <p:sp>
        <p:nvSpPr>
          <p:cNvPr id="12" name="Text 10"/>
          <p:cNvSpPr txBox="1"/>
          <p:nvPr/>
        </p:nvSpPr>
        <p:spPr>
          <a:xfrm>
            <a:off x="7456566" y="1479408"/>
            <a:ext cx="4960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LÝ DO</a:t>
            </a:r>
            <a:endParaRPr lang="en-US" sz="1000" dirty="0"/>
          </a:p>
        </p:txBody>
      </p:sp>
      <p:sp>
        <p:nvSpPr>
          <p:cNvPr id="13" name="Shape 11"/>
          <p:cNvSpPr/>
          <p:nvPr/>
        </p:nvSpPr>
        <p:spPr>
          <a:xfrm>
            <a:off x="660380" y="1769638"/>
            <a:ext cx="1630650" cy="6309"/>
          </a:xfrm>
          <a:prstGeom prst="rect">
            <a:avLst/>
          </a:prstGeom>
          <a:solidFill>
            <a:srgbClr val="E3E6EA"/>
          </a:solidFill>
          <a:ln/>
        </p:spPr>
      </p:sp>
      <p:sp>
        <p:nvSpPr>
          <p:cNvPr id="14" name="Text 12"/>
          <p:cNvSpPr txBox="1"/>
          <p:nvPr/>
        </p:nvSpPr>
        <p:spPr>
          <a:xfrm>
            <a:off x="800100" y="1975195"/>
            <a:ext cx="102577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Payment URL</a:t>
            </a:r>
            <a:endParaRPr lang="en-US" sz="1150" dirty="0"/>
          </a:p>
        </p:txBody>
      </p:sp>
      <p:sp>
        <p:nvSpPr>
          <p:cNvPr id="15" name="Shape 13"/>
          <p:cNvSpPr/>
          <p:nvPr/>
        </p:nvSpPr>
        <p:spPr>
          <a:xfrm>
            <a:off x="2291029" y="1769638"/>
            <a:ext cx="2391522" cy="6309"/>
          </a:xfrm>
          <a:prstGeom prst="rect">
            <a:avLst/>
          </a:prstGeom>
          <a:solidFill>
            <a:srgbClr val="E3E6EA"/>
          </a:solidFill>
          <a:ln/>
        </p:spPr>
      </p:sp>
      <p:sp>
        <p:nvSpPr>
          <p:cNvPr id="16" name="Text 14"/>
          <p:cNvSpPr txBox="1"/>
          <p:nvPr/>
        </p:nvSpPr>
        <p:spPr>
          <a:xfrm>
            <a:off x="2430658" y="1975195"/>
            <a:ext cx="152000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Trình duyệt → VNPAY</a:t>
            </a:r>
            <a:endParaRPr lang="en-US" sz="1150" dirty="0"/>
          </a:p>
        </p:txBody>
      </p:sp>
      <p:sp>
        <p:nvSpPr>
          <p:cNvPr id="17" name="Shape 15"/>
          <p:cNvSpPr/>
          <p:nvPr/>
        </p:nvSpPr>
        <p:spPr>
          <a:xfrm>
            <a:off x="4682551" y="1769638"/>
            <a:ext cx="2608966" cy="6309"/>
          </a:xfrm>
          <a:prstGeom prst="rect">
            <a:avLst/>
          </a:prstGeom>
          <a:solidFill>
            <a:srgbClr val="E3E6EA"/>
          </a:solidFill>
          <a:ln/>
        </p:spPr>
      </p:sp>
      <p:sp>
        <p:nvSpPr>
          <p:cNvPr id="18" name="Text 16"/>
          <p:cNvSpPr txBox="1"/>
          <p:nvPr/>
        </p:nvSpPr>
        <p:spPr>
          <a:xfrm>
            <a:off x="4822180" y="1966874"/>
            <a:ext cx="1943283"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GET</a:t>
            </a:r>
            <a:pPr algn="l" indent="0" marL="0">
              <a:buNone/>
            </a:pPr>
            <a:r>
              <a:rPr lang="en-US" sz="1150" dirty="0">
                <a:solidFill>
                  <a:srgbClr val="3F454D"/>
                </a:solidFill>
                <a:latin typeface="Arial" pitchFamily="34" charset="0"/>
                <a:ea typeface="Arial" pitchFamily="34" charset="-122"/>
                <a:cs typeface="Arial" pitchFamily="34" charset="-120"/>
              </a:rPr>
              <a:t>, query string, có chữ ký</a:t>
            </a:r>
            <a:endParaRPr lang="en-US" sz="1200" dirty="0"/>
          </a:p>
        </p:txBody>
      </p:sp>
      <p:sp>
        <p:nvSpPr>
          <p:cNvPr id="19" name="Shape 17"/>
          <p:cNvSpPr/>
          <p:nvPr/>
        </p:nvSpPr>
        <p:spPr>
          <a:xfrm>
            <a:off x="7291517" y="1769638"/>
            <a:ext cx="4239798" cy="6309"/>
          </a:xfrm>
          <a:prstGeom prst="rect">
            <a:avLst/>
          </a:prstGeom>
          <a:solidFill>
            <a:srgbClr val="E3E6EA"/>
          </a:solidFill>
          <a:ln/>
        </p:spPr>
      </p:sp>
      <p:sp>
        <p:nvSpPr>
          <p:cNvPr id="20" name="Text 18"/>
          <p:cNvSpPr txBox="1"/>
          <p:nvPr/>
        </p:nvSpPr>
        <p:spPr>
          <a:xfrm>
            <a:off x="7431237" y="1848825"/>
            <a:ext cx="4079230" cy="493685"/>
          </a:xfrm>
          <a:prstGeom prst="rect">
            <a:avLst/>
          </a:prstGeom>
          <a:noFill/>
          <a:ln/>
        </p:spPr>
        <p:txBody>
          <a:bodyPr wrap="square" lIns="0" tIns="0" rIns="0" bIns="0" rtlCol="0" anchor="t"/>
          <a:lstStyle/>
          <a:p>
            <a:pPr algn="l" indent="0" marL="0">
              <a:lnSpc>
                <a:spcPts val="1730"/>
              </a:lnSpc>
              <a:buNone/>
            </a:pPr>
            <a:r>
              <a:rPr lang="en-US" sz="1150" dirty="0">
                <a:solidFill>
                  <a:srgbClr val="3F454D"/>
                </a:solidFill>
                <a:latin typeface="Arial" pitchFamily="34" charset="0"/>
                <a:ea typeface="Arial" pitchFamily="34" charset="-122"/>
                <a:cs typeface="Arial" pitchFamily="34" charset="-120"/>
              </a:rPr>
              <a:t>Khách hàng nhập thẻ tại VNPAY nên phải chuyển trang; dữ liệu truyền qua URL</a:t>
            </a:r>
            <a:endParaRPr lang="en-US" sz="1150" dirty="0"/>
          </a:p>
        </p:txBody>
      </p:sp>
      <p:sp>
        <p:nvSpPr>
          <p:cNvPr id="21" name="Shape 19"/>
          <p:cNvSpPr/>
          <p:nvPr/>
        </p:nvSpPr>
        <p:spPr>
          <a:xfrm>
            <a:off x="660380" y="2366467"/>
            <a:ext cx="1630650" cy="6309"/>
          </a:xfrm>
          <a:prstGeom prst="rect">
            <a:avLst/>
          </a:prstGeom>
          <a:solidFill>
            <a:srgbClr val="E3E6EA"/>
          </a:solidFill>
          <a:ln/>
        </p:spPr>
      </p:sp>
      <p:sp>
        <p:nvSpPr>
          <p:cNvPr id="22" name="Text 20"/>
          <p:cNvSpPr txBox="1"/>
          <p:nvPr/>
        </p:nvSpPr>
        <p:spPr>
          <a:xfrm>
            <a:off x="800100" y="2572024"/>
            <a:ext cx="847009"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ReturnURL</a:t>
            </a:r>
            <a:endParaRPr lang="en-US" sz="1150" dirty="0"/>
          </a:p>
        </p:txBody>
      </p:sp>
      <p:sp>
        <p:nvSpPr>
          <p:cNvPr id="23" name="Shape 21"/>
          <p:cNvSpPr/>
          <p:nvPr/>
        </p:nvSpPr>
        <p:spPr>
          <a:xfrm>
            <a:off x="2291029" y="2366467"/>
            <a:ext cx="2391522" cy="6309"/>
          </a:xfrm>
          <a:prstGeom prst="rect">
            <a:avLst/>
          </a:prstGeom>
          <a:solidFill>
            <a:srgbClr val="E3E6EA"/>
          </a:solidFill>
          <a:ln/>
        </p:spPr>
      </p:sp>
      <p:sp>
        <p:nvSpPr>
          <p:cNvPr id="24" name="Text 22"/>
          <p:cNvSpPr txBox="1"/>
          <p:nvPr/>
        </p:nvSpPr>
        <p:spPr>
          <a:xfrm>
            <a:off x="2430658" y="2445746"/>
            <a:ext cx="2175449" cy="493685"/>
          </a:xfrm>
          <a:prstGeom prst="rect">
            <a:avLst/>
          </a:prstGeom>
          <a:noFill/>
          <a:ln/>
        </p:spPr>
        <p:txBody>
          <a:bodyPr wrap="square" lIns="0" tIns="0" rIns="0" bIns="0" rtlCol="0" anchor="t"/>
          <a:lstStyle/>
          <a:p>
            <a:pPr algn="l" indent="0" marL="0">
              <a:lnSpc>
                <a:spcPts val="1730"/>
              </a:lnSpc>
              <a:buNone/>
            </a:pPr>
            <a:r>
              <a:rPr lang="en-US" sz="1150" dirty="0">
                <a:solidFill>
                  <a:srgbClr val="3F454D"/>
                </a:solidFill>
                <a:latin typeface="Arial" pitchFamily="34" charset="0"/>
                <a:ea typeface="Arial" pitchFamily="34" charset="-122"/>
                <a:cs typeface="Arial" pitchFamily="34" charset="-120"/>
              </a:rPr>
              <a:t>VNPAY → trình duyệt → Payment</a:t>
            </a:r>
            <a:endParaRPr lang="en-US" sz="1150" dirty="0"/>
          </a:p>
        </p:txBody>
      </p:sp>
      <p:sp>
        <p:nvSpPr>
          <p:cNvPr id="25" name="Shape 23"/>
          <p:cNvSpPr/>
          <p:nvPr/>
        </p:nvSpPr>
        <p:spPr>
          <a:xfrm>
            <a:off x="4682551" y="2366467"/>
            <a:ext cx="2608966" cy="6309"/>
          </a:xfrm>
          <a:prstGeom prst="rect">
            <a:avLst/>
          </a:prstGeom>
          <a:solidFill>
            <a:srgbClr val="E3E6EA"/>
          </a:solidFill>
          <a:ln/>
        </p:spPr>
      </p:sp>
      <p:sp>
        <p:nvSpPr>
          <p:cNvPr id="26" name="Text 24"/>
          <p:cNvSpPr txBox="1"/>
          <p:nvPr/>
        </p:nvSpPr>
        <p:spPr>
          <a:xfrm>
            <a:off x="4822180" y="2563703"/>
            <a:ext cx="1943283"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GET</a:t>
            </a:r>
            <a:pPr algn="l" indent="0" marL="0">
              <a:buNone/>
            </a:pPr>
            <a:r>
              <a:rPr lang="en-US" sz="1150" dirty="0">
                <a:solidFill>
                  <a:srgbClr val="3F454D"/>
                </a:solidFill>
                <a:latin typeface="Arial" pitchFamily="34" charset="0"/>
                <a:ea typeface="Arial" pitchFamily="34" charset="-122"/>
                <a:cs typeface="Arial" pitchFamily="34" charset="-120"/>
              </a:rPr>
              <a:t>, query string, có chữ ký</a:t>
            </a:r>
            <a:endParaRPr lang="en-US" sz="1200" dirty="0"/>
          </a:p>
        </p:txBody>
      </p:sp>
      <p:sp>
        <p:nvSpPr>
          <p:cNvPr id="27" name="Shape 25"/>
          <p:cNvSpPr/>
          <p:nvPr/>
        </p:nvSpPr>
        <p:spPr>
          <a:xfrm>
            <a:off x="7291517" y="2366467"/>
            <a:ext cx="4239798" cy="6309"/>
          </a:xfrm>
          <a:prstGeom prst="rect">
            <a:avLst/>
          </a:prstGeom>
          <a:solidFill>
            <a:srgbClr val="E3E6EA"/>
          </a:solidFill>
          <a:ln/>
        </p:spPr>
      </p:sp>
      <p:sp>
        <p:nvSpPr>
          <p:cNvPr id="28" name="Text 26"/>
          <p:cNvSpPr txBox="1"/>
          <p:nvPr/>
        </p:nvSpPr>
        <p:spPr>
          <a:xfrm>
            <a:off x="7431237" y="2572024"/>
            <a:ext cx="261646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Chuyển trang, dữ liệu truyền qua URL</a:t>
            </a:r>
            <a:endParaRPr lang="en-US" sz="1150" dirty="0"/>
          </a:p>
        </p:txBody>
      </p:sp>
      <p:sp>
        <p:nvSpPr>
          <p:cNvPr id="29" name="Shape 27"/>
          <p:cNvSpPr/>
          <p:nvPr/>
        </p:nvSpPr>
        <p:spPr>
          <a:xfrm>
            <a:off x="660380" y="2963388"/>
            <a:ext cx="1630650" cy="6309"/>
          </a:xfrm>
          <a:prstGeom prst="rect">
            <a:avLst/>
          </a:prstGeom>
          <a:solidFill>
            <a:srgbClr val="E3E6EA"/>
          </a:solidFill>
          <a:ln/>
        </p:spPr>
      </p:sp>
      <p:sp>
        <p:nvSpPr>
          <p:cNvPr id="30" name="Text 28"/>
          <p:cNvSpPr txBox="1"/>
          <p:nvPr/>
        </p:nvSpPr>
        <p:spPr>
          <a:xfrm>
            <a:off x="800100" y="3168945"/>
            <a:ext cx="31967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IPN</a:t>
            </a:r>
            <a:endParaRPr lang="en-US" sz="1150" dirty="0"/>
          </a:p>
        </p:txBody>
      </p:sp>
      <p:sp>
        <p:nvSpPr>
          <p:cNvPr id="31" name="Shape 29"/>
          <p:cNvSpPr/>
          <p:nvPr/>
        </p:nvSpPr>
        <p:spPr>
          <a:xfrm>
            <a:off x="2291029" y="2963388"/>
            <a:ext cx="2391522" cy="6309"/>
          </a:xfrm>
          <a:prstGeom prst="rect">
            <a:avLst/>
          </a:prstGeom>
          <a:solidFill>
            <a:srgbClr val="E3E6EA"/>
          </a:solidFill>
          <a:ln/>
        </p:spPr>
      </p:sp>
      <p:sp>
        <p:nvSpPr>
          <p:cNvPr id="32" name="Text 30"/>
          <p:cNvSpPr txBox="1"/>
          <p:nvPr/>
        </p:nvSpPr>
        <p:spPr>
          <a:xfrm>
            <a:off x="2430658" y="3168945"/>
            <a:ext cx="184983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Server VNPAY → Payment</a:t>
            </a:r>
            <a:endParaRPr lang="en-US" sz="1150" dirty="0"/>
          </a:p>
        </p:txBody>
      </p:sp>
      <p:sp>
        <p:nvSpPr>
          <p:cNvPr id="33" name="Shape 31"/>
          <p:cNvSpPr/>
          <p:nvPr/>
        </p:nvSpPr>
        <p:spPr>
          <a:xfrm>
            <a:off x="4682551" y="2963388"/>
            <a:ext cx="2608966" cy="6309"/>
          </a:xfrm>
          <a:prstGeom prst="rect">
            <a:avLst/>
          </a:prstGeom>
          <a:solidFill>
            <a:srgbClr val="E3E6EA"/>
          </a:solidFill>
          <a:ln/>
        </p:spPr>
      </p:sp>
      <p:sp>
        <p:nvSpPr>
          <p:cNvPr id="34" name="Text 32"/>
          <p:cNvSpPr txBox="1"/>
          <p:nvPr/>
        </p:nvSpPr>
        <p:spPr>
          <a:xfrm>
            <a:off x="4822180" y="3160624"/>
            <a:ext cx="2278685"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GET</a:t>
            </a:r>
            <a:pPr algn="l" indent="0" marL="0">
              <a:buNone/>
            </a:pPr>
            <a:r>
              <a:rPr lang="en-US" sz="1150" dirty="0">
                <a:solidFill>
                  <a:srgbClr val="3F454D"/>
                </a:solidFill>
                <a:latin typeface="Arial" pitchFamily="34" charset="0"/>
                <a:ea typeface="Arial" pitchFamily="34" charset="-122"/>
                <a:cs typeface="Arial" pitchFamily="34" charset="-120"/>
              </a:rPr>
              <a:t> query string, phản hồi JSON</a:t>
            </a:r>
            <a:endParaRPr lang="en-US" sz="1200" dirty="0"/>
          </a:p>
        </p:txBody>
      </p:sp>
      <p:sp>
        <p:nvSpPr>
          <p:cNvPr id="35" name="Shape 33"/>
          <p:cNvSpPr/>
          <p:nvPr/>
        </p:nvSpPr>
        <p:spPr>
          <a:xfrm>
            <a:off x="7291517" y="2963388"/>
            <a:ext cx="4239798" cy="6309"/>
          </a:xfrm>
          <a:prstGeom prst="rect">
            <a:avLst/>
          </a:prstGeom>
          <a:solidFill>
            <a:srgbClr val="E3E6EA"/>
          </a:solidFill>
          <a:ln/>
        </p:spPr>
      </p:sp>
      <p:sp>
        <p:nvSpPr>
          <p:cNvPr id="36" name="Text 34"/>
          <p:cNvSpPr txBox="1"/>
          <p:nvPr/>
        </p:nvSpPr>
        <p:spPr>
          <a:xfrm>
            <a:off x="7431237" y="3042575"/>
            <a:ext cx="4079230" cy="493685"/>
          </a:xfrm>
          <a:prstGeom prst="rect">
            <a:avLst/>
          </a:prstGeom>
          <a:noFill/>
          <a:ln/>
        </p:spPr>
        <p:txBody>
          <a:bodyPr wrap="square" lIns="0" tIns="0" rIns="0" bIns="0" rtlCol="0" anchor="t"/>
          <a:lstStyle/>
          <a:p>
            <a:pPr algn="l" indent="0" marL="0">
              <a:lnSpc>
                <a:spcPts val="1730"/>
              </a:lnSpc>
              <a:buNone/>
            </a:pPr>
            <a:r>
              <a:rPr lang="en-US" sz="1150" dirty="0">
                <a:solidFill>
                  <a:srgbClr val="3F454D"/>
                </a:solidFill>
                <a:latin typeface="Arial" pitchFamily="34" charset="0"/>
                <a:ea typeface="Arial" pitchFamily="34" charset="-122"/>
                <a:cs typeface="Arial" pitchFamily="34" charset="-120"/>
              </a:rPr>
              <a:t>Cùng cơ chế ký với Payment URL; JSON để VNPAY xác nhận đã nhận</a:t>
            </a:r>
            <a:endParaRPr lang="en-US" sz="1150" dirty="0"/>
          </a:p>
        </p:txBody>
      </p:sp>
      <p:sp>
        <p:nvSpPr>
          <p:cNvPr id="37" name="Shape 35"/>
          <p:cNvSpPr/>
          <p:nvPr/>
        </p:nvSpPr>
        <p:spPr>
          <a:xfrm>
            <a:off x="660380" y="3560308"/>
            <a:ext cx="1630650" cy="6309"/>
          </a:xfrm>
          <a:prstGeom prst="rect">
            <a:avLst/>
          </a:prstGeom>
          <a:solidFill>
            <a:srgbClr val="E3E6EA"/>
          </a:solidFill>
          <a:ln/>
        </p:spPr>
      </p:sp>
      <p:sp>
        <p:nvSpPr>
          <p:cNvPr id="38" name="Text 36"/>
          <p:cNvSpPr txBox="1"/>
          <p:nvPr/>
        </p:nvSpPr>
        <p:spPr>
          <a:xfrm>
            <a:off x="800100" y="3664184"/>
            <a:ext cx="61996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querydr</a:t>
            </a:r>
            <a:endParaRPr lang="en-US" sz="1150" dirty="0"/>
          </a:p>
        </p:txBody>
      </p:sp>
      <p:sp>
        <p:nvSpPr>
          <p:cNvPr id="39" name="Shape 37"/>
          <p:cNvSpPr/>
          <p:nvPr/>
        </p:nvSpPr>
        <p:spPr>
          <a:xfrm>
            <a:off x="2291029" y="3560308"/>
            <a:ext cx="2391522" cy="6309"/>
          </a:xfrm>
          <a:prstGeom prst="rect">
            <a:avLst/>
          </a:prstGeom>
          <a:solidFill>
            <a:srgbClr val="E3E6EA"/>
          </a:solidFill>
          <a:ln/>
        </p:spPr>
      </p:sp>
      <p:sp>
        <p:nvSpPr>
          <p:cNvPr id="40" name="Text 38"/>
          <p:cNvSpPr txBox="1"/>
          <p:nvPr/>
        </p:nvSpPr>
        <p:spPr>
          <a:xfrm>
            <a:off x="2430658" y="3664184"/>
            <a:ext cx="163759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Payment → API VNPAY</a:t>
            </a:r>
            <a:endParaRPr lang="en-US" sz="1150" dirty="0"/>
          </a:p>
        </p:txBody>
      </p:sp>
      <p:sp>
        <p:nvSpPr>
          <p:cNvPr id="41" name="Shape 39"/>
          <p:cNvSpPr/>
          <p:nvPr/>
        </p:nvSpPr>
        <p:spPr>
          <a:xfrm>
            <a:off x="4682551" y="3560308"/>
            <a:ext cx="2608966" cy="6309"/>
          </a:xfrm>
          <a:prstGeom prst="rect">
            <a:avLst/>
          </a:prstGeom>
          <a:solidFill>
            <a:srgbClr val="E3E6EA"/>
          </a:solidFill>
          <a:ln/>
        </p:spPr>
      </p:sp>
      <p:sp>
        <p:nvSpPr>
          <p:cNvPr id="42" name="Text 40"/>
          <p:cNvSpPr txBox="1"/>
          <p:nvPr/>
        </p:nvSpPr>
        <p:spPr>
          <a:xfrm>
            <a:off x="4822180" y="3655863"/>
            <a:ext cx="2308860"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POST</a:t>
            </a:r>
            <a:pPr algn="l" indent="0" marL="0">
              <a:buNone/>
            </a:pPr>
            <a:r>
              <a:rPr lang="en-US" sz="1150" dirty="0">
                <a:solidFill>
                  <a:srgbClr val="3F454D"/>
                </a:solidFill>
                <a:latin typeface="Arial" pitchFamily="34" charset="0"/>
                <a:ea typeface="Arial" pitchFamily="34" charset="-122"/>
                <a:cs typeface="Arial" pitchFamily="34" charset="-120"/>
              </a:rPr>
              <a:t>, body JSON, ký chuỗi nối </a:t>
            </a:r>
            <a:pPr algn="l" indent="0" marL="0">
              <a:buNone/>
            </a:pPr>
            <a:r>
              <a:rPr lang="en-US" sz="1200" dirty="0">
                <a:solidFill>
                  <a:srgbClr val="3F454D"/>
                </a:solidFill>
                <a:latin typeface="Courier New" pitchFamily="34" charset="0"/>
                <a:ea typeface="Courier New" pitchFamily="34" charset="-122"/>
                <a:cs typeface="Courier New" pitchFamily="34" charset="-120"/>
              </a:rPr>
              <a:t>|</a:t>
            </a:r>
            <a:endParaRPr lang="en-US" sz="1200" dirty="0"/>
          </a:p>
        </p:txBody>
      </p:sp>
      <p:sp>
        <p:nvSpPr>
          <p:cNvPr id="43" name="Shape 41"/>
          <p:cNvSpPr/>
          <p:nvPr/>
        </p:nvSpPr>
        <p:spPr>
          <a:xfrm>
            <a:off x="7291517" y="3560308"/>
            <a:ext cx="4239798" cy="6309"/>
          </a:xfrm>
          <a:prstGeom prst="rect">
            <a:avLst/>
          </a:prstGeom>
          <a:solidFill>
            <a:srgbClr val="E3E6EA"/>
          </a:solidFill>
          <a:ln/>
        </p:spPr>
      </p:sp>
      <p:sp>
        <p:nvSpPr>
          <p:cNvPr id="44" name="Text 42"/>
          <p:cNvSpPr txBox="1"/>
          <p:nvPr/>
        </p:nvSpPr>
        <p:spPr>
          <a:xfrm>
            <a:off x="7431237" y="3664184"/>
            <a:ext cx="160897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Giao tiếp server–server</a:t>
            </a:r>
            <a:endParaRPr lang="en-US" sz="1150" dirty="0"/>
          </a:p>
        </p:txBody>
      </p:sp>
      <p:sp>
        <p:nvSpPr>
          <p:cNvPr id="45" name="Text 43"/>
          <p:cNvSpPr txBox="1"/>
          <p:nvPr/>
        </p:nvSpPr>
        <p:spPr>
          <a:xfrm>
            <a:off x="660380" y="4221785"/>
            <a:ext cx="8332836"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Payment URL và ReturnURL đi qua trình duyệt nên không dùng để cập nhật đơn. Chỉ IPN và querydr được cập nhật trạng thái.</a:t>
            </a:r>
            <a:endParaRPr lang="en-US" sz="1100" dirty="0"/>
          </a:p>
        </p:txBody>
      </p:sp>
      <p:sp>
        <p:nvSpPr>
          <p:cNvPr id="46" name="Shape 44"/>
          <p:cNvSpPr/>
          <p:nvPr/>
        </p:nvSpPr>
        <p:spPr>
          <a:xfrm>
            <a:off x="660380" y="4592117"/>
            <a:ext cx="10870936" cy="565648"/>
          </a:xfrm>
          <a:prstGeom prst="rect">
            <a:avLst/>
          </a:prstGeom>
          <a:solidFill>
            <a:srgbClr val="FFFAF0"/>
          </a:solidFill>
          <a:ln/>
        </p:spPr>
      </p:sp>
      <p:sp>
        <p:nvSpPr>
          <p:cNvPr id="47" name="Shape 45"/>
          <p:cNvSpPr/>
          <p:nvPr/>
        </p:nvSpPr>
        <p:spPr>
          <a:xfrm>
            <a:off x="660380" y="4592117"/>
            <a:ext cx="10870936" cy="6309"/>
          </a:xfrm>
          <a:prstGeom prst="rect">
            <a:avLst/>
          </a:prstGeom>
          <a:solidFill>
            <a:srgbClr val="F3DFB5"/>
          </a:solidFill>
          <a:ln/>
        </p:spPr>
      </p:sp>
      <p:sp>
        <p:nvSpPr>
          <p:cNvPr id="48" name="Shape 46"/>
          <p:cNvSpPr/>
          <p:nvPr/>
        </p:nvSpPr>
        <p:spPr>
          <a:xfrm>
            <a:off x="660380" y="5151364"/>
            <a:ext cx="10870936" cy="6309"/>
          </a:xfrm>
          <a:prstGeom prst="rect">
            <a:avLst/>
          </a:prstGeom>
          <a:solidFill>
            <a:srgbClr val="F3DFB5"/>
          </a:solidFill>
          <a:ln/>
        </p:spPr>
      </p:sp>
      <p:sp>
        <p:nvSpPr>
          <p:cNvPr id="49" name="Shape 47"/>
          <p:cNvSpPr/>
          <p:nvPr/>
        </p:nvSpPr>
        <p:spPr>
          <a:xfrm>
            <a:off x="660380" y="4592117"/>
            <a:ext cx="38130" cy="565648"/>
          </a:xfrm>
          <a:prstGeom prst="rect">
            <a:avLst/>
          </a:prstGeom>
          <a:solidFill>
            <a:srgbClr val="E8A317"/>
          </a:solidFill>
          <a:ln/>
        </p:spPr>
      </p:sp>
      <p:sp>
        <p:nvSpPr>
          <p:cNvPr id="50" name="Text 48"/>
          <p:cNvSpPr txBox="1"/>
          <p:nvPr/>
        </p:nvSpPr>
        <p:spPr>
          <a:xfrm>
            <a:off x="825520" y="4678985"/>
            <a:ext cx="4540270" cy="188549"/>
          </a:xfrm>
          <a:prstGeom prst="rect">
            <a:avLst/>
          </a:prstGeom>
          <a:noFill/>
          <a:ln/>
        </p:spPr>
        <p:txBody>
          <a:bodyPr wrap="square" lIns="0" tIns="0" rIns="0" bIns="0" rtlCol="0" anchor="ctr"/>
          <a:lstStyle/>
          <a:p>
            <a:pPr algn="l" indent="0" marL="0">
              <a:buNone/>
            </a:pPr>
            <a:r>
              <a:rPr lang="en-US" sz="1100" b="1" dirty="0">
                <a:solidFill>
                  <a:srgbClr val="111111"/>
                </a:solidFill>
                <a:latin typeface="Arial" pitchFamily="34" charset="0"/>
                <a:ea typeface="Arial" pitchFamily="34" charset="-122"/>
                <a:cs typeface="Arial" pitchFamily="34" charset="-120"/>
              </a:rPr>
              <a:t>Vì sao ReturnURL trỏ về Payment Service thay vì Order Service?</a:t>
            </a:r>
            <a:endParaRPr lang="en-US" sz="1100" dirty="0"/>
          </a:p>
        </p:txBody>
      </p:sp>
      <p:sp>
        <p:nvSpPr>
          <p:cNvPr id="51" name="Text 49"/>
          <p:cNvSpPr txBox="1"/>
          <p:nvPr/>
        </p:nvSpPr>
        <p:spPr>
          <a:xfrm>
            <a:off x="825520" y="4899630"/>
            <a:ext cx="4973787" cy="186720"/>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Cần kiểm tra chữ ký bằng HashSecret; khóa này chỉ Payment Service nắm giữ.</a:t>
            </a:r>
            <a:endParaRPr lang="en-US" sz="1050" dirty="0"/>
          </a:p>
        </p:txBody>
      </p:sp>
      <p:sp>
        <p:nvSpPr>
          <p:cNvPr id="52" name="Text 50"/>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3" name="Text 51"/>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43021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Giao tiếp với VNPAY</a:t>
            </a:r>
            <a:endParaRPr lang="en-US" sz="1100" dirty="0"/>
          </a:p>
        </p:txBody>
      </p:sp>
      <p:sp>
        <p:nvSpPr>
          <p:cNvPr id="3" name="Text 1"/>
          <p:cNvSpPr txBox="1"/>
          <p:nvPr/>
        </p:nvSpPr>
        <p:spPr>
          <a:xfrm>
            <a:off x="660380" y="643829"/>
            <a:ext cx="6687739"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Trình tự request trong một giao dịch</a:t>
            </a:r>
            <a:endParaRPr lang="en-US" sz="3000" dirty="0"/>
          </a:p>
        </p:txBody>
      </p:sp>
      <p:sp>
        <p:nvSpPr>
          <p:cNvPr id="4" name="Shape 2"/>
          <p:cNvSpPr/>
          <p:nvPr/>
        </p:nvSpPr>
        <p:spPr>
          <a:xfrm>
            <a:off x="660380" y="1347368"/>
            <a:ext cx="10870936" cy="647670"/>
          </a:xfrm>
          <a:prstGeom prst="roundRect">
            <a:avLst>
              <a:gd name="adj" fmla="val 15685"/>
            </a:avLst>
          </a:prstGeom>
          <a:solidFill>
            <a:srgbClr val="FFFFFF"/>
          </a:solidFill>
          <a:ln w="6350">
            <a:solidFill>
              <a:srgbClr val="E3E6EA"/>
            </a:solidFill>
            <a:prstDash val="solid"/>
          </a:ln>
        </p:spPr>
      </p:sp>
      <p:sp>
        <p:nvSpPr>
          <p:cNvPr id="5" name="Shape 3"/>
          <p:cNvSpPr/>
          <p:nvPr/>
        </p:nvSpPr>
        <p:spPr>
          <a:xfrm>
            <a:off x="844540" y="1493398"/>
            <a:ext cx="355610" cy="355610"/>
          </a:xfrm>
          <a:prstGeom prst="roundRect">
            <a:avLst>
              <a:gd name="adj" fmla="val 21419"/>
            </a:avLst>
          </a:prstGeom>
          <a:solidFill>
            <a:srgbClr val="DDE3EA"/>
          </a:solidFill>
          <a:ln/>
        </p:spPr>
      </p:sp>
      <p:sp>
        <p:nvSpPr>
          <p:cNvPr id="6" name="Text 4"/>
          <p:cNvSpPr txBox="1"/>
          <p:nvPr/>
        </p:nvSpPr>
        <p:spPr>
          <a:xfrm>
            <a:off x="934608" y="1562892"/>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1</a:t>
            </a:r>
            <a:endParaRPr lang="en-US" sz="1300" dirty="0"/>
          </a:p>
        </p:txBody>
      </p:sp>
      <p:sp>
        <p:nvSpPr>
          <p:cNvPr id="7" name="Text 5"/>
          <p:cNvSpPr txBox="1"/>
          <p:nvPr/>
        </p:nvSpPr>
        <p:spPr>
          <a:xfrm>
            <a:off x="1377909" y="1583466"/>
            <a:ext cx="1256294"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Order → Payment</a:t>
            </a:r>
            <a:endParaRPr lang="en-US" sz="1100" dirty="0"/>
          </a:p>
        </p:txBody>
      </p:sp>
      <p:sp>
        <p:nvSpPr>
          <p:cNvPr id="8" name="Text 6"/>
          <p:cNvSpPr txBox="1"/>
          <p:nvPr/>
        </p:nvSpPr>
        <p:spPr>
          <a:xfrm>
            <a:off x="3397179" y="1557772"/>
            <a:ext cx="4769876"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POST /payments</a:t>
            </a:r>
            <a:pPr algn="l" indent="0" marL="0">
              <a:buNone/>
            </a:pPr>
            <a:r>
              <a:rPr lang="en-US" sz="1350" dirty="0">
                <a:solidFill>
                  <a:srgbClr val="111111"/>
                </a:solidFill>
                <a:latin typeface="Arial" pitchFamily="34" charset="0"/>
                <a:ea typeface="Arial" pitchFamily="34" charset="-122"/>
                <a:cs typeface="Arial" pitchFamily="34" charset="-120"/>
              </a:rPr>
              <a:t> {ref, amount}: lưu giao dịch, ký, trả URL</a:t>
            </a:r>
            <a:endParaRPr lang="en-US" sz="1350" dirty="0"/>
          </a:p>
        </p:txBody>
      </p:sp>
      <p:sp>
        <p:nvSpPr>
          <p:cNvPr id="9" name="Shape 7"/>
          <p:cNvSpPr/>
          <p:nvPr/>
        </p:nvSpPr>
        <p:spPr>
          <a:xfrm>
            <a:off x="10674157" y="1515618"/>
            <a:ext cx="672998" cy="311170"/>
          </a:xfrm>
          <a:prstGeom prst="roundRect">
            <a:avLst>
              <a:gd name="adj" fmla="val 49985"/>
            </a:avLst>
          </a:prstGeom>
          <a:solidFill>
            <a:srgbClr val="DEF3E8"/>
          </a:solidFill>
          <a:ln/>
        </p:spPr>
      </p:sp>
      <p:sp>
        <p:nvSpPr>
          <p:cNvPr id="10" name="Text 8"/>
          <p:cNvSpPr txBox="1"/>
          <p:nvPr/>
        </p:nvSpPr>
        <p:spPr>
          <a:xfrm>
            <a:off x="10801167" y="1583466"/>
            <a:ext cx="495148" cy="209580"/>
          </a:xfrm>
          <a:prstGeom prst="rect">
            <a:avLst/>
          </a:prstGeom>
          <a:noFill/>
          <a:ln/>
        </p:spPr>
        <p:txBody>
          <a:bodyPr wrap="square" lIns="0" tIns="0" rIns="0" bIns="0" rtlCol="0" anchor="ctr"/>
          <a:lstStyle/>
          <a:p>
            <a:pPr algn="l" indent="0" marL="0">
              <a:buNone/>
            </a:pPr>
            <a:r>
              <a:rPr lang="en-US" sz="1100" b="1" dirty="0">
                <a:solidFill>
                  <a:srgbClr val="0B6B47"/>
                </a:solidFill>
                <a:latin typeface="Arial" pitchFamily="34" charset="0"/>
                <a:ea typeface="Arial" pitchFamily="34" charset="-122"/>
                <a:cs typeface="Arial" pitchFamily="34" charset="-120"/>
              </a:rPr>
              <a:t>nội bộ</a:t>
            </a:r>
            <a:endParaRPr lang="en-US" sz="1100" dirty="0"/>
          </a:p>
        </p:txBody>
      </p:sp>
      <p:sp>
        <p:nvSpPr>
          <p:cNvPr id="11" name="Shape 9"/>
          <p:cNvSpPr/>
          <p:nvPr/>
        </p:nvSpPr>
        <p:spPr>
          <a:xfrm>
            <a:off x="660380" y="2172797"/>
            <a:ext cx="10870936" cy="647670"/>
          </a:xfrm>
          <a:prstGeom prst="roundRect">
            <a:avLst>
              <a:gd name="adj" fmla="val 15685"/>
            </a:avLst>
          </a:prstGeom>
          <a:solidFill>
            <a:srgbClr val="FFFFFF"/>
          </a:solidFill>
          <a:ln w="6350">
            <a:solidFill>
              <a:srgbClr val="E3E6EA"/>
            </a:solidFill>
            <a:prstDash val="solid"/>
          </a:ln>
        </p:spPr>
      </p:sp>
      <p:sp>
        <p:nvSpPr>
          <p:cNvPr id="12" name="Shape 10"/>
          <p:cNvSpPr/>
          <p:nvPr/>
        </p:nvSpPr>
        <p:spPr>
          <a:xfrm>
            <a:off x="844540" y="2318918"/>
            <a:ext cx="355610" cy="355610"/>
          </a:xfrm>
          <a:prstGeom prst="roundRect">
            <a:avLst>
              <a:gd name="adj" fmla="val 21419"/>
            </a:avLst>
          </a:prstGeom>
          <a:solidFill>
            <a:srgbClr val="DDE3EA"/>
          </a:solidFill>
          <a:ln/>
        </p:spPr>
      </p:sp>
      <p:sp>
        <p:nvSpPr>
          <p:cNvPr id="13" name="Text 11"/>
          <p:cNvSpPr txBox="1"/>
          <p:nvPr/>
        </p:nvSpPr>
        <p:spPr>
          <a:xfrm>
            <a:off x="934608" y="2388321"/>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2</a:t>
            </a:r>
            <a:endParaRPr lang="en-US" sz="1300" dirty="0"/>
          </a:p>
        </p:txBody>
      </p:sp>
      <p:sp>
        <p:nvSpPr>
          <p:cNvPr id="14" name="Text 12"/>
          <p:cNvSpPr txBox="1"/>
          <p:nvPr/>
        </p:nvSpPr>
        <p:spPr>
          <a:xfrm>
            <a:off x="1377909" y="2408895"/>
            <a:ext cx="1513972"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Trình duyệt → VNPAY</a:t>
            </a:r>
            <a:endParaRPr lang="en-US" sz="1100" dirty="0"/>
          </a:p>
        </p:txBody>
      </p:sp>
      <p:sp>
        <p:nvSpPr>
          <p:cNvPr id="15" name="Text 13"/>
          <p:cNvSpPr txBox="1"/>
          <p:nvPr/>
        </p:nvSpPr>
        <p:spPr>
          <a:xfrm>
            <a:off x="3397179" y="2383201"/>
            <a:ext cx="4307007"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GET vpcpay.html?vnp_...</a:t>
            </a:r>
            <a:pPr algn="l" indent="0" marL="0">
              <a:buNone/>
            </a:pPr>
            <a:r>
              <a:rPr lang="en-US" sz="1350" dirty="0">
                <a:solidFill>
                  <a:srgbClr val="111111"/>
                </a:solidFill>
                <a:latin typeface="Arial" pitchFamily="34" charset="0"/>
                <a:ea typeface="Arial" pitchFamily="34" charset="-122"/>
                <a:cs typeface="Arial" pitchFamily="34" charset="-120"/>
              </a:rPr>
              <a:t>: khách hàng nhập thẻ</a:t>
            </a:r>
            <a:endParaRPr lang="en-US" sz="1350" dirty="0"/>
          </a:p>
        </p:txBody>
      </p:sp>
      <p:sp>
        <p:nvSpPr>
          <p:cNvPr id="16" name="Shape 14"/>
          <p:cNvSpPr/>
          <p:nvPr/>
        </p:nvSpPr>
        <p:spPr>
          <a:xfrm>
            <a:off x="10084278" y="2341138"/>
            <a:ext cx="1262969" cy="311170"/>
          </a:xfrm>
          <a:prstGeom prst="roundRect">
            <a:avLst>
              <a:gd name="adj" fmla="val 49985"/>
            </a:avLst>
          </a:prstGeom>
          <a:solidFill>
            <a:srgbClr val="FDE8E6"/>
          </a:solidFill>
          <a:ln/>
        </p:spPr>
      </p:sp>
      <p:sp>
        <p:nvSpPr>
          <p:cNvPr id="17" name="Text 15"/>
          <p:cNvSpPr txBox="1"/>
          <p:nvPr/>
        </p:nvSpPr>
        <p:spPr>
          <a:xfrm>
            <a:off x="10211196" y="2408895"/>
            <a:ext cx="1085118" cy="209580"/>
          </a:xfrm>
          <a:prstGeom prst="rect">
            <a:avLst/>
          </a:prstGeom>
          <a:noFill/>
          <a:ln/>
        </p:spPr>
        <p:txBody>
          <a:bodyPr wrap="square" lIns="0" tIns="0" rIns="0" bIns="0" rtlCol="0" anchor="ctr"/>
          <a:lstStyle/>
          <a:p>
            <a:pPr algn="l" indent="0" marL="0">
              <a:buNone/>
            </a:pPr>
            <a:r>
              <a:rPr lang="en-US" sz="1100" b="1" dirty="0">
                <a:solidFill>
                  <a:srgbClr val="C42B22"/>
                </a:solidFill>
                <a:latin typeface="Arial" pitchFamily="34" charset="0"/>
                <a:ea typeface="Arial" pitchFamily="34" charset="-122"/>
                <a:cs typeface="Arial" pitchFamily="34" charset="-120"/>
              </a:rPr>
              <a:t>qua trình duyệt</a:t>
            </a:r>
            <a:endParaRPr lang="en-US" sz="1100" dirty="0"/>
          </a:p>
        </p:txBody>
      </p:sp>
      <p:sp>
        <p:nvSpPr>
          <p:cNvPr id="18" name="Shape 16"/>
          <p:cNvSpPr/>
          <p:nvPr/>
        </p:nvSpPr>
        <p:spPr>
          <a:xfrm>
            <a:off x="660380" y="2998318"/>
            <a:ext cx="10870936" cy="647670"/>
          </a:xfrm>
          <a:prstGeom prst="roundRect">
            <a:avLst>
              <a:gd name="adj" fmla="val 15685"/>
            </a:avLst>
          </a:prstGeom>
          <a:solidFill>
            <a:srgbClr val="ECF2FF"/>
          </a:solidFill>
          <a:ln w="6350">
            <a:solidFill>
              <a:srgbClr val="E3E6EA"/>
            </a:solidFill>
            <a:prstDash val="solid"/>
          </a:ln>
        </p:spPr>
      </p:sp>
      <p:sp>
        <p:nvSpPr>
          <p:cNvPr id="19" name="Shape 17"/>
          <p:cNvSpPr/>
          <p:nvPr/>
        </p:nvSpPr>
        <p:spPr>
          <a:xfrm>
            <a:off x="844540" y="3144347"/>
            <a:ext cx="355610" cy="355610"/>
          </a:xfrm>
          <a:prstGeom prst="roundRect">
            <a:avLst>
              <a:gd name="adj" fmla="val 21419"/>
            </a:avLst>
          </a:prstGeom>
          <a:solidFill>
            <a:srgbClr val="0066FF"/>
          </a:solidFill>
          <a:ln/>
        </p:spPr>
      </p:sp>
      <p:sp>
        <p:nvSpPr>
          <p:cNvPr id="20" name="Text 18"/>
          <p:cNvSpPr txBox="1"/>
          <p:nvPr/>
        </p:nvSpPr>
        <p:spPr>
          <a:xfrm>
            <a:off x="934608" y="3213842"/>
            <a:ext cx="175290" cy="2476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21" name="Text 19"/>
          <p:cNvSpPr txBox="1"/>
          <p:nvPr/>
        </p:nvSpPr>
        <p:spPr>
          <a:xfrm>
            <a:off x="1377909" y="3234416"/>
            <a:ext cx="1331458"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VNPAY → Payment</a:t>
            </a:r>
            <a:endParaRPr lang="en-US" sz="1100" dirty="0"/>
          </a:p>
        </p:txBody>
      </p:sp>
      <p:sp>
        <p:nvSpPr>
          <p:cNvPr id="22" name="Text 20"/>
          <p:cNvSpPr txBox="1"/>
          <p:nvPr/>
        </p:nvSpPr>
        <p:spPr>
          <a:xfrm>
            <a:off x="3397179" y="3208721"/>
            <a:ext cx="5470124"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GET /vnpay/ipn?vnp_...</a:t>
            </a:r>
            <a:pPr algn="l" indent="0" marL="0">
              <a:buNone/>
            </a:pPr>
            <a:r>
              <a:rPr lang="en-US" sz="1350" dirty="0">
                <a:solidFill>
                  <a:srgbClr val="111111"/>
                </a:solidFill>
                <a:latin typeface="Arial" pitchFamily="34" charset="0"/>
                <a:ea typeface="Arial" pitchFamily="34" charset="-122"/>
                <a:cs typeface="Arial" pitchFamily="34" charset="-120"/>
              </a:rPr>
              <a:t>: xác minh, báo Order, phản hồi JSON</a:t>
            </a:r>
            <a:endParaRPr lang="en-US" sz="1350" dirty="0"/>
          </a:p>
        </p:txBody>
      </p:sp>
      <p:sp>
        <p:nvSpPr>
          <p:cNvPr id="23" name="Shape 21"/>
          <p:cNvSpPr/>
          <p:nvPr/>
        </p:nvSpPr>
        <p:spPr>
          <a:xfrm>
            <a:off x="10176449" y="3166567"/>
            <a:ext cx="1170706" cy="311170"/>
          </a:xfrm>
          <a:prstGeom prst="roundRect">
            <a:avLst>
              <a:gd name="adj" fmla="val 49985"/>
            </a:avLst>
          </a:prstGeom>
          <a:solidFill>
            <a:srgbClr val="DEF3E8"/>
          </a:solidFill>
          <a:ln/>
        </p:spPr>
      </p:sp>
      <p:sp>
        <p:nvSpPr>
          <p:cNvPr id="24" name="Text 22"/>
          <p:cNvSpPr txBox="1"/>
          <p:nvPr/>
        </p:nvSpPr>
        <p:spPr>
          <a:xfrm>
            <a:off x="10303368" y="3234416"/>
            <a:ext cx="992947" cy="209580"/>
          </a:xfrm>
          <a:prstGeom prst="rect">
            <a:avLst/>
          </a:prstGeom>
          <a:noFill/>
          <a:ln/>
        </p:spPr>
        <p:txBody>
          <a:bodyPr wrap="square" lIns="0" tIns="0" rIns="0" bIns="0" rtlCol="0" anchor="ctr"/>
          <a:lstStyle/>
          <a:p>
            <a:pPr algn="l" indent="0" marL="0">
              <a:buNone/>
            </a:pPr>
            <a:r>
              <a:rPr lang="en-US" sz="1100" b="1" dirty="0">
                <a:solidFill>
                  <a:srgbClr val="0B6B47"/>
                </a:solidFill>
                <a:latin typeface="Arial" pitchFamily="34" charset="0"/>
                <a:ea typeface="Arial" pitchFamily="34" charset="-122"/>
                <a:cs typeface="Arial" pitchFamily="34" charset="-120"/>
              </a:rPr>
              <a:t>server–server</a:t>
            </a:r>
            <a:endParaRPr lang="en-US" sz="1100" dirty="0"/>
          </a:p>
        </p:txBody>
      </p:sp>
      <p:sp>
        <p:nvSpPr>
          <p:cNvPr id="25" name="Shape 23"/>
          <p:cNvSpPr/>
          <p:nvPr/>
        </p:nvSpPr>
        <p:spPr>
          <a:xfrm>
            <a:off x="660380" y="3823838"/>
            <a:ext cx="10870936" cy="647670"/>
          </a:xfrm>
          <a:prstGeom prst="roundRect">
            <a:avLst>
              <a:gd name="adj" fmla="val 15685"/>
            </a:avLst>
          </a:prstGeom>
          <a:solidFill>
            <a:srgbClr val="FFFFFF"/>
          </a:solidFill>
          <a:ln w="6350">
            <a:solidFill>
              <a:srgbClr val="E3E6EA"/>
            </a:solidFill>
            <a:prstDash val="solid"/>
          </a:ln>
        </p:spPr>
      </p:sp>
      <p:sp>
        <p:nvSpPr>
          <p:cNvPr id="26" name="Shape 24"/>
          <p:cNvSpPr/>
          <p:nvPr/>
        </p:nvSpPr>
        <p:spPr>
          <a:xfrm>
            <a:off x="844540" y="3969868"/>
            <a:ext cx="355610" cy="355610"/>
          </a:xfrm>
          <a:prstGeom prst="roundRect">
            <a:avLst>
              <a:gd name="adj" fmla="val 21419"/>
            </a:avLst>
          </a:prstGeom>
          <a:solidFill>
            <a:srgbClr val="DDE3EA"/>
          </a:solidFill>
          <a:ln/>
        </p:spPr>
      </p:sp>
      <p:sp>
        <p:nvSpPr>
          <p:cNvPr id="27" name="Text 25"/>
          <p:cNvSpPr txBox="1"/>
          <p:nvPr/>
        </p:nvSpPr>
        <p:spPr>
          <a:xfrm>
            <a:off x="934608" y="4039271"/>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4</a:t>
            </a:r>
            <a:endParaRPr lang="en-US" sz="1300" dirty="0"/>
          </a:p>
        </p:txBody>
      </p:sp>
      <p:sp>
        <p:nvSpPr>
          <p:cNvPr id="28" name="Text 26"/>
          <p:cNvSpPr txBox="1"/>
          <p:nvPr/>
        </p:nvSpPr>
        <p:spPr>
          <a:xfrm>
            <a:off x="1377909" y="4059845"/>
            <a:ext cx="1478402"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VNPAY → trình duyệt</a:t>
            </a:r>
            <a:endParaRPr lang="en-US" sz="1100" dirty="0"/>
          </a:p>
        </p:txBody>
      </p:sp>
      <p:sp>
        <p:nvSpPr>
          <p:cNvPr id="29" name="Text 27"/>
          <p:cNvSpPr txBox="1"/>
          <p:nvPr/>
        </p:nvSpPr>
        <p:spPr>
          <a:xfrm>
            <a:off x="3397179" y="4034150"/>
            <a:ext cx="5625846"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GET /vnpay/return?vnp_...</a:t>
            </a:r>
            <a:pPr algn="l" indent="0" marL="0">
              <a:buNone/>
            </a:pPr>
            <a:r>
              <a:rPr lang="en-US" sz="1350" dirty="0">
                <a:solidFill>
                  <a:srgbClr val="111111"/>
                </a:solidFill>
                <a:latin typeface="Arial" pitchFamily="34" charset="0"/>
                <a:ea typeface="Arial" pitchFamily="34" charset="-122"/>
                <a:cs typeface="Arial" pitchFamily="34" charset="-120"/>
              </a:rPr>
              <a:t>: chuyển về trang kết quả của Order</a:t>
            </a:r>
            <a:endParaRPr lang="en-US" sz="1350" dirty="0"/>
          </a:p>
        </p:txBody>
      </p:sp>
      <p:sp>
        <p:nvSpPr>
          <p:cNvPr id="30" name="Shape 28"/>
          <p:cNvSpPr/>
          <p:nvPr/>
        </p:nvSpPr>
        <p:spPr>
          <a:xfrm>
            <a:off x="10084278" y="3992088"/>
            <a:ext cx="1262969" cy="311170"/>
          </a:xfrm>
          <a:prstGeom prst="roundRect">
            <a:avLst>
              <a:gd name="adj" fmla="val 49985"/>
            </a:avLst>
          </a:prstGeom>
          <a:solidFill>
            <a:srgbClr val="FDE8E6"/>
          </a:solidFill>
          <a:ln/>
        </p:spPr>
      </p:sp>
      <p:sp>
        <p:nvSpPr>
          <p:cNvPr id="31" name="Text 29"/>
          <p:cNvSpPr txBox="1"/>
          <p:nvPr/>
        </p:nvSpPr>
        <p:spPr>
          <a:xfrm>
            <a:off x="10211196" y="4059845"/>
            <a:ext cx="1085118" cy="209580"/>
          </a:xfrm>
          <a:prstGeom prst="rect">
            <a:avLst/>
          </a:prstGeom>
          <a:noFill/>
          <a:ln/>
        </p:spPr>
        <p:txBody>
          <a:bodyPr wrap="square" lIns="0" tIns="0" rIns="0" bIns="0" rtlCol="0" anchor="ctr"/>
          <a:lstStyle/>
          <a:p>
            <a:pPr algn="l" indent="0" marL="0">
              <a:buNone/>
            </a:pPr>
            <a:r>
              <a:rPr lang="en-US" sz="1100" b="1" dirty="0">
                <a:solidFill>
                  <a:srgbClr val="C42B22"/>
                </a:solidFill>
                <a:latin typeface="Arial" pitchFamily="34" charset="0"/>
                <a:ea typeface="Arial" pitchFamily="34" charset="-122"/>
                <a:cs typeface="Arial" pitchFamily="34" charset="-120"/>
              </a:rPr>
              <a:t>qua trình duyệt</a:t>
            </a:r>
            <a:endParaRPr lang="en-US" sz="1100" dirty="0"/>
          </a:p>
        </p:txBody>
      </p:sp>
      <p:sp>
        <p:nvSpPr>
          <p:cNvPr id="32" name="Shape 30"/>
          <p:cNvSpPr/>
          <p:nvPr/>
        </p:nvSpPr>
        <p:spPr>
          <a:xfrm>
            <a:off x="660380" y="4649267"/>
            <a:ext cx="10870936" cy="647670"/>
          </a:xfrm>
          <a:prstGeom prst="roundRect">
            <a:avLst>
              <a:gd name="adj" fmla="val 15685"/>
            </a:avLst>
          </a:prstGeom>
          <a:solidFill>
            <a:srgbClr val="ECF2FF"/>
          </a:solidFill>
          <a:ln w="6350">
            <a:solidFill>
              <a:srgbClr val="E3E6EA"/>
            </a:solidFill>
            <a:prstDash val="solid"/>
          </a:ln>
        </p:spPr>
      </p:sp>
      <p:sp>
        <p:nvSpPr>
          <p:cNvPr id="33" name="Shape 31"/>
          <p:cNvSpPr/>
          <p:nvPr/>
        </p:nvSpPr>
        <p:spPr>
          <a:xfrm>
            <a:off x="844540" y="4795296"/>
            <a:ext cx="355610" cy="355610"/>
          </a:xfrm>
          <a:prstGeom prst="roundRect">
            <a:avLst>
              <a:gd name="adj" fmla="val 21419"/>
            </a:avLst>
          </a:prstGeom>
          <a:solidFill>
            <a:srgbClr val="0066FF"/>
          </a:solidFill>
          <a:ln/>
        </p:spPr>
      </p:sp>
      <p:sp>
        <p:nvSpPr>
          <p:cNvPr id="34" name="Text 32"/>
          <p:cNvSpPr txBox="1"/>
          <p:nvPr/>
        </p:nvSpPr>
        <p:spPr>
          <a:xfrm>
            <a:off x="934608" y="4864791"/>
            <a:ext cx="175290" cy="2476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35" name="Text 33"/>
          <p:cNvSpPr txBox="1"/>
          <p:nvPr/>
        </p:nvSpPr>
        <p:spPr>
          <a:xfrm>
            <a:off x="1377909" y="4885365"/>
            <a:ext cx="1333927"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Payment → VNPAY</a:t>
            </a:r>
            <a:endParaRPr lang="en-US" sz="1100" dirty="0"/>
          </a:p>
        </p:txBody>
      </p:sp>
      <p:sp>
        <p:nvSpPr>
          <p:cNvPr id="36" name="Text 34"/>
          <p:cNvSpPr txBox="1"/>
          <p:nvPr/>
        </p:nvSpPr>
        <p:spPr>
          <a:xfrm>
            <a:off x="3397179" y="4859670"/>
            <a:ext cx="5760811"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POST querydr</a:t>
            </a:r>
            <a:pPr algn="l" indent="0" marL="0">
              <a:buNone/>
            </a:pPr>
            <a:r>
              <a:rPr lang="en-US" sz="1350" dirty="0">
                <a:solidFill>
                  <a:srgbClr val="111111"/>
                </a:solidFill>
                <a:latin typeface="Arial" pitchFamily="34" charset="0"/>
                <a:ea typeface="Arial" pitchFamily="34" charset="-122"/>
                <a:cs typeface="Arial" pitchFamily="34" charset="-120"/>
              </a:rPr>
              <a:t> (JSON): khi đơn còn PENDING và có yêu cầu truy vấn</a:t>
            </a:r>
            <a:endParaRPr lang="en-US" sz="1350" dirty="0"/>
          </a:p>
        </p:txBody>
      </p:sp>
      <p:sp>
        <p:nvSpPr>
          <p:cNvPr id="37" name="Shape 35"/>
          <p:cNvSpPr/>
          <p:nvPr/>
        </p:nvSpPr>
        <p:spPr>
          <a:xfrm>
            <a:off x="10176449" y="4817516"/>
            <a:ext cx="1170706" cy="311170"/>
          </a:xfrm>
          <a:prstGeom prst="roundRect">
            <a:avLst>
              <a:gd name="adj" fmla="val 49985"/>
            </a:avLst>
          </a:prstGeom>
          <a:solidFill>
            <a:srgbClr val="DEF3E8"/>
          </a:solidFill>
          <a:ln/>
        </p:spPr>
      </p:sp>
      <p:sp>
        <p:nvSpPr>
          <p:cNvPr id="38" name="Text 36"/>
          <p:cNvSpPr txBox="1"/>
          <p:nvPr/>
        </p:nvSpPr>
        <p:spPr>
          <a:xfrm>
            <a:off x="10303368" y="4885365"/>
            <a:ext cx="992947" cy="209580"/>
          </a:xfrm>
          <a:prstGeom prst="rect">
            <a:avLst/>
          </a:prstGeom>
          <a:noFill/>
          <a:ln/>
        </p:spPr>
        <p:txBody>
          <a:bodyPr wrap="square" lIns="0" tIns="0" rIns="0" bIns="0" rtlCol="0" anchor="ctr"/>
          <a:lstStyle/>
          <a:p>
            <a:pPr algn="l" indent="0" marL="0">
              <a:buNone/>
            </a:pPr>
            <a:r>
              <a:rPr lang="en-US" sz="1100" b="1" dirty="0">
                <a:solidFill>
                  <a:srgbClr val="0B6B47"/>
                </a:solidFill>
                <a:latin typeface="Arial" pitchFamily="34" charset="0"/>
                <a:ea typeface="Arial" pitchFamily="34" charset="-122"/>
                <a:cs typeface="Arial" pitchFamily="34" charset="-120"/>
              </a:rPr>
              <a:t>server–server</a:t>
            </a:r>
            <a:endParaRPr lang="en-US" sz="1100" dirty="0"/>
          </a:p>
        </p:txBody>
      </p:sp>
      <p:sp>
        <p:nvSpPr>
          <p:cNvPr id="39" name="Text 37"/>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0" name="Text 38"/>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464686"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Quy định của VNPAY</a:t>
            </a:r>
            <a:endParaRPr lang="en-US" sz="1100" dirty="0"/>
          </a:p>
        </p:txBody>
      </p:sp>
      <p:sp>
        <p:nvSpPr>
          <p:cNvPr id="3" name="Text 1"/>
          <p:cNvSpPr txBox="1"/>
          <p:nvPr/>
        </p:nvSpPr>
        <p:spPr>
          <a:xfrm>
            <a:off x="660380" y="643829"/>
            <a:ext cx="6673108"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Quy định khi tạo yêu cầu thanh toán</a:t>
            </a:r>
            <a:endParaRPr lang="en-US" sz="3000" dirty="0"/>
          </a:p>
        </p:txBody>
      </p:sp>
      <p:sp>
        <p:nvSpPr>
          <p:cNvPr id="4" name="Shape 2"/>
          <p:cNvSpPr/>
          <p:nvPr/>
        </p:nvSpPr>
        <p:spPr>
          <a:xfrm>
            <a:off x="660380" y="1347368"/>
            <a:ext cx="10870936" cy="3079699"/>
          </a:xfrm>
          <a:prstGeom prst="roundRect">
            <a:avLst>
              <a:gd name="adj" fmla="val 3299"/>
            </a:avLst>
          </a:prstGeom>
          <a:solidFill>
            <a:srgbClr val="FFFFFF"/>
          </a:solidFill>
          <a:ln/>
        </p:spPr>
      </p:sp>
      <p:sp>
        <p:nvSpPr>
          <p:cNvPr id="5" name="Shape 3"/>
          <p:cNvSpPr/>
          <p:nvPr/>
        </p:nvSpPr>
        <p:spPr>
          <a:xfrm>
            <a:off x="660380" y="1347368"/>
            <a:ext cx="4891857" cy="422270"/>
          </a:xfrm>
          <a:prstGeom prst="rect">
            <a:avLst/>
          </a:prstGeom>
          <a:solidFill>
            <a:srgbClr val="ECF2FF"/>
          </a:solidFill>
          <a:ln/>
        </p:spPr>
      </p:sp>
      <p:sp>
        <p:nvSpPr>
          <p:cNvPr id="6" name="Text 4"/>
          <p:cNvSpPr txBox="1"/>
          <p:nvPr/>
        </p:nvSpPr>
        <p:spPr>
          <a:xfrm>
            <a:off x="825520" y="1479408"/>
            <a:ext cx="74560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QUY ĐỊNH</a:t>
            </a:r>
            <a:endParaRPr lang="en-US" sz="1000" dirty="0"/>
          </a:p>
        </p:txBody>
      </p:sp>
      <p:sp>
        <p:nvSpPr>
          <p:cNvPr id="7" name="Shape 5"/>
          <p:cNvSpPr/>
          <p:nvPr/>
        </p:nvSpPr>
        <p:spPr>
          <a:xfrm>
            <a:off x="5552237" y="1347368"/>
            <a:ext cx="5979079" cy="422270"/>
          </a:xfrm>
          <a:prstGeom prst="rect">
            <a:avLst/>
          </a:prstGeom>
          <a:solidFill>
            <a:srgbClr val="ECF2FF"/>
          </a:solidFill>
          <a:ln/>
        </p:spPr>
      </p:sp>
      <p:sp>
        <p:nvSpPr>
          <p:cNvPr id="8" name="Text 6"/>
          <p:cNvSpPr txBox="1"/>
          <p:nvPr/>
        </p:nvSpPr>
        <p:spPr>
          <a:xfrm>
            <a:off x="5717377" y="1479408"/>
            <a:ext cx="4960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LÝ DO</a:t>
            </a:r>
            <a:endParaRPr lang="en-US" sz="1000" dirty="0"/>
          </a:p>
        </p:txBody>
      </p:sp>
      <p:sp>
        <p:nvSpPr>
          <p:cNvPr id="9" name="Shape 7"/>
          <p:cNvSpPr/>
          <p:nvPr/>
        </p:nvSpPr>
        <p:spPr>
          <a:xfrm>
            <a:off x="660380" y="1769638"/>
            <a:ext cx="4891857" cy="6309"/>
          </a:xfrm>
          <a:prstGeom prst="rect">
            <a:avLst/>
          </a:prstGeom>
          <a:solidFill>
            <a:srgbClr val="E3E6EA"/>
          </a:solidFill>
          <a:ln/>
        </p:spPr>
      </p:sp>
      <p:sp>
        <p:nvSpPr>
          <p:cNvPr id="10" name="Text 8"/>
          <p:cNvSpPr txBox="1"/>
          <p:nvPr/>
        </p:nvSpPr>
        <p:spPr>
          <a:xfrm>
            <a:off x="800100" y="1865650"/>
            <a:ext cx="285594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Chuyển khách hàng sang trang VNPAY</a:t>
            </a:r>
            <a:endParaRPr lang="en-US" sz="1150" dirty="0"/>
          </a:p>
        </p:txBody>
      </p:sp>
      <p:sp>
        <p:nvSpPr>
          <p:cNvPr id="11" name="Shape 9"/>
          <p:cNvSpPr/>
          <p:nvPr/>
        </p:nvSpPr>
        <p:spPr>
          <a:xfrm>
            <a:off x="5552237" y="1769638"/>
            <a:ext cx="5979079" cy="6309"/>
          </a:xfrm>
          <a:prstGeom prst="rect">
            <a:avLst/>
          </a:prstGeom>
          <a:solidFill>
            <a:srgbClr val="E3E6EA"/>
          </a:solidFill>
          <a:ln/>
        </p:spPr>
      </p:sp>
      <p:sp>
        <p:nvSpPr>
          <p:cNvPr id="12" name="Text 10"/>
          <p:cNvSpPr txBox="1"/>
          <p:nvPr/>
        </p:nvSpPr>
        <p:spPr>
          <a:xfrm>
            <a:off x="5691957" y="1865650"/>
            <a:ext cx="292626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Hệ thống merchant không tiếp nhận số thẻ</a:t>
            </a:r>
            <a:endParaRPr lang="en-US" sz="1150" dirty="0"/>
          </a:p>
        </p:txBody>
      </p:sp>
      <p:sp>
        <p:nvSpPr>
          <p:cNvPr id="13" name="Shape 11"/>
          <p:cNvSpPr/>
          <p:nvPr/>
        </p:nvSpPr>
        <p:spPr>
          <a:xfrm>
            <a:off x="660380" y="2147468"/>
            <a:ext cx="4891857" cy="6309"/>
          </a:xfrm>
          <a:prstGeom prst="rect">
            <a:avLst/>
          </a:prstGeom>
          <a:solidFill>
            <a:srgbClr val="E3E6EA"/>
          </a:solidFill>
          <a:ln/>
        </p:spPr>
      </p:sp>
      <p:sp>
        <p:nvSpPr>
          <p:cNvPr id="14" name="Text 12"/>
          <p:cNvSpPr txBox="1"/>
          <p:nvPr/>
        </p:nvSpPr>
        <p:spPr>
          <a:xfrm>
            <a:off x="800100" y="2243480"/>
            <a:ext cx="204752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Gửi đủ 13 tham số bắt buộc</a:t>
            </a:r>
            <a:endParaRPr lang="en-US" sz="1150" dirty="0"/>
          </a:p>
        </p:txBody>
      </p:sp>
      <p:sp>
        <p:nvSpPr>
          <p:cNvPr id="15" name="Shape 13"/>
          <p:cNvSpPr/>
          <p:nvPr/>
        </p:nvSpPr>
        <p:spPr>
          <a:xfrm>
            <a:off x="5552237" y="2147468"/>
            <a:ext cx="5979079" cy="6309"/>
          </a:xfrm>
          <a:prstGeom prst="rect">
            <a:avLst/>
          </a:prstGeom>
          <a:solidFill>
            <a:srgbClr val="E3E6EA"/>
          </a:solidFill>
          <a:ln/>
        </p:spPr>
      </p:sp>
      <p:sp>
        <p:nvSpPr>
          <p:cNvPr id="16" name="Text 14"/>
          <p:cNvSpPr txBox="1"/>
          <p:nvPr/>
        </p:nvSpPr>
        <p:spPr>
          <a:xfrm>
            <a:off x="5691957" y="2243480"/>
            <a:ext cx="260759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Thiếu tham số: lỗi 03 (đã kiểm chứng)</a:t>
            </a:r>
            <a:endParaRPr lang="en-US" sz="1150" dirty="0"/>
          </a:p>
        </p:txBody>
      </p:sp>
      <p:sp>
        <p:nvSpPr>
          <p:cNvPr id="17" name="Shape 15"/>
          <p:cNvSpPr/>
          <p:nvPr/>
        </p:nvSpPr>
        <p:spPr>
          <a:xfrm>
            <a:off x="660380" y="2525207"/>
            <a:ext cx="4891857" cy="6309"/>
          </a:xfrm>
          <a:prstGeom prst="rect">
            <a:avLst/>
          </a:prstGeom>
          <a:solidFill>
            <a:srgbClr val="E3E6EA"/>
          </a:solidFill>
          <a:ln/>
        </p:spPr>
      </p:sp>
      <p:sp>
        <p:nvSpPr>
          <p:cNvPr id="18" name="Text 16"/>
          <p:cNvSpPr txBox="1"/>
          <p:nvPr/>
        </p:nvSpPr>
        <p:spPr>
          <a:xfrm>
            <a:off x="800100" y="2621219"/>
            <a:ext cx="123672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Số tiền nhân 100</a:t>
            </a:r>
            <a:endParaRPr lang="en-US" sz="1150" dirty="0"/>
          </a:p>
        </p:txBody>
      </p:sp>
      <p:sp>
        <p:nvSpPr>
          <p:cNvPr id="19" name="Shape 17"/>
          <p:cNvSpPr/>
          <p:nvPr/>
        </p:nvSpPr>
        <p:spPr>
          <a:xfrm>
            <a:off x="5552237" y="2525207"/>
            <a:ext cx="5979079" cy="6309"/>
          </a:xfrm>
          <a:prstGeom prst="rect">
            <a:avLst/>
          </a:prstGeom>
          <a:solidFill>
            <a:srgbClr val="E3E6EA"/>
          </a:solidFill>
          <a:ln/>
        </p:spPr>
      </p:sp>
      <p:sp>
        <p:nvSpPr>
          <p:cNvPr id="20" name="Text 18"/>
          <p:cNvSpPr txBox="1"/>
          <p:nvPr/>
        </p:nvSpPr>
        <p:spPr>
          <a:xfrm>
            <a:off x="5691957" y="2621219"/>
            <a:ext cx="196212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Bảo đảm giá trị là số nguyên</a:t>
            </a:r>
            <a:endParaRPr lang="en-US" sz="1150" dirty="0"/>
          </a:p>
        </p:txBody>
      </p:sp>
      <p:sp>
        <p:nvSpPr>
          <p:cNvPr id="21" name="Shape 19"/>
          <p:cNvSpPr/>
          <p:nvPr/>
        </p:nvSpPr>
        <p:spPr>
          <a:xfrm>
            <a:off x="660380" y="2903037"/>
            <a:ext cx="4891857" cy="6309"/>
          </a:xfrm>
          <a:prstGeom prst="rect">
            <a:avLst/>
          </a:prstGeom>
          <a:solidFill>
            <a:srgbClr val="E3E6EA"/>
          </a:solidFill>
          <a:ln/>
        </p:spPr>
      </p:sp>
      <p:sp>
        <p:nvSpPr>
          <p:cNvPr id="22" name="Text 20"/>
          <p:cNvSpPr txBox="1"/>
          <p:nvPr/>
        </p:nvSpPr>
        <p:spPr>
          <a:xfrm>
            <a:off x="800100" y="2999049"/>
            <a:ext cx="272628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Mã giao dịch không trùng trong ngày</a:t>
            </a:r>
            <a:endParaRPr lang="en-US" sz="1150" dirty="0"/>
          </a:p>
        </p:txBody>
      </p:sp>
      <p:sp>
        <p:nvSpPr>
          <p:cNvPr id="23" name="Shape 21"/>
          <p:cNvSpPr/>
          <p:nvPr/>
        </p:nvSpPr>
        <p:spPr>
          <a:xfrm>
            <a:off x="5552237" y="2903037"/>
            <a:ext cx="5979079" cy="6309"/>
          </a:xfrm>
          <a:prstGeom prst="rect">
            <a:avLst/>
          </a:prstGeom>
          <a:solidFill>
            <a:srgbClr val="E3E6EA"/>
          </a:solidFill>
          <a:ln/>
        </p:spPr>
      </p:sp>
      <p:sp>
        <p:nvSpPr>
          <p:cNvPr id="24" name="Text 22"/>
          <p:cNvSpPr txBox="1"/>
          <p:nvPr/>
        </p:nvSpPr>
        <p:spPr>
          <a:xfrm>
            <a:off x="5691957" y="2999049"/>
            <a:ext cx="224640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Đối chiếu kết quả đúng giao dịch</a:t>
            </a:r>
            <a:endParaRPr lang="en-US" sz="1150" dirty="0"/>
          </a:p>
        </p:txBody>
      </p:sp>
      <p:sp>
        <p:nvSpPr>
          <p:cNvPr id="25" name="Shape 23"/>
          <p:cNvSpPr/>
          <p:nvPr/>
        </p:nvSpPr>
        <p:spPr>
          <a:xfrm>
            <a:off x="660380" y="3280867"/>
            <a:ext cx="4891857" cy="6309"/>
          </a:xfrm>
          <a:prstGeom prst="rect">
            <a:avLst/>
          </a:prstGeom>
          <a:solidFill>
            <a:srgbClr val="E3E6EA"/>
          </a:solidFill>
          <a:ln/>
        </p:spPr>
      </p:sp>
      <p:sp>
        <p:nvSpPr>
          <p:cNvPr id="26" name="Text 24"/>
          <p:cNvSpPr txBox="1"/>
          <p:nvPr/>
        </p:nvSpPr>
        <p:spPr>
          <a:xfrm>
            <a:off x="800100" y="3376513"/>
            <a:ext cx="312304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Thời gian dạng </a:t>
            </a:r>
            <a:pPr algn="l" indent="0" marL="0">
              <a:buNone/>
            </a:pPr>
            <a:r>
              <a:rPr lang="en-US" sz="1200" b="1" dirty="0">
                <a:solidFill>
                  <a:srgbClr val="111111"/>
                </a:solidFill>
                <a:latin typeface="Courier New" pitchFamily="34" charset="0"/>
                <a:ea typeface="Courier New" pitchFamily="34" charset="-122"/>
                <a:cs typeface="Courier New" pitchFamily="34" charset="-120"/>
              </a:rPr>
              <a:t>yyyyMMddHHmmss</a:t>
            </a:r>
            <a:pPr algn="l" indent="0" marL="0">
              <a:buNone/>
            </a:pPr>
            <a:r>
              <a:rPr lang="en-US" sz="1150" b="1" dirty="0">
                <a:solidFill>
                  <a:srgbClr val="111111"/>
                </a:solidFill>
                <a:latin typeface="Arial" pitchFamily="34" charset="0"/>
                <a:ea typeface="Arial" pitchFamily="34" charset="-122"/>
                <a:cs typeface="Arial" pitchFamily="34" charset="-120"/>
              </a:rPr>
              <a:t>, GMT+7</a:t>
            </a:r>
            <a:endParaRPr lang="en-US" sz="1150" dirty="0"/>
          </a:p>
        </p:txBody>
      </p:sp>
      <p:sp>
        <p:nvSpPr>
          <p:cNvPr id="27" name="Shape 25"/>
          <p:cNvSpPr/>
          <p:nvPr/>
        </p:nvSpPr>
        <p:spPr>
          <a:xfrm>
            <a:off x="5552237" y="3280867"/>
            <a:ext cx="5979079" cy="6309"/>
          </a:xfrm>
          <a:prstGeom prst="rect">
            <a:avLst/>
          </a:prstGeom>
          <a:solidFill>
            <a:srgbClr val="E3E6EA"/>
          </a:solidFill>
          <a:ln/>
        </p:spPr>
      </p:sp>
      <p:sp>
        <p:nvSpPr>
          <p:cNvPr id="28" name="Text 26"/>
          <p:cNvSpPr txBox="1"/>
          <p:nvPr/>
        </p:nvSpPr>
        <p:spPr>
          <a:xfrm>
            <a:off x="5691957" y="3384834"/>
            <a:ext cx="251962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Hai bên xác định cùng một thời điểm</a:t>
            </a:r>
            <a:endParaRPr lang="en-US" sz="1150" dirty="0"/>
          </a:p>
        </p:txBody>
      </p:sp>
      <p:sp>
        <p:nvSpPr>
          <p:cNvPr id="29" name="Shape 27"/>
          <p:cNvSpPr/>
          <p:nvPr/>
        </p:nvSpPr>
        <p:spPr>
          <a:xfrm>
            <a:off x="660380" y="3674608"/>
            <a:ext cx="4891857" cy="6309"/>
          </a:xfrm>
          <a:prstGeom prst="rect">
            <a:avLst/>
          </a:prstGeom>
          <a:solidFill>
            <a:srgbClr val="E3E6EA"/>
          </a:solidFill>
          <a:ln/>
        </p:spPr>
      </p:sp>
      <p:sp>
        <p:nvSpPr>
          <p:cNvPr id="30" name="Text 28"/>
          <p:cNvSpPr txBox="1"/>
          <p:nvPr/>
        </p:nvSpPr>
        <p:spPr>
          <a:xfrm>
            <a:off x="800100" y="3770620"/>
            <a:ext cx="154643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Có thời điểm hết hạn</a:t>
            </a:r>
            <a:endParaRPr lang="en-US" sz="1150" dirty="0"/>
          </a:p>
        </p:txBody>
      </p:sp>
      <p:sp>
        <p:nvSpPr>
          <p:cNvPr id="31" name="Shape 29"/>
          <p:cNvSpPr/>
          <p:nvPr/>
        </p:nvSpPr>
        <p:spPr>
          <a:xfrm>
            <a:off x="5552237" y="3674608"/>
            <a:ext cx="5979079" cy="6309"/>
          </a:xfrm>
          <a:prstGeom prst="rect">
            <a:avLst/>
          </a:prstGeom>
          <a:solidFill>
            <a:srgbClr val="E3E6EA"/>
          </a:solidFill>
          <a:ln/>
        </p:spPr>
      </p:sp>
      <p:sp>
        <p:nvSpPr>
          <p:cNvPr id="32" name="Text 30"/>
          <p:cNvSpPr txBox="1"/>
          <p:nvPr/>
        </p:nvSpPr>
        <p:spPr>
          <a:xfrm>
            <a:off x="5691957" y="3770620"/>
            <a:ext cx="238082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Giới hạn thời gian sử dụng liên kết</a:t>
            </a:r>
            <a:endParaRPr lang="en-US" sz="1150" dirty="0"/>
          </a:p>
        </p:txBody>
      </p:sp>
      <p:sp>
        <p:nvSpPr>
          <p:cNvPr id="33" name="Shape 31"/>
          <p:cNvSpPr/>
          <p:nvPr/>
        </p:nvSpPr>
        <p:spPr>
          <a:xfrm>
            <a:off x="660380" y="4052346"/>
            <a:ext cx="4891857" cy="6309"/>
          </a:xfrm>
          <a:prstGeom prst="rect">
            <a:avLst/>
          </a:prstGeom>
          <a:solidFill>
            <a:srgbClr val="E3E6EA"/>
          </a:solidFill>
          <a:ln/>
        </p:spPr>
      </p:sp>
      <p:sp>
        <p:nvSpPr>
          <p:cNvPr id="34" name="Text 32"/>
          <p:cNvSpPr txBox="1"/>
          <p:nvPr/>
        </p:nvSpPr>
        <p:spPr>
          <a:xfrm>
            <a:off x="800100" y="4148358"/>
            <a:ext cx="225125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Nội dung đơn hàng không dấu</a:t>
            </a:r>
            <a:endParaRPr lang="en-US" sz="1150" dirty="0"/>
          </a:p>
        </p:txBody>
      </p:sp>
      <p:sp>
        <p:nvSpPr>
          <p:cNvPr id="35" name="Shape 33"/>
          <p:cNvSpPr/>
          <p:nvPr/>
        </p:nvSpPr>
        <p:spPr>
          <a:xfrm>
            <a:off x="5552237" y="4052346"/>
            <a:ext cx="5979079" cy="6309"/>
          </a:xfrm>
          <a:prstGeom prst="rect">
            <a:avLst/>
          </a:prstGeom>
          <a:solidFill>
            <a:srgbClr val="E3E6EA"/>
          </a:solidFill>
          <a:ln/>
        </p:spPr>
      </p:sp>
      <p:sp>
        <p:nvSpPr>
          <p:cNvPr id="36" name="Text 34"/>
          <p:cNvSpPr txBox="1"/>
          <p:nvPr/>
        </p:nvSpPr>
        <p:spPr>
          <a:xfrm>
            <a:off x="5691957" y="4148358"/>
            <a:ext cx="31851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Tránh lỗi mã hóa ký tự (ví dụ "C? ph? s?a ??")</a:t>
            </a:r>
            <a:endParaRPr lang="en-US" sz="1150" dirty="0"/>
          </a:p>
        </p:txBody>
      </p:sp>
      <p:sp>
        <p:nvSpPr>
          <p:cNvPr id="37" name="Text 35"/>
          <p:cNvSpPr txBox="1"/>
          <p:nvPr/>
        </p:nvSpPr>
        <p:spPr>
          <a:xfrm>
            <a:off x="660380" y="4698004"/>
            <a:ext cx="8507395"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Tài liệu VNPAY chỉ nêu quy định; cột "Lý do" là phần phân tích bổ sung. Mục "đã kiểm chứng" được thử trên sandbox ngày 10/10.</a:t>
            </a:r>
            <a:endParaRPr lang="en-US" sz="1100" dirty="0"/>
          </a:p>
        </p:txBody>
      </p:sp>
      <p:sp>
        <p:nvSpPr>
          <p:cNvPr id="38" name="Text 36"/>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9" name="Text 37"/>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464686"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Quy định của VNPAY</a:t>
            </a:r>
            <a:endParaRPr lang="en-US" sz="1100" dirty="0"/>
          </a:p>
        </p:txBody>
      </p:sp>
      <p:sp>
        <p:nvSpPr>
          <p:cNvPr id="3" name="Text 1"/>
          <p:cNvSpPr txBox="1"/>
          <p:nvPr/>
        </p:nvSpPr>
        <p:spPr>
          <a:xfrm>
            <a:off x="660380" y="643829"/>
            <a:ext cx="3603285"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Quy định về chữ ký</a:t>
            </a:r>
            <a:endParaRPr lang="en-US" sz="3000" dirty="0"/>
          </a:p>
        </p:txBody>
      </p:sp>
      <p:sp>
        <p:nvSpPr>
          <p:cNvPr id="4" name="Shape 2"/>
          <p:cNvSpPr/>
          <p:nvPr/>
        </p:nvSpPr>
        <p:spPr>
          <a:xfrm>
            <a:off x="660380" y="1347368"/>
            <a:ext cx="10870936" cy="2308128"/>
          </a:xfrm>
          <a:prstGeom prst="roundRect">
            <a:avLst>
              <a:gd name="adj" fmla="val 4401"/>
            </a:avLst>
          </a:prstGeom>
          <a:solidFill>
            <a:srgbClr val="FFFFFF"/>
          </a:solidFill>
          <a:ln/>
        </p:spPr>
      </p:sp>
      <p:sp>
        <p:nvSpPr>
          <p:cNvPr id="5" name="Shape 3"/>
          <p:cNvSpPr/>
          <p:nvPr/>
        </p:nvSpPr>
        <p:spPr>
          <a:xfrm>
            <a:off x="660380" y="1347368"/>
            <a:ext cx="4891857" cy="422270"/>
          </a:xfrm>
          <a:prstGeom prst="rect">
            <a:avLst/>
          </a:prstGeom>
          <a:solidFill>
            <a:srgbClr val="ECF2FF"/>
          </a:solidFill>
          <a:ln/>
        </p:spPr>
      </p:sp>
      <p:sp>
        <p:nvSpPr>
          <p:cNvPr id="6" name="Text 4"/>
          <p:cNvSpPr txBox="1"/>
          <p:nvPr/>
        </p:nvSpPr>
        <p:spPr>
          <a:xfrm>
            <a:off x="825520" y="1479408"/>
            <a:ext cx="74560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QUY ĐỊNH</a:t>
            </a:r>
            <a:endParaRPr lang="en-US" sz="1000" dirty="0"/>
          </a:p>
        </p:txBody>
      </p:sp>
      <p:sp>
        <p:nvSpPr>
          <p:cNvPr id="7" name="Shape 5"/>
          <p:cNvSpPr/>
          <p:nvPr/>
        </p:nvSpPr>
        <p:spPr>
          <a:xfrm>
            <a:off x="5552237" y="1347368"/>
            <a:ext cx="5979079" cy="422270"/>
          </a:xfrm>
          <a:prstGeom prst="rect">
            <a:avLst/>
          </a:prstGeom>
          <a:solidFill>
            <a:srgbClr val="ECF2FF"/>
          </a:solidFill>
          <a:ln/>
        </p:spPr>
      </p:sp>
      <p:sp>
        <p:nvSpPr>
          <p:cNvPr id="8" name="Text 6"/>
          <p:cNvSpPr txBox="1"/>
          <p:nvPr/>
        </p:nvSpPr>
        <p:spPr>
          <a:xfrm>
            <a:off x="5717377" y="1479408"/>
            <a:ext cx="4960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LÝ DO</a:t>
            </a:r>
            <a:endParaRPr lang="en-US" sz="1000" dirty="0"/>
          </a:p>
        </p:txBody>
      </p:sp>
      <p:sp>
        <p:nvSpPr>
          <p:cNvPr id="9" name="Shape 7"/>
          <p:cNvSpPr/>
          <p:nvPr/>
        </p:nvSpPr>
        <p:spPr>
          <a:xfrm>
            <a:off x="660380" y="1769638"/>
            <a:ext cx="4891857" cy="6309"/>
          </a:xfrm>
          <a:prstGeom prst="rect">
            <a:avLst/>
          </a:prstGeom>
          <a:solidFill>
            <a:srgbClr val="E3E6EA"/>
          </a:solidFill>
          <a:ln/>
        </p:spPr>
      </p:sp>
      <p:sp>
        <p:nvSpPr>
          <p:cNvPr id="10" name="Text 8"/>
          <p:cNvSpPr txBox="1"/>
          <p:nvPr/>
        </p:nvSpPr>
        <p:spPr>
          <a:xfrm>
            <a:off x="800100" y="1865650"/>
            <a:ext cx="26752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Ký mọi request bằng HMAC-SHA512</a:t>
            </a:r>
            <a:endParaRPr lang="en-US" sz="1150" dirty="0"/>
          </a:p>
        </p:txBody>
      </p:sp>
      <p:sp>
        <p:nvSpPr>
          <p:cNvPr id="11" name="Shape 9"/>
          <p:cNvSpPr/>
          <p:nvPr/>
        </p:nvSpPr>
        <p:spPr>
          <a:xfrm>
            <a:off x="5552237" y="1769638"/>
            <a:ext cx="5979079" cy="6309"/>
          </a:xfrm>
          <a:prstGeom prst="rect">
            <a:avLst/>
          </a:prstGeom>
          <a:solidFill>
            <a:srgbClr val="E3E6EA"/>
          </a:solidFill>
          <a:ln/>
        </p:spPr>
      </p:sp>
      <p:sp>
        <p:nvSpPr>
          <p:cNvPr id="12" name="Text 10"/>
          <p:cNvSpPr txBox="1"/>
          <p:nvPr/>
        </p:nvSpPr>
        <p:spPr>
          <a:xfrm>
            <a:off x="5691957" y="1865650"/>
            <a:ext cx="189418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Phát hiện dữ liệu bị sửa đổi</a:t>
            </a:r>
            <a:endParaRPr lang="en-US" sz="1150" dirty="0"/>
          </a:p>
        </p:txBody>
      </p:sp>
      <p:sp>
        <p:nvSpPr>
          <p:cNvPr id="13" name="Shape 11"/>
          <p:cNvSpPr/>
          <p:nvPr/>
        </p:nvSpPr>
        <p:spPr>
          <a:xfrm>
            <a:off x="660380" y="2147468"/>
            <a:ext cx="4891857" cy="6309"/>
          </a:xfrm>
          <a:prstGeom prst="rect">
            <a:avLst/>
          </a:prstGeom>
          <a:solidFill>
            <a:srgbClr val="E3E6EA"/>
          </a:solidFill>
          <a:ln/>
        </p:spPr>
      </p:sp>
      <p:sp>
        <p:nvSpPr>
          <p:cNvPr id="14" name="Text 12"/>
          <p:cNvSpPr txBox="1"/>
          <p:nvPr/>
        </p:nvSpPr>
        <p:spPr>
          <a:xfrm>
            <a:off x="800100" y="2243480"/>
            <a:ext cx="254660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Mỗi merchant có HashSecret riêng</a:t>
            </a:r>
            <a:endParaRPr lang="en-US" sz="1150" dirty="0"/>
          </a:p>
        </p:txBody>
      </p:sp>
      <p:sp>
        <p:nvSpPr>
          <p:cNvPr id="15" name="Shape 13"/>
          <p:cNvSpPr/>
          <p:nvPr/>
        </p:nvSpPr>
        <p:spPr>
          <a:xfrm>
            <a:off x="5552237" y="2147468"/>
            <a:ext cx="5979079" cy="6309"/>
          </a:xfrm>
          <a:prstGeom prst="rect">
            <a:avLst/>
          </a:prstGeom>
          <a:solidFill>
            <a:srgbClr val="E3E6EA"/>
          </a:solidFill>
          <a:ln/>
        </p:spPr>
      </p:sp>
      <p:sp>
        <p:nvSpPr>
          <p:cNvPr id="16" name="Text 14"/>
          <p:cNvSpPr txBox="1"/>
          <p:nvPr/>
        </p:nvSpPr>
        <p:spPr>
          <a:xfrm>
            <a:off x="5691957" y="2243480"/>
            <a:ext cx="493840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Chỉ merchant và VNPAY tạo được chữ ký; khóa không truyền qua mạng</a:t>
            </a:r>
            <a:endParaRPr lang="en-US" sz="1150" dirty="0"/>
          </a:p>
        </p:txBody>
      </p:sp>
      <p:sp>
        <p:nvSpPr>
          <p:cNvPr id="17" name="Shape 15"/>
          <p:cNvSpPr/>
          <p:nvPr/>
        </p:nvSpPr>
        <p:spPr>
          <a:xfrm>
            <a:off x="660380" y="2525207"/>
            <a:ext cx="4891857" cy="6309"/>
          </a:xfrm>
          <a:prstGeom prst="rect">
            <a:avLst/>
          </a:prstGeom>
          <a:solidFill>
            <a:srgbClr val="E3E6EA"/>
          </a:solidFill>
          <a:ln/>
        </p:spPr>
      </p:sp>
      <p:sp>
        <p:nvSpPr>
          <p:cNvPr id="18" name="Text 16"/>
          <p:cNvSpPr txBox="1"/>
          <p:nvPr/>
        </p:nvSpPr>
        <p:spPr>
          <a:xfrm>
            <a:off x="800100" y="2621219"/>
            <a:ext cx="282019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Sắp xếp tham số theo tên trước khi ký</a:t>
            </a:r>
            <a:endParaRPr lang="en-US" sz="1150" dirty="0"/>
          </a:p>
        </p:txBody>
      </p:sp>
      <p:sp>
        <p:nvSpPr>
          <p:cNvPr id="19" name="Shape 17"/>
          <p:cNvSpPr/>
          <p:nvPr/>
        </p:nvSpPr>
        <p:spPr>
          <a:xfrm>
            <a:off x="5552237" y="2525207"/>
            <a:ext cx="5979079" cy="6309"/>
          </a:xfrm>
          <a:prstGeom prst="rect">
            <a:avLst/>
          </a:prstGeom>
          <a:solidFill>
            <a:srgbClr val="E3E6EA"/>
          </a:solidFill>
          <a:ln/>
        </p:spPr>
      </p:sp>
      <p:sp>
        <p:nvSpPr>
          <p:cNvPr id="20" name="Text 18"/>
          <p:cNvSpPr txBox="1"/>
          <p:nvPr/>
        </p:nvSpPr>
        <p:spPr>
          <a:xfrm>
            <a:off x="5691957" y="2621219"/>
            <a:ext cx="208254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Hai bên tạo cùng một chuỗi ký</a:t>
            </a:r>
            <a:endParaRPr lang="en-US" sz="1150" dirty="0"/>
          </a:p>
        </p:txBody>
      </p:sp>
      <p:sp>
        <p:nvSpPr>
          <p:cNvPr id="21" name="Shape 19"/>
          <p:cNvSpPr/>
          <p:nvPr/>
        </p:nvSpPr>
        <p:spPr>
          <a:xfrm>
            <a:off x="660380" y="2903037"/>
            <a:ext cx="4891857" cy="6309"/>
          </a:xfrm>
          <a:prstGeom prst="rect">
            <a:avLst/>
          </a:prstGeom>
          <a:solidFill>
            <a:srgbClr val="E3E6EA"/>
          </a:solidFill>
          <a:ln/>
        </p:spPr>
      </p:sp>
      <p:sp>
        <p:nvSpPr>
          <p:cNvPr id="22" name="Text 20"/>
          <p:cNvSpPr txBox="1"/>
          <p:nvPr/>
        </p:nvSpPr>
        <p:spPr>
          <a:xfrm>
            <a:off x="800100" y="2999049"/>
            <a:ext cx="183666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Mã hóa URL trước khi ký</a:t>
            </a:r>
            <a:endParaRPr lang="en-US" sz="1150" dirty="0"/>
          </a:p>
        </p:txBody>
      </p:sp>
      <p:sp>
        <p:nvSpPr>
          <p:cNvPr id="23" name="Shape 21"/>
          <p:cNvSpPr/>
          <p:nvPr/>
        </p:nvSpPr>
        <p:spPr>
          <a:xfrm>
            <a:off x="5552237" y="2903037"/>
            <a:ext cx="5979079" cy="6309"/>
          </a:xfrm>
          <a:prstGeom prst="rect">
            <a:avLst/>
          </a:prstGeom>
          <a:solidFill>
            <a:srgbClr val="E3E6EA"/>
          </a:solidFill>
          <a:ln/>
        </p:spPr>
      </p:sp>
      <p:sp>
        <p:nvSpPr>
          <p:cNvPr id="24" name="Text 22"/>
          <p:cNvSpPr txBox="1"/>
          <p:nvPr/>
        </p:nvSpPr>
        <p:spPr>
          <a:xfrm>
            <a:off x="5691957" y="2999049"/>
            <a:ext cx="233016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Chuỗi ký trùng với chuỗi trên URL</a:t>
            </a:r>
            <a:endParaRPr lang="en-US" sz="1150" dirty="0"/>
          </a:p>
        </p:txBody>
      </p:sp>
      <p:sp>
        <p:nvSpPr>
          <p:cNvPr id="25" name="Shape 23"/>
          <p:cNvSpPr/>
          <p:nvPr/>
        </p:nvSpPr>
        <p:spPr>
          <a:xfrm>
            <a:off x="660380" y="3280867"/>
            <a:ext cx="4891857" cy="6309"/>
          </a:xfrm>
          <a:prstGeom prst="rect">
            <a:avLst/>
          </a:prstGeom>
          <a:solidFill>
            <a:srgbClr val="E3E6EA"/>
          </a:solidFill>
          <a:ln/>
        </p:spPr>
      </p:sp>
      <p:sp>
        <p:nvSpPr>
          <p:cNvPr id="26" name="Text 24"/>
          <p:cNvSpPr txBox="1"/>
          <p:nvPr/>
        </p:nvSpPr>
        <p:spPr>
          <a:xfrm>
            <a:off x="800100" y="3376879"/>
            <a:ext cx="2313615"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Kiểm tra chữ ký trước khi xử lý</a:t>
            </a:r>
            <a:endParaRPr lang="en-US" sz="1150" dirty="0"/>
          </a:p>
        </p:txBody>
      </p:sp>
      <p:sp>
        <p:nvSpPr>
          <p:cNvPr id="27" name="Shape 25"/>
          <p:cNvSpPr/>
          <p:nvPr/>
        </p:nvSpPr>
        <p:spPr>
          <a:xfrm>
            <a:off x="5552237" y="3280867"/>
            <a:ext cx="5979079" cy="6309"/>
          </a:xfrm>
          <a:prstGeom prst="rect">
            <a:avLst/>
          </a:prstGeom>
          <a:solidFill>
            <a:srgbClr val="E3E6EA"/>
          </a:solidFill>
          <a:ln/>
        </p:spPr>
      </p:sp>
      <p:sp>
        <p:nvSpPr>
          <p:cNvPr id="28" name="Text 26"/>
          <p:cNvSpPr txBox="1"/>
          <p:nvPr/>
        </p:nvSpPr>
        <p:spPr>
          <a:xfrm>
            <a:off x="5691957" y="3376879"/>
            <a:ext cx="237661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xử lý dữ liệu chưa xác thực</a:t>
            </a:r>
            <a:endParaRPr lang="en-US" sz="1150" dirty="0"/>
          </a:p>
        </p:txBody>
      </p:sp>
      <p:sp>
        <p:nvSpPr>
          <p:cNvPr id="29" name="Text 27"/>
          <p:cNvSpPr txBox="1"/>
          <p:nvPr/>
        </p:nvSpPr>
        <p:spPr>
          <a:xfrm>
            <a:off x="660380" y="3926525"/>
            <a:ext cx="8859987"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Kết quả kiểm chứng: sửa số tiền, không sắp xếp hoặc không mã hóa URL đều bị từ chối (lỗi 70). Chữ ký viết hoa vẫn được chấp nhận.</a:t>
            </a:r>
            <a:endParaRPr lang="en-US" sz="1100" dirty="0"/>
          </a:p>
        </p:txBody>
      </p:sp>
      <p:sp>
        <p:nvSpPr>
          <p:cNvPr id="30" name="Text 28"/>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1" name="Text 29"/>
          <p:cNvSpPr txBox="1"/>
          <p:nvPr/>
        </p:nvSpPr>
        <p:spPr>
          <a:xfrm>
            <a:off x="11406043" y="6472763"/>
            <a:ext cx="201534"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464686"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Quy định của VNPAY</a:t>
            </a:r>
            <a:endParaRPr lang="en-US" sz="1100" dirty="0"/>
          </a:p>
        </p:txBody>
      </p:sp>
      <p:sp>
        <p:nvSpPr>
          <p:cNvPr id="3" name="Text 1"/>
          <p:cNvSpPr txBox="1"/>
          <p:nvPr/>
        </p:nvSpPr>
        <p:spPr>
          <a:xfrm>
            <a:off x="660380" y="643829"/>
            <a:ext cx="4406311"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Quy định khi trả kết quả</a:t>
            </a:r>
            <a:endParaRPr lang="en-US" sz="3000" dirty="0"/>
          </a:p>
        </p:txBody>
      </p:sp>
      <p:sp>
        <p:nvSpPr>
          <p:cNvPr id="4" name="Shape 2"/>
          <p:cNvSpPr/>
          <p:nvPr/>
        </p:nvSpPr>
        <p:spPr>
          <a:xfrm>
            <a:off x="660380" y="1347368"/>
            <a:ext cx="10870936" cy="2717688"/>
          </a:xfrm>
          <a:prstGeom prst="roundRect">
            <a:avLst>
              <a:gd name="adj" fmla="val 3738"/>
            </a:avLst>
          </a:prstGeom>
          <a:solidFill>
            <a:srgbClr val="FFFFFF"/>
          </a:solidFill>
          <a:ln/>
        </p:spPr>
      </p:sp>
      <p:sp>
        <p:nvSpPr>
          <p:cNvPr id="5" name="Shape 3"/>
          <p:cNvSpPr/>
          <p:nvPr/>
        </p:nvSpPr>
        <p:spPr>
          <a:xfrm>
            <a:off x="660380" y="1347368"/>
            <a:ext cx="4891857" cy="422270"/>
          </a:xfrm>
          <a:prstGeom prst="rect">
            <a:avLst/>
          </a:prstGeom>
          <a:solidFill>
            <a:srgbClr val="ECF2FF"/>
          </a:solidFill>
          <a:ln/>
        </p:spPr>
      </p:sp>
      <p:sp>
        <p:nvSpPr>
          <p:cNvPr id="6" name="Text 4"/>
          <p:cNvSpPr txBox="1"/>
          <p:nvPr/>
        </p:nvSpPr>
        <p:spPr>
          <a:xfrm>
            <a:off x="825520" y="1479408"/>
            <a:ext cx="74560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QUY ĐỊNH</a:t>
            </a:r>
            <a:endParaRPr lang="en-US" sz="1000" dirty="0"/>
          </a:p>
        </p:txBody>
      </p:sp>
      <p:sp>
        <p:nvSpPr>
          <p:cNvPr id="7" name="Shape 5"/>
          <p:cNvSpPr/>
          <p:nvPr/>
        </p:nvSpPr>
        <p:spPr>
          <a:xfrm>
            <a:off x="5552237" y="1347368"/>
            <a:ext cx="5979079" cy="422270"/>
          </a:xfrm>
          <a:prstGeom prst="rect">
            <a:avLst/>
          </a:prstGeom>
          <a:solidFill>
            <a:srgbClr val="ECF2FF"/>
          </a:solidFill>
          <a:ln/>
        </p:spPr>
      </p:sp>
      <p:sp>
        <p:nvSpPr>
          <p:cNvPr id="8" name="Text 6"/>
          <p:cNvSpPr txBox="1"/>
          <p:nvPr/>
        </p:nvSpPr>
        <p:spPr>
          <a:xfrm>
            <a:off x="5717377" y="1479408"/>
            <a:ext cx="4960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LÝ DO</a:t>
            </a:r>
            <a:endParaRPr lang="en-US" sz="1000" dirty="0"/>
          </a:p>
        </p:txBody>
      </p:sp>
      <p:sp>
        <p:nvSpPr>
          <p:cNvPr id="9" name="Shape 7"/>
          <p:cNvSpPr/>
          <p:nvPr/>
        </p:nvSpPr>
        <p:spPr>
          <a:xfrm>
            <a:off x="660380" y="1769638"/>
            <a:ext cx="4891857" cy="6309"/>
          </a:xfrm>
          <a:prstGeom prst="rect">
            <a:avLst/>
          </a:prstGeom>
          <a:solidFill>
            <a:srgbClr val="E3E6EA"/>
          </a:solidFill>
          <a:ln/>
        </p:spPr>
      </p:sp>
      <p:sp>
        <p:nvSpPr>
          <p:cNvPr id="10" name="Text 8"/>
          <p:cNvSpPr txBox="1"/>
          <p:nvPr/>
        </p:nvSpPr>
        <p:spPr>
          <a:xfrm>
            <a:off x="800100" y="1865650"/>
            <a:ext cx="259543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Không cập nhật đơn tại ReturnURL</a:t>
            </a:r>
            <a:endParaRPr lang="en-US" sz="1150" dirty="0"/>
          </a:p>
        </p:txBody>
      </p:sp>
      <p:sp>
        <p:nvSpPr>
          <p:cNvPr id="11" name="Shape 9"/>
          <p:cNvSpPr/>
          <p:nvPr/>
        </p:nvSpPr>
        <p:spPr>
          <a:xfrm>
            <a:off x="5552237" y="1769638"/>
            <a:ext cx="5979079" cy="6309"/>
          </a:xfrm>
          <a:prstGeom prst="rect">
            <a:avLst/>
          </a:prstGeom>
          <a:solidFill>
            <a:srgbClr val="E3E6EA"/>
          </a:solidFill>
          <a:ln/>
        </p:spPr>
      </p:sp>
      <p:sp>
        <p:nvSpPr>
          <p:cNvPr id="12" name="Text 10"/>
          <p:cNvSpPr txBox="1"/>
          <p:nvPr/>
        </p:nvSpPr>
        <p:spPr>
          <a:xfrm>
            <a:off x="5691957" y="1865650"/>
            <a:ext cx="414890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Dữ liệu đi qua trình duyệt, có thể bị sửa hoặc không quay về</a:t>
            </a:r>
            <a:endParaRPr lang="en-US" sz="1150" dirty="0"/>
          </a:p>
        </p:txBody>
      </p:sp>
      <p:sp>
        <p:nvSpPr>
          <p:cNvPr id="13" name="Shape 11"/>
          <p:cNvSpPr/>
          <p:nvPr/>
        </p:nvSpPr>
        <p:spPr>
          <a:xfrm>
            <a:off x="660380" y="2147468"/>
            <a:ext cx="4891857" cy="6309"/>
          </a:xfrm>
          <a:prstGeom prst="rect">
            <a:avLst/>
          </a:prstGeom>
          <a:solidFill>
            <a:srgbClr val="E3E6EA"/>
          </a:solidFill>
          <a:ln/>
        </p:spPr>
      </p:sp>
      <p:sp>
        <p:nvSpPr>
          <p:cNvPr id="14" name="Text 12"/>
          <p:cNvSpPr txBox="1"/>
          <p:nvPr/>
        </p:nvSpPr>
        <p:spPr>
          <a:xfrm>
            <a:off x="800100" y="2243480"/>
            <a:ext cx="2313798"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Cập nhật tại IPN, địa chỉ HTTPS</a:t>
            </a:r>
            <a:endParaRPr lang="en-US" sz="1150" dirty="0"/>
          </a:p>
        </p:txBody>
      </p:sp>
      <p:sp>
        <p:nvSpPr>
          <p:cNvPr id="15" name="Shape 13"/>
          <p:cNvSpPr/>
          <p:nvPr/>
        </p:nvSpPr>
        <p:spPr>
          <a:xfrm>
            <a:off x="5552237" y="2147468"/>
            <a:ext cx="5979079" cy="6309"/>
          </a:xfrm>
          <a:prstGeom prst="rect">
            <a:avLst/>
          </a:prstGeom>
          <a:solidFill>
            <a:srgbClr val="E3E6EA"/>
          </a:solidFill>
          <a:ln/>
        </p:spPr>
      </p:sp>
      <p:sp>
        <p:nvSpPr>
          <p:cNvPr id="16" name="Text 14"/>
          <p:cNvSpPr txBox="1"/>
          <p:nvPr/>
        </p:nvSpPr>
        <p:spPr>
          <a:xfrm>
            <a:off x="5691957" y="2243480"/>
            <a:ext cx="425881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gọi trực tiếp server, khách hàng không can thiệp được</a:t>
            </a:r>
            <a:endParaRPr lang="en-US" sz="1150" dirty="0"/>
          </a:p>
        </p:txBody>
      </p:sp>
      <p:sp>
        <p:nvSpPr>
          <p:cNvPr id="17" name="Shape 15"/>
          <p:cNvSpPr/>
          <p:nvPr/>
        </p:nvSpPr>
        <p:spPr>
          <a:xfrm>
            <a:off x="660380" y="2525207"/>
            <a:ext cx="4891857" cy="6309"/>
          </a:xfrm>
          <a:prstGeom prst="rect">
            <a:avLst/>
          </a:prstGeom>
          <a:solidFill>
            <a:srgbClr val="E3E6EA"/>
          </a:solidFill>
          <a:ln/>
        </p:spPr>
      </p:sp>
      <p:sp>
        <p:nvSpPr>
          <p:cNvPr id="18" name="Text 16"/>
          <p:cNvSpPr txBox="1"/>
          <p:nvPr/>
        </p:nvSpPr>
        <p:spPr>
          <a:xfrm>
            <a:off x="800100" y="2620853"/>
            <a:ext cx="235604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IPN phản hồi JSON có </a:t>
            </a:r>
            <a:pPr algn="l" indent="0" marL="0">
              <a:buNone/>
            </a:pPr>
            <a:r>
              <a:rPr lang="en-US" sz="1200" b="1" dirty="0">
                <a:solidFill>
                  <a:srgbClr val="111111"/>
                </a:solidFill>
                <a:latin typeface="Courier New" pitchFamily="34" charset="0"/>
                <a:ea typeface="Courier New" pitchFamily="34" charset="-122"/>
                <a:cs typeface="Courier New" pitchFamily="34" charset="-120"/>
              </a:rPr>
              <a:t>RspCode</a:t>
            </a:r>
            <a:endParaRPr lang="en-US" sz="1150" dirty="0"/>
          </a:p>
        </p:txBody>
      </p:sp>
      <p:sp>
        <p:nvSpPr>
          <p:cNvPr id="19" name="Shape 17"/>
          <p:cNvSpPr/>
          <p:nvPr/>
        </p:nvSpPr>
        <p:spPr>
          <a:xfrm>
            <a:off x="5552237" y="2525207"/>
            <a:ext cx="5979079" cy="6309"/>
          </a:xfrm>
          <a:prstGeom prst="rect">
            <a:avLst/>
          </a:prstGeom>
          <a:solidFill>
            <a:srgbClr val="E3E6EA"/>
          </a:solidFill>
          <a:ln/>
        </p:spPr>
      </p:sp>
      <p:sp>
        <p:nvSpPr>
          <p:cNvPr id="20" name="Text 18"/>
          <p:cNvSpPr txBox="1"/>
          <p:nvPr/>
        </p:nvSpPr>
        <p:spPr>
          <a:xfrm>
            <a:off x="5691957" y="2629174"/>
            <a:ext cx="296055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xác định merchant đã nhận kết quả</a:t>
            </a:r>
            <a:endParaRPr lang="en-US" sz="1150" dirty="0"/>
          </a:p>
        </p:txBody>
      </p:sp>
      <p:sp>
        <p:nvSpPr>
          <p:cNvPr id="21" name="Shape 19"/>
          <p:cNvSpPr/>
          <p:nvPr/>
        </p:nvSpPr>
        <p:spPr>
          <a:xfrm>
            <a:off x="660380" y="2918948"/>
            <a:ext cx="4891857" cy="6309"/>
          </a:xfrm>
          <a:prstGeom prst="rect">
            <a:avLst/>
          </a:prstGeom>
          <a:solidFill>
            <a:srgbClr val="E3E6EA"/>
          </a:solidFill>
          <a:ln/>
        </p:spPr>
      </p:sp>
      <p:sp>
        <p:nvSpPr>
          <p:cNvPr id="22" name="Text 20"/>
          <p:cNvSpPr txBox="1"/>
          <p:nvPr/>
        </p:nvSpPr>
        <p:spPr>
          <a:xfrm>
            <a:off x="800100" y="3014960"/>
            <a:ext cx="3095427"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Gửi lại IPN khi chưa nhận phản hồi hợp lệ</a:t>
            </a:r>
            <a:endParaRPr lang="en-US" sz="1150" dirty="0"/>
          </a:p>
        </p:txBody>
      </p:sp>
      <p:sp>
        <p:nvSpPr>
          <p:cNvPr id="23" name="Shape 21"/>
          <p:cNvSpPr/>
          <p:nvPr/>
        </p:nvSpPr>
        <p:spPr>
          <a:xfrm>
            <a:off x="5552237" y="2918948"/>
            <a:ext cx="5979079" cy="6309"/>
          </a:xfrm>
          <a:prstGeom prst="rect">
            <a:avLst/>
          </a:prstGeom>
          <a:solidFill>
            <a:srgbClr val="E3E6EA"/>
          </a:solidFill>
          <a:ln/>
        </p:spPr>
      </p:sp>
      <p:sp>
        <p:nvSpPr>
          <p:cNvPr id="24" name="Text 22"/>
          <p:cNvSpPr txBox="1"/>
          <p:nvPr/>
        </p:nvSpPr>
        <p:spPr>
          <a:xfrm>
            <a:off x="5691957" y="3014960"/>
            <a:ext cx="459339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Tối đa 10 lần, cách 5 phút; tránh mất kết quả khi server lỗi tạm thời</a:t>
            </a:r>
            <a:endParaRPr lang="en-US" sz="1150" dirty="0"/>
          </a:p>
        </p:txBody>
      </p:sp>
      <p:sp>
        <p:nvSpPr>
          <p:cNvPr id="25" name="Shape 23"/>
          <p:cNvSpPr/>
          <p:nvPr/>
        </p:nvSpPr>
        <p:spPr>
          <a:xfrm>
            <a:off x="660380" y="3296778"/>
            <a:ext cx="4891857" cy="6309"/>
          </a:xfrm>
          <a:prstGeom prst="rect">
            <a:avLst/>
          </a:prstGeom>
          <a:solidFill>
            <a:srgbClr val="E3E6EA"/>
          </a:solidFill>
          <a:ln/>
        </p:spPr>
      </p:sp>
      <p:sp>
        <p:nvSpPr>
          <p:cNvPr id="26" name="Text 24"/>
          <p:cNvSpPr txBox="1"/>
          <p:nvPr/>
        </p:nvSpPr>
        <p:spPr>
          <a:xfrm>
            <a:off x="800100" y="3392790"/>
            <a:ext cx="2210745"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Thành công khi hai mã đều 00</a:t>
            </a:r>
            <a:endParaRPr lang="en-US" sz="1150" dirty="0"/>
          </a:p>
        </p:txBody>
      </p:sp>
      <p:sp>
        <p:nvSpPr>
          <p:cNvPr id="27" name="Shape 25"/>
          <p:cNvSpPr/>
          <p:nvPr/>
        </p:nvSpPr>
        <p:spPr>
          <a:xfrm>
            <a:off x="5552237" y="3296778"/>
            <a:ext cx="5979079" cy="6309"/>
          </a:xfrm>
          <a:prstGeom prst="rect">
            <a:avLst/>
          </a:prstGeom>
          <a:solidFill>
            <a:srgbClr val="E3E6EA"/>
          </a:solidFill>
          <a:ln/>
        </p:spPr>
      </p:sp>
      <p:sp>
        <p:nvSpPr>
          <p:cNvPr id="28" name="Text 26"/>
          <p:cNvSpPr txBox="1"/>
          <p:nvPr/>
        </p:nvSpPr>
        <p:spPr>
          <a:xfrm>
            <a:off x="5691957" y="3392790"/>
            <a:ext cx="496564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ResponseCode là mã phản hồi; TransactionStatus là trạng thái giao dịch</a:t>
            </a:r>
            <a:endParaRPr lang="en-US" sz="1150" dirty="0"/>
          </a:p>
        </p:txBody>
      </p:sp>
      <p:sp>
        <p:nvSpPr>
          <p:cNvPr id="29" name="Shape 27"/>
          <p:cNvSpPr/>
          <p:nvPr/>
        </p:nvSpPr>
        <p:spPr>
          <a:xfrm>
            <a:off x="660380" y="3674608"/>
            <a:ext cx="4891857" cy="6309"/>
          </a:xfrm>
          <a:prstGeom prst="rect">
            <a:avLst/>
          </a:prstGeom>
          <a:solidFill>
            <a:srgbClr val="E3E6EA"/>
          </a:solidFill>
          <a:ln/>
        </p:spPr>
      </p:sp>
      <p:sp>
        <p:nvSpPr>
          <p:cNvPr id="30" name="Text 28"/>
          <p:cNvSpPr txBox="1"/>
          <p:nvPr/>
        </p:nvSpPr>
        <p:spPr>
          <a:xfrm>
            <a:off x="800100" y="3770163"/>
            <a:ext cx="268623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querydr: POST JSON, ký chuỗi nối </a:t>
            </a:r>
            <a:pPr algn="l" indent="0" marL="0">
              <a:buNone/>
            </a:pPr>
            <a:r>
              <a:rPr lang="en-US" sz="1200" b="1" dirty="0">
                <a:solidFill>
                  <a:srgbClr val="111111"/>
                </a:solidFill>
                <a:latin typeface="Courier New" pitchFamily="34" charset="0"/>
                <a:ea typeface="Courier New" pitchFamily="34" charset="-122"/>
                <a:cs typeface="Courier New" pitchFamily="34" charset="-120"/>
              </a:rPr>
              <a:t>|</a:t>
            </a:r>
            <a:endParaRPr lang="en-US" sz="1150" dirty="0"/>
          </a:p>
        </p:txBody>
      </p:sp>
      <p:sp>
        <p:nvSpPr>
          <p:cNvPr id="31" name="Shape 29"/>
          <p:cNvSpPr/>
          <p:nvPr/>
        </p:nvSpPr>
        <p:spPr>
          <a:xfrm>
            <a:off x="5552237" y="3674608"/>
            <a:ext cx="5979079" cy="6309"/>
          </a:xfrm>
          <a:prstGeom prst="rect">
            <a:avLst/>
          </a:prstGeom>
          <a:solidFill>
            <a:srgbClr val="E3E6EA"/>
          </a:solidFill>
          <a:ln/>
        </p:spPr>
      </p:sp>
      <p:sp>
        <p:nvSpPr>
          <p:cNvPr id="32" name="Text 30"/>
          <p:cNvSpPr txBox="1"/>
          <p:nvPr/>
        </p:nvSpPr>
        <p:spPr>
          <a:xfrm>
            <a:off x="5691957" y="3778484"/>
            <a:ext cx="345798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Giao tiếp server–server, danh sách trường cố định</a:t>
            </a:r>
            <a:endParaRPr lang="en-US" sz="1150" dirty="0"/>
          </a:p>
        </p:txBody>
      </p:sp>
      <p:sp>
        <p:nvSpPr>
          <p:cNvPr id="33" name="Text 31"/>
          <p:cNvSpPr txBox="1"/>
          <p:nvPr/>
        </p:nvSpPr>
        <p:spPr>
          <a:xfrm>
            <a:off x="660380" y="4336085"/>
            <a:ext cx="8507395"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Tài liệu VNPAY chỉ nêu quy định; cột "Lý do" là phần phân tích bổ sung. Mục "đã kiểm chứng" được thử trên sandbox ngày 10/10.</a:t>
            </a:r>
            <a:endParaRPr lang="en-US" sz="1100" dirty="0"/>
          </a:p>
        </p:txBody>
      </p:sp>
      <p:sp>
        <p:nvSpPr>
          <p:cNvPr id="34" name="Text 32"/>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5" name="Text 33"/>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43829"/>
            <a:ext cx="10110155"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Tham số yêu cầu thanh toán (1/3): định danh và số tiền</a:t>
            </a:r>
            <a:endParaRPr lang="en-US" sz="3000" dirty="0"/>
          </a:p>
        </p:txBody>
      </p:sp>
      <p:sp>
        <p:nvSpPr>
          <p:cNvPr id="4" name="Shape 2"/>
          <p:cNvSpPr/>
          <p:nvPr/>
        </p:nvSpPr>
        <p:spPr>
          <a:xfrm>
            <a:off x="660380" y="1347368"/>
            <a:ext cx="10870936" cy="2781239"/>
          </a:xfrm>
          <a:prstGeom prst="roundRect">
            <a:avLst>
              <a:gd name="adj" fmla="val 3653"/>
            </a:avLst>
          </a:prstGeom>
          <a:solidFill>
            <a:srgbClr val="FFFFFF"/>
          </a:solidFill>
          <a:ln/>
        </p:spPr>
      </p:sp>
      <p:sp>
        <p:nvSpPr>
          <p:cNvPr id="5" name="Shape 3"/>
          <p:cNvSpPr/>
          <p:nvPr/>
        </p:nvSpPr>
        <p:spPr>
          <a:xfrm>
            <a:off x="660380" y="1347368"/>
            <a:ext cx="2065355" cy="422270"/>
          </a:xfrm>
          <a:prstGeom prst="rect">
            <a:avLst/>
          </a:prstGeom>
          <a:solidFill>
            <a:srgbClr val="ECF2FF"/>
          </a:solidFill>
          <a:ln/>
        </p:spPr>
      </p:sp>
      <p:sp>
        <p:nvSpPr>
          <p:cNvPr id="6" name="Text 4"/>
          <p:cNvSpPr txBox="1"/>
          <p:nvPr/>
        </p:nvSpPr>
        <p:spPr>
          <a:xfrm>
            <a:off x="825520" y="1479408"/>
            <a:ext cx="70619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THAM SỐ</a:t>
            </a:r>
            <a:endParaRPr lang="en-US" sz="1000" dirty="0"/>
          </a:p>
        </p:txBody>
      </p:sp>
      <p:sp>
        <p:nvSpPr>
          <p:cNvPr id="7" name="Shape 5"/>
          <p:cNvSpPr/>
          <p:nvPr/>
        </p:nvSpPr>
        <p:spPr>
          <a:xfrm>
            <a:off x="2725735" y="1347368"/>
            <a:ext cx="2065355" cy="422270"/>
          </a:xfrm>
          <a:prstGeom prst="rect">
            <a:avLst/>
          </a:prstGeom>
          <a:solidFill>
            <a:srgbClr val="ECF2FF"/>
          </a:solidFill>
          <a:ln/>
        </p:spPr>
      </p:sp>
      <p:sp>
        <p:nvSpPr>
          <p:cNvPr id="8" name="Text 6"/>
          <p:cNvSpPr txBox="1"/>
          <p:nvPr/>
        </p:nvSpPr>
        <p:spPr>
          <a:xfrm>
            <a:off x="2890876" y="1479408"/>
            <a:ext cx="101278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KIỂU DỮ LIỆU</a:t>
            </a:r>
            <a:endParaRPr lang="en-US" sz="1000" dirty="0"/>
          </a:p>
        </p:txBody>
      </p:sp>
      <p:sp>
        <p:nvSpPr>
          <p:cNvPr id="9" name="Shape 7"/>
          <p:cNvSpPr/>
          <p:nvPr/>
        </p:nvSpPr>
        <p:spPr>
          <a:xfrm>
            <a:off x="4791182" y="1347368"/>
            <a:ext cx="1956725" cy="422270"/>
          </a:xfrm>
          <a:prstGeom prst="rect">
            <a:avLst/>
          </a:prstGeom>
          <a:solidFill>
            <a:srgbClr val="ECF2FF"/>
          </a:solidFill>
          <a:ln/>
        </p:spPr>
      </p:sp>
      <p:sp>
        <p:nvSpPr>
          <p:cNvPr id="10" name="Text 8"/>
          <p:cNvSpPr txBox="1"/>
          <p:nvPr/>
        </p:nvSpPr>
        <p:spPr>
          <a:xfrm>
            <a:off x="4956231" y="1479408"/>
            <a:ext cx="103436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GIÁ TRỊ DEMO</a:t>
            </a:r>
            <a:endParaRPr lang="en-US" sz="1000" dirty="0"/>
          </a:p>
        </p:txBody>
      </p:sp>
      <p:sp>
        <p:nvSpPr>
          <p:cNvPr id="11" name="Shape 9"/>
          <p:cNvSpPr/>
          <p:nvPr/>
        </p:nvSpPr>
        <p:spPr>
          <a:xfrm>
            <a:off x="6747906" y="1347368"/>
            <a:ext cx="4783409" cy="422270"/>
          </a:xfrm>
          <a:prstGeom prst="rect">
            <a:avLst/>
          </a:prstGeom>
          <a:solidFill>
            <a:srgbClr val="ECF2FF"/>
          </a:solidFill>
          <a:ln/>
        </p:spPr>
      </p:sp>
      <p:sp>
        <p:nvSpPr>
          <p:cNvPr id="12" name="Text 10"/>
          <p:cNvSpPr txBox="1"/>
          <p:nvPr/>
        </p:nvSpPr>
        <p:spPr>
          <a:xfrm>
            <a:off x="6912955" y="1479408"/>
            <a:ext cx="76197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MỤC ĐÍCH</a:t>
            </a:r>
            <a:endParaRPr lang="en-US" sz="1000" dirty="0"/>
          </a:p>
        </p:txBody>
      </p:sp>
      <p:sp>
        <p:nvSpPr>
          <p:cNvPr id="13" name="Shape 11"/>
          <p:cNvSpPr/>
          <p:nvPr/>
        </p:nvSpPr>
        <p:spPr>
          <a:xfrm>
            <a:off x="660380" y="1769638"/>
            <a:ext cx="2065355" cy="6309"/>
          </a:xfrm>
          <a:prstGeom prst="rect">
            <a:avLst/>
          </a:prstGeom>
          <a:solidFill>
            <a:srgbClr val="E3E6EA"/>
          </a:solidFill>
          <a:ln/>
        </p:spPr>
      </p:sp>
      <p:sp>
        <p:nvSpPr>
          <p:cNvPr id="14" name="Text 12"/>
          <p:cNvSpPr txBox="1"/>
          <p:nvPr/>
        </p:nvSpPr>
        <p:spPr>
          <a:xfrm>
            <a:off x="800100" y="1871594"/>
            <a:ext cx="108228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vnp_Version</a:t>
            </a:r>
            <a:endParaRPr lang="en-US" sz="1200" dirty="0"/>
          </a:p>
        </p:txBody>
      </p:sp>
      <p:sp>
        <p:nvSpPr>
          <p:cNvPr id="15" name="Shape 13"/>
          <p:cNvSpPr/>
          <p:nvPr/>
        </p:nvSpPr>
        <p:spPr>
          <a:xfrm>
            <a:off x="2725735" y="1769638"/>
            <a:ext cx="2065355" cy="6309"/>
          </a:xfrm>
          <a:prstGeom prst="rect">
            <a:avLst/>
          </a:prstGeom>
          <a:solidFill>
            <a:srgbClr val="E3E6EA"/>
          </a:solidFill>
          <a:ln/>
        </p:spPr>
      </p:sp>
      <p:sp>
        <p:nvSpPr>
          <p:cNvPr id="16" name="Text 14"/>
          <p:cNvSpPr txBox="1"/>
          <p:nvPr/>
        </p:nvSpPr>
        <p:spPr>
          <a:xfrm>
            <a:off x="2865455" y="1873606"/>
            <a:ext cx="125336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Alphanumeric[1,8]</a:t>
            </a:r>
            <a:endParaRPr lang="en-US" sz="1150" dirty="0"/>
          </a:p>
        </p:txBody>
      </p:sp>
      <p:sp>
        <p:nvSpPr>
          <p:cNvPr id="17" name="Shape 15"/>
          <p:cNvSpPr/>
          <p:nvPr/>
        </p:nvSpPr>
        <p:spPr>
          <a:xfrm>
            <a:off x="4791182" y="1769638"/>
            <a:ext cx="1956725" cy="6309"/>
          </a:xfrm>
          <a:prstGeom prst="rect">
            <a:avLst/>
          </a:prstGeom>
          <a:solidFill>
            <a:srgbClr val="E3E6EA"/>
          </a:solidFill>
          <a:ln/>
        </p:spPr>
      </p:sp>
      <p:sp>
        <p:nvSpPr>
          <p:cNvPr id="18" name="Text 16"/>
          <p:cNvSpPr txBox="1"/>
          <p:nvPr/>
        </p:nvSpPr>
        <p:spPr>
          <a:xfrm>
            <a:off x="4930811" y="1871594"/>
            <a:ext cx="53346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2.1.0</a:t>
            </a:r>
            <a:endParaRPr lang="en-US" sz="1200" dirty="0"/>
          </a:p>
        </p:txBody>
      </p:sp>
      <p:sp>
        <p:nvSpPr>
          <p:cNvPr id="19" name="Shape 17"/>
          <p:cNvSpPr/>
          <p:nvPr/>
        </p:nvSpPr>
        <p:spPr>
          <a:xfrm>
            <a:off x="6747906" y="1769638"/>
            <a:ext cx="4783409" cy="6309"/>
          </a:xfrm>
          <a:prstGeom prst="rect">
            <a:avLst/>
          </a:prstGeom>
          <a:solidFill>
            <a:srgbClr val="E3E6EA"/>
          </a:solidFill>
          <a:ln/>
        </p:spPr>
      </p:sp>
      <p:sp>
        <p:nvSpPr>
          <p:cNvPr id="20" name="Text 18"/>
          <p:cNvSpPr txBox="1"/>
          <p:nvPr/>
        </p:nvSpPr>
        <p:spPr>
          <a:xfrm>
            <a:off x="6887627" y="1873606"/>
            <a:ext cx="100200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Phiên bản API</a:t>
            </a:r>
            <a:endParaRPr lang="en-US" sz="1150" dirty="0"/>
          </a:p>
        </p:txBody>
      </p:sp>
      <p:sp>
        <p:nvSpPr>
          <p:cNvPr id="21" name="Shape 19"/>
          <p:cNvSpPr/>
          <p:nvPr/>
        </p:nvSpPr>
        <p:spPr>
          <a:xfrm>
            <a:off x="660380" y="2163288"/>
            <a:ext cx="2065355" cy="6309"/>
          </a:xfrm>
          <a:prstGeom prst="rect">
            <a:avLst/>
          </a:prstGeom>
          <a:solidFill>
            <a:srgbClr val="E3E6EA"/>
          </a:solidFill>
          <a:ln/>
        </p:spPr>
      </p:sp>
      <p:sp>
        <p:nvSpPr>
          <p:cNvPr id="22" name="Text 20"/>
          <p:cNvSpPr txBox="1"/>
          <p:nvPr/>
        </p:nvSpPr>
        <p:spPr>
          <a:xfrm>
            <a:off x="800100" y="2265335"/>
            <a:ext cx="108228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vnp_Command</a:t>
            </a:r>
            <a:endParaRPr lang="en-US" sz="1200" dirty="0"/>
          </a:p>
        </p:txBody>
      </p:sp>
      <p:sp>
        <p:nvSpPr>
          <p:cNvPr id="23" name="Shape 21"/>
          <p:cNvSpPr/>
          <p:nvPr/>
        </p:nvSpPr>
        <p:spPr>
          <a:xfrm>
            <a:off x="2725735" y="2163288"/>
            <a:ext cx="2065355" cy="6309"/>
          </a:xfrm>
          <a:prstGeom prst="rect">
            <a:avLst/>
          </a:prstGeom>
          <a:solidFill>
            <a:srgbClr val="E3E6EA"/>
          </a:solidFill>
          <a:ln/>
        </p:spPr>
      </p:sp>
      <p:sp>
        <p:nvSpPr>
          <p:cNvPr id="24" name="Text 22"/>
          <p:cNvSpPr txBox="1"/>
          <p:nvPr/>
        </p:nvSpPr>
        <p:spPr>
          <a:xfrm>
            <a:off x="2865455" y="2267255"/>
            <a:ext cx="81518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Alpha[1,16]</a:t>
            </a:r>
            <a:endParaRPr lang="en-US" sz="1150" dirty="0"/>
          </a:p>
        </p:txBody>
      </p:sp>
      <p:sp>
        <p:nvSpPr>
          <p:cNvPr id="25" name="Shape 23"/>
          <p:cNvSpPr/>
          <p:nvPr/>
        </p:nvSpPr>
        <p:spPr>
          <a:xfrm>
            <a:off x="4791182" y="2163288"/>
            <a:ext cx="1956725" cy="6309"/>
          </a:xfrm>
          <a:prstGeom prst="rect">
            <a:avLst/>
          </a:prstGeom>
          <a:solidFill>
            <a:srgbClr val="E3E6EA"/>
          </a:solidFill>
          <a:ln/>
        </p:spPr>
      </p:sp>
      <p:sp>
        <p:nvSpPr>
          <p:cNvPr id="26" name="Text 24"/>
          <p:cNvSpPr txBox="1"/>
          <p:nvPr/>
        </p:nvSpPr>
        <p:spPr>
          <a:xfrm>
            <a:off x="4930811" y="2265335"/>
            <a:ext cx="35067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pay</a:t>
            </a:r>
            <a:endParaRPr lang="en-US" sz="1200" dirty="0"/>
          </a:p>
        </p:txBody>
      </p:sp>
      <p:sp>
        <p:nvSpPr>
          <p:cNvPr id="27" name="Shape 25"/>
          <p:cNvSpPr/>
          <p:nvPr/>
        </p:nvSpPr>
        <p:spPr>
          <a:xfrm>
            <a:off x="6747906" y="2163288"/>
            <a:ext cx="4783409" cy="6309"/>
          </a:xfrm>
          <a:prstGeom prst="rect">
            <a:avLst/>
          </a:prstGeom>
          <a:solidFill>
            <a:srgbClr val="E3E6EA"/>
          </a:solidFill>
          <a:ln/>
        </p:spPr>
      </p:sp>
      <p:sp>
        <p:nvSpPr>
          <p:cNvPr id="28" name="Text 26"/>
          <p:cNvSpPr txBox="1"/>
          <p:nvPr/>
        </p:nvSpPr>
        <p:spPr>
          <a:xfrm>
            <a:off x="6887627" y="2267255"/>
            <a:ext cx="144621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Loại lệnh: thanh toán</a:t>
            </a:r>
            <a:endParaRPr lang="en-US" sz="1150" dirty="0"/>
          </a:p>
        </p:txBody>
      </p:sp>
      <p:sp>
        <p:nvSpPr>
          <p:cNvPr id="29" name="Shape 27"/>
          <p:cNvSpPr/>
          <p:nvPr/>
        </p:nvSpPr>
        <p:spPr>
          <a:xfrm>
            <a:off x="660380" y="2557028"/>
            <a:ext cx="2065355" cy="6309"/>
          </a:xfrm>
          <a:prstGeom prst="rect">
            <a:avLst/>
          </a:prstGeom>
          <a:solidFill>
            <a:srgbClr val="E3E6EA"/>
          </a:solidFill>
          <a:ln/>
        </p:spPr>
      </p:sp>
      <p:sp>
        <p:nvSpPr>
          <p:cNvPr id="30" name="Text 28"/>
          <p:cNvSpPr txBox="1"/>
          <p:nvPr/>
        </p:nvSpPr>
        <p:spPr>
          <a:xfrm>
            <a:off x="800100" y="2658984"/>
            <a:ext cx="108228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vnp_TmnCode</a:t>
            </a:r>
            <a:endParaRPr lang="en-US" sz="1200" dirty="0"/>
          </a:p>
        </p:txBody>
      </p:sp>
      <p:sp>
        <p:nvSpPr>
          <p:cNvPr id="31" name="Shape 29"/>
          <p:cNvSpPr/>
          <p:nvPr/>
        </p:nvSpPr>
        <p:spPr>
          <a:xfrm>
            <a:off x="2725735" y="2557028"/>
            <a:ext cx="2065355" cy="6309"/>
          </a:xfrm>
          <a:prstGeom prst="rect">
            <a:avLst/>
          </a:prstGeom>
          <a:solidFill>
            <a:srgbClr val="E3E6EA"/>
          </a:solidFill>
          <a:ln/>
        </p:spPr>
      </p:sp>
      <p:sp>
        <p:nvSpPr>
          <p:cNvPr id="32" name="Text 30"/>
          <p:cNvSpPr txBox="1"/>
          <p:nvPr/>
        </p:nvSpPr>
        <p:spPr>
          <a:xfrm>
            <a:off x="2865455" y="2660904"/>
            <a:ext cx="113157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Alphanumeric[8]</a:t>
            </a:r>
            <a:endParaRPr lang="en-US" sz="1150" dirty="0"/>
          </a:p>
        </p:txBody>
      </p:sp>
      <p:sp>
        <p:nvSpPr>
          <p:cNvPr id="33" name="Shape 31"/>
          <p:cNvSpPr/>
          <p:nvPr/>
        </p:nvSpPr>
        <p:spPr>
          <a:xfrm>
            <a:off x="4791182" y="2557028"/>
            <a:ext cx="1956725" cy="6309"/>
          </a:xfrm>
          <a:prstGeom prst="rect">
            <a:avLst/>
          </a:prstGeom>
          <a:solidFill>
            <a:srgbClr val="E3E6EA"/>
          </a:solidFill>
          <a:ln/>
        </p:spPr>
      </p:sp>
      <p:sp>
        <p:nvSpPr>
          <p:cNvPr id="34" name="Text 32"/>
          <p:cNvSpPr txBox="1"/>
          <p:nvPr/>
        </p:nvSpPr>
        <p:spPr>
          <a:xfrm>
            <a:off x="4930811" y="2660904"/>
            <a:ext cx="9284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merchant</a:t>
            </a:r>
            <a:endParaRPr lang="en-US" sz="1150" dirty="0"/>
          </a:p>
        </p:txBody>
      </p:sp>
      <p:sp>
        <p:nvSpPr>
          <p:cNvPr id="35" name="Shape 33"/>
          <p:cNvSpPr/>
          <p:nvPr/>
        </p:nvSpPr>
        <p:spPr>
          <a:xfrm>
            <a:off x="6747906" y="2557028"/>
            <a:ext cx="4783409" cy="6309"/>
          </a:xfrm>
          <a:prstGeom prst="rect">
            <a:avLst/>
          </a:prstGeom>
          <a:solidFill>
            <a:srgbClr val="E3E6EA"/>
          </a:solidFill>
          <a:ln/>
        </p:spPr>
      </p:sp>
      <p:sp>
        <p:nvSpPr>
          <p:cNvPr id="36" name="Text 34"/>
          <p:cNvSpPr txBox="1"/>
          <p:nvPr/>
        </p:nvSpPr>
        <p:spPr>
          <a:xfrm>
            <a:off x="6887627" y="2660904"/>
            <a:ext cx="422562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Định danh merchant; VNPAY chọn đúng khóa kiểm tra chữ ký</a:t>
            </a:r>
            <a:endParaRPr lang="en-US" sz="1150" dirty="0"/>
          </a:p>
        </p:txBody>
      </p:sp>
      <p:sp>
        <p:nvSpPr>
          <p:cNvPr id="37" name="Shape 35"/>
          <p:cNvSpPr/>
          <p:nvPr/>
        </p:nvSpPr>
        <p:spPr>
          <a:xfrm>
            <a:off x="660380" y="2950677"/>
            <a:ext cx="2065355" cy="6309"/>
          </a:xfrm>
          <a:prstGeom prst="rect">
            <a:avLst/>
          </a:prstGeom>
          <a:solidFill>
            <a:srgbClr val="E3E6EA"/>
          </a:solidFill>
          <a:ln/>
        </p:spPr>
      </p:sp>
      <p:sp>
        <p:nvSpPr>
          <p:cNvPr id="38" name="Text 36"/>
          <p:cNvSpPr txBox="1"/>
          <p:nvPr/>
        </p:nvSpPr>
        <p:spPr>
          <a:xfrm>
            <a:off x="800100" y="3052633"/>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vnp_TxnRef</a:t>
            </a:r>
            <a:endParaRPr lang="en-US" sz="1200" dirty="0"/>
          </a:p>
        </p:txBody>
      </p:sp>
      <p:sp>
        <p:nvSpPr>
          <p:cNvPr id="39" name="Shape 37"/>
          <p:cNvSpPr/>
          <p:nvPr/>
        </p:nvSpPr>
        <p:spPr>
          <a:xfrm>
            <a:off x="2725735" y="2950677"/>
            <a:ext cx="2065355" cy="6309"/>
          </a:xfrm>
          <a:prstGeom prst="rect">
            <a:avLst/>
          </a:prstGeom>
          <a:solidFill>
            <a:srgbClr val="E3E6EA"/>
          </a:solidFill>
          <a:ln/>
        </p:spPr>
      </p:sp>
      <p:sp>
        <p:nvSpPr>
          <p:cNvPr id="40" name="Text 38"/>
          <p:cNvSpPr txBox="1"/>
          <p:nvPr/>
        </p:nvSpPr>
        <p:spPr>
          <a:xfrm>
            <a:off x="2865455" y="3054645"/>
            <a:ext cx="141997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Alphanumeric[1,100]</a:t>
            </a:r>
            <a:endParaRPr lang="en-US" sz="1150" dirty="0"/>
          </a:p>
        </p:txBody>
      </p:sp>
      <p:sp>
        <p:nvSpPr>
          <p:cNvPr id="41" name="Shape 39"/>
          <p:cNvSpPr/>
          <p:nvPr/>
        </p:nvSpPr>
        <p:spPr>
          <a:xfrm>
            <a:off x="4791182" y="2950677"/>
            <a:ext cx="1956725" cy="6309"/>
          </a:xfrm>
          <a:prstGeom prst="rect">
            <a:avLst/>
          </a:prstGeom>
          <a:solidFill>
            <a:srgbClr val="E3E6EA"/>
          </a:solidFill>
          <a:ln/>
        </p:spPr>
      </p:sp>
      <p:sp>
        <p:nvSpPr>
          <p:cNvPr id="42" name="Text 40"/>
          <p:cNvSpPr txBox="1"/>
          <p:nvPr/>
        </p:nvSpPr>
        <p:spPr>
          <a:xfrm>
            <a:off x="4930811" y="3054645"/>
            <a:ext cx="100181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UUID 32 ký tự</a:t>
            </a:r>
            <a:endParaRPr lang="en-US" sz="1150" dirty="0"/>
          </a:p>
        </p:txBody>
      </p:sp>
      <p:sp>
        <p:nvSpPr>
          <p:cNvPr id="43" name="Shape 41"/>
          <p:cNvSpPr/>
          <p:nvPr/>
        </p:nvSpPr>
        <p:spPr>
          <a:xfrm>
            <a:off x="6747906" y="2950677"/>
            <a:ext cx="4783409" cy="6309"/>
          </a:xfrm>
          <a:prstGeom prst="rect">
            <a:avLst/>
          </a:prstGeom>
          <a:solidFill>
            <a:srgbClr val="E3E6EA"/>
          </a:solidFill>
          <a:ln/>
        </p:spPr>
      </p:sp>
      <p:sp>
        <p:nvSpPr>
          <p:cNvPr id="44" name="Text 42"/>
          <p:cNvSpPr txBox="1"/>
          <p:nvPr/>
        </p:nvSpPr>
        <p:spPr>
          <a:xfrm>
            <a:off x="6887627" y="3054645"/>
            <a:ext cx="401010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giao dịch phía merchant; VNPAY trả lại khi báo kết quả</a:t>
            </a:r>
            <a:endParaRPr lang="en-US" sz="1150" dirty="0"/>
          </a:p>
        </p:txBody>
      </p:sp>
      <p:sp>
        <p:nvSpPr>
          <p:cNvPr id="45" name="Shape 43"/>
          <p:cNvSpPr/>
          <p:nvPr/>
        </p:nvSpPr>
        <p:spPr>
          <a:xfrm>
            <a:off x="660380" y="3344418"/>
            <a:ext cx="2065355" cy="6309"/>
          </a:xfrm>
          <a:prstGeom prst="rect">
            <a:avLst/>
          </a:prstGeom>
          <a:solidFill>
            <a:srgbClr val="E3E6EA"/>
          </a:solidFill>
          <a:ln/>
        </p:spPr>
      </p:sp>
      <p:sp>
        <p:nvSpPr>
          <p:cNvPr id="46" name="Text 44"/>
          <p:cNvSpPr txBox="1"/>
          <p:nvPr/>
        </p:nvSpPr>
        <p:spPr>
          <a:xfrm>
            <a:off x="800100" y="3446374"/>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vnp_Amount</a:t>
            </a:r>
            <a:endParaRPr lang="en-US" sz="1200" dirty="0"/>
          </a:p>
        </p:txBody>
      </p:sp>
      <p:sp>
        <p:nvSpPr>
          <p:cNvPr id="47" name="Shape 45"/>
          <p:cNvSpPr/>
          <p:nvPr/>
        </p:nvSpPr>
        <p:spPr>
          <a:xfrm>
            <a:off x="2725735" y="3344418"/>
            <a:ext cx="2065355" cy="6309"/>
          </a:xfrm>
          <a:prstGeom prst="rect">
            <a:avLst/>
          </a:prstGeom>
          <a:solidFill>
            <a:srgbClr val="E3E6EA"/>
          </a:solidFill>
          <a:ln/>
        </p:spPr>
      </p:sp>
      <p:sp>
        <p:nvSpPr>
          <p:cNvPr id="48" name="Text 46"/>
          <p:cNvSpPr txBox="1"/>
          <p:nvPr/>
        </p:nvSpPr>
        <p:spPr>
          <a:xfrm>
            <a:off x="2865455" y="3448294"/>
            <a:ext cx="98535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Numeric[1,12]</a:t>
            </a:r>
            <a:endParaRPr lang="en-US" sz="1150" dirty="0"/>
          </a:p>
        </p:txBody>
      </p:sp>
      <p:sp>
        <p:nvSpPr>
          <p:cNvPr id="49" name="Shape 47"/>
          <p:cNvSpPr/>
          <p:nvPr/>
        </p:nvSpPr>
        <p:spPr>
          <a:xfrm>
            <a:off x="4791182" y="3344418"/>
            <a:ext cx="1956725" cy="6309"/>
          </a:xfrm>
          <a:prstGeom prst="rect">
            <a:avLst/>
          </a:prstGeom>
          <a:solidFill>
            <a:srgbClr val="E3E6EA"/>
          </a:solidFill>
          <a:ln/>
        </p:spPr>
      </p:sp>
      <p:sp>
        <p:nvSpPr>
          <p:cNvPr id="50" name="Text 48"/>
          <p:cNvSpPr txBox="1"/>
          <p:nvPr/>
        </p:nvSpPr>
        <p:spPr>
          <a:xfrm>
            <a:off x="4930811" y="3446374"/>
            <a:ext cx="71643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2500000</a:t>
            </a:r>
            <a:endParaRPr lang="en-US" sz="1200" dirty="0"/>
          </a:p>
        </p:txBody>
      </p:sp>
      <p:sp>
        <p:nvSpPr>
          <p:cNvPr id="51" name="Shape 49"/>
          <p:cNvSpPr/>
          <p:nvPr/>
        </p:nvSpPr>
        <p:spPr>
          <a:xfrm>
            <a:off x="6747906" y="3344418"/>
            <a:ext cx="4783409" cy="6309"/>
          </a:xfrm>
          <a:prstGeom prst="rect">
            <a:avLst/>
          </a:prstGeom>
          <a:solidFill>
            <a:srgbClr val="E3E6EA"/>
          </a:solidFill>
          <a:ln/>
        </p:spPr>
      </p:sp>
      <p:sp>
        <p:nvSpPr>
          <p:cNvPr id="52" name="Text 50"/>
          <p:cNvSpPr txBox="1"/>
          <p:nvPr/>
        </p:nvSpPr>
        <p:spPr>
          <a:xfrm>
            <a:off x="6887627" y="3448294"/>
            <a:ext cx="236262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Số tiền × 100, bảo đảm số nguyên</a:t>
            </a:r>
            <a:endParaRPr lang="en-US" sz="1150" dirty="0"/>
          </a:p>
        </p:txBody>
      </p:sp>
      <p:sp>
        <p:nvSpPr>
          <p:cNvPr id="53" name="Shape 51"/>
          <p:cNvSpPr/>
          <p:nvPr/>
        </p:nvSpPr>
        <p:spPr>
          <a:xfrm>
            <a:off x="660380" y="3738067"/>
            <a:ext cx="2065355" cy="6309"/>
          </a:xfrm>
          <a:prstGeom prst="rect">
            <a:avLst/>
          </a:prstGeom>
          <a:solidFill>
            <a:srgbClr val="E3E6EA"/>
          </a:solidFill>
          <a:ln/>
        </p:spPr>
      </p:sp>
      <p:sp>
        <p:nvSpPr>
          <p:cNvPr id="54" name="Text 52"/>
          <p:cNvSpPr txBox="1"/>
          <p:nvPr/>
        </p:nvSpPr>
        <p:spPr>
          <a:xfrm>
            <a:off x="800100" y="3840023"/>
            <a:ext cx="117363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vnp_CurrCode</a:t>
            </a:r>
            <a:endParaRPr lang="en-US" sz="1200" dirty="0"/>
          </a:p>
        </p:txBody>
      </p:sp>
      <p:sp>
        <p:nvSpPr>
          <p:cNvPr id="55" name="Shape 53"/>
          <p:cNvSpPr/>
          <p:nvPr/>
        </p:nvSpPr>
        <p:spPr>
          <a:xfrm>
            <a:off x="2725735" y="3738067"/>
            <a:ext cx="2065355" cy="6309"/>
          </a:xfrm>
          <a:prstGeom prst="rect">
            <a:avLst/>
          </a:prstGeom>
          <a:solidFill>
            <a:srgbClr val="E3E6EA"/>
          </a:solidFill>
          <a:ln/>
        </p:spPr>
      </p:sp>
      <p:sp>
        <p:nvSpPr>
          <p:cNvPr id="56" name="Text 54"/>
          <p:cNvSpPr txBox="1"/>
          <p:nvPr/>
        </p:nvSpPr>
        <p:spPr>
          <a:xfrm>
            <a:off x="2865455" y="3842034"/>
            <a:ext cx="61219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Alpha[3]</a:t>
            </a:r>
            <a:endParaRPr lang="en-US" sz="1150" dirty="0"/>
          </a:p>
        </p:txBody>
      </p:sp>
      <p:sp>
        <p:nvSpPr>
          <p:cNvPr id="57" name="Shape 55"/>
          <p:cNvSpPr/>
          <p:nvPr/>
        </p:nvSpPr>
        <p:spPr>
          <a:xfrm>
            <a:off x="4791182" y="3738067"/>
            <a:ext cx="1956725" cy="6309"/>
          </a:xfrm>
          <a:prstGeom prst="rect">
            <a:avLst/>
          </a:prstGeom>
          <a:solidFill>
            <a:srgbClr val="E3E6EA"/>
          </a:solidFill>
          <a:ln/>
        </p:spPr>
      </p:sp>
      <p:sp>
        <p:nvSpPr>
          <p:cNvPr id="58" name="Text 56"/>
          <p:cNvSpPr txBox="1"/>
          <p:nvPr/>
        </p:nvSpPr>
        <p:spPr>
          <a:xfrm>
            <a:off x="4930811" y="3840023"/>
            <a:ext cx="35067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VND</a:t>
            </a:r>
            <a:endParaRPr lang="en-US" sz="1200" dirty="0"/>
          </a:p>
        </p:txBody>
      </p:sp>
      <p:sp>
        <p:nvSpPr>
          <p:cNvPr id="59" name="Shape 57"/>
          <p:cNvSpPr/>
          <p:nvPr/>
        </p:nvSpPr>
        <p:spPr>
          <a:xfrm>
            <a:off x="6747906" y="3738067"/>
            <a:ext cx="4783409" cy="6309"/>
          </a:xfrm>
          <a:prstGeom prst="rect">
            <a:avLst/>
          </a:prstGeom>
          <a:solidFill>
            <a:srgbClr val="E3E6EA"/>
          </a:solidFill>
          <a:ln/>
        </p:spPr>
      </p:sp>
      <p:sp>
        <p:nvSpPr>
          <p:cNvPr id="60" name="Text 58"/>
          <p:cNvSpPr txBox="1"/>
          <p:nvPr/>
        </p:nvSpPr>
        <p:spPr>
          <a:xfrm>
            <a:off x="6887627" y="3842034"/>
            <a:ext cx="208720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Đơn vị tiền tệ (chỉ hỗ trợ VND)</a:t>
            </a:r>
            <a:endParaRPr lang="en-US" sz="1150" dirty="0"/>
          </a:p>
        </p:txBody>
      </p:sp>
      <p:sp>
        <p:nvSpPr>
          <p:cNvPr id="61" name="Text 59"/>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62" name="Text 60"/>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43829"/>
            <a:ext cx="9301002"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Tham số yêu cầu thanh toán (2/3): mô tả đơn hàng</a:t>
            </a:r>
            <a:endParaRPr lang="en-US" sz="3000" dirty="0"/>
          </a:p>
        </p:txBody>
      </p:sp>
      <p:sp>
        <p:nvSpPr>
          <p:cNvPr id="4" name="Shape 2"/>
          <p:cNvSpPr/>
          <p:nvPr/>
        </p:nvSpPr>
        <p:spPr>
          <a:xfrm>
            <a:off x="660380" y="1347368"/>
            <a:ext cx="10870936" cy="2197029"/>
          </a:xfrm>
          <a:prstGeom prst="roundRect">
            <a:avLst>
              <a:gd name="adj" fmla="val 4624"/>
            </a:avLst>
          </a:prstGeom>
          <a:solidFill>
            <a:srgbClr val="FFFFFF"/>
          </a:solidFill>
          <a:ln/>
        </p:spPr>
      </p:sp>
      <p:sp>
        <p:nvSpPr>
          <p:cNvPr id="5" name="Shape 3"/>
          <p:cNvSpPr/>
          <p:nvPr/>
        </p:nvSpPr>
        <p:spPr>
          <a:xfrm>
            <a:off x="660380" y="1347368"/>
            <a:ext cx="2500244" cy="422270"/>
          </a:xfrm>
          <a:prstGeom prst="rect">
            <a:avLst/>
          </a:prstGeom>
          <a:solidFill>
            <a:srgbClr val="ECF2FF"/>
          </a:solidFill>
          <a:ln/>
        </p:spPr>
      </p:sp>
      <p:sp>
        <p:nvSpPr>
          <p:cNvPr id="6" name="Text 4"/>
          <p:cNvSpPr txBox="1"/>
          <p:nvPr/>
        </p:nvSpPr>
        <p:spPr>
          <a:xfrm>
            <a:off x="825520" y="1479408"/>
            <a:ext cx="70619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THAM SỐ</a:t>
            </a:r>
            <a:endParaRPr lang="en-US" sz="1000" dirty="0"/>
          </a:p>
        </p:txBody>
      </p:sp>
      <p:sp>
        <p:nvSpPr>
          <p:cNvPr id="7" name="Shape 5"/>
          <p:cNvSpPr/>
          <p:nvPr/>
        </p:nvSpPr>
        <p:spPr>
          <a:xfrm>
            <a:off x="3160624" y="1347368"/>
            <a:ext cx="2065355" cy="422270"/>
          </a:xfrm>
          <a:prstGeom prst="rect">
            <a:avLst/>
          </a:prstGeom>
          <a:solidFill>
            <a:srgbClr val="ECF2FF"/>
          </a:solidFill>
          <a:ln/>
        </p:spPr>
      </p:sp>
      <p:sp>
        <p:nvSpPr>
          <p:cNvPr id="8" name="Text 6"/>
          <p:cNvSpPr txBox="1"/>
          <p:nvPr/>
        </p:nvSpPr>
        <p:spPr>
          <a:xfrm>
            <a:off x="3325764" y="1479408"/>
            <a:ext cx="101278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KIỂU DỮ LIỆU</a:t>
            </a:r>
            <a:endParaRPr lang="en-US" sz="1000" dirty="0"/>
          </a:p>
        </p:txBody>
      </p:sp>
      <p:sp>
        <p:nvSpPr>
          <p:cNvPr id="9" name="Shape 7"/>
          <p:cNvSpPr/>
          <p:nvPr/>
        </p:nvSpPr>
        <p:spPr>
          <a:xfrm>
            <a:off x="5225979" y="1347368"/>
            <a:ext cx="2391522" cy="422270"/>
          </a:xfrm>
          <a:prstGeom prst="rect">
            <a:avLst/>
          </a:prstGeom>
          <a:solidFill>
            <a:srgbClr val="ECF2FF"/>
          </a:solidFill>
          <a:ln/>
        </p:spPr>
      </p:sp>
      <p:sp>
        <p:nvSpPr>
          <p:cNvPr id="10" name="Text 8"/>
          <p:cNvSpPr txBox="1"/>
          <p:nvPr/>
        </p:nvSpPr>
        <p:spPr>
          <a:xfrm>
            <a:off x="5391120" y="1479408"/>
            <a:ext cx="103436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GIÁ TRỊ DEMO</a:t>
            </a:r>
            <a:endParaRPr lang="en-US" sz="1000" dirty="0"/>
          </a:p>
        </p:txBody>
      </p:sp>
      <p:sp>
        <p:nvSpPr>
          <p:cNvPr id="11" name="Shape 9"/>
          <p:cNvSpPr/>
          <p:nvPr/>
        </p:nvSpPr>
        <p:spPr>
          <a:xfrm>
            <a:off x="7617501" y="1347368"/>
            <a:ext cx="3913815" cy="422270"/>
          </a:xfrm>
          <a:prstGeom prst="rect">
            <a:avLst/>
          </a:prstGeom>
          <a:solidFill>
            <a:srgbClr val="ECF2FF"/>
          </a:solidFill>
          <a:ln/>
        </p:spPr>
      </p:sp>
      <p:sp>
        <p:nvSpPr>
          <p:cNvPr id="12" name="Text 10"/>
          <p:cNvSpPr txBox="1"/>
          <p:nvPr/>
        </p:nvSpPr>
        <p:spPr>
          <a:xfrm>
            <a:off x="7782641" y="1479408"/>
            <a:ext cx="76197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MỤC ĐÍCH</a:t>
            </a:r>
            <a:endParaRPr lang="en-US" sz="1000" dirty="0"/>
          </a:p>
        </p:txBody>
      </p:sp>
      <p:sp>
        <p:nvSpPr>
          <p:cNvPr id="13" name="Shape 11"/>
          <p:cNvSpPr/>
          <p:nvPr/>
        </p:nvSpPr>
        <p:spPr>
          <a:xfrm>
            <a:off x="660380" y="1769638"/>
            <a:ext cx="2500244" cy="6309"/>
          </a:xfrm>
          <a:prstGeom prst="rect">
            <a:avLst/>
          </a:prstGeom>
          <a:solidFill>
            <a:srgbClr val="E3E6EA"/>
          </a:solidFill>
          <a:ln/>
        </p:spPr>
      </p:sp>
      <p:sp>
        <p:nvSpPr>
          <p:cNvPr id="14" name="Text 12"/>
          <p:cNvSpPr txBox="1"/>
          <p:nvPr/>
        </p:nvSpPr>
        <p:spPr>
          <a:xfrm>
            <a:off x="800100" y="1871594"/>
            <a:ext cx="126507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vnp_OrderInfo</a:t>
            </a:r>
            <a:endParaRPr lang="en-US" sz="1200" dirty="0"/>
          </a:p>
        </p:txBody>
      </p:sp>
      <p:sp>
        <p:nvSpPr>
          <p:cNvPr id="15" name="Shape 13"/>
          <p:cNvSpPr/>
          <p:nvPr/>
        </p:nvSpPr>
        <p:spPr>
          <a:xfrm>
            <a:off x="3160624" y="1769638"/>
            <a:ext cx="2065355" cy="6309"/>
          </a:xfrm>
          <a:prstGeom prst="rect">
            <a:avLst/>
          </a:prstGeom>
          <a:solidFill>
            <a:srgbClr val="E3E6EA"/>
          </a:solidFill>
          <a:ln/>
        </p:spPr>
      </p:sp>
      <p:sp>
        <p:nvSpPr>
          <p:cNvPr id="16" name="Text 14"/>
          <p:cNvSpPr txBox="1"/>
          <p:nvPr/>
        </p:nvSpPr>
        <p:spPr>
          <a:xfrm>
            <a:off x="3300344" y="1873606"/>
            <a:ext cx="141997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Alphanumeric[1,255]</a:t>
            </a:r>
            <a:endParaRPr lang="en-US" sz="1150" dirty="0"/>
          </a:p>
        </p:txBody>
      </p:sp>
      <p:sp>
        <p:nvSpPr>
          <p:cNvPr id="17" name="Shape 15"/>
          <p:cNvSpPr/>
          <p:nvPr/>
        </p:nvSpPr>
        <p:spPr>
          <a:xfrm>
            <a:off x="5225979" y="1769638"/>
            <a:ext cx="2391522" cy="6309"/>
          </a:xfrm>
          <a:prstGeom prst="rect">
            <a:avLst/>
          </a:prstGeom>
          <a:solidFill>
            <a:srgbClr val="E3E6EA"/>
          </a:solidFill>
          <a:ln/>
        </p:spPr>
      </p:sp>
      <p:sp>
        <p:nvSpPr>
          <p:cNvPr id="18" name="Text 16"/>
          <p:cNvSpPr txBox="1"/>
          <p:nvPr/>
        </p:nvSpPr>
        <p:spPr>
          <a:xfrm>
            <a:off x="5365699" y="1871594"/>
            <a:ext cx="2229673"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Thanh toan don hang mau</a:t>
            </a:r>
            <a:endParaRPr lang="en-US" sz="1200" dirty="0"/>
          </a:p>
        </p:txBody>
      </p:sp>
      <p:sp>
        <p:nvSpPr>
          <p:cNvPr id="19" name="Shape 17"/>
          <p:cNvSpPr/>
          <p:nvPr/>
        </p:nvSpPr>
        <p:spPr>
          <a:xfrm>
            <a:off x="7617501" y="1769638"/>
            <a:ext cx="3913815" cy="6309"/>
          </a:xfrm>
          <a:prstGeom prst="rect">
            <a:avLst/>
          </a:prstGeom>
          <a:solidFill>
            <a:srgbClr val="E3E6EA"/>
          </a:solidFill>
          <a:ln/>
        </p:spPr>
      </p:sp>
      <p:sp>
        <p:nvSpPr>
          <p:cNvPr id="20" name="Text 18"/>
          <p:cNvSpPr txBox="1"/>
          <p:nvPr/>
        </p:nvSpPr>
        <p:spPr>
          <a:xfrm>
            <a:off x="7757221" y="1873606"/>
            <a:ext cx="321155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Nội dung hiển thị trên trang VNPAY; không dấu</a:t>
            </a:r>
            <a:endParaRPr lang="en-US" sz="1150" dirty="0"/>
          </a:p>
        </p:txBody>
      </p:sp>
      <p:sp>
        <p:nvSpPr>
          <p:cNvPr id="21" name="Shape 19"/>
          <p:cNvSpPr/>
          <p:nvPr/>
        </p:nvSpPr>
        <p:spPr>
          <a:xfrm>
            <a:off x="660380" y="2163288"/>
            <a:ext cx="2500244" cy="6309"/>
          </a:xfrm>
          <a:prstGeom prst="rect">
            <a:avLst/>
          </a:prstGeom>
          <a:solidFill>
            <a:srgbClr val="E3E6EA"/>
          </a:solidFill>
          <a:ln/>
        </p:spPr>
      </p:sp>
      <p:sp>
        <p:nvSpPr>
          <p:cNvPr id="22" name="Text 20"/>
          <p:cNvSpPr txBox="1"/>
          <p:nvPr/>
        </p:nvSpPr>
        <p:spPr>
          <a:xfrm>
            <a:off x="800100" y="2265335"/>
            <a:ext cx="126507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vnp_OrderType</a:t>
            </a:r>
            <a:endParaRPr lang="en-US" sz="1200" dirty="0"/>
          </a:p>
        </p:txBody>
      </p:sp>
      <p:sp>
        <p:nvSpPr>
          <p:cNvPr id="23" name="Shape 21"/>
          <p:cNvSpPr/>
          <p:nvPr/>
        </p:nvSpPr>
        <p:spPr>
          <a:xfrm>
            <a:off x="3160624" y="2163288"/>
            <a:ext cx="2065355" cy="6309"/>
          </a:xfrm>
          <a:prstGeom prst="rect">
            <a:avLst/>
          </a:prstGeom>
          <a:solidFill>
            <a:srgbClr val="E3E6EA"/>
          </a:solidFill>
          <a:ln/>
        </p:spPr>
      </p:sp>
      <p:sp>
        <p:nvSpPr>
          <p:cNvPr id="24" name="Text 22"/>
          <p:cNvSpPr txBox="1"/>
          <p:nvPr/>
        </p:nvSpPr>
        <p:spPr>
          <a:xfrm>
            <a:off x="3300344" y="2267255"/>
            <a:ext cx="89638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Alpha[1,100]</a:t>
            </a:r>
            <a:endParaRPr lang="en-US" sz="1150" dirty="0"/>
          </a:p>
        </p:txBody>
      </p:sp>
      <p:sp>
        <p:nvSpPr>
          <p:cNvPr id="25" name="Shape 23"/>
          <p:cNvSpPr/>
          <p:nvPr/>
        </p:nvSpPr>
        <p:spPr>
          <a:xfrm>
            <a:off x="5225979" y="2163288"/>
            <a:ext cx="2391522" cy="6309"/>
          </a:xfrm>
          <a:prstGeom prst="rect">
            <a:avLst/>
          </a:prstGeom>
          <a:solidFill>
            <a:srgbClr val="E3E6EA"/>
          </a:solidFill>
          <a:ln/>
        </p:spPr>
      </p:sp>
      <p:sp>
        <p:nvSpPr>
          <p:cNvPr id="26" name="Text 24"/>
          <p:cNvSpPr txBox="1"/>
          <p:nvPr/>
        </p:nvSpPr>
        <p:spPr>
          <a:xfrm>
            <a:off x="5365699" y="2265335"/>
            <a:ext cx="53346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other</a:t>
            </a:r>
            <a:endParaRPr lang="en-US" sz="1200" dirty="0"/>
          </a:p>
        </p:txBody>
      </p:sp>
      <p:sp>
        <p:nvSpPr>
          <p:cNvPr id="27" name="Shape 25"/>
          <p:cNvSpPr/>
          <p:nvPr/>
        </p:nvSpPr>
        <p:spPr>
          <a:xfrm>
            <a:off x="7617501" y="2163288"/>
            <a:ext cx="3913815" cy="6309"/>
          </a:xfrm>
          <a:prstGeom prst="rect">
            <a:avLst/>
          </a:prstGeom>
          <a:solidFill>
            <a:srgbClr val="E3E6EA"/>
          </a:solidFill>
          <a:ln/>
        </p:spPr>
      </p:sp>
      <p:sp>
        <p:nvSpPr>
          <p:cNvPr id="28" name="Text 26"/>
          <p:cNvSpPr txBox="1"/>
          <p:nvPr/>
        </p:nvSpPr>
        <p:spPr>
          <a:xfrm>
            <a:off x="7757221" y="2267255"/>
            <a:ext cx="119676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loại hàng hóa</a:t>
            </a:r>
            <a:endParaRPr lang="en-US" sz="1150" dirty="0"/>
          </a:p>
        </p:txBody>
      </p:sp>
      <p:sp>
        <p:nvSpPr>
          <p:cNvPr id="29" name="Shape 27"/>
          <p:cNvSpPr/>
          <p:nvPr/>
        </p:nvSpPr>
        <p:spPr>
          <a:xfrm>
            <a:off x="660380" y="2557028"/>
            <a:ext cx="2500244" cy="6309"/>
          </a:xfrm>
          <a:prstGeom prst="rect">
            <a:avLst/>
          </a:prstGeom>
          <a:solidFill>
            <a:srgbClr val="E3E6EA"/>
          </a:solidFill>
          <a:ln/>
        </p:spPr>
      </p:sp>
      <p:sp>
        <p:nvSpPr>
          <p:cNvPr id="30" name="Text 28"/>
          <p:cNvSpPr txBox="1"/>
          <p:nvPr/>
        </p:nvSpPr>
        <p:spPr>
          <a:xfrm>
            <a:off x="800100" y="2658984"/>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vnp_Locale</a:t>
            </a:r>
            <a:endParaRPr lang="en-US" sz="1200" dirty="0"/>
          </a:p>
        </p:txBody>
      </p:sp>
      <p:sp>
        <p:nvSpPr>
          <p:cNvPr id="31" name="Shape 29"/>
          <p:cNvSpPr/>
          <p:nvPr/>
        </p:nvSpPr>
        <p:spPr>
          <a:xfrm>
            <a:off x="3160624" y="2557028"/>
            <a:ext cx="2065355" cy="6309"/>
          </a:xfrm>
          <a:prstGeom prst="rect">
            <a:avLst/>
          </a:prstGeom>
          <a:solidFill>
            <a:srgbClr val="E3E6EA"/>
          </a:solidFill>
          <a:ln/>
        </p:spPr>
      </p:sp>
      <p:sp>
        <p:nvSpPr>
          <p:cNvPr id="32" name="Text 30"/>
          <p:cNvSpPr txBox="1"/>
          <p:nvPr/>
        </p:nvSpPr>
        <p:spPr>
          <a:xfrm>
            <a:off x="3300344" y="2660904"/>
            <a:ext cx="73398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Alpha[2,5]</a:t>
            </a:r>
            <a:endParaRPr lang="en-US" sz="1150" dirty="0"/>
          </a:p>
        </p:txBody>
      </p:sp>
      <p:sp>
        <p:nvSpPr>
          <p:cNvPr id="33" name="Shape 31"/>
          <p:cNvSpPr/>
          <p:nvPr/>
        </p:nvSpPr>
        <p:spPr>
          <a:xfrm>
            <a:off x="5225979" y="2557028"/>
            <a:ext cx="2391522" cy="6309"/>
          </a:xfrm>
          <a:prstGeom prst="rect">
            <a:avLst/>
          </a:prstGeom>
          <a:solidFill>
            <a:srgbClr val="E3E6EA"/>
          </a:solidFill>
          <a:ln/>
        </p:spPr>
      </p:sp>
      <p:sp>
        <p:nvSpPr>
          <p:cNvPr id="34" name="Text 32"/>
          <p:cNvSpPr txBox="1"/>
          <p:nvPr/>
        </p:nvSpPr>
        <p:spPr>
          <a:xfrm>
            <a:off x="5365699" y="2658984"/>
            <a:ext cx="25914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vn</a:t>
            </a:r>
            <a:endParaRPr lang="en-US" sz="1200" dirty="0"/>
          </a:p>
        </p:txBody>
      </p:sp>
      <p:sp>
        <p:nvSpPr>
          <p:cNvPr id="35" name="Shape 33"/>
          <p:cNvSpPr/>
          <p:nvPr/>
        </p:nvSpPr>
        <p:spPr>
          <a:xfrm>
            <a:off x="7617501" y="2557028"/>
            <a:ext cx="3913815" cy="6309"/>
          </a:xfrm>
          <a:prstGeom prst="rect">
            <a:avLst/>
          </a:prstGeom>
          <a:solidFill>
            <a:srgbClr val="E3E6EA"/>
          </a:solidFill>
          <a:ln/>
        </p:spPr>
      </p:sp>
      <p:sp>
        <p:nvSpPr>
          <p:cNvPr id="36" name="Text 34"/>
          <p:cNvSpPr txBox="1"/>
          <p:nvPr/>
        </p:nvSpPr>
        <p:spPr>
          <a:xfrm>
            <a:off x="7757221" y="2660904"/>
            <a:ext cx="185961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Ngôn ngữ trang thanh toán</a:t>
            </a:r>
            <a:endParaRPr lang="en-US" sz="1150" dirty="0"/>
          </a:p>
        </p:txBody>
      </p:sp>
      <p:sp>
        <p:nvSpPr>
          <p:cNvPr id="37" name="Shape 35"/>
          <p:cNvSpPr/>
          <p:nvPr/>
        </p:nvSpPr>
        <p:spPr>
          <a:xfrm>
            <a:off x="660380" y="2950677"/>
            <a:ext cx="2500244" cy="6309"/>
          </a:xfrm>
          <a:prstGeom prst="rect">
            <a:avLst/>
          </a:prstGeom>
          <a:solidFill>
            <a:srgbClr val="E3E6EA"/>
          </a:solidFill>
          <a:ln/>
        </p:spPr>
      </p:sp>
      <p:sp>
        <p:nvSpPr>
          <p:cNvPr id="38" name="Text 36"/>
          <p:cNvSpPr txBox="1"/>
          <p:nvPr/>
        </p:nvSpPr>
        <p:spPr>
          <a:xfrm>
            <a:off x="800100" y="3147913"/>
            <a:ext cx="1954439"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vnp_BankCode</a:t>
            </a:r>
            <a:pPr algn="l" indent="0" marL="0">
              <a:buNone/>
            </a:pPr>
            <a:r>
              <a:rPr lang="en-US" sz="1150" b="1" dirty="0">
                <a:solidFill>
                  <a:srgbClr val="111111"/>
                </a:solidFill>
                <a:latin typeface="Arial" pitchFamily="34" charset="0"/>
                <a:ea typeface="Arial" pitchFamily="34" charset="-122"/>
                <a:cs typeface="Arial" pitchFamily="34" charset="-120"/>
              </a:rPr>
              <a:t> (tùy chọn)</a:t>
            </a:r>
            <a:endParaRPr lang="en-US" sz="1200" dirty="0"/>
          </a:p>
        </p:txBody>
      </p:sp>
      <p:sp>
        <p:nvSpPr>
          <p:cNvPr id="39" name="Shape 37"/>
          <p:cNvSpPr/>
          <p:nvPr/>
        </p:nvSpPr>
        <p:spPr>
          <a:xfrm>
            <a:off x="3160624" y="2950677"/>
            <a:ext cx="2065355" cy="6309"/>
          </a:xfrm>
          <a:prstGeom prst="rect">
            <a:avLst/>
          </a:prstGeom>
          <a:solidFill>
            <a:srgbClr val="E3E6EA"/>
          </a:solidFill>
          <a:ln/>
        </p:spPr>
      </p:sp>
      <p:sp>
        <p:nvSpPr>
          <p:cNvPr id="40" name="Text 38"/>
          <p:cNvSpPr txBox="1"/>
          <p:nvPr/>
        </p:nvSpPr>
        <p:spPr>
          <a:xfrm>
            <a:off x="3300344" y="3156234"/>
            <a:ext cx="133465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Alphanumeric[3,20]</a:t>
            </a:r>
            <a:endParaRPr lang="en-US" sz="1150" dirty="0"/>
          </a:p>
        </p:txBody>
      </p:sp>
      <p:sp>
        <p:nvSpPr>
          <p:cNvPr id="41" name="Shape 39"/>
          <p:cNvSpPr/>
          <p:nvPr/>
        </p:nvSpPr>
        <p:spPr>
          <a:xfrm>
            <a:off x="5225979" y="2950677"/>
            <a:ext cx="2391522" cy="6309"/>
          </a:xfrm>
          <a:prstGeom prst="rect">
            <a:avLst/>
          </a:prstGeom>
          <a:solidFill>
            <a:srgbClr val="E3E6EA"/>
          </a:solidFill>
          <a:ln/>
        </p:spPr>
      </p:sp>
      <p:sp>
        <p:nvSpPr>
          <p:cNvPr id="42" name="Text 40"/>
          <p:cNvSpPr txBox="1"/>
          <p:nvPr/>
        </p:nvSpPr>
        <p:spPr>
          <a:xfrm>
            <a:off x="5365699" y="3156234"/>
            <a:ext cx="72612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gửi</a:t>
            </a:r>
            <a:endParaRPr lang="en-US" sz="1150" dirty="0"/>
          </a:p>
        </p:txBody>
      </p:sp>
      <p:sp>
        <p:nvSpPr>
          <p:cNvPr id="43" name="Shape 41"/>
          <p:cNvSpPr/>
          <p:nvPr/>
        </p:nvSpPr>
        <p:spPr>
          <a:xfrm>
            <a:off x="7617501" y="2950677"/>
            <a:ext cx="3913815" cy="6309"/>
          </a:xfrm>
          <a:prstGeom prst="rect">
            <a:avLst/>
          </a:prstGeom>
          <a:solidFill>
            <a:srgbClr val="E3E6EA"/>
          </a:solidFill>
          <a:ln/>
        </p:spPr>
      </p:sp>
      <p:sp>
        <p:nvSpPr>
          <p:cNvPr id="44" name="Text 42"/>
          <p:cNvSpPr txBox="1"/>
          <p:nvPr/>
        </p:nvSpPr>
        <p:spPr>
          <a:xfrm>
            <a:off x="7757221" y="3029864"/>
            <a:ext cx="3743462" cy="493685"/>
          </a:xfrm>
          <a:prstGeom prst="rect">
            <a:avLst/>
          </a:prstGeom>
          <a:noFill/>
          <a:ln/>
        </p:spPr>
        <p:txBody>
          <a:bodyPr wrap="square" lIns="0" tIns="0" rIns="0" bIns="0" rtlCol="0" anchor="t"/>
          <a:lstStyle/>
          <a:p>
            <a:pPr algn="l" indent="0" marL="0">
              <a:lnSpc>
                <a:spcPts val="1730"/>
              </a:lnSpc>
              <a:buNone/>
            </a:pPr>
            <a:r>
              <a:rPr lang="en-US" sz="1150" dirty="0">
                <a:solidFill>
                  <a:srgbClr val="3F454D"/>
                </a:solidFill>
                <a:latin typeface="Arial" pitchFamily="34" charset="0"/>
                <a:ea typeface="Arial" pitchFamily="34" charset="-122"/>
                <a:cs typeface="Arial" pitchFamily="34" charset="-120"/>
              </a:rPr>
              <a:t>Chọn trước phương thức; không gửi thì khách hàng tự chọn</a:t>
            </a:r>
            <a:endParaRPr lang="en-US" sz="1150" dirty="0"/>
          </a:p>
        </p:txBody>
      </p:sp>
      <p:sp>
        <p:nvSpPr>
          <p:cNvPr id="45" name="Text 4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6" name="Text 4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72450"/>
            <a:ext cx="11197011" cy="1065459"/>
          </a:xfrm>
          <a:prstGeom prst="rect">
            <a:avLst/>
          </a:prstGeom>
          <a:noFill/>
          <a:ln/>
        </p:spPr>
        <p:txBody>
          <a:bodyPr wrap="square" lIns="0" tIns="0" rIns="0" bIns="0" rtlCol="0" anchor="t"/>
          <a:lstStyle/>
          <a:p>
            <a:pPr algn="l" indent="0" marL="0">
              <a:lnSpc>
                <a:spcPts val="3360"/>
              </a:lnSpc>
              <a:buNone/>
            </a:pPr>
            <a:r>
              <a:rPr lang="en-US" sz="3000" b="1" dirty="0">
                <a:solidFill>
                  <a:srgbClr val="111111"/>
                </a:solidFill>
                <a:latin typeface="Arial" pitchFamily="34" charset="0"/>
                <a:ea typeface="Arial" pitchFamily="34" charset="-122"/>
                <a:cs typeface="Arial" pitchFamily="34" charset="-120"/>
              </a:rPr>
              <a:t>Tham số yêu cầu thanh toán (3/3): thời gian, địa chỉ trả về, chữ ký</a:t>
            </a:r>
            <a:endParaRPr lang="en-US" sz="3000" dirty="0"/>
          </a:p>
        </p:txBody>
      </p:sp>
      <p:sp>
        <p:nvSpPr>
          <p:cNvPr id="4" name="Shape 2"/>
          <p:cNvSpPr/>
          <p:nvPr/>
        </p:nvSpPr>
        <p:spPr>
          <a:xfrm>
            <a:off x="660380" y="1774027"/>
            <a:ext cx="10870936" cy="2387498"/>
          </a:xfrm>
          <a:prstGeom prst="roundRect">
            <a:avLst>
              <a:gd name="adj" fmla="val 4255"/>
            </a:avLst>
          </a:prstGeom>
          <a:solidFill>
            <a:srgbClr val="FFFFFF"/>
          </a:solidFill>
          <a:ln/>
        </p:spPr>
      </p:sp>
      <p:sp>
        <p:nvSpPr>
          <p:cNvPr id="5" name="Shape 3"/>
          <p:cNvSpPr/>
          <p:nvPr/>
        </p:nvSpPr>
        <p:spPr>
          <a:xfrm>
            <a:off x="660380" y="1774027"/>
            <a:ext cx="2282891" cy="422270"/>
          </a:xfrm>
          <a:prstGeom prst="rect">
            <a:avLst/>
          </a:prstGeom>
          <a:solidFill>
            <a:srgbClr val="ECF2FF"/>
          </a:solidFill>
          <a:ln/>
        </p:spPr>
      </p:sp>
      <p:sp>
        <p:nvSpPr>
          <p:cNvPr id="6" name="Text 4"/>
          <p:cNvSpPr txBox="1"/>
          <p:nvPr/>
        </p:nvSpPr>
        <p:spPr>
          <a:xfrm>
            <a:off x="825520" y="1906067"/>
            <a:ext cx="70619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THAM SỐ</a:t>
            </a:r>
            <a:endParaRPr lang="en-US" sz="1000" dirty="0"/>
          </a:p>
        </p:txBody>
      </p:sp>
      <p:sp>
        <p:nvSpPr>
          <p:cNvPr id="7" name="Shape 5"/>
          <p:cNvSpPr/>
          <p:nvPr/>
        </p:nvSpPr>
        <p:spPr>
          <a:xfrm>
            <a:off x="2943271" y="1774027"/>
            <a:ext cx="2174169" cy="422270"/>
          </a:xfrm>
          <a:prstGeom prst="rect">
            <a:avLst/>
          </a:prstGeom>
          <a:solidFill>
            <a:srgbClr val="ECF2FF"/>
          </a:solidFill>
          <a:ln/>
        </p:spPr>
      </p:sp>
      <p:sp>
        <p:nvSpPr>
          <p:cNvPr id="8" name="Text 6"/>
          <p:cNvSpPr txBox="1"/>
          <p:nvPr/>
        </p:nvSpPr>
        <p:spPr>
          <a:xfrm>
            <a:off x="3108320" y="1906067"/>
            <a:ext cx="101278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KIỂU DỮ LIỆU</a:t>
            </a:r>
            <a:endParaRPr lang="en-US" sz="1000" dirty="0"/>
          </a:p>
        </p:txBody>
      </p:sp>
      <p:sp>
        <p:nvSpPr>
          <p:cNvPr id="9" name="Shape 7"/>
          <p:cNvSpPr/>
          <p:nvPr/>
        </p:nvSpPr>
        <p:spPr>
          <a:xfrm>
            <a:off x="5117348" y="1774027"/>
            <a:ext cx="2065355" cy="422270"/>
          </a:xfrm>
          <a:prstGeom prst="rect">
            <a:avLst/>
          </a:prstGeom>
          <a:solidFill>
            <a:srgbClr val="ECF2FF"/>
          </a:solidFill>
          <a:ln/>
        </p:spPr>
      </p:sp>
      <p:sp>
        <p:nvSpPr>
          <p:cNvPr id="10" name="Text 8"/>
          <p:cNvSpPr txBox="1"/>
          <p:nvPr/>
        </p:nvSpPr>
        <p:spPr>
          <a:xfrm>
            <a:off x="5282489" y="1906067"/>
            <a:ext cx="103436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GIÁ TRỊ DEMO</a:t>
            </a:r>
            <a:endParaRPr lang="en-US" sz="1000" dirty="0"/>
          </a:p>
        </p:txBody>
      </p:sp>
      <p:sp>
        <p:nvSpPr>
          <p:cNvPr id="11" name="Shape 9"/>
          <p:cNvSpPr/>
          <p:nvPr/>
        </p:nvSpPr>
        <p:spPr>
          <a:xfrm>
            <a:off x="7182795" y="1774027"/>
            <a:ext cx="4348521" cy="422270"/>
          </a:xfrm>
          <a:prstGeom prst="rect">
            <a:avLst/>
          </a:prstGeom>
          <a:solidFill>
            <a:srgbClr val="ECF2FF"/>
          </a:solidFill>
          <a:ln/>
        </p:spPr>
      </p:sp>
      <p:sp>
        <p:nvSpPr>
          <p:cNvPr id="12" name="Text 10"/>
          <p:cNvSpPr txBox="1"/>
          <p:nvPr/>
        </p:nvSpPr>
        <p:spPr>
          <a:xfrm>
            <a:off x="7347844" y="1906067"/>
            <a:ext cx="76197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MỤC ĐÍCH</a:t>
            </a:r>
            <a:endParaRPr lang="en-US" sz="1000" dirty="0"/>
          </a:p>
        </p:txBody>
      </p:sp>
      <p:sp>
        <p:nvSpPr>
          <p:cNvPr id="13" name="Shape 11"/>
          <p:cNvSpPr/>
          <p:nvPr/>
        </p:nvSpPr>
        <p:spPr>
          <a:xfrm>
            <a:off x="660380" y="2196206"/>
            <a:ext cx="2282891" cy="6309"/>
          </a:xfrm>
          <a:prstGeom prst="rect">
            <a:avLst/>
          </a:prstGeom>
          <a:solidFill>
            <a:srgbClr val="E3E6EA"/>
          </a:solidFill>
          <a:ln/>
        </p:spPr>
      </p:sp>
      <p:sp>
        <p:nvSpPr>
          <p:cNvPr id="14" name="Text 12"/>
          <p:cNvSpPr txBox="1"/>
          <p:nvPr/>
        </p:nvSpPr>
        <p:spPr>
          <a:xfrm>
            <a:off x="800100" y="2298253"/>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vnp_CreateDate</a:t>
            </a:r>
            <a:endParaRPr lang="en-US" sz="1200" dirty="0"/>
          </a:p>
        </p:txBody>
      </p:sp>
      <p:sp>
        <p:nvSpPr>
          <p:cNvPr id="15" name="Shape 13"/>
          <p:cNvSpPr/>
          <p:nvPr/>
        </p:nvSpPr>
        <p:spPr>
          <a:xfrm>
            <a:off x="2943271" y="2196206"/>
            <a:ext cx="2174169" cy="6309"/>
          </a:xfrm>
          <a:prstGeom prst="rect">
            <a:avLst/>
          </a:prstGeom>
          <a:solidFill>
            <a:srgbClr val="E3E6EA"/>
          </a:solidFill>
          <a:ln/>
        </p:spPr>
      </p:sp>
      <p:sp>
        <p:nvSpPr>
          <p:cNvPr id="16" name="Text 14"/>
          <p:cNvSpPr txBox="1"/>
          <p:nvPr/>
        </p:nvSpPr>
        <p:spPr>
          <a:xfrm>
            <a:off x="3082991" y="2300173"/>
            <a:ext cx="86346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Numeric[14]</a:t>
            </a:r>
            <a:endParaRPr lang="en-US" sz="1150" dirty="0"/>
          </a:p>
        </p:txBody>
      </p:sp>
      <p:sp>
        <p:nvSpPr>
          <p:cNvPr id="17" name="Shape 15"/>
          <p:cNvSpPr/>
          <p:nvPr/>
        </p:nvSpPr>
        <p:spPr>
          <a:xfrm>
            <a:off x="5117348" y="2196206"/>
            <a:ext cx="2065355" cy="6309"/>
          </a:xfrm>
          <a:prstGeom prst="rect">
            <a:avLst/>
          </a:prstGeom>
          <a:solidFill>
            <a:srgbClr val="E3E6EA"/>
          </a:solidFill>
          <a:ln/>
        </p:spPr>
      </p:sp>
      <p:sp>
        <p:nvSpPr>
          <p:cNvPr id="18" name="Text 16"/>
          <p:cNvSpPr txBox="1"/>
          <p:nvPr/>
        </p:nvSpPr>
        <p:spPr>
          <a:xfrm>
            <a:off x="5257068" y="2298253"/>
            <a:ext cx="1357244"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20261011140000</a:t>
            </a:r>
            <a:endParaRPr lang="en-US" sz="1200" dirty="0"/>
          </a:p>
        </p:txBody>
      </p:sp>
      <p:sp>
        <p:nvSpPr>
          <p:cNvPr id="19" name="Shape 17"/>
          <p:cNvSpPr/>
          <p:nvPr/>
        </p:nvSpPr>
        <p:spPr>
          <a:xfrm>
            <a:off x="7182795" y="2196206"/>
            <a:ext cx="4348521" cy="6309"/>
          </a:xfrm>
          <a:prstGeom prst="rect">
            <a:avLst/>
          </a:prstGeom>
          <a:solidFill>
            <a:srgbClr val="E3E6EA"/>
          </a:solidFill>
          <a:ln/>
        </p:spPr>
      </p:sp>
      <p:sp>
        <p:nvSpPr>
          <p:cNvPr id="20" name="Text 18"/>
          <p:cNvSpPr txBox="1"/>
          <p:nvPr/>
        </p:nvSpPr>
        <p:spPr>
          <a:xfrm>
            <a:off x="7322424" y="2300173"/>
            <a:ext cx="264014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Thời điểm tạo; dùng lại khi gọi querydr</a:t>
            </a:r>
            <a:endParaRPr lang="en-US" sz="1150" dirty="0"/>
          </a:p>
        </p:txBody>
      </p:sp>
      <p:sp>
        <p:nvSpPr>
          <p:cNvPr id="21" name="Shape 19"/>
          <p:cNvSpPr/>
          <p:nvPr/>
        </p:nvSpPr>
        <p:spPr>
          <a:xfrm>
            <a:off x="660380" y="2589947"/>
            <a:ext cx="2282891" cy="6309"/>
          </a:xfrm>
          <a:prstGeom prst="rect">
            <a:avLst/>
          </a:prstGeom>
          <a:solidFill>
            <a:srgbClr val="E3E6EA"/>
          </a:solidFill>
          <a:ln/>
        </p:spPr>
      </p:sp>
      <p:sp>
        <p:nvSpPr>
          <p:cNvPr id="22" name="Text 20"/>
          <p:cNvSpPr txBox="1"/>
          <p:nvPr/>
        </p:nvSpPr>
        <p:spPr>
          <a:xfrm>
            <a:off x="800100" y="2691902"/>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vnp_ExpireDate</a:t>
            </a:r>
            <a:endParaRPr lang="en-US" sz="1200" dirty="0"/>
          </a:p>
        </p:txBody>
      </p:sp>
      <p:sp>
        <p:nvSpPr>
          <p:cNvPr id="23" name="Shape 21"/>
          <p:cNvSpPr/>
          <p:nvPr/>
        </p:nvSpPr>
        <p:spPr>
          <a:xfrm>
            <a:off x="2943271" y="2589947"/>
            <a:ext cx="2174169" cy="6309"/>
          </a:xfrm>
          <a:prstGeom prst="rect">
            <a:avLst/>
          </a:prstGeom>
          <a:solidFill>
            <a:srgbClr val="E3E6EA"/>
          </a:solidFill>
          <a:ln/>
        </p:spPr>
      </p:sp>
      <p:sp>
        <p:nvSpPr>
          <p:cNvPr id="24" name="Text 22"/>
          <p:cNvSpPr txBox="1"/>
          <p:nvPr/>
        </p:nvSpPr>
        <p:spPr>
          <a:xfrm>
            <a:off x="3082991" y="2693914"/>
            <a:ext cx="86346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Numeric[14]</a:t>
            </a:r>
            <a:endParaRPr lang="en-US" sz="1150" dirty="0"/>
          </a:p>
        </p:txBody>
      </p:sp>
      <p:sp>
        <p:nvSpPr>
          <p:cNvPr id="25" name="Shape 23"/>
          <p:cNvSpPr/>
          <p:nvPr/>
        </p:nvSpPr>
        <p:spPr>
          <a:xfrm>
            <a:off x="5117348" y="2589947"/>
            <a:ext cx="2065355" cy="6309"/>
          </a:xfrm>
          <a:prstGeom prst="rect">
            <a:avLst/>
          </a:prstGeom>
          <a:solidFill>
            <a:srgbClr val="E3E6EA"/>
          </a:solidFill>
          <a:ln/>
        </p:spPr>
      </p:sp>
      <p:sp>
        <p:nvSpPr>
          <p:cNvPr id="26" name="Text 24"/>
          <p:cNvSpPr txBox="1"/>
          <p:nvPr/>
        </p:nvSpPr>
        <p:spPr>
          <a:xfrm>
            <a:off x="5257068" y="2693914"/>
            <a:ext cx="93305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tạo + 15 phút</a:t>
            </a:r>
            <a:endParaRPr lang="en-US" sz="1150" dirty="0"/>
          </a:p>
        </p:txBody>
      </p:sp>
      <p:sp>
        <p:nvSpPr>
          <p:cNvPr id="27" name="Shape 25"/>
          <p:cNvSpPr/>
          <p:nvPr/>
        </p:nvSpPr>
        <p:spPr>
          <a:xfrm>
            <a:off x="7182795" y="2589947"/>
            <a:ext cx="4348521" cy="6309"/>
          </a:xfrm>
          <a:prstGeom prst="rect">
            <a:avLst/>
          </a:prstGeom>
          <a:solidFill>
            <a:srgbClr val="E3E6EA"/>
          </a:solidFill>
          <a:ln/>
        </p:spPr>
      </p:sp>
      <p:sp>
        <p:nvSpPr>
          <p:cNvPr id="28" name="Text 26"/>
          <p:cNvSpPr txBox="1"/>
          <p:nvPr/>
        </p:nvSpPr>
        <p:spPr>
          <a:xfrm>
            <a:off x="7322424" y="2693914"/>
            <a:ext cx="208090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Thời điểm hết hạn của liên kết</a:t>
            </a:r>
            <a:endParaRPr lang="en-US" sz="1150" dirty="0"/>
          </a:p>
        </p:txBody>
      </p:sp>
      <p:sp>
        <p:nvSpPr>
          <p:cNvPr id="29" name="Shape 27"/>
          <p:cNvSpPr/>
          <p:nvPr/>
        </p:nvSpPr>
        <p:spPr>
          <a:xfrm>
            <a:off x="660380" y="2983596"/>
            <a:ext cx="2282891" cy="6309"/>
          </a:xfrm>
          <a:prstGeom prst="rect">
            <a:avLst/>
          </a:prstGeom>
          <a:solidFill>
            <a:srgbClr val="E3E6EA"/>
          </a:solidFill>
          <a:ln/>
        </p:spPr>
      </p:sp>
      <p:sp>
        <p:nvSpPr>
          <p:cNvPr id="30" name="Text 28"/>
          <p:cNvSpPr txBox="1"/>
          <p:nvPr/>
        </p:nvSpPr>
        <p:spPr>
          <a:xfrm>
            <a:off x="800100" y="3085643"/>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vnp_IpAddr</a:t>
            </a:r>
            <a:endParaRPr lang="en-US" sz="1200" dirty="0"/>
          </a:p>
        </p:txBody>
      </p:sp>
      <p:sp>
        <p:nvSpPr>
          <p:cNvPr id="31" name="Shape 29"/>
          <p:cNvSpPr/>
          <p:nvPr/>
        </p:nvSpPr>
        <p:spPr>
          <a:xfrm>
            <a:off x="2943271" y="2983596"/>
            <a:ext cx="2174169" cy="6309"/>
          </a:xfrm>
          <a:prstGeom prst="rect">
            <a:avLst/>
          </a:prstGeom>
          <a:solidFill>
            <a:srgbClr val="E3E6EA"/>
          </a:solidFill>
          <a:ln/>
        </p:spPr>
      </p:sp>
      <p:sp>
        <p:nvSpPr>
          <p:cNvPr id="32" name="Text 30"/>
          <p:cNvSpPr txBox="1"/>
          <p:nvPr/>
        </p:nvSpPr>
        <p:spPr>
          <a:xfrm>
            <a:off x="3082991" y="3087563"/>
            <a:ext cx="133465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Alphanumeric[7,45]</a:t>
            </a:r>
            <a:endParaRPr lang="en-US" sz="1150" dirty="0"/>
          </a:p>
        </p:txBody>
      </p:sp>
      <p:sp>
        <p:nvSpPr>
          <p:cNvPr id="33" name="Shape 31"/>
          <p:cNvSpPr/>
          <p:nvPr/>
        </p:nvSpPr>
        <p:spPr>
          <a:xfrm>
            <a:off x="5117348" y="2983596"/>
            <a:ext cx="2065355" cy="6309"/>
          </a:xfrm>
          <a:prstGeom prst="rect">
            <a:avLst/>
          </a:prstGeom>
          <a:solidFill>
            <a:srgbClr val="E3E6EA"/>
          </a:solidFill>
          <a:ln/>
        </p:spPr>
      </p:sp>
      <p:sp>
        <p:nvSpPr>
          <p:cNvPr id="34" name="Text 32"/>
          <p:cNvSpPr txBox="1"/>
          <p:nvPr/>
        </p:nvSpPr>
        <p:spPr>
          <a:xfrm>
            <a:off x="5257068" y="3085643"/>
            <a:ext cx="89931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127.0.0.1</a:t>
            </a:r>
            <a:endParaRPr lang="en-US" sz="1200" dirty="0"/>
          </a:p>
        </p:txBody>
      </p:sp>
      <p:sp>
        <p:nvSpPr>
          <p:cNvPr id="35" name="Shape 33"/>
          <p:cNvSpPr/>
          <p:nvPr/>
        </p:nvSpPr>
        <p:spPr>
          <a:xfrm>
            <a:off x="7182795" y="2983596"/>
            <a:ext cx="4348521" cy="6309"/>
          </a:xfrm>
          <a:prstGeom prst="rect">
            <a:avLst/>
          </a:prstGeom>
          <a:solidFill>
            <a:srgbClr val="E3E6EA"/>
          </a:solidFill>
          <a:ln/>
        </p:spPr>
      </p:sp>
      <p:sp>
        <p:nvSpPr>
          <p:cNvPr id="36" name="Text 34"/>
          <p:cNvSpPr txBox="1"/>
          <p:nvPr/>
        </p:nvSpPr>
        <p:spPr>
          <a:xfrm>
            <a:off x="7322424" y="3087563"/>
            <a:ext cx="150327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Địa chỉ IP khách hàng</a:t>
            </a:r>
            <a:endParaRPr lang="en-US" sz="1150" dirty="0"/>
          </a:p>
        </p:txBody>
      </p:sp>
      <p:sp>
        <p:nvSpPr>
          <p:cNvPr id="37" name="Shape 35"/>
          <p:cNvSpPr/>
          <p:nvPr/>
        </p:nvSpPr>
        <p:spPr>
          <a:xfrm>
            <a:off x="660380" y="3377336"/>
            <a:ext cx="2282891" cy="6309"/>
          </a:xfrm>
          <a:prstGeom prst="rect">
            <a:avLst/>
          </a:prstGeom>
          <a:solidFill>
            <a:srgbClr val="E3E6EA"/>
          </a:solidFill>
          <a:ln/>
        </p:spPr>
      </p:sp>
      <p:sp>
        <p:nvSpPr>
          <p:cNvPr id="38" name="Text 36"/>
          <p:cNvSpPr txBox="1"/>
          <p:nvPr/>
        </p:nvSpPr>
        <p:spPr>
          <a:xfrm>
            <a:off x="800100" y="3479292"/>
            <a:ext cx="126507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vnp_ReturnUrl</a:t>
            </a:r>
            <a:endParaRPr lang="en-US" sz="1200" dirty="0"/>
          </a:p>
        </p:txBody>
      </p:sp>
      <p:sp>
        <p:nvSpPr>
          <p:cNvPr id="39" name="Shape 37"/>
          <p:cNvSpPr/>
          <p:nvPr/>
        </p:nvSpPr>
        <p:spPr>
          <a:xfrm>
            <a:off x="2943271" y="3377336"/>
            <a:ext cx="2174169" cy="6309"/>
          </a:xfrm>
          <a:prstGeom prst="rect">
            <a:avLst/>
          </a:prstGeom>
          <a:solidFill>
            <a:srgbClr val="E3E6EA"/>
          </a:solidFill>
          <a:ln/>
        </p:spPr>
      </p:sp>
      <p:sp>
        <p:nvSpPr>
          <p:cNvPr id="40" name="Text 38"/>
          <p:cNvSpPr txBox="1"/>
          <p:nvPr/>
        </p:nvSpPr>
        <p:spPr>
          <a:xfrm>
            <a:off x="3082991" y="3481304"/>
            <a:ext cx="150610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Alphanumeric[10,255]</a:t>
            </a:r>
            <a:endParaRPr lang="en-US" sz="1150" dirty="0"/>
          </a:p>
        </p:txBody>
      </p:sp>
      <p:sp>
        <p:nvSpPr>
          <p:cNvPr id="41" name="Shape 39"/>
          <p:cNvSpPr/>
          <p:nvPr/>
        </p:nvSpPr>
        <p:spPr>
          <a:xfrm>
            <a:off x="5117348" y="3377336"/>
            <a:ext cx="2065355" cy="6309"/>
          </a:xfrm>
          <a:prstGeom prst="rect">
            <a:avLst/>
          </a:prstGeom>
          <a:solidFill>
            <a:srgbClr val="E3E6EA"/>
          </a:solidFill>
          <a:ln/>
        </p:spPr>
      </p:sp>
      <p:sp>
        <p:nvSpPr>
          <p:cNvPr id="42" name="Text 40"/>
          <p:cNvSpPr txBox="1"/>
          <p:nvPr/>
        </p:nvSpPr>
        <p:spPr>
          <a:xfrm>
            <a:off x="5257068" y="3479292"/>
            <a:ext cx="1357244"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…/vnpay/return</a:t>
            </a:r>
            <a:endParaRPr lang="en-US" sz="1200" dirty="0"/>
          </a:p>
        </p:txBody>
      </p:sp>
      <p:sp>
        <p:nvSpPr>
          <p:cNvPr id="43" name="Shape 41"/>
          <p:cNvSpPr/>
          <p:nvPr/>
        </p:nvSpPr>
        <p:spPr>
          <a:xfrm>
            <a:off x="7182795" y="3377336"/>
            <a:ext cx="4348521" cy="6309"/>
          </a:xfrm>
          <a:prstGeom prst="rect">
            <a:avLst/>
          </a:prstGeom>
          <a:solidFill>
            <a:srgbClr val="E3E6EA"/>
          </a:solidFill>
          <a:ln/>
        </p:spPr>
      </p:sp>
      <p:sp>
        <p:nvSpPr>
          <p:cNvPr id="44" name="Text 42"/>
          <p:cNvSpPr txBox="1"/>
          <p:nvPr/>
        </p:nvSpPr>
        <p:spPr>
          <a:xfrm>
            <a:off x="7322424" y="3481304"/>
            <a:ext cx="222089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Địa chỉ đưa khách hàng quay về</a:t>
            </a:r>
            <a:endParaRPr lang="en-US" sz="1150" dirty="0"/>
          </a:p>
        </p:txBody>
      </p:sp>
      <p:sp>
        <p:nvSpPr>
          <p:cNvPr id="45" name="Shape 43"/>
          <p:cNvSpPr/>
          <p:nvPr/>
        </p:nvSpPr>
        <p:spPr>
          <a:xfrm>
            <a:off x="660380" y="3770986"/>
            <a:ext cx="2282891" cy="6309"/>
          </a:xfrm>
          <a:prstGeom prst="rect">
            <a:avLst/>
          </a:prstGeom>
          <a:solidFill>
            <a:srgbClr val="E3E6EA"/>
          </a:solidFill>
          <a:ln/>
        </p:spPr>
      </p:sp>
      <p:sp>
        <p:nvSpPr>
          <p:cNvPr id="46" name="Text 44"/>
          <p:cNvSpPr txBox="1"/>
          <p:nvPr/>
        </p:nvSpPr>
        <p:spPr>
          <a:xfrm>
            <a:off x="800100" y="3873033"/>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vnp_SecureHash</a:t>
            </a:r>
            <a:endParaRPr lang="en-US" sz="1200" dirty="0"/>
          </a:p>
        </p:txBody>
      </p:sp>
      <p:sp>
        <p:nvSpPr>
          <p:cNvPr id="47" name="Shape 45"/>
          <p:cNvSpPr/>
          <p:nvPr/>
        </p:nvSpPr>
        <p:spPr>
          <a:xfrm>
            <a:off x="2943271" y="3770986"/>
            <a:ext cx="2174169" cy="6309"/>
          </a:xfrm>
          <a:prstGeom prst="rect">
            <a:avLst/>
          </a:prstGeom>
          <a:solidFill>
            <a:srgbClr val="E3E6EA"/>
          </a:solidFill>
          <a:ln/>
        </p:spPr>
      </p:sp>
      <p:sp>
        <p:nvSpPr>
          <p:cNvPr id="48" name="Text 46"/>
          <p:cNvSpPr txBox="1"/>
          <p:nvPr/>
        </p:nvSpPr>
        <p:spPr>
          <a:xfrm>
            <a:off x="3082991" y="3874953"/>
            <a:ext cx="150610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Alphanumeric[32,256]</a:t>
            </a:r>
            <a:endParaRPr lang="en-US" sz="1150" dirty="0"/>
          </a:p>
        </p:txBody>
      </p:sp>
      <p:sp>
        <p:nvSpPr>
          <p:cNvPr id="49" name="Shape 47"/>
          <p:cNvSpPr/>
          <p:nvPr/>
        </p:nvSpPr>
        <p:spPr>
          <a:xfrm>
            <a:off x="5117348" y="3770986"/>
            <a:ext cx="2065355" cy="6309"/>
          </a:xfrm>
          <a:prstGeom prst="rect">
            <a:avLst/>
          </a:prstGeom>
          <a:solidFill>
            <a:srgbClr val="E3E6EA"/>
          </a:solidFill>
          <a:ln/>
        </p:spPr>
      </p:sp>
      <p:sp>
        <p:nvSpPr>
          <p:cNvPr id="50" name="Text 48"/>
          <p:cNvSpPr txBox="1"/>
          <p:nvPr/>
        </p:nvSpPr>
        <p:spPr>
          <a:xfrm>
            <a:off x="5257068" y="3874953"/>
            <a:ext cx="96149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128 ký tự hex</a:t>
            </a:r>
            <a:endParaRPr lang="en-US" sz="1150" dirty="0"/>
          </a:p>
        </p:txBody>
      </p:sp>
      <p:sp>
        <p:nvSpPr>
          <p:cNvPr id="51" name="Shape 49"/>
          <p:cNvSpPr/>
          <p:nvPr/>
        </p:nvSpPr>
        <p:spPr>
          <a:xfrm>
            <a:off x="7182795" y="3770986"/>
            <a:ext cx="4348521" cy="6309"/>
          </a:xfrm>
          <a:prstGeom prst="rect">
            <a:avLst/>
          </a:prstGeom>
          <a:solidFill>
            <a:srgbClr val="E3E6EA"/>
          </a:solidFill>
          <a:ln/>
        </p:spPr>
      </p:sp>
      <p:sp>
        <p:nvSpPr>
          <p:cNvPr id="52" name="Text 50"/>
          <p:cNvSpPr txBox="1"/>
          <p:nvPr/>
        </p:nvSpPr>
        <p:spPr>
          <a:xfrm>
            <a:off x="7322424" y="3874953"/>
            <a:ext cx="246238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Chữ ký, phát hiện dữ liệu bị sửa đổi</a:t>
            </a:r>
            <a:endParaRPr lang="en-US" sz="1150" dirty="0"/>
          </a:p>
        </p:txBody>
      </p:sp>
      <p:sp>
        <p:nvSpPr>
          <p:cNvPr id="53" name="Text 5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4" name="Text 52"/>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43829"/>
            <a:ext cx="4839371"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Định dạng dữ liệu và lý do</a:t>
            </a:r>
            <a:endParaRPr lang="en-US" sz="3000" dirty="0"/>
          </a:p>
        </p:txBody>
      </p:sp>
      <p:sp>
        <p:nvSpPr>
          <p:cNvPr id="4" name="Shape 2"/>
          <p:cNvSpPr/>
          <p:nvPr/>
        </p:nvSpPr>
        <p:spPr>
          <a:xfrm>
            <a:off x="660380" y="1347368"/>
            <a:ext cx="10870936" cy="2324039"/>
          </a:xfrm>
          <a:prstGeom prst="roundRect">
            <a:avLst>
              <a:gd name="adj" fmla="val 4371"/>
            </a:avLst>
          </a:prstGeom>
          <a:solidFill>
            <a:srgbClr val="FFFFFF"/>
          </a:solidFill>
          <a:ln/>
        </p:spPr>
      </p:sp>
      <p:sp>
        <p:nvSpPr>
          <p:cNvPr id="5" name="Shape 3"/>
          <p:cNvSpPr/>
          <p:nvPr/>
        </p:nvSpPr>
        <p:spPr>
          <a:xfrm>
            <a:off x="660380" y="1347368"/>
            <a:ext cx="1739280" cy="422270"/>
          </a:xfrm>
          <a:prstGeom prst="rect">
            <a:avLst/>
          </a:prstGeom>
          <a:solidFill>
            <a:srgbClr val="ECF2FF"/>
          </a:solidFill>
          <a:ln/>
        </p:spPr>
      </p:sp>
      <p:sp>
        <p:nvSpPr>
          <p:cNvPr id="6" name="Text 4"/>
          <p:cNvSpPr txBox="1"/>
          <p:nvPr/>
        </p:nvSpPr>
        <p:spPr>
          <a:xfrm>
            <a:off x="825520" y="1479408"/>
            <a:ext cx="1012698"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LOẠI DỮ LIỆU</a:t>
            </a:r>
            <a:endParaRPr lang="en-US" sz="1000" dirty="0"/>
          </a:p>
        </p:txBody>
      </p:sp>
      <p:sp>
        <p:nvSpPr>
          <p:cNvPr id="7" name="Shape 5"/>
          <p:cNvSpPr/>
          <p:nvPr/>
        </p:nvSpPr>
        <p:spPr>
          <a:xfrm>
            <a:off x="2399660" y="1347368"/>
            <a:ext cx="2935133" cy="422270"/>
          </a:xfrm>
          <a:prstGeom prst="rect">
            <a:avLst/>
          </a:prstGeom>
          <a:solidFill>
            <a:srgbClr val="ECF2FF"/>
          </a:solidFill>
          <a:ln/>
        </p:spPr>
      </p:sp>
      <p:sp>
        <p:nvSpPr>
          <p:cNvPr id="8" name="Text 6"/>
          <p:cNvSpPr txBox="1"/>
          <p:nvPr/>
        </p:nvSpPr>
        <p:spPr>
          <a:xfrm>
            <a:off x="2564709" y="1479408"/>
            <a:ext cx="85304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ĐỊNH DẠNG</a:t>
            </a:r>
            <a:endParaRPr lang="en-US" sz="1000" dirty="0"/>
          </a:p>
        </p:txBody>
      </p:sp>
      <p:sp>
        <p:nvSpPr>
          <p:cNvPr id="9" name="Shape 7"/>
          <p:cNvSpPr/>
          <p:nvPr/>
        </p:nvSpPr>
        <p:spPr>
          <a:xfrm>
            <a:off x="5334792" y="1347368"/>
            <a:ext cx="6196523" cy="422270"/>
          </a:xfrm>
          <a:prstGeom prst="rect">
            <a:avLst/>
          </a:prstGeom>
          <a:solidFill>
            <a:srgbClr val="ECF2FF"/>
          </a:solidFill>
          <a:ln/>
        </p:spPr>
      </p:sp>
      <p:sp>
        <p:nvSpPr>
          <p:cNvPr id="10" name="Text 8"/>
          <p:cNvSpPr txBox="1"/>
          <p:nvPr/>
        </p:nvSpPr>
        <p:spPr>
          <a:xfrm>
            <a:off x="5499842" y="1479408"/>
            <a:ext cx="4960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LÝ DO</a:t>
            </a:r>
            <a:endParaRPr lang="en-US" sz="1000" dirty="0"/>
          </a:p>
        </p:txBody>
      </p:sp>
      <p:sp>
        <p:nvSpPr>
          <p:cNvPr id="11" name="Shape 9"/>
          <p:cNvSpPr/>
          <p:nvPr/>
        </p:nvSpPr>
        <p:spPr>
          <a:xfrm>
            <a:off x="660380" y="1769638"/>
            <a:ext cx="1739280" cy="6309"/>
          </a:xfrm>
          <a:prstGeom prst="rect">
            <a:avLst/>
          </a:prstGeom>
          <a:solidFill>
            <a:srgbClr val="E3E6EA"/>
          </a:solidFill>
          <a:ln/>
        </p:spPr>
      </p:sp>
      <p:sp>
        <p:nvSpPr>
          <p:cNvPr id="12" name="Text 10"/>
          <p:cNvSpPr txBox="1"/>
          <p:nvPr/>
        </p:nvSpPr>
        <p:spPr>
          <a:xfrm>
            <a:off x="800100" y="1873606"/>
            <a:ext cx="739841"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Thời gian</a:t>
            </a:r>
            <a:endParaRPr lang="en-US" sz="1150" dirty="0"/>
          </a:p>
        </p:txBody>
      </p:sp>
      <p:sp>
        <p:nvSpPr>
          <p:cNvPr id="13" name="Shape 11"/>
          <p:cNvSpPr/>
          <p:nvPr/>
        </p:nvSpPr>
        <p:spPr>
          <a:xfrm>
            <a:off x="2399660" y="1769638"/>
            <a:ext cx="2935133" cy="6309"/>
          </a:xfrm>
          <a:prstGeom prst="rect">
            <a:avLst/>
          </a:prstGeom>
          <a:solidFill>
            <a:srgbClr val="E3E6EA"/>
          </a:solidFill>
          <a:ln/>
        </p:spPr>
      </p:sp>
      <p:sp>
        <p:nvSpPr>
          <p:cNvPr id="14" name="Text 12"/>
          <p:cNvSpPr txBox="1"/>
          <p:nvPr/>
        </p:nvSpPr>
        <p:spPr>
          <a:xfrm>
            <a:off x="2539380" y="1865285"/>
            <a:ext cx="1963765"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yyyyMMddHHmmss</a:t>
            </a:r>
            <a:pPr algn="l" indent="0" marL="0">
              <a:buNone/>
            </a:pPr>
            <a:r>
              <a:rPr lang="en-US" sz="1150" dirty="0">
                <a:solidFill>
                  <a:srgbClr val="3F454D"/>
                </a:solidFill>
                <a:latin typeface="Arial" pitchFamily="34" charset="0"/>
                <a:ea typeface="Arial" pitchFamily="34" charset="-122"/>
                <a:cs typeface="Arial" pitchFamily="34" charset="-120"/>
              </a:rPr>
              <a:t>, GMT+7</a:t>
            </a:r>
            <a:endParaRPr lang="en-US" sz="1200" dirty="0"/>
          </a:p>
        </p:txBody>
      </p:sp>
      <p:sp>
        <p:nvSpPr>
          <p:cNvPr id="15" name="Shape 13"/>
          <p:cNvSpPr/>
          <p:nvPr/>
        </p:nvSpPr>
        <p:spPr>
          <a:xfrm>
            <a:off x="5334792" y="1769638"/>
            <a:ext cx="6196523" cy="6309"/>
          </a:xfrm>
          <a:prstGeom prst="rect">
            <a:avLst/>
          </a:prstGeom>
          <a:solidFill>
            <a:srgbClr val="E3E6EA"/>
          </a:solidFill>
          <a:ln/>
        </p:spPr>
      </p:sp>
      <p:sp>
        <p:nvSpPr>
          <p:cNvPr id="16" name="Text 14"/>
          <p:cNvSpPr txBox="1"/>
          <p:nvPr/>
        </p:nvSpPr>
        <p:spPr>
          <a:xfrm>
            <a:off x="5474421" y="1873606"/>
            <a:ext cx="469745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Chỉ gồm chữ số, không phụ thuộc cách ghi ngày; thống nhất múi giờ</a:t>
            </a:r>
            <a:endParaRPr lang="en-US" sz="1150" dirty="0"/>
          </a:p>
        </p:txBody>
      </p:sp>
      <p:sp>
        <p:nvSpPr>
          <p:cNvPr id="17" name="Shape 15"/>
          <p:cNvSpPr/>
          <p:nvPr/>
        </p:nvSpPr>
        <p:spPr>
          <a:xfrm>
            <a:off x="660380" y="2163288"/>
            <a:ext cx="1739280" cy="6309"/>
          </a:xfrm>
          <a:prstGeom prst="rect">
            <a:avLst/>
          </a:prstGeom>
          <a:solidFill>
            <a:srgbClr val="E3E6EA"/>
          </a:solidFill>
          <a:ln/>
        </p:spPr>
      </p:sp>
      <p:sp>
        <p:nvSpPr>
          <p:cNvPr id="18" name="Text 16"/>
          <p:cNvSpPr txBox="1"/>
          <p:nvPr/>
        </p:nvSpPr>
        <p:spPr>
          <a:xfrm>
            <a:off x="800100" y="2259300"/>
            <a:ext cx="563088"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Số tiền</a:t>
            </a:r>
            <a:endParaRPr lang="en-US" sz="1150" dirty="0"/>
          </a:p>
        </p:txBody>
      </p:sp>
      <p:sp>
        <p:nvSpPr>
          <p:cNvPr id="19" name="Shape 17"/>
          <p:cNvSpPr/>
          <p:nvPr/>
        </p:nvSpPr>
        <p:spPr>
          <a:xfrm>
            <a:off x="2399660" y="2163288"/>
            <a:ext cx="2935133" cy="6309"/>
          </a:xfrm>
          <a:prstGeom prst="rect">
            <a:avLst/>
          </a:prstGeom>
          <a:solidFill>
            <a:srgbClr val="E3E6EA"/>
          </a:solidFill>
          <a:ln/>
        </p:spPr>
      </p:sp>
      <p:sp>
        <p:nvSpPr>
          <p:cNvPr id="20" name="Text 18"/>
          <p:cNvSpPr txBox="1"/>
          <p:nvPr/>
        </p:nvSpPr>
        <p:spPr>
          <a:xfrm>
            <a:off x="2539380" y="2259300"/>
            <a:ext cx="118469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Số nguyên × 100</a:t>
            </a:r>
            <a:endParaRPr lang="en-US" sz="1150" dirty="0"/>
          </a:p>
        </p:txBody>
      </p:sp>
      <p:sp>
        <p:nvSpPr>
          <p:cNvPr id="21" name="Shape 19"/>
          <p:cNvSpPr/>
          <p:nvPr/>
        </p:nvSpPr>
        <p:spPr>
          <a:xfrm>
            <a:off x="5334792" y="2163288"/>
            <a:ext cx="6196523" cy="6309"/>
          </a:xfrm>
          <a:prstGeom prst="rect">
            <a:avLst/>
          </a:prstGeom>
          <a:solidFill>
            <a:srgbClr val="E3E6EA"/>
          </a:solidFill>
          <a:ln/>
        </p:spPr>
      </p:sp>
      <p:sp>
        <p:nvSpPr>
          <p:cNvPr id="22" name="Text 20"/>
          <p:cNvSpPr txBox="1"/>
          <p:nvPr/>
        </p:nvSpPr>
        <p:spPr>
          <a:xfrm>
            <a:off x="5474421" y="2259300"/>
            <a:ext cx="21686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phát sinh sai số làm tròn</a:t>
            </a:r>
            <a:endParaRPr lang="en-US" sz="1150" dirty="0"/>
          </a:p>
        </p:txBody>
      </p:sp>
      <p:sp>
        <p:nvSpPr>
          <p:cNvPr id="23" name="Shape 21"/>
          <p:cNvSpPr/>
          <p:nvPr/>
        </p:nvSpPr>
        <p:spPr>
          <a:xfrm>
            <a:off x="660380" y="2541118"/>
            <a:ext cx="1739280" cy="6309"/>
          </a:xfrm>
          <a:prstGeom prst="rect">
            <a:avLst/>
          </a:prstGeom>
          <a:solidFill>
            <a:srgbClr val="E3E6EA"/>
          </a:solidFill>
          <a:ln/>
        </p:spPr>
      </p:sp>
      <p:sp>
        <p:nvSpPr>
          <p:cNvPr id="24" name="Text 22"/>
          <p:cNvSpPr txBox="1"/>
          <p:nvPr/>
        </p:nvSpPr>
        <p:spPr>
          <a:xfrm>
            <a:off x="800100" y="2637130"/>
            <a:ext cx="1017361"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Mã định danh</a:t>
            </a:r>
            <a:endParaRPr lang="en-US" sz="1150" dirty="0"/>
          </a:p>
        </p:txBody>
      </p:sp>
      <p:sp>
        <p:nvSpPr>
          <p:cNvPr id="25" name="Shape 23"/>
          <p:cNvSpPr/>
          <p:nvPr/>
        </p:nvSpPr>
        <p:spPr>
          <a:xfrm>
            <a:off x="2399660" y="2541118"/>
            <a:ext cx="2935133" cy="6309"/>
          </a:xfrm>
          <a:prstGeom prst="rect">
            <a:avLst/>
          </a:prstGeom>
          <a:solidFill>
            <a:srgbClr val="E3E6EA"/>
          </a:solidFill>
          <a:ln/>
        </p:spPr>
      </p:sp>
      <p:sp>
        <p:nvSpPr>
          <p:cNvPr id="26" name="Text 24"/>
          <p:cNvSpPr txBox="1"/>
          <p:nvPr/>
        </p:nvSpPr>
        <p:spPr>
          <a:xfrm>
            <a:off x="2539380" y="2637130"/>
            <a:ext cx="182313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Chữ và số, giới hạn độ dài</a:t>
            </a:r>
            <a:endParaRPr lang="en-US" sz="1150" dirty="0"/>
          </a:p>
        </p:txBody>
      </p:sp>
      <p:sp>
        <p:nvSpPr>
          <p:cNvPr id="27" name="Shape 25"/>
          <p:cNvSpPr/>
          <p:nvPr/>
        </p:nvSpPr>
        <p:spPr>
          <a:xfrm>
            <a:off x="5334792" y="2541118"/>
            <a:ext cx="6196523" cy="6309"/>
          </a:xfrm>
          <a:prstGeom prst="rect">
            <a:avLst/>
          </a:prstGeom>
          <a:solidFill>
            <a:srgbClr val="E3E6EA"/>
          </a:solidFill>
          <a:ln/>
        </p:spPr>
      </p:sp>
      <p:sp>
        <p:nvSpPr>
          <p:cNvPr id="28" name="Text 26"/>
          <p:cNvSpPr txBox="1"/>
          <p:nvPr/>
        </p:nvSpPr>
        <p:spPr>
          <a:xfrm>
            <a:off x="5474421" y="2637130"/>
            <a:ext cx="157295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Dễ kiểm tra tính hợp lệ</a:t>
            </a:r>
            <a:endParaRPr lang="en-US" sz="1150" dirty="0"/>
          </a:p>
        </p:txBody>
      </p:sp>
      <p:sp>
        <p:nvSpPr>
          <p:cNvPr id="29" name="Shape 27"/>
          <p:cNvSpPr/>
          <p:nvPr/>
        </p:nvSpPr>
        <p:spPr>
          <a:xfrm>
            <a:off x="660380" y="2918948"/>
            <a:ext cx="1739280" cy="6309"/>
          </a:xfrm>
          <a:prstGeom prst="rect">
            <a:avLst/>
          </a:prstGeom>
          <a:solidFill>
            <a:srgbClr val="E3E6EA"/>
          </a:solidFill>
          <a:ln/>
        </p:spPr>
      </p:sp>
      <p:sp>
        <p:nvSpPr>
          <p:cNvPr id="30" name="Text 28"/>
          <p:cNvSpPr txBox="1"/>
          <p:nvPr/>
        </p:nvSpPr>
        <p:spPr>
          <a:xfrm>
            <a:off x="800100" y="3014960"/>
            <a:ext cx="64428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Văn bản</a:t>
            </a:r>
            <a:endParaRPr lang="en-US" sz="1150" dirty="0"/>
          </a:p>
        </p:txBody>
      </p:sp>
      <p:sp>
        <p:nvSpPr>
          <p:cNvPr id="31" name="Shape 29"/>
          <p:cNvSpPr/>
          <p:nvPr/>
        </p:nvSpPr>
        <p:spPr>
          <a:xfrm>
            <a:off x="2399660" y="2918948"/>
            <a:ext cx="2935133" cy="6309"/>
          </a:xfrm>
          <a:prstGeom prst="rect">
            <a:avLst/>
          </a:prstGeom>
          <a:solidFill>
            <a:srgbClr val="E3E6EA"/>
          </a:solidFill>
          <a:ln/>
        </p:spPr>
      </p:sp>
      <p:sp>
        <p:nvSpPr>
          <p:cNvPr id="32" name="Text 30"/>
          <p:cNvSpPr txBox="1"/>
          <p:nvPr/>
        </p:nvSpPr>
        <p:spPr>
          <a:xfrm>
            <a:off x="2539380" y="3014960"/>
            <a:ext cx="222949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dấu, không ký tự đặc biệt</a:t>
            </a:r>
            <a:endParaRPr lang="en-US" sz="1150" dirty="0"/>
          </a:p>
        </p:txBody>
      </p:sp>
      <p:sp>
        <p:nvSpPr>
          <p:cNvPr id="33" name="Shape 31"/>
          <p:cNvSpPr/>
          <p:nvPr/>
        </p:nvSpPr>
        <p:spPr>
          <a:xfrm>
            <a:off x="5334792" y="2918948"/>
            <a:ext cx="6196523" cy="6309"/>
          </a:xfrm>
          <a:prstGeom prst="rect">
            <a:avLst/>
          </a:prstGeom>
          <a:solidFill>
            <a:srgbClr val="E3E6EA"/>
          </a:solidFill>
          <a:ln/>
        </p:spPr>
      </p:sp>
      <p:sp>
        <p:nvSpPr>
          <p:cNvPr id="34" name="Text 32"/>
          <p:cNvSpPr txBox="1"/>
          <p:nvPr/>
        </p:nvSpPr>
        <p:spPr>
          <a:xfrm>
            <a:off x="5474421" y="3014960"/>
            <a:ext cx="154350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Tránh lỗi mã hóa ký tự</a:t>
            </a:r>
            <a:endParaRPr lang="en-US" sz="1150" dirty="0"/>
          </a:p>
        </p:txBody>
      </p:sp>
      <p:sp>
        <p:nvSpPr>
          <p:cNvPr id="35" name="Shape 33"/>
          <p:cNvSpPr/>
          <p:nvPr/>
        </p:nvSpPr>
        <p:spPr>
          <a:xfrm>
            <a:off x="660380" y="3296778"/>
            <a:ext cx="1739280" cy="6309"/>
          </a:xfrm>
          <a:prstGeom prst="rect">
            <a:avLst/>
          </a:prstGeom>
          <a:solidFill>
            <a:srgbClr val="E3E6EA"/>
          </a:solidFill>
          <a:ln/>
        </p:spPr>
      </p:sp>
      <p:sp>
        <p:nvSpPr>
          <p:cNvPr id="36" name="Text 34"/>
          <p:cNvSpPr txBox="1"/>
          <p:nvPr/>
        </p:nvSpPr>
        <p:spPr>
          <a:xfrm>
            <a:off x="800100" y="3392790"/>
            <a:ext cx="57973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Chữ ký</a:t>
            </a:r>
            <a:endParaRPr lang="en-US" sz="1150" dirty="0"/>
          </a:p>
        </p:txBody>
      </p:sp>
      <p:sp>
        <p:nvSpPr>
          <p:cNvPr id="37" name="Shape 35"/>
          <p:cNvSpPr/>
          <p:nvPr/>
        </p:nvSpPr>
        <p:spPr>
          <a:xfrm>
            <a:off x="2399660" y="3296778"/>
            <a:ext cx="2935133" cy="6309"/>
          </a:xfrm>
          <a:prstGeom prst="rect">
            <a:avLst/>
          </a:prstGeom>
          <a:solidFill>
            <a:srgbClr val="E3E6EA"/>
          </a:solidFill>
          <a:ln/>
        </p:spPr>
      </p:sp>
      <p:sp>
        <p:nvSpPr>
          <p:cNvPr id="38" name="Text 36"/>
          <p:cNvSpPr txBox="1"/>
          <p:nvPr/>
        </p:nvSpPr>
        <p:spPr>
          <a:xfrm>
            <a:off x="2539380" y="3392790"/>
            <a:ext cx="102632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Hex, 128 ký tự</a:t>
            </a:r>
            <a:endParaRPr lang="en-US" sz="1150" dirty="0"/>
          </a:p>
        </p:txBody>
      </p:sp>
      <p:sp>
        <p:nvSpPr>
          <p:cNvPr id="39" name="Shape 37"/>
          <p:cNvSpPr/>
          <p:nvPr/>
        </p:nvSpPr>
        <p:spPr>
          <a:xfrm>
            <a:off x="5334792" y="3296778"/>
            <a:ext cx="6196523" cy="6309"/>
          </a:xfrm>
          <a:prstGeom prst="rect">
            <a:avLst/>
          </a:prstGeom>
          <a:solidFill>
            <a:srgbClr val="E3E6EA"/>
          </a:solidFill>
          <a:ln/>
        </p:spPr>
      </p:sp>
      <p:sp>
        <p:nvSpPr>
          <p:cNvPr id="40" name="Text 38"/>
          <p:cNvSpPr txBox="1"/>
          <p:nvPr/>
        </p:nvSpPr>
        <p:spPr>
          <a:xfrm>
            <a:off x="5474421" y="3392790"/>
            <a:ext cx="249585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Biểu diễn 64 byte nhị phân trên URL</a:t>
            </a:r>
            <a:endParaRPr lang="en-US" sz="1150" dirty="0"/>
          </a:p>
        </p:txBody>
      </p:sp>
      <p:sp>
        <p:nvSpPr>
          <p:cNvPr id="41" name="Shape 39"/>
          <p:cNvSpPr/>
          <p:nvPr/>
        </p:nvSpPr>
        <p:spPr>
          <a:xfrm>
            <a:off x="660380" y="3849167"/>
            <a:ext cx="10870936" cy="398770"/>
          </a:xfrm>
          <a:prstGeom prst="roundRect">
            <a:avLst>
              <a:gd name="adj" fmla="val 19101"/>
            </a:avLst>
          </a:prstGeom>
          <a:solidFill>
            <a:srgbClr val="FFFFFF"/>
          </a:solidFill>
          <a:ln w="6350">
            <a:solidFill>
              <a:srgbClr val="E3E6EA"/>
            </a:solidFill>
            <a:prstDash val="solid"/>
          </a:ln>
        </p:spPr>
      </p:sp>
      <p:sp>
        <p:nvSpPr>
          <p:cNvPr id="42" name="Text 40"/>
          <p:cNvSpPr txBox="1"/>
          <p:nvPr/>
        </p:nvSpPr>
        <p:spPr>
          <a:xfrm>
            <a:off x="780989" y="3948745"/>
            <a:ext cx="6477610"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Múi giờ sử dụng </a:t>
            </a:r>
            <a:pPr algn="l" indent="0" marL="0">
              <a:buNone/>
            </a:pPr>
            <a:r>
              <a:rPr lang="en-US" sz="1100" dirty="0">
                <a:solidFill>
                  <a:srgbClr val="3F454D"/>
                </a:solidFill>
                <a:latin typeface="Courier New" pitchFamily="34" charset="0"/>
                <a:ea typeface="Courier New" pitchFamily="34" charset="-122"/>
                <a:cs typeface="Courier New" pitchFamily="34" charset="-120"/>
              </a:rPr>
              <a:t>Asia/Ho_Chi_Minh</a:t>
            </a:r>
            <a:pPr algn="l" indent="0" marL="0">
              <a:buNone/>
            </a:pPr>
            <a:r>
              <a:rPr lang="en-US" sz="1100" dirty="0">
                <a:solidFill>
                  <a:srgbClr val="3F454D"/>
                </a:solidFill>
                <a:latin typeface="Arial" pitchFamily="34" charset="0"/>
                <a:ea typeface="Arial" pitchFamily="34" charset="-122"/>
                <a:cs typeface="Arial" pitchFamily="34" charset="-120"/>
              </a:rPr>
              <a:t>. Không dùng </a:t>
            </a:r>
            <a:pPr algn="l" indent="0" marL="0">
              <a:buNone/>
            </a:pPr>
            <a:r>
              <a:rPr lang="en-US" sz="1100" dirty="0">
                <a:solidFill>
                  <a:srgbClr val="3F454D"/>
                </a:solidFill>
                <a:latin typeface="Courier New" pitchFamily="34" charset="0"/>
                <a:ea typeface="Courier New" pitchFamily="34" charset="-122"/>
                <a:cs typeface="Courier New" pitchFamily="34" charset="-120"/>
              </a:rPr>
              <a:t>Etc/GMT+7</a:t>
            </a:r>
            <a:pPr algn="l" indent="0" marL="0">
              <a:buNone/>
            </a:pPr>
            <a:r>
              <a:rPr lang="en-US" sz="1100" dirty="0">
                <a:solidFill>
                  <a:srgbClr val="3F454D"/>
                </a:solidFill>
                <a:latin typeface="Arial" pitchFamily="34" charset="0"/>
                <a:ea typeface="Arial" pitchFamily="34" charset="-122"/>
                <a:cs typeface="Arial" pitchFamily="34" charset="-120"/>
              </a:rPr>
              <a:t> (tương ứng UTC−7, lệch 14 giờ).</a:t>
            </a:r>
            <a:endParaRPr lang="en-US" sz="1100" dirty="0"/>
          </a:p>
        </p:txBody>
      </p:sp>
      <p:sp>
        <p:nvSpPr>
          <p:cNvPr id="43" name="Text 4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4" name="Text 42"/>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43829"/>
            <a:ext cx="8725753"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Truyền dữ liệu qua query string và mã hóa URL</a:t>
            </a:r>
            <a:endParaRPr lang="en-US" sz="3000" dirty="0"/>
          </a:p>
        </p:txBody>
      </p:sp>
      <p:sp>
        <p:nvSpPr>
          <p:cNvPr id="4" name="Shape 2"/>
          <p:cNvSpPr/>
          <p:nvPr/>
        </p:nvSpPr>
        <p:spPr>
          <a:xfrm>
            <a:off x="660380" y="1347368"/>
            <a:ext cx="10870936" cy="1097737"/>
          </a:xfrm>
          <a:prstGeom prst="roundRect">
            <a:avLst>
              <a:gd name="adj" fmla="val 9254"/>
            </a:avLst>
          </a:prstGeom>
          <a:solidFill>
            <a:srgbClr val="0C131E"/>
          </a:solidFill>
          <a:ln/>
        </p:spPr>
      </p:sp>
      <p:sp>
        <p:nvSpPr>
          <p:cNvPr id="5" name="Text 3"/>
          <p:cNvSpPr txBox="1"/>
          <p:nvPr/>
        </p:nvSpPr>
        <p:spPr>
          <a:xfrm>
            <a:off x="907999" y="1530431"/>
            <a:ext cx="4568342"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chưa encode: dấu cách, ":" và "/" làm hỏng cấu trúc URL</a:t>
            </a:r>
            <a:endParaRPr lang="en-US" sz="980" dirty="0"/>
          </a:p>
        </p:txBody>
      </p:sp>
      <p:sp>
        <p:nvSpPr>
          <p:cNvPr id="6" name="Text 4"/>
          <p:cNvSpPr txBox="1"/>
          <p:nvPr/>
        </p:nvSpPr>
        <p:spPr>
          <a:xfrm>
            <a:off x="907999" y="1722272"/>
            <a:ext cx="677378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vnp_OrderInfo=Thanh toan don hang mau&amp;vnp_ReturnUrl=http:</a:t>
            </a:r>
            <a:pPr algn="l" indent="0" marL="0">
              <a:buNone/>
            </a:pPr>
            <a:r>
              <a:rPr lang="en-US" sz="980" dirty="0">
                <a:solidFill>
                  <a:srgbClr val="7D8CA3"/>
                </a:solidFill>
                <a:latin typeface="Courier New" pitchFamily="34" charset="0"/>
                <a:ea typeface="Courier New" pitchFamily="34" charset="-122"/>
                <a:cs typeface="Courier New" pitchFamily="34" charset="-120"/>
              </a:rPr>
              <a:t>//localhost:8091/vnpay/return</a:t>
            </a:r>
            <a:endParaRPr lang="en-US" sz="980" dirty="0"/>
          </a:p>
        </p:txBody>
      </p:sp>
      <p:sp>
        <p:nvSpPr>
          <p:cNvPr id="7" name="Text 5"/>
          <p:cNvSpPr txBox="1"/>
          <p:nvPr/>
        </p:nvSpPr>
        <p:spPr>
          <a:xfrm>
            <a:off x="907999" y="1914205"/>
            <a:ext cx="1339413"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sau khi encode</a:t>
            </a:r>
            <a:endParaRPr lang="en-US" sz="980" dirty="0"/>
          </a:p>
        </p:txBody>
      </p:sp>
      <p:sp>
        <p:nvSpPr>
          <p:cNvPr id="8" name="Shape 6"/>
          <p:cNvSpPr/>
          <p:nvPr/>
        </p:nvSpPr>
        <p:spPr>
          <a:xfrm>
            <a:off x="660380" y="2088124"/>
            <a:ext cx="10870936" cy="191841"/>
          </a:xfrm>
          <a:prstGeom prst="rect">
            <a:avLst/>
          </a:prstGeom>
          <a:solidFill>
            <a:srgbClr val="FFD479">
              <a:alpha val="13000"/>
            </a:srgbClr>
          </a:solidFill>
          <a:ln/>
        </p:spPr>
      </p:sp>
      <p:sp>
        <p:nvSpPr>
          <p:cNvPr id="9" name="Shape 7"/>
          <p:cNvSpPr/>
          <p:nvPr/>
        </p:nvSpPr>
        <p:spPr>
          <a:xfrm>
            <a:off x="660380" y="2088124"/>
            <a:ext cx="31730" cy="191841"/>
          </a:xfrm>
          <a:prstGeom prst="rect">
            <a:avLst/>
          </a:prstGeom>
          <a:solidFill>
            <a:srgbClr val="FFD479"/>
          </a:solidFill>
          <a:ln/>
        </p:spPr>
      </p:sp>
      <p:sp>
        <p:nvSpPr>
          <p:cNvPr id="10" name="Text 8"/>
          <p:cNvSpPr txBox="1"/>
          <p:nvPr/>
        </p:nvSpPr>
        <p:spPr>
          <a:xfrm>
            <a:off x="907999" y="2106046"/>
            <a:ext cx="771890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vnp_OrderInfo=Thanh+toan+don+hang+mau&amp;vnp_ReturnUrl=http%3A%2F%2Flocalhost%3A8091%2Fvnpay%2Freturn</a:t>
            </a:r>
            <a:endParaRPr lang="en-US" sz="980" dirty="0"/>
          </a:p>
        </p:txBody>
      </p:sp>
      <p:sp>
        <p:nvSpPr>
          <p:cNvPr id="11" name="Shape 9"/>
          <p:cNvSpPr/>
          <p:nvPr/>
        </p:nvSpPr>
        <p:spPr>
          <a:xfrm>
            <a:off x="660380" y="2622865"/>
            <a:ext cx="10870936" cy="386060"/>
          </a:xfrm>
          <a:prstGeom prst="roundRect">
            <a:avLst>
              <a:gd name="adj" fmla="val 19730"/>
            </a:avLst>
          </a:prstGeom>
          <a:solidFill>
            <a:srgbClr val="FFFFFF"/>
          </a:solidFill>
          <a:ln w="6350">
            <a:solidFill>
              <a:srgbClr val="E3E6EA"/>
            </a:solidFill>
            <a:prstDash val="solid"/>
          </a:ln>
        </p:spPr>
      </p:sp>
      <p:sp>
        <p:nvSpPr>
          <p:cNvPr id="12" name="Text 10"/>
          <p:cNvSpPr txBox="1"/>
          <p:nvPr/>
        </p:nvSpPr>
        <p:spPr>
          <a:xfrm>
            <a:off x="780989" y="2722443"/>
            <a:ext cx="3887754"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Payment URL là liên kết GET; dữ liệu nằm trên query string</a:t>
            </a:r>
            <a:endParaRPr lang="en-US" sz="1100" dirty="0"/>
          </a:p>
        </p:txBody>
      </p:sp>
      <p:sp>
        <p:nvSpPr>
          <p:cNvPr id="13" name="Shape 11"/>
          <p:cNvSpPr/>
          <p:nvPr/>
        </p:nvSpPr>
        <p:spPr>
          <a:xfrm>
            <a:off x="660380" y="3085094"/>
            <a:ext cx="10870936" cy="398770"/>
          </a:xfrm>
          <a:prstGeom prst="roundRect">
            <a:avLst>
              <a:gd name="adj" fmla="val 19101"/>
            </a:avLst>
          </a:prstGeom>
          <a:solidFill>
            <a:srgbClr val="FFFFFF"/>
          </a:solidFill>
          <a:ln w="6350">
            <a:solidFill>
              <a:srgbClr val="E3E6EA"/>
            </a:solidFill>
            <a:prstDash val="solid"/>
          </a:ln>
        </p:spPr>
      </p:sp>
      <p:sp>
        <p:nvSpPr>
          <p:cNvPr id="14" name="Text 12"/>
          <p:cNvSpPr txBox="1"/>
          <p:nvPr/>
        </p:nvSpPr>
        <p:spPr>
          <a:xfrm>
            <a:off x="780989" y="3184672"/>
            <a:ext cx="4476171"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Giá trị chứa dấu cách, </a:t>
            </a:r>
            <a:pPr algn="l" indent="0" marL="0">
              <a:buNone/>
            </a:pPr>
            <a:r>
              <a:rPr lang="en-US" sz="1100" dirty="0">
                <a:solidFill>
                  <a:srgbClr val="3F454D"/>
                </a:solidFill>
                <a:latin typeface="Courier New" pitchFamily="34" charset="0"/>
                <a:ea typeface="Courier New" pitchFamily="34" charset="-122"/>
                <a:cs typeface="Courier New" pitchFamily="34" charset="-120"/>
              </a:rPr>
              <a:t>&amp;</a:t>
            </a:r>
            <a:pPr algn="l" indent="0" marL="0">
              <a:buNone/>
            </a:pPr>
            <a:r>
              <a:rPr lang="en-US" sz="1100" dirty="0">
                <a:solidFill>
                  <a:srgbClr val="3F454D"/>
                </a:solidFill>
                <a:latin typeface="Arial" pitchFamily="34" charset="0"/>
                <a:ea typeface="Arial" pitchFamily="34" charset="-122"/>
                <a:cs typeface="Arial" pitchFamily="34" charset="-120"/>
              </a:rPr>
              <a:t>, </a:t>
            </a:r>
            <a:pPr algn="l" indent="0" marL="0">
              <a:buNone/>
            </a:pPr>
            <a:r>
              <a:rPr lang="en-US" sz="1100" dirty="0">
                <a:solidFill>
                  <a:srgbClr val="3F454D"/>
                </a:solidFill>
                <a:latin typeface="Courier New" pitchFamily="34" charset="0"/>
                <a:ea typeface="Courier New" pitchFamily="34" charset="-122"/>
                <a:cs typeface="Courier New" pitchFamily="34" charset="-120"/>
              </a:rPr>
              <a:t>=</a:t>
            </a:r>
            <a:pPr algn="l" indent="0" marL="0">
              <a:buNone/>
            </a:pPr>
            <a:r>
              <a:rPr lang="en-US" sz="1100" dirty="0">
                <a:solidFill>
                  <a:srgbClr val="3F454D"/>
                </a:solidFill>
                <a:latin typeface="Arial" pitchFamily="34" charset="0"/>
                <a:ea typeface="Arial" pitchFamily="34" charset="-122"/>
                <a:cs typeface="Arial" pitchFamily="34" charset="-120"/>
              </a:rPr>
              <a:t>, </a:t>
            </a:r>
            <a:pPr algn="l" indent="0" marL="0">
              <a:buNone/>
            </a:pPr>
            <a:r>
              <a:rPr lang="en-US" sz="1100" dirty="0">
                <a:solidFill>
                  <a:srgbClr val="3F454D"/>
                </a:solidFill>
                <a:latin typeface="Courier New" pitchFamily="34" charset="0"/>
                <a:ea typeface="Courier New" pitchFamily="34" charset="-122"/>
                <a:cs typeface="Courier New" pitchFamily="34" charset="-120"/>
              </a:rPr>
              <a:t>/</a:t>
            </a:r>
            <a:pPr algn="l" indent="0" marL="0">
              <a:buNone/>
            </a:pPr>
            <a:r>
              <a:rPr lang="en-US" sz="1100" dirty="0">
                <a:solidFill>
                  <a:srgbClr val="3F454D"/>
                </a:solidFill>
                <a:latin typeface="Arial" pitchFamily="34" charset="0"/>
                <a:ea typeface="Arial" pitchFamily="34" charset="-122"/>
                <a:cs typeface="Arial" pitchFamily="34" charset="-120"/>
              </a:rPr>
              <a:t> phải mã hóa để URL không bị hiểu sai</a:t>
            </a:r>
            <a:endParaRPr lang="en-US" sz="1100" dirty="0"/>
          </a:p>
        </p:txBody>
      </p:sp>
      <p:sp>
        <p:nvSpPr>
          <p:cNvPr id="15" name="Shape 13"/>
          <p:cNvSpPr/>
          <p:nvPr/>
        </p:nvSpPr>
        <p:spPr>
          <a:xfrm>
            <a:off x="660380" y="3560034"/>
            <a:ext cx="10870936" cy="386060"/>
          </a:xfrm>
          <a:prstGeom prst="roundRect">
            <a:avLst>
              <a:gd name="adj" fmla="val 19730"/>
            </a:avLst>
          </a:prstGeom>
          <a:solidFill>
            <a:srgbClr val="FFFFFF"/>
          </a:solidFill>
          <a:ln w="6350">
            <a:solidFill>
              <a:srgbClr val="E3E6EA"/>
            </a:solidFill>
            <a:prstDash val="solid"/>
          </a:ln>
        </p:spPr>
      </p:sp>
      <p:sp>
        <p:nvSpPr>
          <p:cNvPr id="16" name="Text 14"/>
          <p:cNvSpPr txBox="1"/>
          <p:nvPr/>
        </p:nvSpPr>
        <p:spPr>
          <a:xfrm>
            <a:off x="780989" y="3659612"/>
            <a:ext cx="542522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Ký trên chuỗi đã mã hóa; ký chuỗi chưa mã hóa bị báo sai chữ ký (đã kiểm chứng)</a:t>
            </a:r>
            <a:endParaRPr lang="en-US" sz="1100" dirty="0"/>
          </a:p>
        </p:txBody>
      </p:sp>
      <p:sp>
        <p:nvSpPr>
          <p:cNvPr id="17" name="Shape 15"/>
          <p:cNvSpPr/>
          <p:nvPr/>
        </p:nvSpPr>
        <p:spPr>
          <a:xfrm>
            <a:off x="660380" y="4022354"/>
            <a:ext cx="10870936" cy="398770"/>
          </a:xfrm>
          <a:prstGeom prst="roundRect">
            <a:avLst>
              <a:gd name="adj" fmla="val 19101"/>
            </a:avLst>
          </a:prstGeom>
          <a:solidFill>
            <a:srgbClr val="FFFFFF"/>
          </a:solidFill>
          <a:ln w="6350">
            <a:solidFill>
              <a:srgbClr val="E3E6EA"/>
            </a:solidFill>
            <a:prstDash val="solid"/>
          </a:ln>
        </p:spPr>
      </p:sp>
      <p:sp>
        <p:nvSpPr>
          <p:cNvPr id="18" name="Text 16"/>
          <p:cNvSpPr txBox="1"/>
          <p:nvPr/>
        </p:nvSpPr>
        <p:spPr>
          <a:xfrm>
            <a:off x="780989" y="4121932"/>
            <a:ext cx="242818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Mã hóa bằng </a:t>
            </a:r>
            <a:pPr algn="l" indent="0" marL="0">
              <a:buNone/>
            </a:pPr>
            <a:r>
              <a:rPr lang="en-US" sz="1100" dirty="0">
                <a:solidFill>
                  <a:srgbClr val="3F454D"/>
                </a:solidFill>
                <a:latin typeface="Courier New" pitchFamily="34" charset="0"/>
                <a:ea typeface="Courier New" pitchFamily="34" charset="-122"/>
                <a:cs typeface="Courier New" pitchFamily="34" charset="-120"/>
              </a:rPr>
              <a:t>URLEncoder</a:t>
            </a:r>
            <a:pPr algn="l" indent="0" marL="0">
              <a:buNone/>
            </a:pPr>
            <a:r>
              <a:rPr lang="en-US" sz="1100" dirty="0">
                <a:solidFill>
                  <a:srgbClr val="3F454D"/>
                </a:solidFill>
                <a:latin typeface="Arial" pitchFamily="34" charset="0"/>
                <a:ea typeface="Arial" pitchFamily="34" charset="-122"/>
                <a:cs typeface="Arial" pitchFamily="34" charset="-120"/>
              </a:rPr>
              <a:t> của Java</a:t>
            </a:r>
            <a:endParaRPr lang="en-US" sz="1100" dirty="0"/>
          </a:p>
        </p:txBody>
      </p:sp>
      <p:sp>
        <p:nvSpPr>
          <p:cNvPr id="19" name="Text 17"/>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0" name="Text 18"/>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43829"/>
            <a:ext cx="6152723"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canonical() và hmac(): tạo chữ ký</a:t>
            </a:r>
            <a:endParaRPr lang="en-US" sz="3000" dirty="0"/>
          </a:p>
        </p:txBody>
      </p:sp>
      <p:sp>
        <p:nvSpPr>
          <p:cNvPr id="4" name="Text 2"/>
          <p:cNvSpPr txBox="1"/>
          <p:nvPr/>
        </p:nvSpPr>
        <p:spPr>
          <a:xfrm>
            <a:off x="660380" y="1358798"/>
            <a:ext cx="379686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Trích từ SeminarDemo.java, ngắt dòng cho dễ đọc</a:t>
            </a:r>
            <a:endParaRPr lang="en-US" sz="1000" dirty="0"/>
          </a:p>
        </p:txBody>
      </p:sp>
      <p:sp>
        <p:nvSpPr>
          <p:cNvPr id="5" name="Shape 3"/>
          <p:cNvSpPr/>
          <p:nvPr/>
        </p:nvSpPr>
        <p:spPr>
          <a:xfrm>
            <a:off x="660380" y="1601389"/>
            <a:ext cx="5813847" cy="2824673"/>
          </a:xfrm>
          <a:prstGeom prst="roundRect">
            <a:avLst>
              <a:gd name="adj" fmla="val 3597"/>
            </a:avLst>
          </a:prstGeom>
          <a:solidFill>
            <a:srgbClr val="0C131E"/>
          </a:solidFill>
          <a:ln/>
        </p:spPr>
      </p:sp>
      <p:sp>
        <p:nvSpPr>
          <p:cNvPr id="6" name="Text 4"/>
          <p:cNvSpPr txBox="1"/>
          <p:nvPr/>
        </p:nvSpPr>
        <p:spPr>
          <a:xfrm>
            <a:off x="907999" y="1784452"/>
            <a:ext cx="3701948"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static</a:t>
            </a:r>
            <a:pPr algn="l" indent="0" marL="0">
              <a:buNone/>
            </a:pPr>
            <a:r>
              <a:rPr lang="en-US" sz="980" dirty="0">
                <a:solidFill>
                  <a:srgbClr val="E6EDF7"/>
                </a:solidFill>
                <a:latin typeface="Courier New" pitchFamily="34" charset="0"/>
                <a:ea typeface="Courier New" pitchFamily="34" charset="-122"/>
                <a:cs typeface="Courier New" pitchFamily="34" charset="-120"/>
              </a:rPr>
              <a:t> String canonical(Map&lt;String,String&gt; m) {</a:t>
            </a:r>
            <a:endParaRPr lang="en-US" sz="980" dirty="0"/>
          </a:p>
        </p:txBody>
      </p:sp>
      <p:sp>
        <p:nvSpPr>
          <p:cNvPr id="7" name="Text 5"/>
          <p:cNvSpPr txBox="1"/>
          <p:nvPr/>
        </p:nvSpPr>
        <p:spPr>
          <a:xfrm>
            <a:off x="907999" y="1976293"/>
            <a:ext cx="338693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List&lt;String&gt; pairs = </a:t>
            </a:r>
            <a:pPr algn="l" indent="0" marL="0">
              <a:buNone/>
            </a:pPr>
            <a:r>
              <a:rPr lang="en-US" sz="980" dirty="0">
                <a:solidFill>
                  <a:srgbClr val="7FC2FF"/>
                </a:solidFill>
                <a:latin typeface="Courier New" pitchFamily="34" charset="0"/>
                <a:ea typeface="Courier New" pitchFamily="34" charset="-122"/>
                <a:cs typeface="Courier New" pitchFamily="34" charset="-120"/>
              </a:rPr>
              <a:t>new</a:t>
            </a:r>
            <a:pPr algn="l" indent="0" marL="0">
              <a:buNone/>
            </a:pPr>
            <a:r>
              <a:rPr lang="en-US" sz="980" dirty="0">
                <a:solidFill>
                  <a:srgbClr val="E6EDF7"/>
                </a:solidFill>
                <a:latin typeface="Courier New" pitchFamily="34" charset="0"/>
                <a:ea typeface="Courier New" pitchFamily="34" charset="-122"/>
                <a:cs typeface="Courier New" pitchFamily="34" charset="-120"/>
              </a:rPr>
              <a:t> ArrayList&lt;&gt;();</a:t>
            </a:r>
            <a:endParaRPr lang="en-US" sz="980" dirty="0"/>
          </a:p>
        </p:txBody>
      </p:sp>
      <p:sp>
        <p:nvSpPr>
          <p:cNvPr id="8" name="Shape 6"/>
          <p:cNvSpPr/>
          <p:nvPr/>
        </p:nvSpPr>
        <p:spPr>
          <a:xfrm>
            <a:off x="660380" y="2150212"/>
            <a:ext cx="5813847" cy="191841"/>
          </a:xfrm>
          <a:prstGeom prst="rect">
            <a:avLst/>
          </a:prstGeom>
          <a:solidFill>
            <a:srgbClr val="FFD479">
              <a:alpha val="13000"/>
            </a:srgbClr>
          </a:solidFill>
          <a:ln/>
        </p:spPr>
      </p:sp>
      <p:sp>
        <p:nvSpPr>
          <p:cNvPr id="9" name="Shape 7"/>
          <p:cNvSpPr/>
          <p:nvPr/>
        </p:nvSpPr>
        <p:spPr>
          <a:xfrm>
            <a:off x="660380" y="2150212"/>
            <a:ext cx="31730" cy="191841"/>
          </a:xfrm>
          <a:prstGeom prst="rect">
            <a:avLst/>
          </a:prstGeom>
          <a:solidFill>
            <a:srgbClr val="FFD479"/>
          </a:solidFill>
          <a:ln/>
        </p:spPr>
      </p:sp>
      <p:sp>
        <p:nvSpPr>
          <p:cNvPr id="10" name="Text 8"/>
          <p:cNvSpPr txBox="1"/>
          <p:nvPr/>
        </p:nvSpPr>
        <p:spPr>
          <a:xfrm>
            <a:off x="907999" y="2168225"/>
            <a:ext cx="315065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new</a:t>
            </a:r>
            <a:pPr algn="l" indent="0" marL="0">
              <a:buNone/>
            </a:pPr>
            <a:r>
              <a:rPr lang="en-US" sz="980" dirty="0">
                <a:solidFill>
                  <a:srgbClr val="E6EDF7"/>
                </a:solidFill>
                <a:latin typeface="Courier New" pitchFamily="34" charset="0"/>
                <a:ea typeface="Courier New" pitchFamily="34" charset="-122"/>
                <a:cs typeface="Courier New" pitchFamily="34" charset="-120"/>
              </a:rPr>
              <a:t> TreeMap&lt;&gt;(m).forEach((k, v) -&gt; {</a:t>
            </a:r>
            <a:endParaRPr lang="en-US" sz="980" dirty="0"/>
          </a:p>
        </p:txBody>
      </p:sp>
      <p:sp>
        <p:nvSpPr>
          <p:cNvPr id="11" name="Shape 9"/>
          <p:cNvSpPr/>
          <p:nvPr/>
        </p:nvSpPr>
        <p:spPr>
          <a:xfrm>
            <a:off x="660380" y="2342144"/>
            <a:ext cx="5813847" cy="191841"/>
          </a:xfrm>
          <a:prstGeom prst="rect">
            <a:avLst/>
          </a:prstGeom>
          <a:solidFill>
            <a:srgbClr val="FFD479">
              <a:alpha val="13000"/>
            </a:srgbClr>
          </a:solidFill>
          <a:ln/>
        </p:spPr>
      </p:sp>
      <p:sp>
        <p:nvSpPr>
          <p:cNvPr id="12" name="Shape 10"/>
          <p:cNvSpPr/>
          <p:nvPr/>
        </p:nvSpPr>
        <p:spPr>
          <a:xfrm>
            <a:off x="660380" y="2342144"/>
            <a:ext cx="31730" cy="191841"/>
          </a:xfrm>
          <a:prstGeom prst="rect">
            <a:avLst/>
          </a:prstGeom>
          <a:solidFill>
            <a:srgbClr val="FFD479"/>
          </a:solidFill>
          <a:ln/>
        </p:spPr>
      </p:sp>
      <p:sp>
        <p:nvSpPr>
          <p:cNvPr id="13" name="Text 11"/>
          <p:cNvSpPr txBox="1"/>
          <p:nvPr/>
        </p:nvSpPr>
        <p:spPr>
          <a:xfrm>
            <a:off x="907999" y="2360066"/>
            <a:ext cx="567138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(v != </a:t>
            </a:r>
            <a:pPr algn="l" indent="0" marL="0">
              <a:buNone/>
            </a:pPr>
            <a:r>
              <a:rPr lang="en-US" sz="980" dirty="0">
                <a:solidFill>
                  <a:srgbClr val="7FC2FF"/>
                </a:solidFill>
                <a:latin typeface="Courier New" pitchFamily="34" charset="0"/>
                <a:ea typeface="Courier New" pitchFamily="34" charset="-122"/>
                <a:cs typeface="Courier New" pitchFamily="34" charset="-120"/>
              </a:rPr>
              <a:t>null</a:t>
            </a:r>
            <a:pPr algn="l" indent="0" marL="0">
              <a:buNone/>
            </a:pPr>
            <a:r>
              <a:rPr lang="en-US" sz="980" dirty="0">
                <a:solidFill>
                  <a:srgbClr val="E6EDF7"/>
                </a:solidFill>
                <a:latin typeface="Courier New" pitchFamily="34" charset="0"/>
                <a:ea typeface="Courier New" pitchFamily="34" charset="-122"/>
                <a:cs typeface="Courier New" pitchFamily="34" charset="-120"/>
              </a:rPr>
              <a:t> &amp;&amp; !v.isEmpty()) pairs.add(enc(k) + </a:t>
            </a:r>
            <a:pPr algn="l" indent="0" marL="0">
              <a:buNone/>
            </a:pPr>
            <a:r>
              <a:rPr lang="en-US" sz="980" dirty="0">
                <a:solidFill>
                  <a:srgbClr val="9BE3B4"/>
                </a:solidFill>
                <a:latin typeface="Courier New" pitchFamily="34" charset="0"/>
                <a:ea typeface="Courier New" pitchFamily="34" charset="-122"/>
                <a:cs typeface="Courier New" pitchFamily="34" charset="-120"/>
              </a:rPr>
              <a:t>"="</a:t>
            </a:r>
            <a:pPr algn="l" indent="0" marL="0">
              <a:buNone/>
            </a:pPr>
            <a:r>
              <a:rPr lang="en-US" sz="980" dirty="0">
                <a:solidFill>
                  <a:srgbClr val="E6EDF7"/>
                </a:solidFill>
                <a:latin typeface="Courier New" pitchFamily="34" charset="0"/>
                <a:ea typeface="Courier New" pitchFamily="34" charset="-122"/>
                <a:cs typeface="Courier New" pitchFamily="34" charset="-120"/>
              </a:rPr>
              <a:t> + enc(v));</a:t>
            </a:r>
            <a:endParaRPr lang="en-US" sz="980" dirty="0"/>
          </a:p>
        </p:txBody>
      </p:sp>
      <p:sp>
        <p:nvSpPr>
          <p:cNvPr id="14" name="Text 12"/>
          <p:cNvSpPr txBox="1"/>
          <p:nvPr/>
        </p:nvSpPr>
        <p:spPr>
          <a:xfrm>
            <a:off x="907999" y="2551999"/>
            <a:ext cx="59637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endParaRPr lang="en-US" sz="980" dirty="0"/>
          </a:p>
        </p:txBody>
      </p:sp>
      <p:sp>
        <p:nvSpPr>
          <p:cNvPr id="15" name="Text 13"/>
          <p:cNvSpPr txBox="1"/>
          <p:nvPr/>
        </p:nvSpPr>
        <p:spPr>
          <a:xfrm>
            <a:off x="907999" y="2743840"/>
            <a:ext cx="275691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String.join(</a:t>
            </a:r>
            <a:pPr algn="l" indent="0" marL="0">
              <a:buNone/>
            </a:pPr>
            <a:r>
              <a:rPr lang="en-US" sz="980" dirty="0">
                <a:solidFill>
                  <a:srgbClr val="9BE3B4"/>
                </a:solidFill>
                <a:latin typeface="Courier New" pitchFamily="34" charset="0"/>
                <a:ea typeface="Courier New" pitchFamily="34" charset="-122"/>
                <a:cs typeface="Courier New" pitchFamily="34" charset="-120"/>
              </a:rPr>
              <a:t>"&amp;"</a:t>
            </a:r>
            <a:pPr algn="l" indent="0" marL="0">
              <a:buNone/>
            </a:pPr>
            <a:r>
              <a:rPr lang="en-US" sz="980" dirty="0">
                <a:solidFill>
                  <a:srgbClr val="E6EDF7"/>
                </a:solidFill>
                <a:latin typeface="Courier New" pitchFamily="34" charset="0"/>
                <a:ea typeface="Courier New" pitchFamily="34" charset="-122"/>
                <a:cs typeface="Courier New" pitchFamily="34" charset="-120"/>
              </a:rPr>
              <a:t>, pairs);</a:t>
            </a:r>
            <a:endParaRPr lang="en-US" sz="980" dirty="0"/>
          </a:p>
        </p:txBody>
      </p:sp>
      <p:sp>
        <p:nvSpPr>
          <p:cNvPr id="16" name="Text 14"/>
          <p:cNvSpPr txBox="1"/>
          <p:nvPr/>
        </p:nvSpPr>
        <p:spPr>
          <a:xfrm>
            <a:off x="907999" y="2935681"/>
            <a:ext cx="15051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7" name="Text 15"/>
          <p:cNvSpPr txBox="1"/>
          <p:nvPr/>
        </p:nvSpPr>
        <p:spPr>
          <a:xfrm>
            <a:off x="907999" y="3319455"/>
            <a:ext cx="2599273"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static</a:t>
            </a:r>
            <a:pPr algn="l" indent="0" marL="0">
              <a:buNone/>
            </a:pPr>
            <a:r>
              <a:rPr lang="en-US" sz="980" dirty="0">
                <a:solidFill>
                  <a:srgbClr val="E6EDF7"/>
                </a:solidFill>
                <a:latin typeface="Courier New" pitchFamily="34" charset="0"/>
                <a:ea typeface="Courier New" pitchFamily="34" charset="-122"/>
                <a:cs typeface="Courier New" pitchFamily="34" charset="-120"/>
              </a:rPr>
              <a:t> String hmac(String data) {</a:t>
            </a:r>
            <a:endParaRPr lang="en-US" sz="980" dirty="0"/>
          </a:p>
        </p:txBody>
      </p:sp>
      <p:sp>
        <p:nvSpPr>
          <p:cNvPr id="18" name="Text 16"/>
          <p:cNvSpPr txBox="1"/>
          <p:nvPr/>
        </p:nvSpPr>
        <p:spPr>
          <a:xfrm>
            <a:off x="907999" y="3511387"/>
            <a:ext cx="346575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Mac mac = Mac.getInstance(</a:t>
            </a:r>
            <a:pPr algn="l" indent="0" marL="0">
              <a:buNone/>
            </a:pPr>
            <a:r>
              <a:rPr lang="en-US" sz="980" dirty="0">
                <a:solidFill>
                  <a:srgbClr val="9BE3B4"/>
                </a:solidFill>
                <a:latin typeface="Courier New" pitchFamily="34" charset="0"/>
                <a:ea typeface="Courier New" pitchFamily="34" charset="-122"/>
                <a:cs typeface="Courier New" pitchFamily="34" charset="-120"/>
              </a:rPr>
              <a:t>"HmacSHA512"</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9" name="Text 17"/>
          <p:cNvSpPr txBox="1"/>
          <p:nvPr/>
        </p:nvSpPr>
        <p:spPr>
          <a:xfrm>
            <a:off x="907999" y="3703229"/>
            <a:ext cx="551355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mac.init(</a:t>
            </a:r>
            <a:pPr algn="l" indent="0" marL="0">
              <a:buNone/>
            </a:pPr>
            <a:r>
              <a:rPr lang="en-US" sz="980" dirty="0">
                <a:solidFill>
                  <a:srgbClr val="7FC2FF"/>
                </a:solidFill>
                <a:latin typeface="Courier New" pitchFamily="34" charset="0"/>
                <a:ea typeface="Courier New" pitchFamily="34" charset="-122"/>
                <a:cs typeface="Courier New" pitchFamily="34" charset="-120"/>
              </a:rPr>
              <a:t>new</a:t>
            </a:r>
            <a:pPr algn="l" indent="0" marL="0">
              <a:buNone/>
            </a:pPr>
            <a:r>
              <a:rPr lang="en-US" sz="980" dirty="0">
                <a:solidFill>
                  <a:srgbClr val="E6EDF7"/>
                </a:solidFill>
                <a:latin typeface="Courier New" pitchFamily="34" charset="0"/>
                <a:ea typeface="Courier New" pitchFamily="34" charset="-122"/>
                <a:cs typeface="Courier New" pitchFamily="34" charset="-120"/>
              </a:rPr>
              <a:t> SecretKeySpec(SECRET.getBytes(UTF_8), </a:t>
            </a:r>
            <a:pPr algn="l" indent="0" marL="0">
              <a:buNone/>
            </a:pPr>
            <a:r>
              <a:rPr lang="en-US" sz="980" dirty="0">
                <a:solidFill>
                  <a:srgbClr val="9BE3B4"/>
                </a:solidFill>
                <a:latin typeface="Courier New" pitchFamily="34" charset="0"/>
                <a:ea typeface="Courier New" pitchFamily="34" charset="-122"/>
                <a:cs typeface="Courier New" pitchFamily="34" charset="-120"/>
              </a:rPr>
              <a:t>"HmacSHA512"</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0" name="Shape 18"/>
          <p:cNvSpPr/>
          <p:nvPr/>
        </p:nvSpPr>
        <p:spPr>
          <a:xfrm>
            <a:off x="660380" y="3877147"/>
            <a:ext cx="5813847" cy="191841"/>
          </a:xfrm>
          <a:prstGeom prst="rect">
            <a:avLst/>
          </a:prstGeom>
          <a:solidFill>
            <a:srgbClr val="FFD479">
              <a:alpha val="13000"/>
            </a:srgbClr>
          </a:solidFill>
          <a:ln/>
        </p:spPr>
      </p:sp>
      <p:sp>
        <p:nvSpPr>
          <p:cNvPr id="21" name="Shape 19"/>
          <p:cNvSpPr/>
          <p:nvPr/>
        </p:nvSpPr>
        <p:spPr>
          <a:xfrm>
            <a:off x="660380" y="3877147"/>
            <a:ext cx="31730" cy="191841"/>
          </a:xfrm>
          <a:prstGeom prst="rect">
            <a:avLst/>
          </a:prstGeom>
          <a:solidFill>
            <a:srgbClr val="FFD479"/>
          </a:solidFill>
          <a:ln/>
        </p:spPr>
      </p:sp>
      <p:sp>
        <p:nvSpPr>
          <p:cNvPr id="22" name="Text 20"/>
          <p:cNvSpPr txBox="1"/>
          <p:nvPr/>
        </p:nvSpPr>
        <p:spPr>
          <a:xfrm>
            <a:off x="907999" y="3895161"/>
            <a:ext cx="559237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HexFormat.of().formatHex(mac.doFinal(data.getBytes(UTF_8)));</a:t>
            </a:r>
            <a:endParaRPr lang="en-US" sz="980" dirty="0"/>
          </a:p>
        </p:txBody>
      </p:sp>
      <p:sp>
        <p:nvSpPr>
          <p:cNvPr id="23" name="Text 21"/>
          <p:cNvSpPr txBox="1"/>
          <p:nvPr/>
        </p:nvSpPr>
        <p:spPr>
          <a:xfrm>
            <a:off x="907999" y="4087002"/>
            <a:ext cx="15051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4" name="Shape 22"/>
          <p:cNvSpPr/>
          <p:nvPr/>
        </p:nvSpPr>
        <p:spPr>
          <a:xfrm>
            <a:off x="6677497" y="1347368"/>
            <a:ext cx="4853818" cy="398770"/>
          </a:xfrm>
          <a:prstGeom prst="roundRect">
            <a:avLst>
              <a:gd name="adj" fmla="val 19101"/>
            </a:avLst>
          </a:prstGeom>
          <a:solidFill>
            <a:srgbClr val="FFFFFF"/>
          </a:solidFill>
          <a:ln w="6350">
            <a:solidFill>
              <a:srgbClr val="E3E6EA"/>
            </a:solidFill>
            <a:prstDash val="solid"/>
          </a:ln>
        </p:spPr>
      </p:sp>
      <p:sp>
        <p:nvSpPr>
          <p:cNvPr id="25" name="Text 23"/>
          <p:cNvSpPr txBox="1"/>
          <p:nvPr/>
        </p:nvSpPr>
        <p:spPr>
          <a:xfrm>
            <a:off x="6798107" y="1446947"/>
            <a:ext cx="4328312"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Theo tài liệu: sắp xếp theo tên, bỏ giá trị rỗng, mã hóa, nối bằng </a:t>
            </a:r>
            <a:pPr algn="l" indent="0" marL="0">
              <a:buNone/>
            </a:pPr>
            <a:r>
              <a:rPr lang="en-US" sz="1100" dirty="0">
                <a:solidFill>
                  <a:srgbClr val="3F454D"/>
                </a:solidFill>
                <a:latin typeface="Courier New" pitchFamily="34" charset="0"/>
                <a:ea typeface="Courier New" pitchFamily="34" charset="-122"/>
                <a:cs typeface="Courier New" pitchFamily="34" charset="-120"/>
              </a:rPr>
              <a:t>&amp;</a:t>
            </a:r>
            <a:endParaRPr lang="en-US" sz="1100" dirty="0"/>
          </a:p>
        </p:txBody>
      </p:sp>
      <p:sp>
        <p:nvSpPr>
          <p:cNvPr id="26" name="Shape 24"/>
          <p:cNvSpPr/>
          <p:nvPr/>
        </p:nvSpPr>
        <p:spPr>
          <a:xfrm>
            <a:off x="6677497" y="1822308"/>
            <a:ext cx="4853818" cy="386060"/>
          </a:xfrm>
          <a:prstGeom prst="roundRect">
            <a:avLst>
              <a:gd name="adj" fmla="val 19730"/>
            </a:avLst>
          </a:prstGeom>
          <a:solidFill>
            <a:srgbClr val="FFFFFF"/>
          </a:solidFill>
          <a:ln w="6350">
            <a:solidFill>
              <a:srgbClr val="E3E6EA"/>
            </a:solidFill>
            <a:prstDash val="solid"/>
          </a:ln>
        </p:spPr>
      </p:sp>
      <p:sp>
        <p:nvSpPr>
          <p:cNvPr id="27" name="Text 25"/>
          <p:cNvSpPr txBox="1"/>
          <p:nvPr/>
        </p:nvSpPr>
        <p:spPr>
          <a:xfrm>
            <a:off x="6798107" y="1921886"/>
            <a:ext cx="3786348"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Băm HMAC-SHA512 bằng HashSecret, kết quả dạng hex</a:t>
            </a:r>
            <a:endParaRPr lang="en-US" sz="1100" dirty="0"/>
          </a:p>
        </p:txBody>
      </p:sp>
      <p:sp>
        <p:nvSpPr>
          <p:cNvPr id="28" name="Shape 26"/>
          <p:cNvSpPr/>
          <p:nvPr/>
        </p:nvSpPr>
        <p:spPr>
          <a:xfrm>
            <a:off x="6677497" y="2284537"/>
            <a:ext cx="4853818" cy="398770"/>
          </a:xfrm>
          <a:prstGeom prst="roundRect">
            <a:avLst>
              <a:gd name="adj" fmla="val 19101"/>
            </a:avLst>
          </a:prstGeom>
          <a:solidFill>
            <a:srgbClr val="FFFFFF"/>
          </a:solidFill>
          <a:ln w="6350">
            <a:solidFill>
              <a:srgbClr val="E3E6EA"/>
            </a:solidFill>
            <a:prstDash val="solid"/>
          </a:ln>
        </p:spPr>
      </p:sp>
      <p:sp>
        <p:nvSpPr>
          <p:cNvPr id="29" name="Text 27"/>
          <p:cNvSpPr txBox="1"/>
          <p:nvPr/>
        </p:nvSpPr>
        <p:spPr>
          <a:xfrm>
            <a:off x="6798107" y="2384115"/>
            <a:ext cx="3002615"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TreeMap</a:t>
            </a:r>
            <a:pPr algn="l" indent="0" marL="0">
              <a:buNone/>
            </a:pPr>
            <a:r>
              <a:rPr lang="en-US" sz="1100" dirty="0">
                <a:solidFill>
                  <a:srgbClr val="3F454D"/>
                </a:solidFill>
                <a:latin typeface="Arial" pitchFamily="34" charset="0"/>
                <a:ea typeface="Arial" pitchFamily="34" charset="-122"/>
                <a:cs typeface="Arial" pitchFamily="34" charset="-120"/>
              </a:rPr>
              <a:t> tự sắp xếp khóa theo thứ tự từ điển</a:t>
            </a:r>
            <a:endParaRPr lang="en-US" sz="1100" dirty="0"/>
          </a:p>
        </p:txBody>
      </p:sp>
      <p:sp>
        <p:nvSpPr>
          <p:cNvPr id="30" name="Shape 28"/>
          <p:cNvSpPr/>
          <p:nvPr/>
        </p:nvSpPr>
        <p:spPr>
          <a:xfrm>
            <a:off x="6677497" y="2759476"/>
            <a:ext cx="4853818" cy="398770"/>
          </a:xfrm>
          <a:prstGeom prst="roundRect">
            <a:avLst>
              <a:gd name="adj" fmla="val 19101"/>
            </a:avLst>
          </a:prstGeom>
          <a:solidFill>
            <a:srgbClr val="FFFFFF"/>
          </a:solidFill>
          <a:ln w="6350">
            <a:solidFill>
              <a:srgbClr val="E3E6EA"/>
            </a:solidFill>
            <a:prstDash val="solid"/>
          </a:ln>
        </p:spPr>
      </p:sp>
      <p:sp>
        <p:nvSpPr>
          <p:cNvPr id="31" name="Text 29"/>
          <p:cNvSpPr txBox="1"/>
          <p:nvPr/>
        </p:nvSpPr>
        <p:spPr>
          <a:xfrm>
            <a:off x="6798107" y="2859054"/>
            <a:ext cx="3910889"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HexFormat</a:t>
            </a:r>
            <a:pPr algn="l" indent="0" marL="0">
              <a:buNone/>
            </a:pPr>
            <a:r>
              <a:rPr lang="en-US" sz="1100" dirty="0">
                <a:solidFill>
                  <a:srgbClr val="3F454D"/>
                </a:solidFill>
                <a:latin typeface="Arial" pitchFamily="34" charset="0"/>
                <a:ea typeface="Arial" pitchFamily="34" charset="-122"/>
                <a:cs typeface="Arial" pitchFamily="34" charset="-120"/>
              </a:rPr>
              <a:t> trả chữ thường; VNPAY chấp nhận cả chữ hoa</a:t>
            </a:r>
            <a:endParaRPr lang="en-US" sz="1100" dirty="0"/>
          </a:p>
        </p:txBody>
      </p:sp>
      <p:sp>
        <p:nvSpPr>
          <p:cNvPr id="32" name="Shape 30"/>
          <p:cNvSpPr/>
          <p:nvPr/>
        </p:nvSpPr>
        <p:spPr>
          <a:xfrm>
            <a:off x="6677497" y="3234416"/>
            <a:ext cx="4853818" cy="386060"/>
          </a:xfrm>
          <a:prstGeom prst="roundRect">
            <a:avLst>
              <a:gd name="adj" fmla="val 19730"/>
            </a:avLst>
          </a:prstGeom>
          <a:solidFill>
            <a:srgbClr val="FFFFFF"/>
          </a:solidFill>
          <a:ln w="6350">
            <a:solidFill>
              <a:srgbClr val="E3E6EA"/>
            </a:solidFill>
            <a:prstDash val="solid"/>
          </a:ln>
        </p:spPr>
      </p:sp>
      <p:sp>
        <p:nvSpPr>
          <p:cNvPr id="33" name="Text 31"/>
          <p:cNvSpPr txBox="1"/>
          <p:nvPr/>
        </p:nvSpPr>
        <p:spPr>
          <a:xfrm>
            <a:off x="6798107" y="3333994"/>
            <a:ext cx="2938516"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Dùng chung cho tạo yêu cầu và kiểm tra IPN</a:t>
            </a:r>
            <a:endParaRPr lang="en-US" sz="1100" dirty="0"/>
          </a:p>
        </p:txBody>
      </p:sp>
      <p:sp>
        <p:nvSpPr>
          <p:cNvPr id="34" name="Text 32"/>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5" name="Text 33"/>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43829"/>
            <a:ext cx="6724223"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paymentUrl(): tạo liên kết thanh toán</a:t>
            </a:r>
            <a:endParaRPr lang="en-US" sz="3000" dirty="0"/>
          </a:p>
        </p:txBody>
      </p:sp>
      <p:sp>
        <p:nvSpPr>
          <p:cNvPr id="4" name="Text 2"/>
          <p:cNvSpPr txBox="1"/>
          <p:nvPr/>
        </p:nvSpPr>
        <p:spPr>
          <a:xfrm>
            <a:off x="660380" y="1358798"/>
            <a:ext cx="379686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Trích từ SeminarDemo.java, ngắt dòng cho dễ đọc</a:t>
            </a:r>
            <a:endParaRPr lang="en-US" sz="1000" dirty="0"/>
          </a:p>
        </p:txBody>
      </p:sp>
      <p:sp>
        <p:nvSpPr>
          <p:cNvPr id="5" name="Shape 3"/>
          <p:cNvSpPr/>
          <p:nvPr/>
        </p:nvSpPr>
        <p:spPr>
          <a:xfrm>
            <a:off x="660380" y="1601389"/>
            <a:ext cx="6408115" cy="3016606"/>
          </a:xfrm>
          <a:prstGeom prst="roundRect">
            <a:avLst>
              <a:gd name="adj" fmla="val 3368"/>
            </a:avLst>
          </a:prstGeom>
          <a:solidFill>
            <a:srgbClr val="0C131E"/>
          </a:solidFill>
          <a:ln/>
        </p:spPr>
      </p:sp>
      <p:sp>
        <p:nvSpPr>
          <p:cNvPr id="6" name="Text 4"/>
          <p:cNvSpPr txBox="1"/>
          <p:nvPr/>
        </p:nvSpPr>
        <p:spPr>
          <a:xfrm>
            <a:off x="907999" y="1784452"/>
            <a:ext cx="2914376"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static</a:t>
            </a:r>
            <a:pPr algn="l" indent="0" marL="0">
              <a:buNone/>
            </a:pPr>
            <a:r>
              <a:rPr lang="en-US" sz="980" dirty="0">
                <a:solidFill>
                  <a:srgbClr val="E6EDF7"/>
                </a:solidFill>
                <a:latin typeface="Courier New" pitchFamily="34" charset="0"/>
                <a:ea typeface="Courier New" pitchFamily="34" charset="-122"/>
                <a:cs typeface="Courier New" pitchFamily="34" charset="-120"/>
              </a:rPr>
              <a:t> String paymentUrl(Payment p) {</a:t>
            </a:r>
            <a:endParaRPr lang="en-US" sz="980" dirty="0"/>
          </a:p>
        </p:txBody>
      </p:sp>
      <p:sp>
        <p:nvSpPr>
          <p:cNvPr id="7" name="Text 5"/>
          <p:cNvSpPr txBox="1"/>
          <p:nvPr/>
        </p:nvSpPr>
        <p:spPr>
          <a:xfrm>
            <a:off x="907999" y="1976293"/>
            <a:ext cx="338684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Map&lt;String,String&gt; m = </a:t>
            </a:r>
            <a:pPr algn="l" indent="0" marL="0">
              <a:buNone/>
            </a:pPr>
            <a:r>
              <a:rPr lang="en-US" sz="980" dirty="0">
                <a:solidFill>
                  <a:srgbClr val="7FC2FF"/>
                </a:solidFill>
                <a:latin typeface="Courier New" pitchFamily="34" charset="0"/>
                <a:ea typeface="Courier New" pitchFamily="34" charset="-122"/>
                <a:cs typeface="Courier New" pitchFamily="34" charset="-120"/>
              </a:rPr>
              <a:t>new</a:t>
            </a:r>
            <a:pPr algn="l" indent="0" marL="0">
              <a:buNone/>
            </a:pPr>
            <a:r>
              <a:rPr lang="en-US" sz="980" dirty="0">
                <a:solidFill>
                  <a:srgbClr val="E6EDF7"/>
                </a:solidFill>
                <a:latin typeface="Courier New" pitchFamily="34" charset="0"/>
                <a:ea typeface="Courier New" pitchFamily="34" charset="-122"/>
                <a:cs typeface="Courier New" pitchFamily="34" charset="-120"/>
              </a:rPr>
              <a:t> TreeMap&lt;&gt;();</a:t>
            </a:r>
            <a:endParaRPr lang="en-US" sz="980" dirty="0"/>
          </a:p>
        </p:txBody>
      </p:sp>
      <p:sp>
        <p:nvSpPr>
          <p:cNvPr id="8" name="Text 6"/>
          <p:cNvSpPr txBox="1"/>
          <p:nvPr/>
        </p:nvSpPr>
        <p:spPr>
          <a:xfrm>
            <a:off x="907999" y="2168225"/>
            <a:ext cx="512000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"vnp_Version"</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"2.1.0"</a:t>
            </a:r>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"vnp_Command"</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"pay"</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9" name="Text 7"/>
          <p:cNvSpPr txBox="1"/>
          <p:nvPr/>
        </p:nvSpPr>
        <p:spPr>
          <a:xfrm>
            <a:off x="907999" y="2360066"/>
            <a:ext cx="504117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"vnp_TmnCode"</a:t>
            </a:r>
            <a:pPr algn="l" indent="0" marL="0">
              <a:buNone/>
            </a:pPr>
            <a:r>
              <a:rPr lang="en-US" sz="980" dirty="0">
                <a:solidFill>
                  <a:srgbClr val="E6EDF7"/>
                </a:solidFill>
                <a:latin typeface="Courier New" pitchFamily="34" charset="0"/>
                <a:ea typeface="Courier New" pitchFamily="34" charset="-122"/>
                <a:cs typeface="Courier New" pitchFamily="34" charset="-120"/>
              </a:rPr>
              <a:t>, TMN);       m.put(</a:t>
            </a:r>
            <a:pPr algn="l" indent="0" marL="0">
              <a:buNone/>
            </a:pPr>
            <a:r>
              <a:rPr lang="en-US" sz="980" dirty="0">
                <a:solidFill>
                  <a:srgbClr val="9BE3B4"/>
                </a:solidFill>
                <a:latin typeface="Courier New" pitchFamily="34" charset="0"/>
                <a:ea typeface="Courier New" pitchFamily="34" charset="-122"/>
                <a:cs typeface="Courier New" pitchFamily="34" charset="-120"/>
              </a:rPr>
              <a:t>"vnp_TxnRef"</a:t>
            </a:r>
            <a:pPr algn="l" indent="0" marL="0">
              <a:buNone/>
            </a:pPr>
            <a:r>
              <a:rPr lang="en-US" sz="980" dirty="0">
                <a:solidFill>
                  <a:srgbClr val="E6EDF7"/>
                </a:solidFill>
                <a:latin typeface="Courier New" pitchFamily="34" charset="0"/>
                <a:ea typeface="Courier New" pitchFamily="34" charset="-122"/>
                <a:cs typeface="Courier New" pitchFamily="34" charset="-120"/>
              </a:rPr>
              <a:t>, p.ref);</a:t>
            </a:r>
            <a:endParaRPr lang="en-US" sz="980" dirty="0"/>
          </a:p>
        </p:txBody>
      </p:sp>
      <p:sp>
        <p:nvSpPr>
          <p:cNvPr id="10" name="Shape 8"/>
          <p:cNvSpPr/>
          <p:nvPr/>
        </p:nvSpPr>
        <p:spPr>
          <a:xfrm>
            <a:off x="660380" y="2533985"/>
            <a:ext cx="6408115" cy="191841"/>
          </a:xfrm>
          <a:prstGeom prst="rect">
            <a:avLst/>
          </a:prstGeom>
          <a:solidFill>
            <a:srgbClr val="FFD479">
              <a:alpha val="13000"/>
            </a:srgbClr>
          </a:solidFill>
          <a:ln/>
        </p:spPr>
      </p:sp>
      <p:sp>
        <p:nvSpPr>
          <p:cNvPr id="11" name="Shape 9"/>
          <p:cNvSpPr/>
          <p:nvPr/>
        </p:nvSpPr>
        <p:spPr>
          <a:xfrm>
            <a:off x="660380" y="2533985"/>
            <a:ext cx="31730" cy="191841"/>
          </a:xfrm>
          <a:prstGeom prst="rect">
            <a:avLst/>
          </a:prstGeom>
          <a:solidFill>
            <a:srgbClr val="FFD479"/>
          </a:solidFill>
          <a:ln/>
        </p:spPr>
      </p:sp>
      <p:sp>
        <p:nvSpPr>
          <p:cNvPr id="12" name="Text 10"/>
          <p:cNvSpPr txBox="1"/>
          <p:nvPr/>
        </p:nvSpPr>
        <p:spPr>
          <a:xfrm>
            <a:off x="907999" y="2551999"/>
            <a:ext cx="433224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"vnp_Amount"</a:t>
            </a:r>
            <a:pPr algn="l" indent="0" marL="0">
              <a:buNone/>
            </a:pPr>
            <a:r>
              <a:rPr lang="en-US" sz="980" dirty="0">
                <a:solidFill>
                  <a:srgbClr val="E6EDF7"/>
                </a:solidFill>
                <a:latin typeface="Courier New" pitchFamily="34" charset="0"/>
                <a:ea typeface="Courier New" pitchFamily="34" charset="-122"/>
                <a:cs typeface="Courier New" pitchFamily="34" charset="-120"/>
              </a:rPr>
              <a:t>, Long.toString(p.amount * 100));</a:t>
            </a:r>
            <a:endParaRPr lang="en-US" sz="980" dirty="0"/>
          </a:p>
        </p:txBody>
      </p:sp>
      <p:sp>
        <p:nvSpPr>
          <p:cNvPr id="13" name="Text 11"/>
          <p:cNvSpPr txBox="1"/>
          <p:nvPr/>
        </p:nvSpPr>
        <p:spPr>
          <a:xfrm>
            <a:off x="907999" y="2743840"/>
            <a:ext cx="259936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"vnp_CurrCode"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4" name="Text 12"/>
          <p:cNvSpPr txBox="1"/>
          <p:nvPr/>
        </p:nvSpPr>
        <p:spPr>
          <a:xfrm>
            <a:off x="907999" y="2935681"/>
            <a:ext cx="425342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"vnp_OrderInfo"</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"Thanh toan don hang mau"</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5" name="Text 13"/>
          <p:cNvSpPr txBox="1"/>
          <p:nvPr/>
        </p:nvSpPr>
        <p:spPr>
          <a:xfrm>
            <a:off x="907999" y="3127614"/>
            <a:ext cx="496254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"vnp_OrderType"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"other"</a:t>
            </a:r>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"vnp_Locale"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6" name="Text 14"/>
          <p:cNvSpPr txBox="1"/>
          <p:nvPr/>
        </p:nvSpPr>
        <p:spPr>
          <a:xfrm>
            <a:off x="907999" y="3319455"/>
            <a:ext cx="551383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"vnp_ReturnUrl"</a:t>
            </a:r>
            <a:pPr algn="l" indent="0" marL="0">
              <a:buNone/>
            </a:pPr>
            <a:r>
              <a:rPr lang="en-US" sz="980" dirty="0">
                <a:solidFill>
                  <a:srgbClr val="E6EDF7"/>
                </a:solidFill>
                <a:latin typeface="Courier New" pitchFamily="34" charset="0"/>
                <a:ea typeface="Courier New" pitchFamily="34" charset="-122"/>
                <a:cs typeface="Courier New" pitchFamily="34" charset="-120"/>
              </a:rPr>
              <a:t>, RETURN);  m.put(</a:t>
            </a:r>
            <a:pPr algn="l" indent="0" marL="0">
              <a:buNone/>
            </a:pPr>
            <a:r>
              <a:rPr lang="en-US" sz="980" dirty="0">
                <a:solidFill>
                  <a:srgbClr val="9BE3B4"/>
                </a:solidFill>
                <a:latin typeface="Courier New" pitchFamily="34" charset="0"/>
                <a:ea typeface="Courier New" pitchFamily="34" charset="-122"/>
                <a:cs typeface="Courier New" pitchFamily="34" charset="-120"/>
              </a:rPr>
              <a:t>"vnp_IpAddr"</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"127.0.0.1"</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7" name="Shape 15"/>
          <p:cNvSpPr/>
          <p:nvPr/>
        </p:nvSpPr>
        <p:spPr>
          <a:xfrm>
            <a:off x="660380" y="3493374"/>
            <a:ext cx="6408115" cy="191841"/>
          </a:xfrm>
          <a:prstGeom prst="rect">
            <a:avLst/>
          </a:prstGeom>
          <a:solidFill>
            <a:srgbClr val="FFD479">
              <a:alpha val="13000"/>
            </a:srgbClr>
          </a:solidFill>
          <a:ln/>
        </p:spPr>
      </p:sp>
      <p:sp>
        <p:nvSpPr>
          <p:cNvPr id="18" name="Shape 16"/>
          <p:cNvSpPr/>
          <p:nvPr/>
        </p:nvSpPr>
        <p:spPr>
          <a:xfrm>
            <a:off x="660380" y="3493374"/>
            <a:ext cx="31730" cy="191841"/>
          </a:xfrm>
          <a:prstGeom prst="rect">
            <a:avLst/>
          </a:prstGeom>
          <a:solidFill>
            <a:srgbClr val="FFD479"/>
          </a:solidFill>
          <a:ln/>
        </p:spPr>
      </p:sp>
      <p:sp>
        <p:nvSpPr>
          <p:cNvPr id="19" name="Text 17"/>
          <p:cNvSpPr txBox="1"/>
          <p:nvPr/>
        </p:nvSpPr>
        <p:spPr>
          <a:xfrm>
            <a:off x="907999" y="3511387"/>
            <a:ext cx="283564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"vnp_CreateDate"</a:t>
            </a:r>
            <a:pPr algn="l" indent="0" marL="0">
              <a:buNone/>
            </a:pPr>
            <a:r>
              <a:rPr lang="en-US" sz="980" dirty="0">
                <a:solidFill>
                  <a:srgbClr val="E6EDF7"/>
                </a:solidFill>
                <a:latin typeface="Courier New" pitchFamily="34" charset="0"/>
                <a:ea typeface="Courier New" pitchFamily="34" charset="-122"/>
                <a:cs typeface="Courier New" pitchFamily="34" charset="-120"/>
              </a:rPr>
              <a:t>, p.date);</a:t>
            </a:r>
            <a:endParaRPr lang="en-US" sz="980" dirty="0"/>
          </a:p>
        </p:txBody>
      </p:sp>
      <p:sp>
        <p:nvSpPr>
          <p:cNvPr id="20" name="Text 18"/>
          <p:cNvSpPr txBox="1"/>
          <p:nvPr/>
        </p:nvSpPr>
        <p:spPr>
          <a:xfrm>
            <a:off x="907999" y="3703229"/>
            <a:ext cx="630122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m.put(</a:t>
            </a:r>
            <a:pPr algn="l" indent="0" marL="0">
              <a:buNone/>
            </a:pPr>
            <a:r>
              <a:rPr lang="en-US" sz="980" dirty="0">
                <a:solidFill>
                  <a:srgbClr val="9BE3B4"/>
                </a:solidFill>
                <a:latin typeface="Courier New" pitchFamily="34" charset="0"/>
                <a:ea typeface="Courier New" pitchFamily="34" charset="-122"/>
                <a:cs typeface="Courier New" pitchFamily="34" charset="-120"/>
              </a:rPr>
              <a:t>"vnp_ExpireDate"</a:t>
            </a:r>
            <a:pPr algn="l" indent="0" marL="0">
              <a:buNone/>
            </a:pPr>
            <a:r>
              <a:rPr lang="en-US" sz="980" dirty="0">
                <a:solidFill>
                  <a:srgbClr val="E6EDF7"/>
                </a:solidFill>
                <a:latin typeface="Courier New" pitchFamily="34" charset="0"/>
                <a:ea typeface="Courier New" pitchFamily="34" charset="-122"/>
                <a:cs typeface="Courier New" pitchFamily="34" charset="-120"/>
              </a:rPr>
              <a:t>, LocalDateTime.now(VN).plusMinutes(15).format(TIME));</a:t>
            </a:r>
            <a:endParaRPr lang="en-US" sz="980" dirty="0"/>
          </a:p>
        </p:txBody>
      </p:sp>
      <p:sp>
        <p:nvSpPr>
          <p:cNvPr id="21" name="Shape 19"/>
          <p:cNvSpPr/>
          <p:nvPr/>
        </p:nvSpPr>
        <p:spPr>
          <a:xfrm>
            <a:off x="660380" y="3877147"/>
            <a:ext cx="6408115" cy="191841"/>
          </a:xfrm>
          <a:prstGeom prst="rect">
            <a:avLst/>
          </a:prstGeom>
          <a:solidFill>
            <a:srgbClr val="FFD479">
              <a:alpha val="13000"/>
            </a:srgbClr>
          </a:solidFill>
          <a:ln/>
        </p:spPr>
      </p:sp>
      <p:sp>
        <p:nvSpPr>
          <p:cNvPr id="22" name="Shape 20"/>
          <p:cNvSpPr/>
          <p:nvPr/>
        </p:nvSpPr>
        <p:spPr>
          <a:xfrm>
            <a:off x="660380" y="3877147"/>
            <a:ext cx="31730" cy="191841"/>
          </a:xfrm>
          <a:prstGeom prst="rect">
            <a:avLst/>
          </a:prstGeom>
          <a:solidFill>
            <a:srgbClr val="FFD479"/>
          </a:solidFill>
          <a:ln/>
        </p:spPr>
      </p:sp>
      <p:sp>
        <p:nvSpPr>
          <p:cNvPr id="23" name="Text 21"/>
          <p:cNvSpPr txBox="1"/>
          <p:nvPr/>
        </p:nvSpPr>
        <p:spPr>
          <a:xfrm>
            <a:off x="907999" y="3895161"/>
            <a:ext cx="244172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String data = canonical(m);</a:t>
            </a:r>
            <a:endParaRPr lang="en-US" sz="980" dirty="0"/>
          </a:p>
        </p:txBody>
      </p:sp>
      <p:sp>
        <p:nvSpPr>
          <p:cNvPr id="24" name="Shape 22"/>
          <p:cNvSpPr/>
          <p:nvPr/>
        </p:nvSpPr>
        <p:spPr>
          <a:xfrm>
            <a:off x="660380" y="4069080"/>
            <a:ext cx="6408115" cy="191841"/>
          </a:xfrm>
          <a:prstGeom prst="rect">
            <a:avLst/>
          </a:prstGeom>
          <a:solidFill>
            <a:srgbClr val="FFD479">
              <a:alpha val="13000"/>
            </a:srgbClr>
          </a:solidFill>
          <a:ln/>
        </p:spPr>
      </p:sp>
      <p:sp>
        <p:nvSpPr>
          <p:cNvPr id="25" name="Shape 23"/>
          <p:cNvSpPr/>
          <p:nvPr/>
        </p:nvSpPr>
        <p:spPr>
          <a:xfrm>
            <a:off x="660380" y="4069080"/>
            <a:ext cx="31730" cy="191841"/>
          </a:xfrm>
          <a:prstGeom prst="rect">
            <a:avLst/>
          </a:prstGeom>
          <a:solidFill>
            <a:srgbClr val="FFD479"/>
          </a:solidFill>
          <a:ln/>
        </p:spPr>
      </p:sp>
      <p:sp>
        <p:nvSpPr>
          <p:cNvPr id="26" name="Text 24"/>
          <p:cNvSpPr txBox="1"/>
          <p:nvPr/>
        </p:nvSpPr>
        <p:spPr>
          <a:xfrm>
            <a:off x="907999" y="4087002"/>
            <a:ext cx="519873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PAY_URL + </a:t>
            </a:r>
            <a:pPr algn="l" indent="0" marL="0">
              <a:buNone/>
            </a:pPr>
            <a:r>
              <a:rPr lang="en-US" sz="980" dirty="0">
                <a:solidFill>
                  <a:srgbClr val="9BE3B4"/>
                </a:solidFill>
                <a:latin typeface="Courier New" pitchFamily="34" charset="0"/>
                <a:ea typeface="Courier New" pitchFamily="34" charset="-122"/>
                <a:cs typeface="Courier New" pitchFamily="34" charset="-120"/>
              </a:rPr>
              <a:t>"?"</a:t>
            </a:r>
            <a:pPr algn="l" indent="0" marL="0">
              <a:buNone/>
            </a:pPr>
            <a:r>
              <a:rPr lang="en-US" sz="980" dirty="0">
                <a:solidFill>
                  <a:srgbClr val="E6EDF7"/>
                </a:solidFill>
                <a:latin typeface="Courier New" pitchFamily="34" charset="0"/>
                <a:ea typeface="Courier New" pitchFamily="34" charset="-122"/>
                <a:cs typeface="Courier New" pitchFamily="34" charset="-120"/>
              </a:rPr>
              <a:t> + data + </a:t>
            </a:r>
            <a:pPr algn="l" indent="0" marL="0">
              <a:buNone/>
            </a:pPr>
            <a:r>
              <a:rPr lang="en-US" sz="980" dirty="0">
                <a:solidFill>
                  <a:srgbClr val="9BE3B4"/>
                </a:solidFill>
                <a:latin typeface="Courier New" pitchFamily="34" charset="0"/>
                <a:ea typeface="Courier New" pitchFamily="34" charset="-122"/>
                <a:cs typeface="Courier New" pitchFamily="34" charset="-120"/>
              </a:rPr>
              <a:t>"&amp;vnp_SecureHash="</a:t>
            </a:r>
            <a:pPr algn="l" indent="0" marL="0">
              <a:buNone/>
            </a:pPr>
            <a:r>
              <a:rPr lang="en-US" sz="980" dirty="0">
                <a:solidFill>
                  <a:srgbClr val="E6EDF7"/>
                </a:solidFill>
                <a:latin typeface="Courier New" pitchFamily="34" charset="0"/>
                <a:ea typeface="Courier New" pitchFamily="34" charset="-122"/>
                <a:cs typeface="Courier New" pitchFamily="34" charset="-120"/>
              </a:rPr>
              <a:t> + hmac(data);</a:t>
            </a:r>
            <a:endParaRPr lang="en-US" sz="980" dirty="0"/>
          </a:p>
        </p:txBody>
      </p:sp>
      <p:sp>
        <p:nvSpPr>
          <p:cNvPr id="27" name="Text 25"/>
          <p:cNvSpPr txBox="1"/>
          <p:nvPr/>
        </p:nvSpPr>
        <p:spPr>
          <a:xfrm>
            <a:off x="907999" y="4278935"/>
            <a:ext cx="15051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8" name="Shape 26"/>
          <p:cNvSpPr/>
          <p:nvPr/>
        </p:nvSpPr>
        <p:spPr>
          <a:xfrm>
            <a:off x="7271675" y="1347368"/>
            <a:ext cx="4259641" cy="398770"/>
          </a:xfrm>
          <a:prstGeom prst="roundRect">
            <a:avLst>
              <a:gd name="adj" fmla="val 19101"/>
            </a:avLst>
          </a:prstGeom>
          <a:solidFill>
            <a:srgbClr val="FFFFFF"/>
          </a:solidFill>
          <a:ln w="6350">
            <a:solidFill>
              <a:srgbClr val="E3E6EA"/>
            </a:solidFill>
            <a:prstDash val="solid"/>
          </a:ln>
        </p:spPr>
      </p:sp>
      <p:sp>
        <p:nvSpPr>
          <p:cNvPr id="29" name="Text 27"/>
          <p:cNvSpPr txBox="1"/>
          <p:nvPr/>
        </p:nvSpPr>
        <p:spPr>
          <a:xfrm>
            <a:off x="7392284" y="1446947"/>
            <a:ext cx="3366455"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Chữ ký gắn cuối liên kết với tên </a:t>
            </a:r>
            <a:pPr algn="l" indent="0" marL="0">
              <a:buNone/>
            </a:pPr>
            <a:r>
              <a:rPr lang="en-US" sz="1100" dirty="0">
                <a:solidFill>
                  <a:srgbClr val="3F454D"/>
                </a:solidFill>
                <a:latin typeface="Courier New" pitchFamily="34" charset="0"/>
                <a:ea typeface="Courier New" pitchFamily="34" charset="-122"/>
                <a:cs typeface="Courier New" pitchFamily="34" charset="-120"/>
              </a:rPr>
              <a:t>vnp_SecureHash</a:t>
            </a:r>
            <a:endParaRPr lang="en-US" sz="1100" dirty="0"/>
          </a:p>
        </p:txBody>
      </p:sp>
      <p:sp>
        <p:nvSpPr>
          <p:cNvPr id="30" name="Shape 28"/>
          <p:cNvSpPr/>
          <p:nvPr/>
        </p:nvSpPr>
        <p:spPr>
          <a:xfrm>
            <a:off x="7271675" y="1822308"/>
            <a:ext cx="4259641" cy="386060"/>
          </a:xfrm>
          <a:prstGeom prst="roundRect">
            <a:avLst>
              <a:gd name="adj" fmla="val 19730"/>
            </a:avLst>
          </a:prstGeom>
          <a:solidFill>
            <a:srgbClr val="FFFFFF"/>
          </a:solidFill>
          <a:ln w="6350">
            <a:solidFill>
              <a:srgbClr val="E3E6EA"/>
            </a:solidFill>
            <a:prstDash val="solid"/>
          </a:ln>
        </p:spPr>
      </p:sp>
      <p:sp>
        <p:nvSpPr>
          <p:cNvPr id="31" name="Text 29"/>
          <p:cNvSpPr txBox="1"/>
          <p:nvPr/>
        </p:nvSpPr>
        <p:spPr>
          <a:xfrm>
            <a:off x="7392284" y="1921886"/>
            <a:ext cx="3605936"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Số tiền lấy từ Order Service, không nhận từ trình duyệt</a:t>
            </a:r>
            <a:endParaRPr lang="en-US" sz="1100" dirty="0"/>
          </a:p>
        </p:txBody>
      </p:sp>
      <p:sp>
        <p:nvSpPr>
          <p:cNvPr id="32" name="Shape 30"/>
          <p:cNvSpPr/>
          <p:nvPr/>
        </p:nvSpPr>
        <p:spPr>
          <a:xfrm>
            <a:off x="7271675" y="2284537"/>
            <a:ext cx="4259641" cy="398770"/>
          </a:xfrm>
          <a:prstGeom prst="roundRect">
            <a:avLst>
              <a:gd name="adj" fmla="val 19101"/>
            </a:avLst>
          </a:prstGeom>
          <a:solidFill>
            <a:srgbClr val="FFFFFF"/>
          </a:solidFill>
          <a:ln w="6350">
            <a:solidFill>
              <a:srgbClr val="E3E6EA"/>
            </a:solidFill>
            <a:prstDash val="solid"/>
          </a:ln>
        </p:spPr>
      </p:sp>
      <p:sp>
        <p:nvSpPr>
          <p:cNvPr id="33" name="Text 31"/>
          <p:cNvSpPr txBox="1"/>
          <p:nvPr/>
        </p:nvSpPr>
        <p:spPr>
          <a:xfrm>
            <a:off x="7392284" y="2384115"/>
            <a:ext cx="3610783"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Lưu thời điểm tạo vào </a:t>
            </a:r>
            <a:pPr algn="l" indent="0" marL="0">
              <a:buNone/>
            </a:pPr>
            <a:r>
              <a:rPr lang="en-US" sz="1100" dirty="0">
                <a:solidFill>
                  <a:srgbClr val="3F454D"/>
                </a:solidFill>
                <a:latin typeface="Courier New" pitchFamily="34" charset="0"/>
                <a:ea typeface="Courier New" pitchFamily="34" charset="-122"/>
                <a:cs typeface="Courier New" pitchFamily="34" charset="-120"/>
              </a:rPr>
              <a:t>p.date</a:t>
            </a:r>
            <a:pPr algn="l" indent="0" marL="0">
              <a:buNone/>
            </a:pPr>
            <a:r>
              <a:rPr lang="en-US" sz="1100" dirty="0">
                <a:solidFill>
                  <a:srgbClr val="3F454D"/>
                </a:solidFill>
                <a:latin typeface="Arial" pitchFamily="34" charset="0"/>
                <a:ea typeface="Arial" pitchFamily="34" charset="-122"/>
                <a:cs typeface="Arial" pitchFamily="34" charset="-120"/>
              </a:rPr>
              <a:t> để dùng khi gọi querydr</a:t>
            </a:r>
            <a:endParaRPr lang="en-US" sz="1100" dirty="0"/>
          </a:p>
        </p:txBody>
      </p:sp>
      <p:sp>
        <p:nvSpPr>
          <p:cNvPr id="34" name="Shape 32"/>
          <p:cNvSpPr/>
          <p:nvPr/>
        </p:nvSpPr>
        <p:spPr>
          <a:xfrm>
            <a:off x="7271675" y="2797607"/>
            <a:ext cx="4259641" cy="752277"/>
          </a:xfrm>
          <a:prstGeom prst="rect">
            <a:avLst/>
          </a:prstGeom>
          <a:solidFill>
            <a:srgbClr val="FFFAF0"/>
          </a:solidFill>
          <a:ln/>
        </p:spPr>
      </p:sp>
      <p:sp>
        <p:nvSpPr>
          <p:cNvPr id="35" name="Shape 33"/>
          <p:cNvSpPr/>
          <p:nvPr/>
        </p:nvSpPr>
        <p:spPr>
          <a:xfrm>
            <a:off x="7271675" y="2797607"/>
            <a:ext cx="4259641" cy="6309"/>
          </a:xfrm>
          <a:prstGeom prst="rect">
            <a:avLst/>
          </a:prstGeom>
          <a:solidFill>
            <a:srgbClr val="F3DFB5"/>
          </a:solidFill>
          <a:ln/>
        </p:spPr>
      </p:sp>
      <p:sp>
        <p:nvSpPr>
          <p:cNvPr id="36" name="Shape 34"/>
          <p:cNvSpPr/>
          <p:nvPr/>
        </p:nvSpPr>
        <p:spPr>
          <a:xfrm>
            <a:off x="7271675" y="3543483"/>
            <a:ext cx="4259641" cy="6309"/>
          </a:xfrm>
          <a:prstGeom prst="rect">
            <a:avLst/>
          </a:prstGeom>
          <a:solidFill>
            <a:srgbClr val="F3DFB5"/>
          </a:solidFill>
          <a:ln/>
        </p:spPr>
      </p:sp>
      <p:sp>
        <p:nvSpPr>
          <p:cNvPr id="37" name="Shape 35"/>
          <p:cNvSpPr/>
          <p:nvPr/>
        </p:nvSpPr>
        <p:spPr>
          <a:xfrm>
            <a:off x="7271675" y="2797607"/>
            <a:ext cx="38130" cy="752277"/>
          </a:xfrm>
          <a:prstGeom prst="rect">
            <a:avLst/>
          </a:prstGeom>
          <a:solidFill>
            <a:srgbClr val="E8A317"/>
          </a:solidFill>
          <a:ln/>
        </p:spPr>
      </p:sp>
      <p:sp>
        <p:nvSpPr>
          <p:cNvPr id="38" name="Text 36"/>
          <p:cNvSpPr txBox="1"/>
          <p:nvPr/>
        </p:nvSpPr>
        <p:spPr>
          <a:xfrm>
            <a:off x="7436724" y="2884475"/>
            <a:ext cx="3453780" cy="188549"/>
          </a:xfrm>
          <a:prstGeom prst="rect">
            <a:avLst/>
          </a:prstGeom>
          <a:noFill/>
          <a:ln/>
        </p:spPr>
        <p:txBody>
          <a:bodyPr wrap="square" lIns="0" tIns="0" rIns="0" bIns="0" rtlCol="0" anchor="ctr"/>
          <a:lstStyle/>
          <a:p>
            <a:pPr algn="l" indent="0" marL="0">
              <a:buNone/>
            </a:pPr>
            <a:r>
              <a:rPr lang="en-US" sz="1100" b="1" dirty="0">
                <a:solidFill>
                  <a:srgbClr val="111111"/>
                </a:solidFill>
                <a:latin typeface="Arial" pitchFamily="34" charset="0"/>
                <a:ea typeface="Arial" pitchFamily="34" charset="-122"/>
                <a:cs typeface="Arial" pitchFamily="34" charset="-120"/>
              </a:rPr>
              <a:t>Vì sao Order Service không gọi VNPAY trực tiếp?</a:t>
            </a:r>
            <a:endParaRPr lang="en-US" sz="1100" dirty="0"/>
          </a:p>
        </p:txBody>
      </p:sp>
      <p:sp>
        <p:nvSpPr>
          <p:cNvPr id="39" name="Text 37"/>
          <p:cNvSpPr txBox="1"/>
          <p:nvPr/>
        </p:nvSpPr>
        <p:spPr>
          <a:xfrm>
            <a:off x="7436724" y="3096433"/>
            <a:ext cx="4080053" cy="426019"/>
          </a:xfrm>
          <a:prstGeom prst="rect">
            <a:avLst/>
          </a:prstGeom>
          <a:noFill/>
          <a:ln/>
        </p:spPr>
        <p:txBody>
          <a:bodyPr wrap="square" lIns="0" tIns="0" rIns="0" bIns="0" rtlCol="0" anchor="t"/>
          <a:lstStyle/>
          <a:p>
            <a:pPr algn="l" indent="0" marL="0">
              <a:lnSpc>
                <a:spcPts val="1470"/>
              </a:lnSpc>
              <a:buNone/>
            </a:pPr>
            <a:r>
              <a:rPr lang="en-US" sz="1050" dirty="0">
                <a:solidFill>
                  <a:srgbClr val="3F454D"/>
                </a:solidFill>
                <a:latin typeface="Arial" pitchFamily="34" charset="0"/>
                <a:ea typeface="Arial" pitchFamily="34" charset="-122"/>
                <a:cs typeface="Arial" pitchFamily="34" charset="-120"/>
              </a:rPr>
              <a:t>Order sẽ phải giữ HashSecret và phụ thuộc tham số vnp_*. Khi đổi cổng thanh toán, Order cũng phải sửa.</a:t>
            </a:r>
            <a:endParaRPr lang="en-US" sz="1050" dirty="0"/>
          </a:p>
        </p:txBody>
      </p:sp>
      <p:sp>
        <p:nvSpPr>
          <p:cNvPr id="40" name="Text 38"/>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1" name="Text 39"/>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43829"/>
            <a:ext cx="5392857"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Kết quả trên VNPAY Sandbox</a:t>
            </a:r>
            <a:endParaRPr lang="en-US" sz="3000" dirty="0"/>
          </a:p>
        </p:txBody>
      </p:sp>
      <p:pic>
        <p:nvPicPr>
          <p:cNvPr id="4" name="Image 0" descr="/Users/minhdang_work/Documents/Codex/2026-10-11/v-o/work/gop/slides-html/vnpay-pay.png">    </p:cNvPr>
          <p:cNvPicPr>
            <a:picLocks noChangeAspect="1"/>
          </p:cNvPicPr>
          <p:nvPr/>
        </p:nvPicPr>
        <p:blipFill>
          <a:blip r:embed="rId1"/>
          <a:stretch>
            <a:fillRect/>
          </a:stretch>
        </p:blipFill>
        <p:spPr>
          <a:xfrm>
            <a:off x="660380" y="1347368"/>
            <a:ext cx="5333878" cy="4292651"/>
          </a:xfrm>
          <a:prstGeom prst="rect">
            <a:avLst/>
          </a:prstGeom>
        </p:spPr>
      </p:pic>
      <p:sp>
        <p:nvSpPr>
          <p:cNvPr id="5" name="Shape 2"/>
          <p:cNvSpPr/>
          <p:nvPr/>
        </p:nvSpPr>
        <p:spPr>
          <a:xfrm>
            <a:off x="660380" y="1347368"/>
            <a:ext cx="5333878" cy="4292651"/>
          </a:xfrm>
          <a:prstGeom prst="roundRect">
            <a:avLst>
              <a:gd name="adj" fmla="val 2071"/>
            </a:avLst>
          </a:prstGeom>
          <a:ln w="6350">
            <a:solidFill>
              <a:srgbClr val="E3E6EA"/>
            </a:solidFill>
            <a:prstDash val="solid"/>
          </a:ln>
        </p:spPr>
      </p:sp>
      <p:sp>
        <p:nvSpPr>
          <p:cNvPr id="6" name="Text 3"/>
          <p:cNvSpPr txBox="1"/>
          <p:nvPr/>
        </p:nvSpPr>
        <p:spPr>
          <a:xfrm>
            <a:off x="660380" y="5733288"/>
            <a:ext cx="3463930"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Liên kết hợp lệ: hiển thị 25.000 VND và mã giao dịch</a:t>
            </a:r>
            <a:endParaRPr lang="en-US" sz="1100" dirty="0"/>
          </a:p>
        </p:txBody>
      </p:sp>
      <p:pic>
        <p:nvPicPr>
          <p:cNvPr id="7" name="Image 1" descr="/Users/minhdang_work/Documents/Codex/2026-10-11/v-o/work/gop/slides-html/vnpay-sai-chu-ky.png">    </p:cNvPr>
          <p:cNvPicPr>
            <a:picLocks noChangeAspect="1"/>
          </p:cNvPicPr>
          <p:nvPr/>
        </p:nvPicPr>
        <p:blipFill>
          <a:blip r:embed="rId2"/>
          <a:stretch>
            <a:fillRect/>
          </a:stretch>
        </p:blipFill>
        <p:spPr>
          <a:xfrm>
            <a:off x="6197437" y="1347368"/>
            <a:ext cx="5333878" cy="4282775"/>
          </a:xfrm>
          <a:prstGeom prst="rect">
            <a:avLst/>
          </a:prstGeom>
        </p:spPr>
      </p:pic>
      <p:sp>
        <p:nvSpPr>
          <p:cNvPr id="8" name="Shape 4"/>
          <p:cNvSpPr/>
          <p:nvPr/>
        </p:nvSpPr>
        <p:spPr>
          <a:xfrm>
            <a:off x="6197437" y="1347368"/>
            <a:ext cx="5333878" cy="4282775"/>
          </a:xfrm>
          <a:prstGeom prst="roundRect">
            <a:avLst>
              <a:gd name="adj" fmla="val 2075"/>
            </a:avLst>
          </a:prstGeom>
          <a:ln w="6350">
            <a:solidFill>
              <a:srgbClr val="E3E6EA"/>
            </a:solidFill>
            <a:prstDash val="solid"/>
          </a:ln>
        </p:spPr>
      </p:sp>
      <p:sp>
        <p:nvSpPr>
          <p:cNvPr id="9" name="Text 5"/>
          <p:cNvSpPr txBox="1"/>
          <p:nvPr/>
        </p:nvSpPr>
        <p:spPr>
          <a:xfrm>
            <a:off x="6197437" y="5723321"/>
            <a:ext cx="3546409"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Sửa vnp_Amount sau khi ký: VNPAY báo "Sai chữ ký"</a:t>
            </a:r>
            <a:endParaRPr lang="en-US" sz="1100" dirty="0"/>
          </a:p>
        </p:txBody>
      </p:sp>
      <p:sp>
        <p:nvSpPr>
          <p:cNvPr id="10" name="Text 6"/>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11" name="Text 7"/>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653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Tạo yêu cầu thanh toán</a:t>
            </a:r>
            <a:endParaRPr lang="en-US" sz="1100" dirty="0"/>
          </a:p>
        </p:txBody>
      </p:sp>
      <p:sp>
        <p:nvSpPr>
          <p:cNvPr id="3" name="Text 1"/>
          <p:cNvSpPr txBox="1"/>
          <p:nvPr/>
        </p:nvSpPr>
        <p:spPr>
          <a:xfrm>
            <a:off x="660380" y="643829"/>
            <a:ext cx="7294626"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Kiểm chứng các quy định trên sandbox</a:t>
            </a:r>
            <a:endParaRPr lang="en-US" sz="3000" dirty="0"/>
          </a:p>
        </p:txBody>
      </p:sp>
      <p:sp>
        <p:nvSpPr>
          <p:cNvPr id="4" name="Shape 2"/>
          <p:cNvSpPr/>
          <p:nvPr/>
        </p:nvSpPr>
        <p:spPr>
          <a:xfrm>
            <a:off x="660380" y="1347368"/>
            <a:ext cx="10870936" cy="3063789"/>
          </a:xfrm>
          <a:prstGeom prst="roundRect">
            <a:avLst>
              <a:gd name="adj" fmla="val 3316"/>
            </a:avLst>
          </a:prstGeom>
          <a:solidFill>
            <a:srgbClr val="FFFFFF"/>
          </a:solidFill>
          <a:ln/>
        </p:spPr>
      </p:sp>
      <p:sp>
        <p:nvSpPr>
          <p:cNvPr id="5" name="Shape 3"/>
          <p:cNvSpPr/>
          <p:nvPr/>
        </p:nvSpPr>
        <p:spPr>
          <a:xfrm>
            <a:off x="660380" y="1347368"/>
            <a:ext cx="3913449" cy="422270"/>
          </a:xfrm>
          <a:prstGeom prst="rect">
            <a:avLst/>
          </a:prstGeom>
          <a:solidFill>
            <a:srgbClr val="ECF2FF"/>
          </a:solidFill>
          <a:ln/>
        </p:spPr>
      </p:sp>
      <p:sp>
        <p:nvSpPr>
          <p:cNvPr id="6" name="Text 4"/>
          <p:cNvSpPr txBox="1"/>
          <p:nvPr/>
        </p:nvSpPr>
        <p:spPr>
          <a:xfrm>
            <a:off x="825520" y="1479408"/>
            <a:ext cx="1885218"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TRƯỜNG HỢP THỬ (10/10)</a:t>
            </a:r>
            <a:endParaRPr lang="en-US" sz="1000" dirty="0"/>
          </a:p>
        </p:txBody>
      </p:sp>
      <p:sp>
        <p:nvSpPr>
          <p:cNvPr id="7" name="Shape 5"/>
          <p:cNvSpPr/>
          <p:nvPr/>
        </p:nvSpPr>
        <p:spPr>
          <a:xfrm>
            <a:off x="4573829" y="1347368"/>
            <a:ext cx="2935133" cy="422270"/>
          </a:xfrm>
          <a:prstGeom prst="rect">
            <a:avLst/>
          </a:prstGeom>
          <a:solidFill>
            <a:srgbClr val="ECF2FF"/>
          </a:solidFill>
          <a:ln/>
        </p:spPr>
      </p:sp>
      <p:sp>
        <p:nvSpPr>
          <p:cNvPr id="8" name="Text 6"/>
          <p:cNvSpPr txBox="1"/>
          <p:nvPr/>
        </p:nvSpPr>
        <p:spPr>
          <a:xfrm>
            <a:off x="4738969" y="1479408"/>
            <a:ext cx="69210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KẾT QUẢ</a:t>
            </a:r>
            <a:endParaRPr lang="en-US" sz="1000" dirty="0"/>
          </a:p>
        </p:txBody>
      </p:sp>
      <p:sp>
        <p:nvSpPr>
          <p:cNvPr id="9" name="Shape 7"/>
          <p:cNvSpPr/>
          <p:nvPr/>
        </p:nvSpPr>
        <p:spPr>
          <a:xfrm>
            <a:off x="7508961" y="1347368"/>
            <a:ext cx="4022354" cy="422270"/>
          </a:xfrm>
          <a:prstGeom prst="rect">
            <a:avLst/>
          </a:prstGeom>
          <a:solidFill>
            <a:srgbClr val="ECF2FF"/>
          </a:solidFill>
          <a:ln/>
        </p:spPr>
      </p:sp>
      <p:sp>
        <p:nvSpPr>
          <p:cNvPr id="10" name="Text 8"/>
          <p:cNvSpPr txBox="1"/>
          <p:nvPr/>
        </p:nvSpPr>
        <p:spPr>
          <a:xfrm>
            <a:off x="7674102" y="1479408"/>
            <a:ext cx="76901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KẾT LUẬN</a:t>
            </a:r>
            <a:endParaRPr lang="en-US" sz="1000" dirty="0"/>
          </a:p>
        </p:txBody>
      </p:sp>
      <p:sp>
        <p:nvSpPr>
          <p:cNvPr id="11" name="Shape 9"/>
          <p:cNvSpPr/>
          <p:nvPr/>
        </p:nvSpPr>
        <p:spPr>
          <a:xfrm>
            <a:off x="660380" y="1769638"/>
            <a:ext cx="3913449" cy="6309"/>
          </a:xfrm>
          <a:prstGeom prst="rect">
            <a:avLst/>
          </a:prstGeom>
          <a:solidFill>
            <a:srgbClr val="E3E6EA"/>
          </a:solidFill>
          <a:ln/>
        </p:spPr>
      </p:sp>
      <p:sp>
        <p:nvSpPr>
          <p:cNvPr id="12" name="Text 10"/>
          <p:cNvSpPr txBox="1"/>
          <p:nvPr/>
        </p:nvSpPr>
        <p:spPr>
          <a:xfrm>
            <a:off x="800100" y="1865650"/>
            <a:ext cx="111328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Liên kết hợp lệ</a:t>
            </a:r>
            <a:endParaRPr lang="en-US" sz="1150" dirty="0"/>
          </a:p>
        </p:txBody>
      </p:sp>
      <p:sp>
        <p:nvSpPr>
          <p:cNvPr id="13" name="Shape 11"/>
          <p:cNvSpPr/>
          <p:nvPr/>
        </p:nvSpPr>
        <p:spPr>
          <a:xfrm>
            <a:off x="4573829" y="1769638"/>
            <a:ext cx="2935133" cy="6309"/>
          </a:xfrm>
          <a:prstGeom prst="rect">
            <a:avLst/>
          </a:prstGeom>
          <a:solidFill>
            <a:srgbClr val="E3E6EA"/>
          </a:solidFill>
          <a:ln/>
        </p:spPr>
      </p:sp>
      <p:sp>
        <p:nvSpPr>
          <p:cNvPr id="14" name="Text 12"/>
          <p:cNvSpPr txBox="1"/>
          <p:nvPr/>
        </p:nvSpPr>
        <p:spPr>
          <a:xfrm>
            <a:off x="4713549" y="1865650"/>
            <a:ext cx="140113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Mở trang thanh toán</a:t>
            </a:r>
            <a:endParaRPr lang="en-US" sz="1150" dirty="0"/>
          </a:p>
        </p:txBody>
      </p:sp>
      <p:sp>
        <p:nvSpPr>
          <p:cNvPr id="15" name="Shape 13"/>
          <p:cNvSpPr/>
          <p:nvPr/>
        </p:nvSpPr>
        <p:spPr>
          <a:xfrm>
            <a:off x="7508961" y="1769638"/>
            <a:ext cx="4022354" cy="6309"/>
          </a:xfrm>
          <a:prstGeom prst="rect">
            <a:avLst/>
          </a:prstGeom>
          <a:solidFill>
            <a:srgbClr val="E3E6EA"/>
          </a:solidFill>
          <a:ln/>
        </p:spPr>
      </p:sp>
      <p:sp>
        <p:nvSpPr>
          <p:cNvPr id="16" name="Text 14"/>
          <p:cNvSpPr txBox="1"/>
          <p:nvPr/>
        </p:nvSpPr>
        <p:spPr>
          <a:xfrm>
            <a:off x="7648682" y="1865650"/>
            <a:ext cx="159114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Dữ liệu được đọc đúng</a:t>
            </a:r>
            <a:endParaRPr lang="en-US" sz="1150" dirty="0"/>
          </a:p>
        </p:txBody>
      </p:sp>
      <p:sp>
        <p:nvSpPr>
          <p:cNvPr id="17" name="Shape 15"/>
          <p:cNvSpPr/>
          <p:nvPr/>
        </p:nvSpPr>
        <p:spPr>
          <a:xfrm>
            <a:off x="660380" y="2147468"/>
            <a:ext cx="3913449" cy="6309"/>
          </a:xfrm>
          <a:prstGeom prst="rect">
            <a:avLst/>
          </a:prstGeom>
          <a:solidFill>
            <a:srgbClr val="E3E6EA"/>
          </a:solidFill>
          <a:ln/>
        </p:spPr>
      </p:sp>
      <p:sp>
        <p:nvSpPr>
          <p:cNvPr id="18" name="Text 16"/>
          <p:cNvSpPr txBox="1"/>
          <p:nvPr/>
        </p:nvSpPr>
        <p:spPr>
          <a:xfrm>
            <a:off x="800100" y="2243480"/>
            <a:ext cx="208218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Sửa vnp_Amount sau khi ký</a:t>
            </a:r>
            <a:endParaRPr lang="en-US" sz="1150" dirty="0"/>
          </a:p>
        </p:txBody>
      </p:sp>
      <p:sp>
        <p:nvSpPr>
          <p:cNvPr id="19" name="Shape 17"/>
          <p:cNvSpPr/>
          <p:nvPr/>
        </p:nvSpPr>
        <p:spPr>
          <a:xfrm>
            <a:off x="4573829" y="2147468"/>
            <a:ext cx="2935133" cy="6309"/>
          </a:xfrm>
          <a:prstGeom prst="rect">
            <a:avLst/>
          </a:prstGeom>
          <a:solidFill>
            <a:srgbClr val="E3E6EA"/>
          </a:solidFill>
          <a:ln/>
        </p:spPr>
      </p:sp>
      <p:sp>
        <p:nvSpPr>
          <p:cNvPr id="20" name="Text 18"/>
          <p:cNvSpPr txBox="1"/>
          <p:nvPr/>
        </p:nvSpPr>
        <p:spPr>
          <a:xfrm>
            <a:off x="4713549" y="2243480"/>
            <a:ext cx="147611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Sai chữ ký (code=70)</a:t>
            </a:r>
            <a:endParaRPr lang="en-US" sz="1150" dirty="0"/>
          </a:p>
        </p:txBody>
      </p:sp>
      <p:sp>
        <p:nvSpPr>
          <p:cNvPr id="21" name="Shape 19"/>
          <p:cNvSpPr/>
          <p:nvPr/>
        </p:nvSpPr>
        <p:spPr>
          <a:xfrm>
            <a:off x="7508961" y="2147468"/>
            <a:ext cx="4022354" cy="6309"/>
          </a:xfrm>
          <a:prstGeom prst="rect">
            <a:avLst/>
          </a:prstGeom>
          <a:solidFill>
            <a:srgbClr val="E3E6EA"/>
          </a:solidFill>
          <a:ln/>
        </p:spPr>
      </p:sp>
      <p:sp>
        <p:nvSpPr>
          <p:cNvPr id="22" name="Text 20"/>
          <p:cNvSpPr txBox="1"/>
          <p:nvPr/>
        </p:nvSpPr>
        <p:spPr>
          <a:xfrm>
            <a:off x="7648682" y="2243480"/>
            <a:ext cx="225527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Chữ ký bao phủ toàn bộ tham số</a:t>
            </a:r>
            <a:endParaRPr lang="en-US" sz="1150" dirty="0"/>
          </a:p>
        </p:txBody>
      </p:sp>
      <p:sp>
        <p:nvSpPr>
          <p:cNvPr id="23" name="Shape 21"/>
          <p:cNvSpPr/>
          <p:nvPr/>
        </p:nvSpPr>
        <p:spPr>
          <a:xfrm>
            <a:off x="660380" y="2525207"/>
            <a:ext cx="3913449" cy="6309"/>
          </a:xfrm>
          <a:prstGeom prst="rect">
            <a:avLst/>
          </a:prstGeom>
          <a:solidFill>
            <a:srgbClr val="E3E6EA"/>
          </a:solidFill>
          <a:ln/>
        </p:spPr>
      </p:sp>
      <p:sp>
        <p:nvSpPr>
          <p:cNvPr id="24" name="Text 22"/>
          <p:cNvSpPr txBox="1"/>
          <p:nvPr/>
        </p:nvSpPr>
        <p:spPr>
          <a:xfrm>
            <a:off x="800100" y="2621219"/>
            <a:ext cx="174623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Không sắp xếp tham số</a:t>
            </a:r>
            <a:endParaRPr lang="en-US" sz="1150" dirty="0"/>
          </a:p>
        </p:txBody>
      </p:sp>
      <p:sp>
        <p:nvSpPr>
          <p:cNvPr id="25" name="Shape 23"/>
          <p:cNvSpPr/>
          <p:nvPr/>
        </p:nvSpPr>
        <p:spPr>
          <a:xfrm>
            <a:off x="4573829" y="2525207"/>
            <a:ext cx="2935133" cy="6309"/>
          </a:xfrm>
          <a:prstGeom prst="rect">
            <a:avLst/>
          </a:prstGeom>
          <a:solidFill>
            <a:srgbClr val="E3E6EA"/>
          </a:solidFill>
          <a:ln/>
        </p:spPr>
      </p:sp>
      <p:sp>
        <p:nvSpPr>
          <p:cNvPr id="26" name="Text 24"/>
          <p:cNvSpPr txBox="1"/>
          <p:nvPr/>
        </p:nvSpPr>
        <p:spPr>
          <a:xfrm>
            <a:off x="4713549" y="2621219"/>
            <a:ext cx="147611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Sai chữ ký (code=70)</a:t>
            </a:r>
            <a:endParaRPr lang="en-US" sz="1150" dirty="0"/>
          </a:p>
        </p:txBody>
      </p:sp>
      <p:sp>
        <p:nvSpPr>
          <p:cNvPr id="27" name="Shape 25"/>
          <p:cNvSpPr/>
          <p:nvPr/>
        </p:nvSpPr>
        <p:spPr>
          <a:xfrm>
            <a:off x="7508961" y="2525207"/>
            <a:ext cx="4022354" cy="6309"/>
          </a:xfrm>
          <a:prstGeom prst="rect">
            <a:avLst/>
          </a:prstGeom>
          <a:solidFill>
            <a:srgbClr val="E3E6EA"/>
          </a:solidFill>
          <a:ln/>
        </p:spPr>
      </p:sp>
      <p:sp>
        <p:nvSpPr>
          <p:cNvPr id="28" name="Text 26"/>
          <p:cNvSpPr txBox="1"/>
          <p:nvPr/>
        </p:nvSpPr>
        <p:spPr>
          <a:xfrm>
            <a:off x="7648682" y="2621219"/>
            <a:ext cx="13685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Sắp xếp là bắt buộc</a:t>
            </a:r>
            <a:endParaRPr lang="en-US" sz="1150" dirty="0"/>
          </a:p>
        </p:txBody>
      </p:sp>
      <p:sp>
        <p:nvSpPr>
          <p:cNvPr id="29" name="Shape 27"/>
          <p:cNvSpPr/>
          <p:nvPr/>
        </p:nvSpPr>
        <p:spPr>
          <a:xfrm>
            <a:off x="660380" y="2903037"/>
            <a:ext cx="3913449" cy="6309"/>
          </a:xfrm>
          <a:prstGeom prst="rect">
            <a:avLst/>
          </a:prstGeom>
          <a:solidFill>
            <a:srgbClr val="E3E6EA"/>
          </a:solidFill>
          <a:ln/>
        </p:spPr>
      </p:sp>
      <p:sp>
        <p:nvSpPr>
          <p:cNvPr id="30" name="Text 28"/>
          <p:cNvSpPr txBox="1"/>
          <p:nvPr/>
        </p:nvSpPr>
        <p:spPr>
          <a:xfrm>
            <a:off x="800100" y="2999049"/>
            <a:ext cx="237844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Không mã hóa URL trước khi ký</a:t>
            </a:r>
            <a:endParaRPr lang="en-US" sz="1150" dirty="0"/>
          </a:p>
        </p:txBody>
      </p:sp>
      <p:sp>
        <p:nvSpPr>
          <p:cNvPr id="31" name="Shape 29"/>
          <p:cNvSpPr/>
          <p:nvPr/>
        </p:nvSpPr>
        <p:spPr>
          <a:xfrm>
            <a:off x="4573829" y="2903037"/>
            <a:ext cx="2935133" cy="6309"/>
          </a:xfrm>
          <a:prstGeom prst="rect">
            <a:avLst/>
          </a:prstGeom>
          <a:solidFill>
            <a:srgbClr val="E3E6EA"/>
          </a:solidFill>
          <a:ln/>
        </p:spPr>
      </p:sp>
      <p:sp>
        <p:nvSpPr>
          <p:cNvPr id="32" name="Text 30"/>
          <p:cNvSpPr txBox="1"/>
          <p:nvPr/>
        </p:nvSpPr>
        <p:spPr>
          <a:xfrm>
            <a:off x="4713549" y="2999049"/>
            <a:ext cx="147611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Sai chữ ký (code=70)</a:t>
            </a:r>
            <a:endParaRPr lang="en-US" sz="1150" dirty="0"/>
          </a:p>
        </p:txBody>
      </p:sp>
      <p:sp>
        <p:nvSpPr>
          <p:cNvPr id="33" name="Shape 31"/>
          <p:cNvSpPr/>
          <p:nvPr/>
        </p:nvSpPr>
        <p:spPr>
          <a:xfrm>
            <a:off x="7508961" y="2903037"/>
            <a:ext cx="4022354" cy="6309"/>
          </a:xfrm>
          <a:prstGeom prst="rect">
            <a:avLst/>
          </a:prstGeom>
          <a:solidFill>
            <a:srgbClr val="E3E6EA"/>
          </a:solidFill>
          <a:ln/>
        </p:spPr>
      </p:sp>
      <p:sp>
        <p:nvSpPr>
          <p:cNvPr id="34" name="Text 32"/>
          <p:cNvSpPr txBox="1"/>
          <p:nvPr/>
        </p:nvSpPr>
        <p:spPr>
          <a:xfrm>
            <a:off x="7648682" y="2999049"/>
            <a:ext cx="217572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hóa trước khi ký là bắt buộc</a:t>
            </a:r>
            <a:endParaRPr lang="en-US" sz="1150" dirty="0"/>
          </a:p>
        </p:txBody>
      </p:sp>
      <p:sp>
        <p:nvSpPr>
          <p:cNvPr id="35" name="Shape 33"/>
          <p:cNvSpPr/>
          <p:nvPr/>
        </p:nvSpPr>
        <p:spPr>
          <a:xfrm>
            <a:off x="660380" y="3280867"/>
            <a:ext cx="3913449" cy="6309"/>
          </a:xfrm>
          <a:prstGeom prst="rect">
            <a:avLst/>
          </a:prstGeom>
          <a:solidFill>
            <a:srgbClr val="E3E6EA"/>
          </a:solidFill>
          <a:ln/>
        </p:spPr>
      </p:sp>
      <p:sp>
        <p:nvSpPr>
          <p:cNvPr id="36" name="Text 34"/>
          <p:cNvSpPr txBox="1"/>
          <p:nvPr/>
        </p:nvSpPr>
        <p:spPr>
          <a:xfrm>
            <a:off x="800100" y="3376879"/>
            <a:ext cx="1172169"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Chữ ký viết hoa</a:t>
            </a:r>
            <a:endParaRPr lang="en-US" sz="1150" dirty="0"/>
          </a:p>
        </p:txBody>
      </p:sp>
      <p:sp>
        <p:nvSpPr>
          <p:cNvPr id="37" name="Shape 35"/>
          <p:cNvSpPr/>
          <p:nvPr/>
        </p:nvSpPr>
        <p:spPr>
          <a:xfrm>
            <a:off x="4573829" y="3280867"/>
            <a:ext cx="2935133" cy="6309"/>
          </a:xfrm>
          <a:prstGeom prst="rect">
            <a:avLst/>
          </a:prstGeom>
          <a:solidFill>
            <a:srgbClr val="E3E6EA"/>
          </a:solidFill>
          <a:ln/>
        </p:spPr>
      </p:sp>
      <p:sp>
        <p:nvSpPr>
          <p:cNvPr id="38" name="Text 36"/>
          <p:cNvSpPr txBox="1"/>
          <p:nvPr/>
        </p:nvSpPr>
        <p:spPr>
          <a:xfrm>
            <a:off x="4713549" y="3376879"/>
            <a:ext cx="140113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Mở trang thanh toán</a:t>
            </a:r>
            <a:endParaRPr lang="en-US" sz="1150" dirty="0"/>
          </a:p>
        </p:txBody>
      </p:sp>
      <p:sp>
        <p:nvSpPr>
          <p:cNvPr id="39" name="Shape 37"/>
          <p:cNvSpPr/>
          <p:nvPr/>
        </p:nvSpPr>
        <p:spPr>
          <a:xfrm>
            <a:off x="7508961" y="3280867"/>
            <a:ext cx="4022354" cy="6309"/>
          </a:xfrm>
          <a:prstGeom prst="rect">
            <a:avLst/>
          </a:prstGeom>
          <a:solidFill>
            <a:srgbClr val="E3E6EA"/>
          </a:solidFill>
          <a:ln/>
        </p:spPr>
      </p:sp>
      <p:sp>
        <p:nvSpPr>
          <p:cNvPr id="40" name="Text 38"/>
          <p:cNvSpPr txBox="1"/>
          <p:nvPr/>
        </p:nvSpPr>
        <p:spPr>
          <a:xfrm>
            <a:off x="7648682" y="3376879"/>
            <a:ext cx="197848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phân biệt hoa thường</a:t>
            </a:r>
            <a:endParaRPr lang="en-US" sz="1150" dirty="0"/>
          </a:p>
        </p:txBody>
      </p:sp>
      <p:sp>
        <p:nvSpPr>
          <p:cNvPr id="41" name="Shape 39"/>
          <p:cNvSpPr/>
          <p:nvPr/>
        </p:nvSpPr>
        <p:spPr>
          <a:xfrm>
            <a:off x="660380" y="3658697"/>
            <a:ext cx="3913449" cy="6309"/>
          </a:xfrm>
          <a:prstGeom prst="rect">
            <a:avLst/>
          </a:prstGeom>
          <a:solidFill>
            <a:srgbClr val="E3E6EA"/>
          </a:solidFill>
          <a:ln/>
        </p:spPr>
      </p:sp>
      <p:sp>
        <p:nvSpPr>
          <p:cNvPr id="42" name="Text 40"/>
          <p:cNvSpPr txBox="1"/>
          <p:nvPr/>
        </p:nvSpPr>
        <p:spPr>
          <a:xfrm>
            <a:off x="800100" y="3754709"/>
            <a:ext cx="2898557"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Thiếu IpAddr, OrderInfo hoặc ReturnUrl</a:t>
            </a:r>
            <a:endParaRPr lang="en-US" sz="1150" dirty="0"/>
          </a:p>
        </p:txBody>
      </p:sp>
      <p:sp>
        <p:nvSpPr>
          <p:cNvPr id="43" name="Shape 41"/>
          <p:cNvSpPr/>
          <p:nvPr/>
        </p:nvSpPr>
        <p:spPr>
          <a:xfrm>
            <a:off x="4573829" y="3658697"/>
            <a:ext cx="2935133" cy="6309"/>
          </a:xfrm>
          <a:prstGeom prst="rect">
            <a:avLst/>
          </a:prstGeom>
          <a:solidFill>
            <a:srgbClr val="E3E6EA"/>
          </a:solidFill>
          <a:ln/>
        </p:spPr>
      </p:sp>
      <p:sp>
        <p:nvSpPr>
          <p:cNvPr id="44" name="Text 42"/>
          <p:cNvSpPr txBox="1"/>
          <p:nvPr/>
        </p:nvSpPr>
        <p:spPr>
          <a:xfrm>
            <a:off x="4713549" y="3754709"/>
            <a:ext cx="87617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Lỗi code=03</a:t>
            </a:r>
            <a:endParaRPr lang="en-US" sz="1150" dirty="0"/>
          </a:p>
        </p:txBody>
      </p:sp>
      <p:sp>
        <p:nvSpPr>
          <p:cNvPr id="45" name="Shape 43"/>
          <p:cNvSpPr/>
          <p:nvPr/>
        </p:nvSpPr>
        <p:spPr>
          <a:xfrm>
            <a:off x="7508961" y="3658697"/>
            <a:ext cx="4022354" cy="6309"/>
          </a:xfrm>
          <a:prstGeom prst="rect">
            <a:avLst/>
          </a:prstGeom>
          <a:solidFill>
            <a:srgbClr val="E3E6EA"/>
          </a:solidFill>
          <a:ln/>
        </p:spPr>
      </p:sp>
      <p:sp>
        <p:nvSpPr>
          <p:cNvPr id="46" name="Text 44"/>
          <p:cNvSpPr txBox="1"/>
          <p:nvPr/>
        </p:nvSpPr>
        <p:spPr>
          <a:xfrm>
            <a:off x="7648682" y="3754709"/>
            <a:ext cx="229807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Thiếu tham số bắt buộc bị từ chối</a:t>
            </a:r>
            <a:endParaRPr lang="en-US" sz="1150" dirty="0"/>
          </a:p>
        </p:txBody>
      </p:sp>
      <p:sp>
        <p:nvSpPr>
          <p:cNvPr id="47" name="Shape 45"/>
          <p:cNvSpPr/>
          <p:nvPr/>
        </p:nvSpPr>
        <p:spPr>
          <a:xfrm>
            <a:off x="660380" y="4036527"/>
            <a:ext cx="3913449" cy="6309"/>
          </a:xfrm>
          <a:prstGeom prst="rect">
            <a:avLst/>
          </a:prstGeom>
          <a:solidFill>
            <a:srgbClr val="E3E6EA"/>
          </a:solidFill>
          <a:ln/>
        </p:spPr>
      </p:sp>
      <p:sp>
        <p:nvSpPr>
          <p:cNvPr id="48" name="Text 46"/>
          <p:cNvSpPr txBox="1"/>
          <p:nvPr/>
        </p:nvSpPr>
        <p:spPr>
          <a:xfrm>
            <a:off x="800100" y="4132539"/>
            <a:ext cx="162598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Thiếu vnp_ExpireDate</a:t>
            </a:r>
            <a:endParaRPr lang="en-US" sz="1150" dirty="0"/>
          </a:p>
        </p:txBody>
      </p:sp>
      <p:sp>
        <p:nvSpPr>
          <p:cNvPr id="49" name="Shape 47"/>
          <p:cNvSpPr/>
          <p:nvPr/>
        </p:nvSpPr>
        <p:spPr>
          <a:xfrm>
            <a:off x="4573829" y="4036527"/>
            <a:ext cx="2935133" cy="6309"/>
          </a:xfrm>
          <a:prstGeom prst="rect">
            <a:avLst/>
          </a:prstGeom>
          <a:solidFill>
            <a:srgbClr val="E3E6EA"/>
          </a:solidFill>
          <a:ln/>
        </p:spPr>
      </p:sp>
      <p:sp>
        <p:nvSpPr>
          <p:cNvPr id="50" name="Text 48"/>
          <p:cNvSpPr txBox="1"/>
          <p:nvPr/>
        </p:nvSpPr>
        <p:spPr>
          <a:xfrm>
            <a:off x="4713549" y="4132539"/>
            <a:ext cx="140113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Mở trang thanh toán</a:t>
            </a:r>
            <a:endParaRPr lang="en-US" sz="1150" dirty="0"/>
          </a:p>
        </p:txBody>
      </p:sp>
      <p:sp>
        <p:nvSpPr>
          <p:cNvPr id="51" name="Shape 49"/>
          <p:cNvSpPr/>
          <p:nvPr/>
        </p:nvSpPr>
        <p:spPr>
          <a:xfrm>
            <a:off x="7508961" y="4036527"/>
            <a:ext cx="4022354" cy="6309"/>
          </a:xfrm>
          <a:prstGeom prst="rect">
            <a:avLst/>
          </a:prstGeom>
          <a:solidFill>
            <a:srgbClr val="E3E6EA"/>
          </a:solidFill>
          <a:ln/>
        </p:spPr>
      </p:sp>
      <p:sp>
        <p:nvSpPr>
          <p:cNvPr id="52" name="Text 50"/>
          <p:cNvSpPr txBox="1"/>
          <p:nvPr/>
        </p:nvSpPr>
        <p:spPr>
          <a:xfrm>
            <a:off x="7648682" y="4132539"/>
            <a:ext cx="303855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Sandbox chưa kiểm tra; vẫn gửi theo tài liệu</a:t>
            </a:r>
            <a:endParaRPr lang="en-US" sz="1150" dirty="0"/>
          </a:p>
        </p:txBody>
      </p:sp>
      <p:sp>
        <p:nvSpPr>
          <p:cNvPr id="53" name="Text 5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4" name="Text 52"/>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66571"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Xử lý kết quả trả về</a:t>
            </a:r>
            <a:endParaRPr lang="en-US" sz="1100" dirty="0"/>
          </a:p>
        </p:txBody>
      </p:sp>
      <p:sp>
        <p:nvSpPr>
          <p:cNvPr id="3" name="Text 1"/>
          <p:cNvSpPr txBox="1"/>
          <p:nvPr/>
        </p:nvSpPr>
        <p:spPr>
          <a:xfrm>
            <a:off x="660380" y="643829"/>
            <a:ext cx="5190500"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Phân biệt ReturnURL và IPN</a:t>
            </a:r>
            <a:endParaRPr lang="en-US" sz="3000" dirty="0"/>
          </a:p>
        </p:txBody>
      </p:sp>
      <p:sp>
        <p:nvSpPr>
          <p:cNvPr id="4" name="Shape 2"/>
          <p:cNvSpPr/>
          <p:nvPr/>
        </p:nvSpPr>
        <p:spPr>
          <a:xfrm>
            <a:off x="660380" y="1347368"/>
            <a:ext cx="10870936" cy="2324039"/>
          </a:xfrm>
          <a:prstGeom prst="roundRect">
            <a:avLst>
              <a:gd name="adj" fmla="val 4371"/>
            </a:avLst>
          </a:prstGeom>
          <a:solidFill>
            <a:srgbClr val="FFFFFF"/>
          </a:solidFill>
          <a:ln/>
        </p:spPr>
      </p:sp>
      <p:sp>
        <p:nvSpPr>
          <p:cNvPr id="5" name="Shape 3"/>
          <p:cNvSpPr/>
          <p:nvPr/>
        </p:nvSpPr>
        <p:spPr>
          <a:xfrm>
            <a:off x="660380" y="1347368"/>
            <a:ext cx="2391522" cy="422270"/>
          </a:xfrm>
          <a:prstGeom prst="rect">
            <a:avLst/>
          </a:prstGeom>
          <a:solidFill>
            <a:srgbClr val="ECF2FF"/>
          </a:solidFill>
          <a:ln/>
        </p:spPr>
      </p:sp>
      <p:sp>
        <p:nvSpPr>
          <p:cNvPr id="6" name="Shape 4"/>
          <p:cNvSpPr/>
          <p:nvPr/>
        </p:nvSpPr>
        <p:spPr>
          <a:xfrm>
            <a:off x="3051901" y="1347368"/>
            <a:ext cx="4239616" cy="422270"/>
          </a:xfrm>
          <a:prstGeom prst="rect">
            <a:avLst/>
          </a:prstGeom>
          <a:solidFill>
            <a:srgbClr val="ECF2FF"/>
          </a:solidFill>
          <a:ln/>
        </p:spPr>
      </p:sp>
      <p:sp>
        <p:nvSpPr>
          <p:cNvPr id="7" name="Text 5"/>
          <p:cNvSpPr txBox="1"/>
          <p:nvPr/>
        </p:nvSpPr>
        <p:spPr>
          <a:xfrm>
            <a:off x="3216951" y="1479408"/>
            <a:ext cx="92354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RETURNURL</a:t>
            </a:r>
            <a:endParaRPr lang="en-US" sz="1000" dirty="0"/>
          </a:p>
        </p:txBody>
      </p:sp>
      <p:sp>
        <p:nvSpPr>
          <p:cNvPr id="8" name="Shape 6"/>
          <p:cNvSpPr/>
          <p:nvPr/>
        </p:nvSpPr>
        <p:spPr>
          <a:xfrm>
            <a:off x="7291517" y="1347368"/>
            <a:ext cx="4239798" cy="422270"/>
          </a:xfrm>
          <a:prstGeom prst="rect">
            <a:avLst/>
          </a:prstGeom>
          <a:solidFill>
            <a:srgbClr val="ECF2FF"/>
          </a:solidFill>
          <a:ln/>
        </p:spPr>
      </p:sp>
      <p:sp>
        <p:nvSpPr>
          <p:cNvPr id="9" name="Text 7"/>
          <p:cNvSpPr txBox="1"/>
          <p:nvPr/>
        </p:nvSpPr>
        <p:spPr>
          <a:xfrm>
            <a:off x="7456566" y="1479408"/>
            <a:ext cx="30696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IPN</a:t>
            </a:r>
            <a:endParaRPr lang="en-US" sz="1000" dirty="0"/>
          </a:p>
        </p:txBody>
      </p:sp>
      <p:sp>
        <p:nvSpPr>
          <p:cNvPr id="10" name="Shape 8"/>
          <p:cNvSpPr/>
          <p:nvPr/>
        </p:nvSpPr>
        <p:spPr>
          <a:xfrm>
            <a:off x="660380" y="1769638"/>
            <a:ext cx="2391522" cy="6309"/>
          </a:xfrm>
          <a:prstGeom prst="rect">
            <a:avLst/>
          </a:prstGeom>
          <a:solidFill>
            <a:srgbClr val="E3E6EA"/>
          </a:solidFill>
          <a:ln/>
        </p:spPr>
      </p:sp>
      <p:sp>
        <p:nvSpPr>
          <p:cNvPr id="11" name="Text 9"/>
          <p:cNvSpPr txBox="1"/>
          <p:nvPr/>
        </p:nvSpPr>
        <p:spPr>
          <a:xfrm>
            <a:off x="800100" y="1865650"/>
            <a:ext cx="62819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Bên gửi</a:t>
            </a:r>
            <a:endParaRPr lang="en-US" sz="1150" dirty="0"/>
          </a:p>
        </p:txBody>
      </p:sp>
      <p:sp>
        <p:nvSpPr>
          <p:cNvPr id="12" name="Shape 10"/>
          <p:cNvSpPr/>
          <p:nvPr/>
        </p:nvSpPr>
        <p:spPr>
          <a:xfrm>
            <a:off x="3051901" y="1769638"/>
            <a:ext cx="4239616" cy="6309"/>
          </a:xfrm>
          <a:prstGeom prst="rect">
            <a:avLst/>
          </a:prstGeom>
          <a:solidFill>
            <a:srgbClr val="E3E6EA"/>
          </a:solidFill>
          <a:ln/>
        </p:spPr>
      </p:sp>
      <p:sp>
        <p:nvSpPr>
          <p:cNvPr id="13" name="Text 11"/>
          <p:cNvSpPr txBox="1"/>
          <p:nvPr/>
        </p:nvSpPr>
        <p:spPr>
          <a:xfrm>
            <a:off x="3191622" y="1865650"/>
            <a:ext cx="191347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Trình duyệt của khách hàng</a:t>
            </a:r>
            <a:endParaRPr lang="en-US" sz="1150" dirty="0"/>
          </a:p>
        </p:txBody>
      </p:sp>
      <p:sp>
        <p:nvSpPr>
          <p:cNvPr id="14" name="Shape 12"/>
          <p:cNvSpPr/>
          <p:nvPr/>
        </p:nvSpPr>
        <p:spPr>
          <a:xfrm>
            <a:off x="7291517" y="1769638"/>
            <a:ext cx="4239798" cy="6309"/>
          </a:xfrm>
          <a:prstGeom prst="rect">
            <a:avLst/>
          </a:prstGeom>
          <a:solidFill>
            <a:srgbClr val="E3E6EA"/>
          </a:solidFill>
          <a:ln/>
        </p:spPr>
      </p:sp>
      <p:sp>
        <p:nvSpPr>
          <p:cNvPr id="15" name="Text 13"/>
          <p:cNvSpPr txBox="1"/>
          <p:nvPr/>
        </p:nvSpPr>
        <p:spPr>
          <a:xfrm>
            <a:off x="7431237" y="1865650"/>
            <a:ext cx="102047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Server VNPAY</a:t>
            </a:r>
            <a:endParaRPr lang="en-US" sz="1150" dirty="0"/>
          </a:p>
        </p:txBody>
      </p:sp>
      <p:sp>
        <p:nvSpPr>
          <p:cNvPr id="16" name="Shape 14"/>
          <p:cNvSpPr/>
          <p:nvPr/>
        </p:nvSpPr>
        <p:spPr>
          <a:xfrm>
            <a:off x="660380" y="2147468"/>
            <a:ext cx="2391522" cy="6309"/>
          </a:xfrm>
          <a:prstGeom prst="rect">
            <a:avLst/>
          </a:prstGeom>
          <a:solidFill>
            <a:srgbClr val="E3E6EA"/>
          </a:solidFill>
          <a:ln/>
        </p:spPr>
      </p:sp>
      <p:sp>
        <p:nvSpPr>
          <p:cNvPr id="17" name="Text 15"/>
          <p:cNvSpPr txBox="1"/>
          <p:nvPr/>
        </p:nvSpPr>
        <p:spPr>
          <a:xfrm>
            <a:off x="800100" y="2243480"/>
            <a:ext cx="709117"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Mục đích</a:t>
            </a:r>
            <a:endParaRPr lang="en-US" sz="1150" dirty="0"/>
          </a:p>
        </p:txBody>
      </p:sp>
      <p:sp>
        <p:nvSpPr>
          <p:cNvPr id="18" name="Shape 16"/>
          <p:cNvSpPr/>
          <p:nvPr/>
        </p:nvSpPr>
        <p:spPr>
          <a:xfrm>
            <a:off x="3051901" y="2147468"/>
            <a:ext cx="4239616" cy="6309"/>
          </a:xfrm>
          <a:prstGeom prst="rect">
            <a:avLst/>
          </a:prstGeom>
          <a:solidFill>
            <a:srgbClr val="E3E6EA"/>
          </a:solidFill>
          <a:ln/>
        </p:spPr>
      </p:sp>
      <p:sp>
        <p:nvSpPr>
          <p:cNvPr id="19" name="Text 17"/>
          <p:cNvSpPr txBox="1"/>
          <p:nvPr/>
        </p:nvSpPr>
        <p:spPr>
          <a:xfrm>
            <a:off x="3191622" y="2243480"/>
            <a:ext cx="229825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Đưa khách hàng về trang kết quả</a:t>
            </a:r>
            <a:endParaRPr lang="en-US" sz="1150" dirty="0"/>
          </a:p>
        </p:txBody>
      </p:sp>
      <p:sp>
        <p:nvSpPr>
          <p:cNvPr id="20" name="Shape 18"/>
          <p:cNvSpPr/>
          <p:nvPr/>
        </p:nvSpPr>
        <p:spPr>
          <a:xfrm>
            <a:off x="7291517" y="2147468"/>
            <a:ext cx="4239798" cy="6309"/>
          </a:xfrm>
          <a:prstGeom prst="rect">
            <a:avLst/>
          </a:prstGeom>
          <a:solidFill>
            <a:srgbClr val="E3E6EA"/>
          </a:solidFill>
          <a:ln/>
        </p:spPr>
      </p:sp>
      <p:sp>
        <p:nvSpPr>
          <p:cNvPr id="21" name="Text 19"/>
          <p:cNvSpPr txBox="1"/>
          <p:nvPr/>
        </p:nvSpPr>
        <p:spPr>
          <a:xfrm>
            <a:off x="7431237" y="2243480"/>
            <a:ext cx="227210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Thông báo kết quả cho merchant</a:t>
            </a:r>
            <a:endParaRPr lang="en-US" sz="1150" dirty="0"/>
          </a:p>
        </p:txBody>
      </p:sp>
      <p:sp>
        <p:nvSpPr>
          <p:cNvPr id="22" name="Shape 20"/>
          <p:cNvSpPr/>
          <p:nvPr/>
        </p:nvSpPr>
        <p:spPr>
          <a:xfrm>
            <a:off x="660380" y="2525207"/>
            <a:ext cx="2391522" cy="6309"/>
          </a:xfrm>
          <a:prstGeom prst="rect">
            <a:avLst/>
          </a:prstGeom>
          <a:solidFill>
            <a:srgbClr val="E3E6EA"/>
          </a:solidFill>
          <a:ln/>
        </p:spPr>
      </p:sp>
      <p:sp>
        <p:nvSpPr>
          <p:cNvPr id="23" name="Text 21"/>
          <p:cNvSpPr txBox="1"/>
          <p:nvPr/>
        </p:nvSpPr>
        <p:spPr>
          <a:xfrm>
            <a:off x="800100" y="2621219"/>
            <a:ext cx="102385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Cập nhật đơn</a:t>
            </a:r>
            <a:endParaRPr lang="en-US" sz="1150" dirty="0"/>
          </a:p>
        </p:txBody>
      </p:sp>
      <p:sp>
        <p:nvSpPr>
          <p:cNvPr id="24" name="Shape 22"/>
          <p:cNvSpPr/>
          <p:nvPr/>
        </p:nvSpPr>
        <p:spPr>
          <a:xfrm>
            <a:off x="3051901" y="2525207"/>
            <a:ext cx="4239616" cy="6309"/>
          </a:xfrm>
          <a:prstGeom prst="rect">
            <a:avLst/>
          </a:prstGeom>
          <a:solidFill>
            <a:srgbClr val="E3E6EA"/>
          </a:solidFill>
          <a:ln/>
        </p:spPr>
      </p:sp>
      <p:sp>
        <p:nvSpPr>
          <p:cNvPr id="25" name="Text 23"/>
          <p:cNvSpPr txBox="1"/>
          <p:nvPr/>
        </p:nvSpPr>
        <p:spPr>
          <a:xfrm>
            <a:off x="3191622" y="2621219"/>
            <a:ext cx="49853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a:t>
            </a:r>
            <a:endParaRPr lang="en-US" sz="1150" dirty="0"/>
          </a:p>
        </p:txBody>
      </p:sp>
      <p:sp>
        <p:nvSpPr>
          <p:cNvPr id="26" name="Shape 24"/>
          <p:cNvSpPr/>
          <p:nvPr/>
        </p:nvSpPr>
        <p:spPr>
          <a:xfrm>
            <a:off x="7291517" y="2525207"/>
            <a:ext cx="4239798" cy="6309"/>
          </a:xfrm>
          <a:prstGeom prst="rect">
            <a:avLst/>
          </a:prstGeom>
          <a:solidFill>
            <a:srgbClr val="E3E6EA"/>
          </a:solidFill>
          <a:ln/>
        </p:spPr>
      </p:sp>
      <p:sp>
        <p:nvSpPr>
          <p:cNvPr id="27" name="Text 25"/>
          <p:cNvSpPr txBox="1"/>
          <p:nvPr/>
        </p:nvSpPr>
        <p:spPr>
          <a:xfrm>
            <a:off x="7431237" y="2621219"/>
            <a:ext cx="26289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Có</a:t>
            </a:r>
            <a:endParaRPr lang="en-US" sz="1150" dirty="0"/>
          </a:p>
        </p:txBody>
      </p:sp>
      <p:sp>
        <p:nvSpPr>
          <p:cNvPr id="28" name="Shape 26"/>
          <p:cNvSpPr/>
          <p:nvPr/>
        </p:nvSpPr>
        <p:spPr>
          <a:xfrm>
            <a:off x="660380" y="2903037"/>
            <a:ext cx="2391522" cy="6309"/>
          </a:xfrm>
          <a:prstGeom prst="rect">
            <a:avLst/>
          </a:prstGeom>
          <a:solidFill>
            <a:srgbClr val="E3E6EA"/>
          </a:solidFill>
          <a:ln/>
        </p:spPr>
      </p:sp>
      <p:sp>
        <p:nvSpPr>
          <p:cNvPr id="29" name="Text 27"/>
          <p:cNvSpPr txBox="1"/>
          <p:nvPr/>
        </p:nvSpPr>
        <p:spPr>
          <a:xfrm>
            <a:off x="800100" y="2999049"/>
            <a:ext cx="215012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Khách hàng đóng trình duyệt</a:t>
            </a:r>
            <a:endParaRPr lang="en-US" sz="1150" dirty="0"/>
          </a:p>
        </p:txBody>
      </p:sp>
      <p:sp>
        <p:nvSpPr>
          <p:cNvPr id="30" name="Shape 28"/>
          <p:cNvSpPr/>
          <p:nvPr/>
        </p:nvSpPr>
        <p:spPr>
          <a:xfrm>
            <a:off x="3051901" y="2903037"/>
            <a:ext cx="4239616" cy="6309"/>
          </a:xfrm>
          <a:prstGeom prst="rect">
            <a:avLst/>
          </a:prstGeom>
          <a:solidFill>
            <a:srgbClr val="E3E6EA"/>
          </a:solidFill>
          <a:ln/>
        </p:spPr>
      </p:sp>
      <p:sp>
        <p:nvSpPr>
          <p:cNvPr id="31" name="Text 29"/>
          <p:cNvSpPr txBox="1"/>
          <p:nvPr/>
        </p:nvSpPr>
        <p:spPr>
          <a:xfrm>
            <a:off x="3191622" y="2999049"/>
            <a:ext cx="112242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được gọi</a:t>
            </a:r>
            <a:endParaRPr lang="en-US" sz="1150" dirty="0"/>
          </a:p>
        </p:txBody>
      </p:sp>
      <p:sp>
        <p:nvSpPr>
          <p:cNvPr id="32" name="Shape 30"/>
          <p:cNvSpPr/>
          <p:nvPr/>
        </p:nvSpPr>
        <p:spPr>
          <a:xfrm>
            <a:off x="7291517" y="2903037"/>
            <a:ext cx="4239798" cy="6309"/>
          </a:xfrm>
          <a:prstGeom prst="rect">
            <a:avLst/>
          </a:prstGeom>
          <a:solidFill>
            <a:srgbClr val="E3E6EA"/>
          </a:solidFill>
          <a:ln/>
        </p:spPr>
      </p:sp>
      <p:sp>
        <p:nvSpPr>
          <p:cNvPr id="33" name="Text 31"/>
          <p:cNvSpPr txBox="1"/>
          <p:nvPr/>
        </p:nvSpPr>
        <p:spPr>
          <a:xfrm>
            <a:off x="7431237" y="2999049"/>
            <a:ext cx="95993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Vẫn được gọi</a:t>
            </a:r>
            <a:endParaRPr lang="en-US" sz="1150" dirty="0"/>
          </a:p>
        </p:txBody>
      </p:sp>
      <p:sp>
        <p:nvSpPr>
          <p:cNvPr id="34" name="Shape 32"/>
          <p:cNvSpPr/>
          <p:nvPr/>
        </p:nvSpPr>
        <p:spPr>
          <a:xfrm>
            <a:off x="660380" y="3280867"/>
            <a:ext cx="2391522" cy="6309"/>
          </a:xfrm>
          <a:prstGeom prst="rect">
            <a:avLst/>
          </a:prstGeom>
          <a:solidFill>
            <a:srgbClr val="E3E6EA"/>
          </a:solidFill>
          <a:ln/>
        </p:spPr>
      </p:sp>
      <p:sp>
        <p:nvSpPr>
          <p:cNvPr id="35" name="Text 33"/>
          <p:cNvSpPr txBox="1"/>
          <p:nvPr/>
        </p:nvSpPr>
        <p:spPr>
          <a:xfrm>
            <a:off x="800100" y="3384834"/>
            <a:ext cx="69293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Phản hồi</a:t>
            </a:r>
            <a:endParaRPr lang="en-US" sz="1150" dirty="0"/>
          </a:p>
        </p:txBody>
      </p:sp>
      <p:sp>
        <p:nvSpPr>
          <p:cNvPr id="36" name="Shape 34"/>
          <p:cNvSpPr/>
          <p:nvPr/>
        </p:nvSpPr>
        <p:spPr>
          <a:xfrm>
            <a:off x="3051901" y="3280867"/>
            <a:ext cx="4239616" cy="6309"/>
          </a:xfrm>
          <a:prstGeom prst="rect">
            <a:avLst/>
          </a:prstGeom>
          <a:solidFill>
            <a:srgbClr val="E3E6EA"/>
          </a:solidFill>
          <a:ln/>
        </p:spPr>
      </p:sp>
      <p:sp>
        <p:nvSpPr>
          <p:cNvPr id="37" name="Text 35"/>
          <p:cNvSpPr txBox="1"/>
          <p:nvPr/>
        </p:nvSpPr>
        <p:spPr>
          <a:xfrm>
            <a:off x="3191622" y="3384834"/>
            <a:ext cx="95307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Chuyển trang</a:t>
            </a:r>
            <a:endParaRPr lang="en-US" sz="1150" dirty="0"/>
          </a:p>
        </p:txBody>
      </p:sp>
      <p:sp>
        <p:nvSpPr>
          <p:cNvPr id="38" name="Shape 36"/>
          <p:cNvSpPr/>
          <p:nvPr/>
        </p:nvSpPr>
        <p:spPr>
          <a:xfrm>
            <a:off x="7291517" y="3280867"/>
            <a:ext cx="4239798" cy="6309"/>
          </a:xfrm>
          <a:prstGeom prst="rect">
            <a:avLst/>
          </a:prstGeom>
          <a:solidFill>
            <a:srgbClr val="E3E6EA"/>
          </a:solidFill>
          <a:ln/>
        </p:spPr>
      </p:sp>
      <p:sp>
        <p:nvSpPr>
          <p:cNvPr id="39" name="Text 37"/>
          <p:cNvSpPr txBox="1"/>
          <p:nvPr/>
        </p:nvSpPr>
        <p:spPr>
          <a:xfrm>
            <a:off x="7431237" y="3382823"/>
            <a:ext cx="2229673"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JSON {RspCode, Message}</a:t>
            </a:r>
            <a:endParaRPr lang="en-US" sz="1200" dirty="0"/>
          </a:p>
        </p:txBody>
      </p:sp>
      <p:sp>
        <p:nvSpPr>
          <p:cNvPr id="40" name="Shape 38"/>
          <p:cNvSpPr/>
          <p:nvPr/>
        </p:nvSpPr>
        <p:spPr>
          <a:xfrm>
            <a:off x="660380" y="3849167"/>
            <a:ext cx="10870936" cy="600029"/>
          </a:xfrm>
          <a:prstGeom prst="roundRect">
            <a:avLst>
              <a:gd name="adj" fmla="val 12694"/>
            </a:avLst>
          </a:prstGeom>
          <a:solidFill>
            <a:srgbClr val="FFFFFF"/>
          </a:solidFill>
          <a:ln w="6350">
            <a:solidFill>
              <a:srgbClr val="E3E6EA"/>
            </a:solidFill>
            <a:prstDash val="solid"/>
          </a:ln>
        </p:spPr>
      </p:sp>
      <p:sp>
        <p:nvSpPr>
          <p:cNvPr id="41" name="Text 39"/>
          <p:cNvSpPr txBox="1"/>
          <p:nvPr/>
        </p:nvSpPr>
        <p:spPr>
          <a:xfrm>
            <a:off x="793699" y="3961455"/>
            <a:ext cx="9783623" cy="20958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ReturnURL: “Không cập nhật kết quả giao dịch tại địa chỉ này.” IPN: “Thao tác cập nhật/xử lý kết quả sau khi thanh toán được thực hiện tại URL này.”</a:t>
            </a:r>
            <a:endParaRPr lang="en-US" sz="1100" dirty="0"/>
          </a:p>
        </p:txBody>
      </p:sp>
      <p:sp>
        <p:nvSpPr>
          <p:cNvPr id="42" name="Text 40"/>
          <p:cNvSpPr txBox="1"/>
          <p:nvPr/>
        </p:nvSpPr>
        <p:spPr>
          <a:xfrm>
            <a:off x="793699" y="4204686"/>
            <a:ext cx="1889059" cy="161940"/>
          </a:xfrm>
          <a:prstGeom prst="rect">
            <a:avLst/>
          </a:prstGeom>
          <a:noFill/>
          <a:ln/>
        </p:spPr>
        <p:txBody>
          <a:bodyPr wrap="square" lIns="0" tIns="0" rIns="0" bIns="0" rtlCol="0" anchor="ctr"/>
          <a:lstStyle/>
          <a:p>
            <a:pPr algn="l" indent="0" marL="0">
              <a:buNone/>
            </a:pPr>
            <a:r>
              <a:rPr lang="en-US" sz="850" dirty="0">
                <a:solidFill>
                  <a:srgbClr val="6B7280"/>
                </a:solidFill>
                <a:latin typeface="Arial" pitchFamily="34" charset="0"/>
                <a:ea typeface="Arial" pitchFamily="34" charset="-122"/>
                <a:cs typeface="Arial" pitchFamily="34" charset="-120"/>
              </a:rPr>
              <a:t>Tài liệu VNPAY, mục Thanh toán PAY</a:t>
            </a:r>
            <a:endParaRPr lang="en-US" sz="850" dirty="0"/>
          </a:p>
        </p:txBody>
      </p:sp>
      <p:sp>
        <p:nvSpPr>
          <p:cNvPr id="43" name="Text 4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4" name="Text 42"/>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66571"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Xử lý kết quả trả về</a:t>
            </a:r>
            <a:endParaRPr lang="en-US" sz="1100" dirty="0"/>
          </a:p>
        </p:txBody>
      </p:sp>
      <p:sp>
        <p:nvSpPr>
          <p:cNvPr id="3" name="Text 1"/>
          <p:cNvSpPr txBox="1"/>
          <p:nvPr/>
        </p:nvSpPr>
        <p:spPr>
          <a:xfrm>
            <a:off x="660380" y="643829"/>
            <a:ext cx="5006340"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Tham số VNPAY gửi về IPN</a:t>
            </a:r>
            <a:endParaRPr lang="en-US" sz="3000" dirty="0"/>
          </a:p>
        </p:txBody>
      </p:sp>
      <p:sp>
        <p:nvSpPr>
          <p:cNvPr id="4" name="Shape 2"/>
          <p:cNvSpPr/>
          <p:nvPr/>
        </p:nvSpPr>
        <p:spPr>
          <a:xfrm>
            <a:off x="660380" y="1347368"/>
            <a:ext cx="10870936" cy="3568629"/>
          </a:xfrm>
          <a:prstGeom prst="roundRect">
            <a:avLst>
              <a:gd name="adj" fmla="val 2847"/>
            </a:avLst>
          </a:prstGeom>
          <a:solidFill>
            <a:srgbClr val="FFFFFF"/>
          </a:solidFill>
          <a:ln/>
        </p:spPr>
      </p:sp>
      <p:sp>
        <p:nvSpPr>
          <p:cNvPr id="5" name="Shape 3"/>
          <p:cNvSpPr/>
          <p:nvPr/>
        </p:nvSpPr>
        <p:spPr>
          <a:xfrm>
            <a:off x="660380" y="1347368"/>
            <a:ext cx="2935133" cy="422270"/>
          </a:xfrm>
          <a:prstGeom prst="rect">
            <a:avLst/>
          </a:prstGeom>
          <a:solidFill>
            <a:srgbClr val="ECF2FF"/>
          </a:solidFill>
          <a:ln/>
        </p:spPr>
      </p:sp>
      <p:sp>
        <p:nvSpPr>
          <p:cNvPr id="6" name="Text 4"/>
          <p:cNvSpPr txBox="1"/>
          <p:nvPr/>
        </p:nvSpPr>
        <p:spPr>
          <a:xfrm>
            <a:off x="825520" y="1479408"/>
            <a:ext cx="70619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THAM SỐ</a:t>
            </a:r>
            <a:endParaRPr lang="en-US" sz="1000" dirty="0"/>
          </a:p>
        </p:txBody>
      </p:sp>
      <p:sp>
        <p:nvSpPr>
          <p:cNvPr id="7" name="Shape 5"/>
          <p:cNvSpPr/>
          <p:nvPr/>
        </p:nvSpPr>
        <p:spPr>
          <a:xfrm>
            <a:off x="3595512" y="1347368"/>
            <a:ext cx="2174169" cy="422270"/>
          </a:xfrm>
          <a:prstGeom prst="rect">
            <a:avLst/>
          </a:prstGeom>
          <a:solidFill>
            <a:srgbClr val="ECF2FF"/>
          </a:solidFill>
          <a:ln/>
        </p:spPr>
      </p:sp>
      <p:sp>
        <p:nvSpPr>
          <p:cNvPr id="8" name="Text 6"/>
          <p:cNvSpPr txBox="1"/>
          <p:nvPr/>
        </p:nvSpPr>
        <p:spPr>
          <a:xfrm>
            <a:off x="3760561" y="1479408"/>
            <a:ext cx="101278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KIỂU DỮ LIỆU</a:t>
            </a:r>
            <a:endParaRPr lang="en-US" sz="1000" dirty="0"/>
          </a:p>
        </p:txBody>
      </p:sp>
      <p:sp>
        <p:nvSpPr>
          <p:cNvPr id="9" name="Shape 7"/>
          <p:cNvSpPr/>
          <p:nvPr/>
        </p:nvSpPr>
        <p:spPr>
          <a:xfrm>
            <a:off x="5769590" y="1347368"/>
            <a:ext cx="3043855" cy="422270"/>
          </a:xfrm>
          <a:prstGeom prst="rect">
            <a:avLst/>
          </a:prstGeom>
          <a:solidFill>
            <a:srgbClr val="ECF2FF"/>
          </a:solidFill>
          <a:ln/>
        </p:spPr>
      </p:sp>
      <p:sp>
        <p:nvSpPr>
          <p:cNvPr id="10" name="Text 8"/>
          <p:cNvSpPr txBox="1"/>
          <p:nvPr/>
        </p:nvSpPr>
        <p:spPr>
          <a:xfrm>
            <a:off x="5934730" y="1479408"/>
            <a:ext cx="64986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Ý NGHĨA</a:t>
            </a:r>
            <a:endParaRPr lang="en-US" sz="1000" dirty="0"/>
          </a:p>
        </p:txBody>
      </p:sp>
      <p:sp>
        <p:nvSpPr>
          <p:cNvPr id="11" name="Shape 9"/>
          <p:cNvSpPr/>
          <p:nvPr/>
        </p:nvSpPr>
        <p:spPr>
          <a:xfrm>
            <a:off x="8813444" y="1347368"/>
            <a:ext cx="2717871" cy="422270"/>
          </a:xfrm>
          <a:prstGeom prst="rect">
            <a:avLst/>
          </a:prstGeom>
          <a:solidFill>
            <a:srgbClr val="ECF2FF"/>
          </a:solidFill>
          <a:ln/>
        </p:spPr>
      </p:sp>
      <p:sp>
        <p:nvSpPr>
          <p:cNvPr id="12" name="Text 10"/>
          <p:cNvSpPr txBox="1"/>
          <p:nvPr/>
        </p:nvSpPr>
        <p:spPr>
          <a:xfrm>
            <a:off x="8978585" y="1479408"/>
            <a:ext cx="170627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SỬ DỤNG TRONG CODE</a:t>
            </a:r>
            <a:endParaRPr lang="en-US" sz="1000" dirty="0"/>
          </a:p>
        </p:txBody>
      </p:sp>
      <p:sp>
        <p:nvSpPr>
          <p:cNvPr id="13" name="Shape 11"/>
          <p:cNvSpPr/>
          <p:nvPr/>
        </p:nvSpPr>
        <p:spPr>
          <a:xfrm>
            <a:off x="660380" y="1769638"/>
            <a:ext cx="2935133" cy="6309"/>
          </a:xfrm>
          <a:prstGeom prst="rect">
            <a:avLst/>
          </a:prstGeom>
          <a:solidFill>
            <a:srgbClr val="E3E6EA"/>
          </a:solidFill>
          <a:ln/>
        </p:spPr>
      </p:sp>
      <p:sp>
        <p:nvSpPr>
          <p:cNvPr id="14" name="Text 12"/>
          <p:cNvSpPr txBox="1"/>
          <p:nvPr/>
        </p:nvSpPr>
        <p:spPr>
          <a:xfrm>
            <a:off x="800100" y="1871594"/>
            <a:ext cx="108228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vnp_TmnCode</a:t>
            </a:r>
            <a:endParaRPr lang="en-US" sz="1200" dirty="0"/>
          </a:p>
        </p:txBody>
      </p:sp>
      <p:sp>
        <p:nvSpPr>
          <p:cNvPr id="15" name="Shape 13"/>
          <p:cNvSpPr/>
          <p:nvPr/>
        </p:nvSpPr>
        <p:spPr>
          <a:xfrm>
            <a:off x="3595512" y="1769638"/>
            <a:ext cx="2174169" cy="6309"/>
          </a:xfrm>
          <a:prstGeom prst="rect">
            <a:avLst/>
          </a:prstGeom>
          <a:solidFill>
            <a:srgbClr val="E3E6EA"/>
          </a:solidFill>
          <a:ln/>
        </p:spPr>
      </p:sp>
      <p:sp>
        <p:nvSpPr>
          <p:cNvPr id="16" name="Text 14"/>
          <p:cNvSpPr txBox="1"/>
          <p:nvPr/>
        </p:nvSpPr>
        <p:spPr>
          <a:xfrm>
            <a:off x="3735233" y="1873606"/>
            <a:ext cx="113157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Alphanumeric[8]</a:t>
            </a:r>
            <a:endParaRPr lang="en-US" sz="1150" dirty="0"/>
          </a:p>
        </p:txBody>
      </p:sp>
      <p:sp>
        <p:nvSpPr>
          <p:cNvPr id="17" name="Shape 15"/>
          <p:cNvSpPr/>
          <p:nvPr/>
        </p:nvSpPr>
        <p:spPr>
          <a:xfrm>
            <a:off x="5769590" y="1769638"/>
            <a:ext cx="3043855" cy="6309"/>
          </a:xfrm>
          <a:prstGeom prst="rect">
            <a:avLst/>
          </a:prstGeom>
          <a:solidFill>
            <a:srgbClr val="E3E6EA"/>
          </a:solidFill>
          <a:ln/>
        </p:spPr>
      </p:sp>
      <p:sp>
        <p:nvSpPr>
          <p:cNvPr id="18" name="Text 16"/>
          <p:cNvSpPr txBox="1"/>
          <p:nvPr/>
        </p:nvSpPr>
        <p:spPr>
          <a:xfrm>
            <a:off x="5909310" y="1873606"/>
            <a:ext cx="9284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merchant</a:t>
            </a:r>
            <a:endParaRPr lang="en-US" sz="1150" dirty="0"/>
          </a:p>
        </p:txBody>
      </p:sp>
      <p:sp>
        <p:nvSpPr>
          <p:cNvPr id="19" name="Shape 17"/>
          <p:cNvSpPr/>
          <p:nvPr/>
        </p:nvSpPr>
        <p:spPr>
          <a:xfrm>
            <a:off x="8813444" y="1769638"/>
            <a:ext cx="2717871" cy="6309"/>
          </a:xfrm>
          <a:prstGeom prst="rect">
            <a:avLst/>
          </a:prstGeom>
          <a:solidFill>
            <a:srgbClr val="E3E6EA"/>
          </a:solidFill>
          <a:ln/>
        </p:spPr>
      </p:sp>
      <p:sp>
        <p:nvSpPr>
          <p:cNvPr id="20" name="Text 18"/>
          <p:cNvSpPr txBox="1"/>
          <p:nvPr/>
        </p:nvSpPr>
        <p:spPr>
          <a:xfrm>
            <a:off x="8953165" y="1873606"/>
            <a:ext cx="128116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Đối chiếu với TMN</a:t>
            </a:r>
            <a:endParaRPr lang="en-US" sz="1150" dirty="0"/>
          </a:p>
        </p:txBody>
      </p:sp>
      <p:sp>
        <p:nvSpPr>
          <p:cNvPr id="21" name="Shape 19"/>
          <p:cNvSpPr/>
          <p:nvPr/>
        </p:nvSpPr>
        <p:spPr>
          <a:xfrm>
            <a:off x="660380" y="2163288"/>
            <a:ext cx="2935133" cy="6309"/>
          </a:xfrm>
          <a:prstGeom prst="rect">
            <a:avLst/>
          </a:prstGeom>
          <a:solidFill>
            <a:srgbClr val="E3E6EA"/>
          </a:solidFill>
          <a:ln/>
        </p:spPr>
      </p:sp>
      <p:sp>
        <p:nvSpPr>
          <p:cNvPr id="22" name="Text 20"/>
          <p:cNvSpPr txBox="1"/>
          <p:nvPr/>
        </p:nvSpPr>
        <p:spPr>
          <a:xfrm>
            <a:off x="800100" y="2265335"/>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vnp_TxnRef</a:t>
            </a:r>
            <a:endParaRPr lang="en-US" sz="1200" dirty="0"/>
          </a:p>
        </p:txBody>
      </p:sp>
      <p:sp>
        <p:nvSpPr>
          <p:cNvPr id="23" name="Shape 21"/>
          <p:cNvSpPr/>
          <p:nvPr/>
        </p:nvSpPr>
        <p:spPr>
          <a:xfrm>
            <a:off x="3595512" y="2163288"/>
            <a:ext cx="2174169" cy="6309"/>
          </a:xfrm>
          <a:prstGeom prst="rect">
            <a:avLst/>
          </a:prstGeom>
          <a:solidFill>
            <a:srgbClr val="E3E6EA"/>
          </a:solidFill>
          <a:ln/>
        </p:spPr>
      </p:sp>
      <p:sp>
        <p:nvSpPr>
          <p:cNvPr id="24" name="Text 22"/>
          <p:cNvSpPr txBox="1"/>
          <p:nvPr/>
        </p:nvSpPr>
        <p:spPr>
          <a:xfrm>
            <a:off x="3735233" y="2267255"/>
            <a:ext cx="141997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Alphanumeric[1,100]</a:t>
            </a:r>
            <a:endParaRPr lang="en-US" sz="1150" dirty="0"/>
          </a:p>
        </p:txBody>
      </p:sp>
      <p:sp>
        <p:nvSpPr>
          <p:cNvPr id="25" name="Shape 23"/>
          <p:cNvSpPr/>
          <p:nvPr/>
        </p:nvSpPr>
        <p:spPr>
          <a:xfrm>
            <a:off x="5769590" y="2163288"/>
            <a:ext cx="3043855" cy="6309"/>
          </a:xfrm>
          <a:prstGeom prst="rect">
            <a:avLst/>
          </a:prstGeom>
          <a:solidFill>
            <a:srgbClr val="E3E6EA"/>
          </a:solidFill>
          <a:ln/>
        </p:spPr>
      </p:sp>
      <p:sp>
        <p:nvSpPr>
          <p:cNvPr id="26" name="Text 24"/>
          <p:cNvSpPr txBox="1"/>
          <p:nvPr/>
        </p:nvSpPr>
        <p:spPr>
          <a:xfrm>
            <a:off x="5909310" y="2267255"/>
            <a:ext cx="191036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giao dịch phía merchant</a:t>
            </a:r>
            <a:endParaRPr lang="en-US" sz="1150" dirty="0"/>
          </a:p>
        </p:txBody>
      </p:sp>
      <p:sp>
        <p:nvSpPr>
          <p:cNvPr id="27" name="Shape 25"/>
          <p:cNvSpPr/>
          <p:nvPr/>
        </p:nvSpPr>
        <p:spPr>
          <a:xfrm>
            <a:off x="8813444" y="2163288"/>
            <a:ext cx="2717871" cy="6309"/>
          </a:xfrm>
          <a:prstGeom prst="rect">
            <a:avLst/>
          </a:prstGeom>
          <a:solidFill>
            <a:srgbClr val="E3E6EA"/>
          </a:solidFill>
          <a:ln/>
        </p:spPr>
      </p:sp>
      <p:sp>
        <p:nvSpPr>
          <p:cNvPr id="28" name="Text 26"/>
          <p:cNvSpPr txBox="1"/>
          <p:nvPr/>
        </p:nvSpPr>
        <p:spPr>
          <a:xfrm>
            <a:off x="8953165" y="2267255"/>
            <a:ext cx="95289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Tìm giao dịch</a:t>
            </a:r>
            <a:endParaRPr lang="en-US" sz="1150" dirty="0"/>
          </a:p>
        </p:txBody>
      </p:sp>
      <p:sp>
        <p:nvSpPr>
          <p:cNvPr id="29" name="Shape 27"/>
          <p:cNvSpPr/>
          <p:nvPr/>
        </p:nvSpPr>
        <p:spPr>
          <a:xfrm>
            <a:off x="660380" y="2557028"/>
            <a:ext cx="2935133" cy="6309"/>
          </a:xfrm>
          <a:prstGeom prst="rect">
            <a:avLst/>
          </a:prstGeom>
          <a:solidFill>
            <a:srgbClr val="E3E6EA"/>
          </a:solidFill>
          <a:ln/>
        </p:spPr>
      </p:sp>
      <p:sp>
        <p:nvSpPr>
          <p:cNvPr id="30" name="Text 28"/>
          <p:cNvSpPr txBox="1"/>
          <p:nvPr/>
        </p:nvSpPr>
        <p:spPr>
          <a:xfrm>
            <a:off x="800100" y="2658984"/>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vnp_Amount</a:t>
            </a:r>
            <a:endParaRPr lang="en-US" sz="1200" dirty="0"/>
          </a:p>
        </p:txBody>
      </p:sp>
      <p:sp>
        <p:nvSpPr>
          <p:cNvPr id="31" name="Shape 29"/>
          <p:cNvSpPr/>
          <p:nvPr/>
        </p:nvSpPr>
        <p:spPr>
          <a:xfrm>
            <a:off x="3595512" y="2557028"/>
            <a:ext cx="2174169" cy="6309"/>
          </a:xfrm>
          <a:prstGeom prst="rect">
            <a:avLst/>
          </a:prstGeom>
          <a:solidFill>
            <a:srgbClr val="E3E6EA"/>
          </a:solidFill>
          <a:ln/>
        </p:spPr>
      </p:sp>
      <p:sp>
        <p:nvSpPr>
          <p:cNvPr id="32" name="Text 30"/>
          <p:cNvSpPr txBox="1"/>
          <p:nvPr/>
        </p:nvSpPr>
        <p:spPr>
          <a:xfrm>
            <a:off x="3735233" y="2660904"/>
            <a:ext cx="98535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Numeric[1,12]</a:t>
            </a:r>
            <a:endParaRPr lang="en-US" sz="1150" dirty="0"/>
          </a:p>
        </p:txBody>
      </p:sp>
      <p:sp>
        <p:nvSpPr>
          <p:cNvPr id="33" name="Shape 31"/>
          <p:cNvSpPr/>
          <p:nvPr/>
        </p:nvSpPr>
        <p:spPr>
          <a:xfrm>
            <a:off x="5769590" y="2557028"/>
            <a:ext cx="3043855" cy="6309"/>
          </a:xfrm>
          <a:prstGeom prst="rect">
            <a:avLst/>
          </a:prstGeom>
          <a:solidFill>
            <a:srgbClr val="E3E6EA"/>
          </a:solidFill>
          <a:ln/>
        </p:spPr>
      </p:sp>
      <p:sp>
        <p:nvSpPr>
          <p:cNvPr id="34" name="Text 32"/>
          <p:cNvSpPr txBox="1"/>
          <p:nvPr/>
        </p:nvSpPr>
        <p:spPr>
          <a:xfrm>
            <a:off x="5909310" y="2660904"/>
            <a:ext cx="94110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Số tiền × 100</a:t>
            </a:r>
            <a:endParaRPr lang="en-US" sz="1150" dirty="0"/>
          </a:p>
        </p:txBody>
      </p:sp>
      <p:sp>
        <p:nvSpPr>
          <p:cNvPr id="35" name="Shape 33"/>
          <p:cNvSpPr/>
          <p:nvPr/>
        </p:nvSpPr>
        <p:spPr>
          <a:xfrm>
            <a:off x="8813444" y="2557028"/>
            <a:ext cx="2717871" cy="6309"/>
          </a:xfrm>
          <a:prstGeom prst="rect">
            <a:avLst/>
          </a:prstGeom>
          <a:solidFill>
            <a:srgbClr val="E3E6EA"/>
          </a:solidFill>
          <a:ln/>
        </p:spPr>
      </p:sp>
      <p:sp>
        <p:nvSpPr>
          <p:cNvPr id="36" name="Text 34"/>
          <p:cNvSpPr txBox="1"/>
          <p:nvPr/>
        </p:nvSpPr>
        <p:spPr>
          <a:xfrm>
            <a:off x="8953165" y="2660904"/>
            <a:ext cx="162690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Đối chiếu số tiền đã lưu</a:t>
            </a:r>
            <a:endParaRPr lang="en-US" sz="1150" dirty="0"/>
          </a:p>
        </p:txBody>
      </p:sp>
      <p:sp>
        <p:nvSpPr>
          <p:cNvPr id="37" name="Shape 35"/>
          <p:cNvSpPr/>
          <p:nvPr/>
        </p:nvSpPr>
        <p:spPr>
          <a:xfrm>
            <a:off x="660380" y="2950677"/>
            <a:ext cx="2935133" cy="6309"/>
          </a:xfrm>
          <a:prstGeom prst="rect">
            <a:avLst/>
          </a:prstGeom>
          <a:solidFill>
            <a:srgbClr val="E3E6EA"/>
          </a:solidFill>
          <a:ln/>
        </p:spPr>
      </p:sp>
      <p:sp>
        <p:nvSpPr>
          <p:cNvPr id="38" name="Text 36"/>
          <p:cNvSpPr txBox="1"/>
          <p:nvPr/>
        </p:nvSpPr>
        <p:spPr>
          <a:xfrm>
            <a:off x="800100" y="3052633"/>
            <a:ext cx="1551005"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vnp_ResponseCode</a:t>
            </a:r>
            <a:endParaRPr lang="en-US" sz="1200" dirty="0"/>
          </a:p>
        </p:txBody>
      </p:sp>
      <p:sp>
        <p:nvSpPr>
          <p:cNvPr id="39" name="Shape 37"/>
          <p:cNvSpPr/>
          <p:nvPr/>
        </p:nvSpPr>
        <p:spPr>
          <a:xfrm>
            <a:off x="3595512" y="2950677"/>
            <a:ext cx="2174169" cy="6309"/>
          </a:xfrm>
          <a:prstGeom prst="rect">
            <a:avLst/>
          </a:prstGeom>
          <a:solidFill>
            <a:srgbClr val="E3E6EA"/>
          </a:solidFill>
          <a:ln/>
        </p:spPr>
      </p:sp>
      <p:sp>
        <p:nvSpPr>
          <p:cNvPr id="40" name="Text 38"/>
          <p:cNvSpPr txBox="1"/>
          <p:nvPr/>
        </p:nvSpPr>
        <p:spPr>
          <a:xfrm>
            <a:off x="3735233" y="3054645"/>
            <a:ext cx="78236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Numeric[2]</a:t>
            </a:r>
            <a:endParaRPr lang="en-US" sz="1150" dirty="0"/>
          </a:p>
        </p:txBody>
      </p:sp>
      <p:sp>
        <p:nvSpPr>
          <p:cNvPr id="41" name="Shape 39"/>
          <p:cNvSpPr/>
          <p:nvPr/>
        </p:nvSpPr>
        <p:spPr>
          <a:xfrm>
            <a:off x="5769590" y="2950677"/>
            <a:ext cx="3043855" cy="6309"/>
          </a:xfrm>
          <a:prstGeom prst="rect">
            <a:avLst/>
          </a:prstGeom>
          <a:solidFill>
            <a:srgbClr val="E3E6EA"/>
          </a:solidFill>
          <a:ln/>
        </p:spPr>
      </p:sp>
      <p:sp>
        <p:nvSpPr>
          <p:cNvPr id="42" name="Text 40"/>
          <p:cNvSpPr txBox="1"/>
          <p:nvPr/>
        </p:nvSpPr>
        <p:spPr>
          <a:xfrm>
            <a:off x="5909310" y="3054645"/>
            <a:ext cx="208300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phản hồi; 00 là thành công</a:t>
            </a:r>
            <a:endParaRPr lang="en-US" sz="1150" dirty="0"/>
          </a:p>
        </p:txBody>
      </p:sp>
      <p:sp>
        <p:nvSpPr>
          <p:cNvPr id="43" name="Shape 41"/>
          <p:cNvSpPr/>
          <p:nvPr/>
        </p:nvSpPr>
        <p:spPr>
          <a:xfrm>
            <a:off x="8813444" y="2950677"/>
            <a:ext cx="2717871" cy="6309"/>
          </a:xfrm>
          <a:prstGeom prst="rect">
            <a:avLst/>
          </a:prstGeom>
          <a:solidFill>
            <a:srgbClr val="E3E6EA"/>
          </a:solidFill>
          <a:ln/>
        </p:spPr>
      </p:sp>
      <p:sp>
        <p:nvSpPr>
          <p:cNvPr id="44" name="Text 42"/>
          <p:cNvSpPr txBox="1"/>
          <p:nvPr/>
        </p:nvSpPr>
        <p:spPr>
          <a:xfrm>
            <a:off x="8953165" y="3054645"/>
            <a:ext cx="195050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Xác định PAID hoặc FAILED</a:t>
            </a:r>
            <a:endParaRPr lang="en-US" sz="1150" dirty="0"/>
          </a:p>
        </p:txBody>
      </p:sp>
      <p:sp>
        <p:nvSpPr>
          <p:cNvPr id="45" name="Shape 43"/>
          <p:cNvSpPr/>
          <p:nvPr/>
        </p:nvSpPr>
        <p:spPr>
          <a:xfrm>
            <a:off x="660380" y="3344418"/>
            <a:ext cx="2935133" cy="6309"/>
          </a:xfrm>
          <a:prstGeom prst="rect">
            <a:avLst/>
          </a:prstGeom>
          <a:solidFill>
            <a:srgbClr val="E3E6EA"/>
          </a:solidFill>
          <a:ln/>
        </p:spPr>
      </p:sp>
      <p:sp>
        <p:nvSpPr>
          <p:cNvPr id="46" name="Text 44"/>
          <p:cNvSpPr txBox="1"/>
          <p:nvPr/>
        </p:nvSpPr>
        <p:spPr>
          <a:xfrm>
            <a:off x="800100" y="3446374"/>
            <a:ext cx="2035729"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vnp_TransactionStatus</a:t>
            </a:r>
            <a:endParaRPr lang="en-US" sz="1200" dirty="0"/>
          </a:p>
        </p:txBody>
      </p:sp>
      <p:sp>
        <p:nvSpPr>
          <p:cNvPr id="47" name="Shape 45"/>
          <p:cNvSpPr/>
          <p:nvPr/>
        </p:nvSpPr>
        <p:spPr>
          <a:xfrm>
            <a:off x="3595512" y="3344418"/>
            <a:ext cx="2174169" cy="6309"/>
          </a:xfrm>
          <a:prstGeom prst="rect">
            <a:avLst/>
          </a:prstGeom>
          <a:solidFill>
            <a:srgbClr val="E3E6EA"/>
          </a:solidFill>
          <a:ln/>
        </p:spPr>
      </p:sp>
      <p:sp>
        <p:nvSpPr>
          <p:cNvPr id="48" name="Text 46"/>
          <p:cNvSpPr txBox="1"/>
          <p:nvPr/>
        </p:nvSpPr>
        <p:spPr>
          <a:xfrm>
            <a:off x="3735233" y="3448294"/>
            <a:ext cx="78236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Numeric[2]</a:t>
            </a:r>
            <a:endParaRPr lang="en-US" sz="1150" dirty="0"/>
          </a:p>
        </p:txBody>
      </p:sp>
      <p:sp>
        <p:nvSpPr>
          <p:cNvPr id="49" name="Shape 47"/>
          <p:cNvSpPr/>
          <p:nvPr/>
        </p:nvSpPr>
        <p:spPr>
          <a:xfrm>
            <a:off x="5769590" y="3344418"/>
            <a:ext cx="3043855" cy="6309"/>
          </a:xfrm>
          <a:prstGeom prst="rect">
            <a:avLst/>
          </a:prstGeom>
          <a:solidFill>
            <a:srgbClr val="E3E6EA"/>
          </a:solidFill>
          <a:ln/>
        </p:spPr>
      </p:sp>
      <p:sp>
        <p:nvSpPr>
          <p:cNvPr id="50" name="Text 48"/>
          <p:cNvSpPr txBox="1"/>
          <p:nvPr/>
        </p:nvSpPr>
        <p:spPr>
          <a:xfrm>
            <a:off x="5909310" y="3448294"/>
            <a:ext cx="210540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Trạng thái giao dịch tại VNPAY</a:t>
            </a:r>
            <a:endParaRPr lang="en-US" sz="1150" dirty="0"/>
          </a:p>
        </p:txBody>
      </p:sp>
      <p:sp>
        <p:nvSpPr>
          <p:cNvPr id="51" name="Shape 49"/>
          <p:cNvSpPr/>
          <p:nvPr/>
        </p:nvSpPr>
        <p:spPr>
          <a:xfrm>
            <a:off x="8813444" y="3344418"/>
            <a:ext cx="2717871" cy="6309"/>
          </a:xfrm>
          <a:prstGeom prst="rect">
            <a:avLst/>
          </a:prstGeom>
          <a:solidFill>
            <a:srgbClr val="E3E6EA"/>
          </a:solidFill>
          <a:ln/>
        </p:spPr>
      </p:sp>
      <p:sp>
        <p:nvSpPr>
          <p:cNvPr id="52" name="Text 50"/>
          <p:cNvSpPr txBox="1"/>
          <p:nvPr/>
        </p:nvSpPr>
        <p:spPr>
          <a:xfrm>
            <a:off x="8953165" y="3448294"/>
            <a:ext cx="172126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Xét cùng ResponseCode</a:t>
            </a:r>
            <a:endParaRPr lang="en-US" sz="1150" dirty="0"/>
          </a:p>
        </p:txBody>
      </p:sp>
      <p:sp>
        <p:nvSpPr>
          <p:cNvPr id="53" name="Shape 51"/>
          <p:cNvSpPr/>
          <p:nvPr/>
        </p:nvSpPr>
        <p:spPr>
          <a:xfrm>
            <a:off x="660380" y="3738067"/>
            <a:ext cx="2935133" cy="6309"/>
          </a:xfrm>
          <a:prstGeom prst="rect">
            <a:avLst/>
          </a:prstGeom>
          <a:solidFill>
            <a:srgbClr val="E3E6EA"/>
          </a:solidFill>
          <a:ln/>
        </p:spPr>
      </p:sp>
      <p:sp>
        <p:nvSpPr>
          <p:cNvPr id="54" name="Text 52"/>
          <p:cNvSpPr txBox="1"/>
          <p:nvPr/>
        </p:nvSpPr>
        <p:spPr>
          <a:xfrm>
            <a:off x="800100" y="3840023"/>
            <a:ext cx="1648023"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vnp_TransactionNo</a:t>
            </a:r>
            <a:endParaRPr lang="en-US" sz="1200" dirty="0"/>
          </a:p>
        </p:txBody>
      </p:sp>
      <p:sp>
        <p:nvSpPr>
          <p:cNvPr id="55" name="Shape 53"/>
          <p:cNvSpPr/>
          <p:nvPr/>
        </p:nvSpPr>
        <p:spPr>
          <a:xfrm>
            <a:off x="3595512" y="3738067"/>
            <a:ext cx="2174169" cy="6309"/>
          </a:xfrm>
          <a:prstGeom prst="rect">
            <a:avLst/>
          </a:prstGeom>
          <a:solidFill>
            <a:srgbClr val="E3E6EA"/>
          </a:solidFill>
          <a:ln/>
        </p:spPr>
      </p:sp>
      <p:sp>
        <p:nvSpPr>
          <p:cNvPr id="56" name="Text 54"/>
          <p:cNvSpPr txBox="1"/>
          <p:nvPr/>
        </p:nvSpPr>
        <p:spPr>
          <a:xfrm>
            <a:off x="3735233" y="3842034"/>
            <a:ext cx="98535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Numeric[1,15]</a:t>
            </a:r>
            <a:endParaRPr lang="en-US" sz="1150" dirty="0"/>
          </a:p>
        </p:txBody>
      </p:sp>
      <p:sp>
        <p:nvSpPr>
          <p:cNvPr id="57" name="Shape 55"/>
          <p:cNvSpPr/>
          <p:nvPr/>
        </p:nvSpPr>
        <p:spPr>
          <a:xfrm>
            <a:off x="5769590" y="3738067"/>
            <a:ext cx="3043855" cy="6309"/>
          </a:xfrm>
          <a:prstGeom prst="rect">
            <a:avLst/>
          </a:prstGeom>
          <a:solidFill>
            <a:srgbClr val="E3E6EA"/>
          </a:solidFill>
          <a:ln/>
        </p:spPr>
      </p:sp>
      <p:sp>
        <p:nvSpPr>
          <p:cNvPr id="58" name="Text 56"/>
          <p:cNvSpPr txBox="1"/>
          <p:nvPr/>
        </p:nvSpPr>
        <p:spPr>
          <a:xfrm>
            <a:off x="5909310" y="3842034"/>
            <a:ext cx="176698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giao dịch phía VNPAY</a:t>
            </a:r>
            <a:endParaRPr lang="en-US" sz="1150" dirty="0"/>
          </a:p>
        </p:txBody>
      </p:sp>
      <p:sp>
        <p:nvSpPr>
          <p:cNvPr id="59" name="Shape 57"/>
          <p:cNvSpPr/>
          <p:nvPr/>
        </p:nvSpPr>
        <p:spPr>
          <a:xfrm>
            <a:off x="8813444" y="3738067"/>
            <a:ext cx="2717871" cy="6309"/>
          </a:xfrm>
          <a:prstGeom prst="rect">
            <a:avLst/>
          </a:prstGeom>
          <a:solidFill>
            <a:srgbClr val="E3E6EA"/>
          </a:solidFill>
          <a:ln/>
        </p:spPr>
      </p:sp>
      <p:sp>
        <p:nvSpPr>
          <p:cNvPr id="60" name="Text 58"/>
          <p:cNvSpPr txBox="1"/>
          <p:nvPr/>
        </p:nvSpPr>
        <p:spPr>
          <a:xfrm>
            <a:off x="8953165" y="3842034"/>
            <a:ext cx="60652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Tra soát</a:t>
            </a:r>
            <a:endParaRPr lang="en-US" sz="1150" dirty="0"/>
          </a:p>
        </p:txBody>
      </p:sp>
      <p:sp>
        <p:nvSpPr>
          <p:cNvPr id="61" name="Shape 59"/>
          <p:cNvSpPr/>
          <p:nvPr/>
        </p:nvSpPr>
        <p:spPr>
          <a:xfrm>
            <a:off x="660380" y="4131808"/>
            <a:ext cx="2935133" cy="6309"/>
          </a:xfrm>
          <a:prstGeom prst="rect">
            <a:avLst/>
          </a:prstGeom>
          <a:solidFill>
            <a:srgbClr val="E3E6EA"/>
          </a:solidFill>
          <a:ln/>
        </p:spPr>
      </p:sp>
      <p:sp>
        <p:nvSpPr>
          <p:cNvPr id="62" name="Text 60"/>
          <p:cNvSpPr txBox="1"/>
          <p:nvPr/>
        </p:nvSpPr>
        <p:spPr>
          <a:xfrm>
            <a:off x="800100" y="4233763"/>
            <a:ext cx="25204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vnp_BankCode, vnp_PayDate…</a:t>
            </a:r>
            <a:endParaRPr lang="en-US" sz="1200" dirty="0"/>
          </a:p>
        </p:txBody>
      </p:sp>
      <p:sp>
        <p:nvSpPr>
          <p:cNvPr id="63" name="Shape 61"/>
          <p:cNvSpPr/>
          <p:nvPr/>
        </p:nvSpPr>
        <p:spPr>
          <a:xfrm>
            <a:off x="3595512" y="4131808"/>
            <a:ext cx="2174169" cy="6309"/>
          </a:xfrm>
          <a:prstGeom prst="rect">
            <a:avLst/>
          </a:prstGeom>
          <a:solidFill>
            <a:srgbClr val="E3E6EA"/>
          </a:solidFill>
          <a:ln/>
        </p:spPr>
      </p:sp>
      <p:sp>
        <p:nvSpPr>
          <p:cNvPr id="64" name="Text 62"/>
          <p:cNvSpPr txBox="1"/>
          <p:nvPr/>
        </p:nvSpPr>
        <p:spPr>
          <a:xfrm>
            <a:off x="3735233" y="4235684"/>
            <a:ext cx="82323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theo tài liệu</a:t>
            </a:r>
            <a:endParaRPr lang="en-US" sz="1150" dirty="0"/>
          </a:p>
        </p:txBody>
      </p:sp>
      <p:sp>
        <p:nvSpPr>
          <p:cNvPr id="65" name="Shape 63"/>
          <p:cNvSpPr/>
          <p:nvPr/>
        </p:nvSpPr>
        <p:spPr>
          <a:xfrm>
            <a:off x="5769590" y="4131808"/>
            <a:ext cx="3043855" cy="6309"/>
          </a:xfrm>
          <a:prstGeom prst="rect">
            <a:avLst/>
          </a:prstGeom>
          <a:solidFill>
            <a:srgbClr val="E3E6EA"/>
          </a:solidFill>
          <a:ln/>
        </p:spPr>
      </p:sp>
      <p:sp>
        <p:nvSpPr>
          <p:cNvPr id="66" name="Text 64"/>
          <p:cNvSpPr txBox="1"/>
          <p:nvPr/>
        </p:nvSpPr>
        <p:spPr>
          <a:xfrm>
            <a:off x="5909310" y="4235684"/>
            <a:ext cx="226186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Ngân hàng, thời điểm thanh toán</a:t>
            </a:r>
            <a:endParaRPr lang="en-US" sz="1150" dirty="0"/>
          </a:p>
        </p:txBody>
      </p:sp>
      <p:sp>
        <p:nvSpPr>
          <p:cNvPr id="67" name="Shape 65"/>
          <p:cNvSpPr/>
          <p:nvPr/>
        </p:nvSpPr>
        <p:spPr>
          <a:xfrm>
            <a:off x="8813444" y="4131808"/>
            <a:ext cx="2717871" cy="6309"/>
          </a:xfrm>
          <a:prstGeom prst="rect">
            <a:avLst/>
          </a:prstGeom>
          <a:solidFill>
            <a:srgbClr val="E3E6EA"/>
          </a:solidFill>
          <a:ln/>
        </p:spPr>
      </p:sp>
      <p:sp>
        <p:nvSpPr>
          <p:cNvPr id="68" name="Text 66"/>
          <p:cNvSpPr txBox="1"/>
          <p:nvPr/>
        </p:nvSpPr>
        <p:spPr>
          <a:xfrm>
            <a:off x="8953165" y="4235684"/>
            <a:ext cx="145462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Tham gia tính chữ ký</a:t>
            </a:r>
            <a:endParaRPr lang="en-US" sz="1150" dirty="0"/>
          </a:p>
        </p:txBody>
      </p:sp>
      <p:sp>
        <p:nvSpPr>
          <p:cNvPr id="69" name="Shape 67"/>
          <p:cNvSpPr/>
          <p:nvPr/>
        </p:nvSpPr>
        <p:spPr>
          <a:xfrm>
            <a:off x="660380" y="4525457"/>
            <a:ext cx="2935133" cy="6309"/>
          </a:xfrm>
          <a:prstGeom prst="rect">
            <a:avLst/>
          </a:prstGeom>
          <a:solidFill>
            <a:srgbClr val="E3E6EA"/>
          </a:solidFill>
          <a:ln/>
        </p:spPr>
      </p:sp>
      <p:sp>
        <p:nvSpPr>
          <p:cNvPr id="70" name="Text 68"/>
          <p:cNvSpPr txBox="1"/>
          <p:nvPr/>
        </p:nvSpPr>
        <p:spPr>
          <a:xfrm>
            <a:off x="800100" y="4627413"/>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vnp_SecureHash</a:t>
            </a:r>
            <a:endParaRPr lang="en-US" sz="1200" dirty="0"/>
          </a:p>
        </p:txBody>
      </p:sp>
      <p:sp>
        <p:nvSpPr>
          <p:cNvPr id="71" name="Shape 69"/>
          <p:cNvSpPr/>
          <p:nvPr/>
        </p:nvSpPr>
        <p:spPr>
          <a:xfrm>
            <a:off x="3595512" y="4525457"/>
            <a:ext cx="2174169" cy="6309"/>
          </a:xfrm>
          <a:prstGeom prst="rect">
            <a:avLst/>
          </a:prstGeom>
          <a:solidFill>
            <a:srgbClr val="E3E6EA"/>
          </a:solidFill>
          <a:ln/>
        </p:spPr>
      </p:sp>
      <p:sp>
        <p:nvSpPr>
          <p:cNvPr id="72" name="Text 70"/>
          <p:cNvSpPr txBox="1"/>
          <p:nvPr/>
        </p:nvSpPr>
        <p:spPr>
          <a:xfrm>
            <a:off x="3735233" y="4629424"/>
            <a:ext cx="150610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Alphanumeric[32,256]</a:t>
            </a:r>
            <a:endParaRPr lang="en-US" sz="1150" dirty="0"/>
          </a:p>
        </p:txBody>
      </p:sp>
      <p:sp>
        <p:nvSpPr>
          <p:cNvPr id="73" name="Shape 71"/>
          <p:cNvSpPr/>
          <p:nvPr/>
        </p:nvSpPr>
        <p:spPr>
          <a:xfrm>
            <a:off x="5769590" y="4525457"/>
            <a:ext cx="3043855" cy="6309"/>
          </a:xfrm>
          <a:prstGeom prst="rect">
            <a:avLst/>
          </a:prstGeom>
          <a:solidFill>
            <a:srgbClr val="E3E6EA"/>
          </a:solidFill>
          <a:ln/>
        </p:spPr>
      </p:sp>
      <p:sp>
        <p:nvSpPr>
          <p:cNvPr id="74" name="Text 72"/>
          <p:cNvSpPr txBox="1"/>
          <p:nvPr/>
        </p:nvSpPr>
        <p:spPr>
          <a:xfrm>
            <a:off x="5909310" y="4629424"/>
            <a:ext cx="133740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Chữ ký của VNPAY</a:t>
            </a:r>
            <a:endParaRPr lang="en-US" sz="1150" dirty="0"/>
          </a:p>
        </p:txBody>
      </p:sp>
      <p:sp>
        <p:nvSpPr>
          <p:cNvPr id="75" name="Shape 73"/>
          <p:cNvSpPr/>
          <p:nvPr/>
        </p:nvSpPr>
        <p:spPr>
          <a:xfrm>
            <a:off x="8813444" y="4525457"/>
            <a:ext cx="2717871" cy="6309"/>
          </a:xfrm>
          <a:prstGeom prst="rect">
            <a:avLst/>
          </a:prstGeom>
          <a:solidFill>
            <a:srgbClr val="E3E6EA"/>
          </a:solidFill>
          <a:ln/>
        </p:spPr>
      </p:sp>
      <p:sp>
        <p:nvSpPr>
          <p:cNvPr id="76" name="Text 74"/>
          <p:cNvSpPr txBox="1"/>
          <p:nvPr/>
        </p:nvSpPr>
        <p:spPr>
          <a:xfrm>
            <a:off x="8953165" y="4629424"/>
            <a:ext cx="170069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Kiểm tra trước mọi bước</a:t>
            </a:r>
            <a:endParaRPr lang="en-US" sz="1150" dirty="0"/>
          </a:p>
        </p:txBody>
      </p:sp>
      <p:sp>
        <p:nvSpPr>
          <p:cNvPr id="77" name="Text 75"/>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78" name="Text 76"/>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66571"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Xử lý kết quả trả về</a:t>
            </a:r>
            <a:endParaRPr lang="en-US" sz="1100" dirty="0"/>
          </a:p>
        </p:txBody>
      </p:sp>
      <p:sp>
        <p:nvSpPr>
          <p:cNvPr id="3" name="Text 1"/>
          <p:cNvSpPr txBox="1"/>
          <p:nvPr/>
        </p:nvSpPr>
        <p:spPr>
          <a:xfrm>
            <a:off x="660380" y="643829"/>
            <a:ext cx="6273790"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ipn(): xác minh trước khi cập nhật</a:t>
            </a:r>
            <a:endParaRPr lang="en-US" sz="3000" dirty="0"/>
          </a:p>
        </p:txBody>
      </p:sp>
      <p:sp>
        <p:nvSpPr>
          <p:cNvPr id="4" name="Text 2"/>
          <p:cNvSpPr txBox="1"/>
          <p:nvPr/>
        </p:nvSpPr>
        <p:spPr>
          <a:xfrm>
            <a:off x="660380" y="1358798"/>
            <a:ext cx="379686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Trích từ SeminarDemo.java, ngắt dòng cho dễ đọc</a:t>
            </a:r>
            <a:endParaRPr lang="en-US" sz="1000" dirty="0"/>
          </a:p>
        </p:txBody>
      </p:sp>
      <p:sp>
        <p:nvSpPr>
          <p:cNvPr id="5" name="Shape 3"/>
          <p:cNvSpPr/>
          <p:nvPr/>
        </p:nvSpPr>
        <p:spPr>
          <a:xfrm>
            <a:off x="660380" y="1601389"/>
            <a:ext cx="6334049" cy="3208447"/>
          </a:xfrm>
          <a:prstGeom prst="roundRect">
            <a:avLst>
              <a:gd name="adj" fmla="val 3166"/>
            </a:avLst>
          </a:prstGeom>
          <a:solidFill>
            <a:srgbClr val="0C131E"/>
          </a:solidFill>
          <a:ln/>
        </p:spPr>
      </p:sp>
      <p:sp>
        <p:nvSpPr>
          <p:cNvPr id="6" name="Text 4"/>
          <p:cNvSpPr txBox="1"/>
          <p:nvPr/>
        </p:nvSpPr>
        <p:spPr>
          <a:xfrm>
            <a:off x="907999" y="1784452"/>
            <a:ext cx="4883445"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static</a:t>
            </a:r>
            <a:pPr algn="l" indent="0" marL="0">
              <a:buNone/>
            </a:pPr>
            <a:r>
              <a:rPr lang="en-US" sz="980" dirty="0">
                <a:solidFill>
                  <a:srgbClr val="E6EDF7"/>
                </a:solidFill>
                <a:latin typeface="Courier New" pitchFamily="34" charset="0"/>
                <a:ea typeface="Courier New" pitchFamily="34" charset="-122"/>
                <a:cs typeface="Courier New" pitchFamily="34" charset="-120"/>
              </a:rPr>
              <a:t> JSONObject ipn(Map&lt;String,String&gt; m) throws Exception {</a:t>
            </a:r>
            <a:endParaRPr lang="en-US" sz="980" dirty="0"/>
          </a:p>
        </p:txBody>
      </p:sp>
      <p:sp>
        <p:nvSpPr>
          <p:cNvPr id="7" name="Shape 5"/>
          <p:cNvSpPr/>
          <p:nvPr/>
        </p:nvSpPr>
        <p:spPr>
          <a:xfrm>
            <a:off x="660380" y="1958370"/>
            <a:ext cx="6334049" cy="191841"/>
          </a:xfrm>
          <a:prstGeom prst="rect">
            <a:avLst/>
          </a:prstGeom>
          <a:solidFill>
            <a:srgbClr val="FFD479">
              <a:alpha val="13000"/>
            </a:srgbClr>
          </a:solidFill>
          <a:ln/>
        </p:spPr>
      </p:sp>
      <p:sp>
        <p:nvSpPr>
          <p:cNvPr id="8" name="Shape 6"/>
          <p:cNvSpPr/>
          <p:nvPr/>
        </p:nvSpPr>
        <p:spPr>
          <a:xfrm>
            <a:off x="660380" y="1958370"/>
            <a:ext cx="31730" cy="191841"/>
          </a:xfrm>
          <a:prstGeom prst="rect">
            <a:avLst/>
          </a:prstGeom>
          <a:solidFill>
            <a:srgbClr val="FFD479"/>
          </a:solidFill>
          <a:ln/>
        </p:spPr>
      </p:sp>
      <p:sp>
        <p:nvSpPr>
          <p:cNvPr id="9" name="Text 7"/>
          <p:cNvSpPr txBox="1"/>
          <p:nvPr/>
        </p:nvSpPr>
        <p:spPr>
          <a:xfrm>
            <a:off x="907999" y="1976293"/>
            <a:ext cx="433215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(!valid(m) || !TMN.equals(m.get(</a:t>
            </a:r>
            <a:pPr algn="l" indent="0" marL="0">
              <a:buNone/>
            </a:pPr>
            <a:r>
              <a:rPr lang="en-US" sz="980" dirty="0">
                <a:solidFill>
                  <a:srgbClr val="9BE3B4"/>
                </a:solidFill>
                <a:latin typeface="Courier New" pitchFamily="34" charset="0"/>
                <a:ea typeface="Courier New" pitchFamily="34" charset="-122"/>
                <a:cs typeface="Courier New" pitchFamily="34" charset="-120"/>
              </a:rPr>
              <a:t>"vnp_TmnCode"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0" name="Text 8"/>
          <p:cNvSpPr txBox="1"/>
          <p:nvPr/>
        </p:nvSpPr>
        <p:spPr>
          <a:xfrm>
            <a:off x="907999" y="2168225"/>
            <a:ext cx="456852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"97"</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"Invalid signature or merchant"</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1" name="Text 9"/>
          <p:cNvSpPr txBox="1"/>
          <p:nvPr/>
        </p:nvSpPr>
        <p:spPr>
          <a:xfrm>
            <a:off x="907999" y="2360066"/>
            <a:ext cx="393841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Payment p = PAYMENTS.get(m.get(</a:t>
            </a:r>
            <a:pPr algn="l" indent="0" marL="0">
              <a:buNone/>
            </a:pPr>
            <a:r>
              <a:rPr lang="en-US" sz="980" dirty="0">
                <a:solidFill>
                  <a:srgbClr val="9BE3B4"/>
                </a:solidFill>
                <a:latin typeface="Courier New" pitchFamily="34" charset="0"/>
                <a:ea typeface="Courier New" pitchFamily="34" charset="-122"/>
                <a:cs typeface="Courier New" pitchFamily="34" charset="-120"/>
              </a:rPr>
              <a:t>"vnp_TxnRef"</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2" name="Shape 10"/>
          <p:cNvSpPr/>
          <p:nvPr/>
        </p:nvSpPr>
        <p:spPr>
          <a:xfrm>
            <a:off x="660380" y="2533985"/>
            <a:ext cx="6334049" cy="191841"/>
          </a:xfrm>
          <a:prstGeom prst="rect">
            <a:avLst/>
          </a:prstGeom>
          <a:solidFill>
            <a:srgbClr val="FFD479">
              <a:alpha val="13000"/>
            </a:srgbClr>
          </a:solidFill>
          <a:ln/>
        </p:spPr>
      </p:sp>
      <p:sp>
        <p:nvSpPr>
          <p:cNvPr id="13" name="Shape 11"/>
          <p:cNvSpPr/>
          <p:nvPr/>
        </p:nvSpPr>
        <p:spPr>
          <a:xfrm>
            <a:off x="660380" y="2533985"/>
            <a:ext cx="31730" cy="191841"/>
          </a:xfrm>
          <a:prstGeom prst="rect">
            <a:avLst/>
          </a:prstGeom>
          <a:solidFill>
            <a:srgbClr val="FFD479"/>
          </a:solidFill>
          <a:ln/>
        </p:spPr>
      </p:sp>
      <p:sp>
        <p:nvSpPr>
          <p:cNvPr id="14" name="Text 12"/>
          <p:cNvSpPr txBox="1"/>
          <p:nvPr/>
        </p:nvSpPr>
        <p:spPr>
          <a:xfrm>
            <a:off x="907999" y="2551999"/>
            <a:ext cx="433233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(p == </a:t>
            </a:r>
            <a:pPr algn="l" indent="0" marL="0">
              <a:buNone/>
            </a:pPr>
            <a:r>
              <a:rPr lang="en-US" sz="980" dirty="0">
                <a:solidFill>
                  <a:srgbClr val="7FC2FF"/>
                </a:solidFill>
                <a:latin typeface="Courier New" pitchFamily="34" charset="0"/>
                <a:ea typeface="Courier New" pitchFamily="34" charset="-122"/>
                <a:cs typeface="Courier New" pitchFamily="34" charset="-120"/>
              </a:rPr>
              <a:t>null</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"01"</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"Order not found"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5" name="Text 13"/>
          <p:cNvSpPr txBox="1"/>
          <p:nvPr/>
        </p:nvSpPr>
        <p:spPr>
          <a:xfrm>
            <a:off x="907999" y="2743840"/>
            <a:ext cx="527736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(!Long.toString(p.amount * 100).equals(m.get(</a:t>
            </a:r>
            <a:pPr algn="l" indent="0" marL="0">
              <a:buNone/>
            </a:pPr>
            <a:r>
              <a:rPr lang="en-US" sz="980" dirty="0">
                <a:solidFill>
                  <a:srgbClr val="9BE3B4"/>
                </a:solidFill>
                <a:latin typeface="Courier New" pitchFamily="34" charset="0"/>
                <a:ea typeface="Courier New" pitchFamily="34" charset="-122"/>
                <a:cs typeface="Courier New" pitchFamily="34" charset="-120"/>
              </a:rPr>
              <a:t>"vnp_Amount"</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6" name="Shape 14"/>
          <p:cNvSpPr/>
          <p:nvPr/>
        </p:nvSpPr>
        <p:spPr>
          <a:xfrm>
            <a:off x="660380" y="2917759"/>
            <a:ext cx="6334049" cy="191841"/>
          </a:xfrm>
          <a:prstGeom prst="rect">
            <a:avLst/>
          </a:prstGeom>
          <a:solidFill>
            <a:srgbClr val="FFD479">
              <a:alpha val="13000"/>
            </a:srgbClr>
          </a:solidFill>
          <a:ln/>
        </p:spPr>
      </p:sp>
      <p:sp>
        <p:nvSpPr>
          <p:cNvPr id="17" name="Shape 15"/>
          <p:cNvSpPr/>
          <p:nvPr/>
        </p:nvSpPr>
        <p:spPr>
          <a:xfrm>
            <a:off x="660380" y="2917759"/>
            <a:ext cx="31730" cy="191841"/>
          </a:xfrm>
          <a:prstGeom prst="rect">
            <a:avLst/>
          </a:prstGeom>
          <a:solidFill>
            <a:srgbClr val="FFD479"/>
          </a:solidFill>
          <a:ln/>
        </p:spPr>
      </p:sp>
      <p:sp>
        <p:nvSpPr>
          <p:cNvPr id="18" name="Text 16"/>
          <p:cNvSpPr txBox="1"/>
          <p:nvPr/>
        </p:nvSpPr>
        <p:spPr>
          <a:xfrm>
            <a:off x="907999" y="2935681"/>
            <a:ext cx="338712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"04"</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"Invalid amount"</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9" name="Text 17"/>
          <p:cNvSpPr txBox="1"/>
          <p:nvPr/>
        </p:nvSpPr>
        <p:spPr>
          <a:xfrm>
            <a:off x="907999" y="3127614"/>
            <a:ext cx="1732971"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synchronized</a:t>
            </a:r>
            <a:pPr algn="l" indent="0" marL="0">
              <a:buNone/>
            </a:pPr>
            <a:r>
              <a:rPr lang="en-US" sz="980" dirty="0">
                <a:solidFill>
                  <a:srgbClr val="E6EDF7"/>
                </a:solidFill>
                <a:latin typeface="Courier New" pitchFamily="34" charset="0"/>
                <a:ea typeface="Courier New" pitchFamily="34" charset="-122"/>
                <a:cs typeface="Courier New" pitchFamily="34" charset="-120"/>
              </a:rPr>
              <a:t> (p) {</a:t>
            </a:r>
            <a:endParaRPr lang="en-US" sz="980" dirty="0"/>
          </a:p>
        </p:txBody>
      </p:sp>
      <p:sp>
        <p:nvSpPr>
          <p:cNvPr id="20" name="Shape 18"/>
          <p:cNvSpPr/>
          <p:nvPr/>
        </p:nvSpPr>
        <p:spPr>
          <a:xfrm>
            <a:off x="660380" y="3301533"/>
            <a:ext cx="6334049" cy="191841"/>
          </a:xfrm>
          <a:prstGeom prst="rect">
            <a:avLst/>
          </a:prstGeom>
          <a:solidFill>
            <a:srgbClr val="FFD479">
              <a:alpha val="13000"/>
            </a:srgbClr>
          </a:solidFill>
          <a:ln/>
        </p:spPr>
      </p:sp>
      <p:sp>
        <p:nvSpPr>
          <p:cNvPr id="21" name="Shape 19"/>
          <p:cNvSpPr/>
          <p:nvPr/>
        </p:nvSpPr>
        <p:spPr>
          <a:xfrm>
            <a:off x="660380" y="3301533"/>
            <a:ext cx="31730" cy="191841"/>
          </a:xfrm>
          <a:prstGeom prst="rect">
            <a:avLst/>
          </a:prstGeom>
          <a:solidFill>
            <a:srgbClr val="FFD479"/>
          </a:solidFill>
          <a:ln/>
        </p:spPr>
      </p:sp>
      <p:sp>
        <p:nvSpPr>
          <p:cNvPr id="22" name="Text 20"/>
          <p:cNvSpPr txBox="1"/>
          <p:nvPr/>
        </p:nvSpPr>
        <p:spPr>
          <a:xfrm>
            <a:off x="907999" y="3319455"/>
            <a:ext cx="622276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"PENDING"</a:t>
            </a:r>
            <a:pPr algn="l" indent="0" marL="0">
              <a:buNone/>
            </a:pPr>
            <a:r>
              <a:rPr lang="en-US" sz="980" dirty="0">
                <a:solidFill>
                  <a:srgbClr val="E6EDF7"/>
                </a:solidFill>
                <a:latin typeface="Courier New" pitchFamily="34" charset="0"/>
                <a:ea typeface="Courier New" pitchFamily="34" charset="-122"/>
                <a:cs typeface="Courier New" pitchFamily="34" charset="-120"/>
              </a:rPr>
              <a:t>.equals(p.status))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"02"</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"Already confirmed"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3" name="Text 21"/>
          <p:cNvSpPr txBox="1"/>
          <p:nvPr/>
        </p:nvSpPr>
        <p:spPr>
          <a:xfrm>
            <a:off x="907999" y="3511387"/>
            <a:ext cx="480489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boolean</a:t>
            </a:r>
            <a:pPr algn="l" indent="0" marL="0">
              <a:buNone/>
            </a:pPr>
            <a:r>
              <a:rPr lang="en-US" sz="980" dirty="0">
                <a:solidFill>
                  <a:srgbClr val="E6EDF7"/>
                </a:solidFill>
                <a:latin typeface="Courier New" pitchFamily="34" charset="0"/>
                <a:ea typeface="Courier New" pitchFamily="34" charset="-122"/>
                <a:cs typeface="Courier New" pitchFamily="34" charset="-120"/>
              </a:rPr>
              <a:t> paid = </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.equals(m.get(</a:t>
            </a:r>
            <a:pPr algn="l" indent="0" marL="0">
              <a:buNone/>
            </a:pPr>
            <a:r>
              <a:rPr lang="en-US" sz="980" dirty="0">
                <a:solidFill>
                  <a:srgbClr val="9BE3B4"/>
                </a:solidFill>
                <a:latin typeface="Courier New" pitchFamily="34" charset="0"/>
                <a:ea typeface="Courier New" pitchFamily="34" charset="-122"/>
                <a:cs typeface="Courier New" pitchFamily="34" charset="-120"/>
              </a:rPr>
              <a:t>"vnp_ResponseCode"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4" name="Text 22"/>
          <p:cNvSpPr txBox="1"/>
          <p:nvPr/>
        </p:nvSpPr>
        <p:spPr>
          <a:xfrm>
            <a:off x="907999" y="3703229"/>
            <a:ext cx="527736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&amp;&amp; </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.equals(m.get(</a:t>
            </a:r>
            <a:pPr algn="l" indent="0" marL="0">
              <a:buNone/>
            </a:pPr>
            <a:r>
              <a:rPr lang="en-US" sz="980" dirty="0">
                <a:solidFill>
                  <a:srgbClr val="9BE3B4"/>
                </a:solidFill>
                <a:latin typeface="Courier New" pitchFamily="34" charset="0"/>
                <a:ea typeface="Courier New" pitchFamily="34" charset="-122"/>
                <a:cs typeface="Courier New" pitchFamily="34" charset="-120"/>
              </a:rPr>
              <a:t>"vnp_TransactionStatus"</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5" name="Text 23"/>
          <p:cNvSpPr txBox="1"/>
          <p:nvPr/>
        </p:nvSpPr>
        <p:spPr>
          <a:xfrm>
            <a:off x="907999" y="3895161"/>
            <a:ext cx="354448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confirm(p, paid ? </a:t>
            </a:r>
            <a:pPr algn="l" indent="0" marL="0">
              <a:buNone/>
            </a:pPr>
            <a:r>
              <a:rPr lang="en-US" sz="980" dirty="0">
                <a:solidFill>
                  <a:srgbClr val="9BE3B4"/>
                </a:solidFill>
                <a:latin typeface="Courier New" pitchFamily="34" charset="0"/>
                <a:ea typeface="Courier New" pitchFamily="34" charset="-122"/>
                <a:cs typeface="Courier New" pitchFamily="34" charset="-120"/>
              </a:rPr>
              <a:t>"PAID"</a:t>
            </a:r>
            <a:pPr algn="l" indent="0" marL="0">
              <a:buNone/>
            </a:pPr>
            <a:r>
              <a:rPr lang="en-US" sz="980" dirty="0">
                <a:solidFill>
                  <a:srgbClr val="E6EDF7"/>
                </a:solidFill>
                <a:latin typeface="Courier New" pitchFamily="34" charset="0"/>
                <a:ea typeface="Courier New" pitchFamily="34" charset="-122"/>
                <a:cs typeface="Courier New" pitchFamily="34" charset="-120"/>
              </a:rPr>
              <a:t> : </a:t>
            </a:r>
            <a:pPr algn="l" indent="0" marL="0">
              <a:buNone/>
            </a:pPr>
            <a:r>
              <a:rPr lang="en-US" sz="980" dirty="0">
                <a:solidFill>
                  <a:srgbClr val="9BE3B4"/>
                </a:solidFill>
                <a:latin typeface="Courier New" pitchFamily="34" charset="0"/>
                <a:ea typeface="Courier New" pitchFamily="34" charset="-122"/>
                <a:cs typeface="Courier New" pitchFamily="34" charset="-120"/>
              </a:rPr>
              <a:t>"FAILED"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6" name="Shape 24"/>
          <p:cNvSpPr/>
          <p:nvPr/>
        </p:nvSpPr>
        <p:spPr>
          <a:xfrm>
            <a:off x="660380" y="4069080"/>
            <a:ext cx="6334049" cy="191841"/>
          </a:xfrm>
          <a:prstGeom prst="rect">
            <a:avLst/>
          </a:prstGeom>
          <a:solidFill>
            <a:srgbClr val="FFD479">
              <a:alpha val="13000"/>
            </a:srgbClr>
          </a:solidFill>
          <a:ln/>
        </p:spPr>
      </p:sp>
      <p:sp>
        <p:nvSpPr>
          <p:cNvPr id="27" name="Shape 25"/>
          <p:cNvSpPr/>
          <p:nvPr/>
        </p:nvSpPr>
        <p:spPr>
          <a:xfrm>
            <a:off x="660380" y="4069080"/>
            <a:ext cx="31730" cy="191841"/>
          </a:xfrm>
          <a:prstGeom prst="rect">
            <a:avLst/>
          </a:prstGeom>
          <a:solidFill>
            <a:srgbClr val="FFD479"/>
          </a:solidFill>
          <a:ln/>
        </p:spPr>
      </p:sp>
      <p:sp>
        <p:nvSpPr>
          <p:cNvPr id="28" name="Text 26"/>
          <p:cNvSpPr txBox="1"/>
          <p:nvPr/>
        </p:nvSpPr>
        <p:spPr>
          <a:xfrm>
            <a:off x="907999" y="4087002"/>
            <a:ext cx="346585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"Confirm success"</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9" name="Text 27"/>
          <p:cNvSpPr txBox="1"/>
          <p:nvPr/>
        </p:nvSpPr>
        <p:spPr>
          <a:xfrm>
            <a:off x="907999" y="4278935"/>
            <a:ext cx="44778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endParaRPr lang="en-US" sz="980" dirty="0"/>
          </a:p>
        </p:txBody>
      </p:sp>
      <p:sp>
        <p:nvSpPr>
          <p:cNvPr id="30" name="Text 28"/>
          <p:cNvSpPr txBox="1"/>
          <p:nvPr/>
        </p:nvSpPr>
        <p:spPr>
          <a:xfrm>
            <a:off x="907999" y="4470776"/>
            <a:ext cx="15051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31" name="Shape 29"/>
          <p:cNvSpPr/>
          <p:nvPr/>
        </p:nvSpPr>
        <p:spPr>
          <a:xfrm>
            <a:off x="7197608" y="1347368"/>
            <a:ext cx="4333707" cy="386060"/>
          </a:xfrm>
          <a:prstGeom prst="roundRect">
            <a:avLst>
              <a:gd name="adj" fmla="val 19730"/>
            </a:avLst>
          </a:prstGeom>
          <a:solidFill>
            <a:srgbClr val="FFFFFF"/>
          </a:solidFill>
          <a:ln w="6350">
            <a:solidFill>
              <a:srgbClr val="E3E6EA"/>
            </a:solidFill>
            <a:prstDash val="solid"/>
          </a:ln>
        </p:spPr>
      </p:sp>
      <p:sp>
        <p:nvSpPr>
          <p:cNvPr id="32" name="Text 30"/>
          <p:cNvSpPr txBox="1"/>
          <p:nvPr/>
        </p:nvSpPr>
        <p:spPr>
          <a:xfrm>
            <a:off x="7318309" y="1446947"/>
            <a:ext cx="2511400"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Chữ ký sai: trả 97, không xử lý dữ liệu</a:t>
            </a:r>
            <a:endParaRPr lang="en-US" sz="1100" dirty="0"/>
          </a:p>
        </p:txBody>
      </p:sp>
      <p:sp>
        <p:nvSpPr>
          <p:cNvPr id="33" name="Shape 31"/>
          <p:cNvSpPr/>
          <p:nvPr/>
        </p:nvSpPr>
        <p:spPr>
          <a:xfrm>
            <a:off x="7197608" y="1809598"/>
            <a:ext cx="4333707" cy="386060"/>
          </a:xfrm>
          <a:prstGeom prst="roundRect">
            <a:avLst>
              <a:gd name="adj" fmla="val 19730"/>
            </a:avLst>
          </a:prstGeom>
          <a:solidFill>
            <a:srgbClr val="FFFFFF"/>
          </a:solidFill>
          <a:ln w="6350">
            <a:solidFill>
              <a:srgbClr val="E3E6EA"/>
            </a:solidFill>
            <a:prstDash val="solid"/>
          </a:ln>
        </p:spPr>
      </p:sp>
      <p:sp>
        <p:nvSpPr>
          <p:cNvPr id="34" name="Text 32"/>
          <p:cNvSpPr txBox="1"/>
          <p:nvPr/>
        </p:nvSpPr>
        <p:spPr>
          <a:xfrm>
            <a:off x="7318309" y="1909176"/>
            <a:ext cx="3503798"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Đối chiếu thêm TmnCode để xác định đúng merchant</a:t>
            </a:r>
            <a:endParaRPr lang="en-US" sz="1100" dirty="0"/>
          </a:p>
        </p:txBody>
      </p:sp>
      <p:sp>
        <p:nvSpPr>
          <p:cNvPr id="35" name="Shape 33"/>
          <p:cNvSpPr/>
          <p:nvPr/>
        </p:nvSpPr>
        <p:spPr>
          <a:xfrm>
            <a:off x="7197608" y="2271827"/>
            <a:ext cx="4333707" cy="386060"/>
          </a:xfrm>
          <a:prstGeom prst="roundRect">
            <a:avLst>
              <a:gd name="adj" fmla="val 19730"/>
            </a:avLst>
          </a:prstGeom>
          <a:solidFill>
            <a:srgbClr val="FFFFFF"/>
          </a:solidFill>
          <a:ln w="6350">
            <a:solidFill>
              <a:srgbClr val="E3E6EA"/>
            </a:solidFill>
            <a:prstDash val="solid"/>
          </a:ln>
        </p:spPr>
      </p:sp>
      <p:sp>
        <p:nvSpPr>
          <p:cNvPr id="36" name="Text 34"/>
          <p:cNvSpPr txBox="1"/>
          <p:nvPr/>
        </p:nvSpPr>
        <p:spPr>
          <a:xfrm>
            <a:off x="7318309" y="2371405"/>
            <a:ext cx="414890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Thành công khi ResponseCode và TransactionStatus đều là 00</a:t>
            </a:r>
            <a:endParaRPr lang="en-US" sz="1100" dirty="0"/>
          </a:p>
        </p:txBody>
      </p:sp>
      <p:sp>
        <p:nvSpPr>
          <p:cNvPr id="37" name="Shape 35"/>
          <p:cNvSpPr/>
          <p:nvPr/>
        </p:nvSpPr>
        <p:spPr>
          <a:xfrm>
            <a:off x="7197608" y="2734147"/>
            <a:ext cx="4333707" cy="398770"/>
          </a:xfrm>
          <a:prstGeom prst="roundRect">
            <a:avLst>
              <a:gd name="adj" fmla="val 19101"/>
            </a:avLst>
          </a:prstGeom>
          <a:solidFill>
            <a:srgbClr val="FFFFFF"/>
          </a:solidFill>
          <a:ln w="6350">
            <a:solidFill>
              <a:srgbClr val="E3E6EA"/>
            </a:solidFill>
            <a:prstDash val="solid"/>
          </a:ln>
        </p:spPr>
      </p:sp>
      <p:sp>
        <p:nvSpPr>
          <p:cNvPr id="38" name="Text 36"/>
          <p:cNvSpPr txBox="1"/>
          <p:nvPr/>
        </p:nvSpPr>
        <p:spPr>
          <a:xfrm>
            <a:off x="7318309" y="2833634"/>
            <a:ext cx="3921770"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synchronized (p)</a:t>
            </a:r>
            <a:pPr algn="l" indent="0" marL="0">
              <a:buNone/>
            </a:pPr>
            <a:r>
              <a:rPr lang="en-US" sz="1100" dirty="0">
                <a:solidFill>
                  <a:srgbClr val="3F454D"/>
                </a:solidFill>
                <a:latin typeface="Arial" pitchFamily="34" charset="0"/>
                <a:ea typeface="Arial" pitchFamily="34" charset="-122"/>
                <a:cs typeface="Arial" pitchFamily="34" charset="-120"/>
              </a:rPr>
              <a:t>: hai IPN đồng thời được xử lý tuần tự</a:t>
            </a:r>
            <a:endParaRPr lang="en-US" sz="1100" dirty="0"/>
          </a:p>
        </p:txBody>
      </p:sp>
      <p:sp>
        <p:nvSpPr>
          <p:cNvPr id="39" name="Shape 37"/>
          <p:cNvSpPr/>
          <p:nvPr/>
        </p:nvSpPr>
        <p:spPr>
          <a:xfrm>
            <a:off x="7197608" y="3247126"/>
            <a:ext cx="4333707" cy="752277"/>
          </a:xfrm>
          <a:prstGeom prst="rect">
            <a:avLst/>
          </a:prstGeom>
          <a:solidFill>
            <a:srgbClr val="FFFAF0"/>
          </a:solidFill>
          <a:ln/>
        </p:spPr>
      </p:sp>
      <p:sp>
        <p:nvSpPr>
          <p:cNvPr id="40" name="Shape 38"/>
          <p:cNvSpPr/>
          <p:nvPr/>
        </p:nvSpPr>
        <p:spPr>
          <a:xfrm>
            <a:off x="7197608" y="3247126"/>
            <a:ext cx="4333707" cy="6309"/>
          </a:xfrm>
          <a:prstGeom prst="rect">
            <a:avLst/>
          </a:prstGeom>
          <a:solidFill>
            <a:srgbClr val="F3DFB5"/>
          </a:solidFill>
          <a:ln/>
        </p:spPr>
      </p:sp>
      <p:sp>
        <p:nvSpPr>
          <p:cNvPr id="41" name="Shape 39"/>
          <p:cNvSpPr/>
          <p:nvPr/>
        </p:nvSpPr>
        <p:spPr>
          <a:xfrm>
            <a:off x="7197608" y="3993093"/>
            <a:ext cx="4333707" cy="6309"/>
          </a:xfrm>
          <a:prstGeom prst="rect">
            <a:avLst/>
          </a:prstGeom>
          <a:solidFill>
            <a:srgbClr val="F3DFB5"/>
          </a:solidFill>
          <a:ln/>
        </p:spPr>
      </p:sp>
      <p:sp>
        <p:nvSpPr>
          <p:cNvPr id="42" name="Shape 40"/>
          <p:cNvSpPr/>
          <p:nvPr/>
        </p:nvSpPr>
        <p:spPr>
          <a:xfrm>
            <a:off x="7197608" y="3247126"/>
            <a:ext cx="38130" cy="752277"/>
          </a:xfrm>
          <a:prstGeom prst="rect">
            <a:avLst/>
          </a:prstGeom>
          <a:solidFill>
            <a:srgbClr val="E8A317"/>
          </a:solidFill>
          <a:ln/>
        </p:spPr>
      </p:sp>
      <p:sp>
        <p:nvSpPr>
          <p:cNvPr id="43" name="Text 41"/>
          <p:cNvSpPr txBox="1"/>
          <p:nvPr/>
        </p:nvSpPr>
        <p:spPr>
          <a:xfrm>
            <a:off x="7362749" y="3333994"/>
            <a:ext cx="2945648" cy="188549"/>
          </a:xfrm>
          <a:prstGeom prst="rect">
            <a:avLst/>
          </a:prstGeom>
          <a:noFill/>
          <a:ln/>
        </p:spPr>
        <p:txBody>
          <a:bodyPr wrap="square" lIns="0" tIns="0" rIns="0" bIns="0" rtlCol="0" anchor="ctr"/>
          <a:lstStyle/>
          <a:p>
            <a:pPr algn="l" indent="0" marL="0">
              <a:buNone/>
            </a:pPr>
            <a:r>
              <a:rPr lang="en-US" sz="1100" b="1" dirty="0">
                <a:solidFill>
                  <a:srgbClr val="111111"/>
                </a:solidFill>
                <a:latin typeface="Arial" pitchFamily="34" charset="0"/>
                <a:ea typeface="Arial" pitchFamily="34" charset="-122"/>
                <a:cs typeface="Arial" pitchFamily="34" charset="-120"/>
              </a:rPr>
              <a:t>Vì sao giao dịch thất bại vẫn phản hồi 00?</a:t>
            </a:r>
            <a:endParaRPr lang="en-US" sz="1100" dirty="0"/>
          </a:p>
        </p:txBody>
      </p:sp>
      <p:sp>
        <p:nvSpPr>
          <p:cNvPr id="44" name="Text 42"/>
          <p:cNvSpPr txBox="1"/>
          <p:nvPr/>
        </p:nvSpPr>
        <p:spPr>
          <a:xfrm>
            <a:off x="7362749" y="3545952"/>
            <a:ext cx="4156314" cy="426019"/>
          </a:xfrm>
          <a:prstGeom prst="rect">
            <a:avLst/>
          </a:prstGeom>
          <a:noFill/>
          <a:ln/>
        </p:spPr>
        <p:txBody>
          <a:bodyPr wrap="square" lIns="0" tIns="0" rIns="0" bIns="0" rtlCol="0" anchor="t"/>
          <a:lstStyle/>
          <a:p>
            <a:pPr algn="l" indent="0" marL="0">
              <a:lnSpc>
                <a:spcPts val="1470"/>
              </a:lnSpc>
              <a:buNone/>
            </a:pPr>
            <a:r>
              <a:rPr lang="en-US" sz="1050" dirty="0">
                <a:solidFill>
                  <a:srgbClr val="3F454D"/>
                </a:solidFill>
                <a:latin typeface="Arial" pitchFamily="34" charset="0"/>
                <a:ea typeface="Arial" pitchFamily="34" charset="-122"/>
                <a:cs typeface="Arial" pitchFamily="34" charset="-120"/>
              </a:rPr>
              <a:t>RspCode 00 xác nhận merchant đã nhận kết quả. Đơn được ghi FAILED; VNPAY ngừng gửi lại.</a:t>
            </a:r>
            <a:endParaRPr lang="en-US" sz="1050" dirty="0"/>
          </a:p>
        </p:txBody>
      </p:sp>
      <p:sp>
        <p:nvSpPr>
          <p:cNvPr id="45" name="Text 4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6" name="Text 4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66571"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Xử lý kết quả trả về</a:t>
            </a:r>
            <a:endParaRPr lang="en-US" sz="1100" dirty="0"/>
          </a:p>
        </p:txBody>
      </p:sp>
      <p:sp>
        <p:nvSpPr>
          <p:cNvPr id="3" name="Text 1"/>
          <p:cNvSpPr txBox="1"/>
          <p:nvPr/>
        </p:nvSpPr>
        <p:spPr>
          <a:xfrm>
            <a:off x="660380" y="643829"/>
            <a:ext cx="6192774"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Mã phản hồi IPN và cơ chế gửi lại</a:t>
            </a:r>
            <a:endParaRPr lang="en-US" sz="3000" dirty="0"/>
          </a:p>
        </p:txBody>
      </p:sp>
      <p:sp>
        <p:nvSpPr>
          <p:cNvPr id="4" name="Shape 2"/>
          <p:cNvSpPr/>
          <p:nvPr/>
        </p:nvSpPr>
        <p:spPr>
          <a:xfrm>
            <a:off x="660380" y="1347368"/>
            <a:ext cx="10870936" cy="2781239"/>
          </a:xfrm>
          <a:prstGeom prst="roundRect">
            <a:avLst>
              <a:gd name="adj" fmla="val 3653"/>
            </a:avLst>
          </a:prstGeom>
          <a:solidFill>
            <a:srgbClr val="FFFFFF"/>
          </a:solidFill>
          <a:ln/>
        </p:spPr>
      </p:sp>
      <p:sp>
        <p:nvSpPr>
          <p:cNvPr id="5" name="Shape 3"/>
          <p:cNvSpPr/>
          <p:nvPr/>
        </p:nvSpPr>
        <p:spPr>
          <a:xfrm>
            <a:off x="660380" y="1347368"/>
            <a:ext cx="2174169" cy="422270"/>
          </a:xfrm>
          <a:prstGeom prst="rect">
            <a:avLst/>
          </a:prstGeom>
          <a:solidFill>
            <a:srgbClr val="ECF2FF"/>
          </a:solidFill>
          <a:ln/>
        </p:spPr>
      </p:sp>
      <p:sp>
        <p:nvSpPr>
          <p:cNvPr id="6" name="Text 4"/>
          <p:cNvSpPr txBox="1"/>
          <p:nvPr/>
        </p:nvSpPr>
        <p:spPr>
          <a:xfrm>
            <a:off x="825520" y="1479408"/>
            <a:ext cx="74871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RSPCODE</a:t>
            </a:r>
            <a:endParaRPr lang="en-US" sz="1000" dirty="0"/>
          </a:p>
        </p:txBody>
      </p:sp>
      <p:sp>
        <p:nvSpPr>
          <p:cNvPr id="7" name="Shape 5"/>
          <p:cNvSpPr/>
          <p:nvPr/>
        </p:nvSpPr>
        <p:spPr>
          <a:xfrm>
            <a:off x="2834549" y="1347368"/>
            <a:ext cx="4891857" cy="422270"/>
          </a:xfrm>
          <a:prstGeom prst="rect">
            <a:avLst/>
          </a:prstGeom>
          <a:solidFill>
            <a:srgbClr val="ECF2FF"/>
          </a:solidFill>
          <a:ln/>
        </p:spPr>
      </p:sp>
      <p:sp>
        <p:nvSpPr>
          <p:cNvPr id="8" name="Text 6"/>
          <p:cNvSpPr txBox="1"/>
          <p:nvPr/>
        </p:nvSpPr>
        <p:spPr>
          <a:xfrm>
            <a:off x="2999598" y="1479408"/>
            <a:ext cx="103327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TRƯỜNG HỢP</a:t>
            </a:r>
            <a:endParaRPr lang="en-US" sz="1000" dirty="0"/>
          </a:p>
        </p:txBody>
      </p:sp>
      <p:sp>
        <p:nvSpPr>
          <p:cNvPr id="9" name="Shape 7"/>
          <p:cNvSpPr/>
          <p:nvPr/>
        </p:nvSpPr>
        <p:spPr>
          <a:xfrm>
            <a:off x="7726406" y="1347368"/>
            <a:ext cx="3804910" cy="422270"/>
          </a:xfrm>
          <a:prstGeom prst="rect">
            <a:avLst/>
          </a:prstGeom>
          <a:solidFill>
            <a:srgbClr val="ECF2FF"/>
          </a:solidFill>
          <a:ln/>
        </p:spPr>
      </p:sp>
      <p:sp>
        <p:nvSpPr>
          <p:cNvPr id="10" name="Text 8"/>
          <p:cNvSpPr txBox="1"/>
          <p:nvPr/>
        </p:nvSpPr>
        <p:spPr>
          <a:xfrm>
            <a:off x="7891455" y="1479408"/>
            <a:ext cx="1316645"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XỬ LÝ CỦA VNPAY</a:t>
            </a:r>
            <a:endParaRPr lang="en-US" sz="1000" dirty="0"/>
          </a:p>
        </p:txBody>
      </p:sp>
      <p:sp>
        <p:nvSpPr>
          <p:cNvPr id="11" name="Shape 9"/>
          <p:cNvSpPr/>
          <p:nvPr/>
        </p:nvSpPr>
        <p:spPr>
          <a:xfrm>
            <a:off x="660380" y="1769638"/>
            <a:ext cx="2174169" cy="6309"/>
          </a:xfrm>
          <a:prstGeom prst="rect">
            <a:avLst/>
          </a:prstGeom>
          <a:solidFill>
            <a:srgbClr val="E3E6EA"/>
          </a:solidFill>
          <a:ln/>
        </p:spPr>
      </p:sp>
      <p:sp>
        <p:nvSpPr>
          <p:cNvPr id="12" name="Text 10"/>
          <p:cNvSpPr txBox="1"/>
          <p:nvPr/>
        </p:nvSpPr>
        <p:spPr>
          <a:xfrm>
            <a:off x="800100" y="1871594"/>
            <a:ext cx="259141"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00</a:t>
            </a:r>
            <a:endParaRPr lang="en-US" sz="1200" dirty="0"/>
          </a:p>
        </p:txBody>
      </p:sp>
      <p:sp>
        <p:nvSpPr>
          <p:cNvPr id="13" name="Shape 11"/>
          <p:cNvSpPr/>
          <p:nvPr/>
        </p:nvSpPr>
        <p:spPr>
          <a:xfrm>
            <a:off x="2834549" y="1769638"/>
            <a:ext cx="4891857" cy="6309"/>
          </a:xfrm>
          <a:prstGeom prst="rect">
            <a:avLst/>
          </a:prstGeom>
          <a:solidFill>
            <a:srgbClr val="E3E6EA"/>
          </a:solidFill>
          <a:ln/>
        </p:spPr>
      </p:sp>
      <p:sp>
        <p:nvSpPr>
          <p:cNvPr id="14" name="Text 12"/>
          <p:cNvSpPr txBox="1"/>
          <p:nvPr/>
        </p:nvSpPr>
        <p:spPr>
          <a:xfrm>
            <a:off x="2974177" y="1873606"/>
            <a:ext cx="138577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Đã ghi nhận kết quả</a:t>
            </a:r>
            <a:endParaRPr lang="en-US" sz="1150" dirty="0"/>
          </a:p>
        </p:txBody>
      </p:sp>
      <p:sp>
        <p:nvSpPr>
          <p:cNvPr id="15" name="Shape 13"/>
          <p:cNvSpPr/>
          <p:nvPr/>
        </p:nvSpPr>
        <p:spPr>
          <a:xfrm>
            <a:off x="7726406" y="1769638"/>
            <a:ext cx="3804910" cy="6309"/>
          </a:xfrm>
          <a:prstGeom prst="rect">
            <a:avLst/>
          </a:prstGeom>
          <a:solidFill>
            <a:srgbClr val="E3E6EA"/>
          </a:solidFill>
          <a:ln/>
        </p:spPr>
      </p:sp>
      <p:sp>
        <p:nvSpPr>
          <p:cNvPr id="16" name="Text 14"/>
          <p:cNvSpPr txBox="1"/>
          <p:nvPr/>
        </p:nvSpPr>
        <p:spPr>
          <a:xfrm>
            <a:off x="7866035" y="1873606"/>
            <a:ext cx="4419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Dừng</a:t>
            </a:r>
            <a:endParaRPr lang="en-US" sz="1150" dirty="0"/>
          </a:p>
        </p:txBody>
      </p:sp>
      <p:sp>
        <p:nvSpPr>
          <p:cNvPr id="17" name="Shape 15"/>
          <p:cNvSpPr/>
          <p:nvPr/>
        </p:nvSpPr>
        <p:spPr>
          <a:xfrm>
            <a:off x="660380" y="2163288"/>
            <a:ext cx="2174169" cy="6309"/>
          </a:xfrm>
          <a:prstGeom prst="rect">
            <a:avLst/>
          </a:prstGeom>
          <a:solidFill>
            <a:srgbClr val="E3E6EA"/>
          </a:solidFill>
          <a:ln/>
        </p:spPr>
      </p:sp>
      <p:sp>
        <p:nvSpPr>
          <p:cNvPr id="18" name="Text 16"/>
          <p:cNvSpPr txBox="1"/>
          <p:nvPr/>
        </p:nvSpPr>
        <p:spPr>
          <a:xfrm>
            <a:off x="800100" y="2265335"/>
            <a:ext cx="259141"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02</a:t>
            </a:r>
            <a:endParaRPr lang="en-US" sz="1200" dirty="0"/>
          </a:p>
        </p:txBody>
      </p:sp>
      <p:sp>
        <p:nvSpPr>
          <p:cNvPr id="19" name="Shape 17"/>
          <p:cNvSpPr/>
          <p:nvPr/>
        </p:nvSpPr>
        <p:spPr>
          <a:xfrm>
            <a:off x="2834549" y="2163288"/>
            <a:ext cx="4891857" cy="6309"/>
          </a:xfrm>
          <a:prstGeom prst="rect">
            <a:avLst/>
          </a:prstGeom>
          <a:solidFill>
            <a:srgbClr val="E3E6EA"/>
          </a:solidFill>
          <a:ln/>
        </p:spPr>
      </p:sp>
      <p:sp>
        <p:nvSpPr>
          <p:cNvPr id="20" name="Text 18"/>
          <p:cNvSpPr txBox="1"/>
          <p:nvPr/>
        </p:nvSpPr>
        <p:spPr>
          <a:xfrm>
            <a:off x="2974177" y="2267255"/>
            <a:ext cx="165981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Giao dịch đã được xử lý</a:t>
            </a:r>
            <a:endParaRPr lang="en-US" sz="1150" dirty="0"/>
          </a:p>
        </p:txBody>
      </p:sp>
      <p:sp>
        <p:nvSpPr>
          <p:cNvPr id="21" name="Shape 19"/>
          <p:cNvSpPr/>
          <p:nvPr/>
        </p:nvSpPr>
        <p:spPr>
          <a:xfrm>
            <a:off x="7726406" y="2163288"/>
            <a:ext cx="3804910" cy="6309"/>
          </a:xfrm>
          <a:prstGeom prst="rect">
            <a:avLst/>
          </a:prstGeom>
          <a:solidFill>
            <a:srgbClr val="E3E6EA"/>
          </a:solidFill>
          <a:ln/>
        </p:spPr>
      </p:sp>
      <p:sp>
        <p:nvSpPr>
          <p:cNvPr id="22" name="Text 20"/>
          <p:cNvSpPr txBox="1"/>
          <p:nvPr/>
        </p:nvSpPr>
        <p:spPr>
          <a:xfrm>
            <a:off x="7866035" y="2267255"/>
            <a:ext cx="4419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Dừng</a:t>
            </a:r>
            <a:endParaRPr lang="en-US" sz="1150" dirty="0"/>
          </a:p>
        </p:txBody>
      </p:sp>
      <p:sp>
        <p:nvSpPr>
          <p:cNvPr id="23" name="Shape 21"/>
          <p:cNvSpPr/>
          <p:nvPr/>
        </p:nvSpPr>
        <p:spPr>
          <a:xfrm>
            <a:off x="660380" y="2557028"/>
            <a:ext cx="2174169" cy="6309"/>
          </a:xfrm>
          <a:prstGeom prst="rect">
            <a:avLst/>
          </a:prstGeom>
          <a:solidFill>
            <a:srgbClr val="E3E6EA"/>
          </a:solidFill>
          <a:ln/>
        </p:spPr>
      </p:sp>
      <p:sp>
        <p:nvSpPr>
          <p:cNvPr id="24" name="Text 22"/>
          <p:cNvSpPr txBox="1"/>
          <p:nvPr/>
        </p:nvSpPr>
        <p:spPr>
          <a:xfrm>
            <a:off x="800100" y="2658984"/>
            <a:ext cx="259141"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01</a:t>
            </a:r>
            <a:endParaRPr lang="en-US" sz="1200" dirty="0"/>
          </a:p>
        </p:txBody>
      </p:sp>
      <p:sp>
        <p:nvSpPr>
          <p:cNvPr id="25" name="Shape 23"/>
          <p:cNvSpPr/>
          <p:nvPr/>
        </p:nvSpPr>
        <p:spPr>
          <a:xfrm>
            <a:off x="2834549" y="2557028"/>
            <a:ext cx="4891857" cy="6309"/>
          </a:xfrm>
          <a:prstGeom prst="rect">
            <a:avLst/>
          </a:prstGeom>
          <a:solidFill>
            <a:srgbClr val="E3E6EA"/>
          </a:solidFill>
          <a:ln/>
        </p:spPr>
      </p:sp>
      <p:sp>
        <p:nvSpPr>
          <p:cNvPr id="26" name="Text 24"/>
          <p:cNvSpPr txBox="1"/>
          <p:nvPr/>
        </p:nvSpPr>
        <p:spPr>
          <a:xfrm>
            <a:off x="2974177" y="2660904"/>
            <a:ext cx="170407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tìm thấy giao dịch</a:t>
            </a:r>
            <a:endParaRPr lang="en-US" sz="1150" dirty="0"/>
          </a:p>
        </p:txBody>
      </p:sp>
      <p:sp>
        <p:nvSpPr>
          <p:cNvPr id="27" name="Shape 25"/>
          <p:cNvSpPr/>
          <p:nvPr/>
        </p:nvSpPr>
        <p:spPr>
          <a:xfrm>
            <a:off x="7726406" y="2557028"/>
            <a:ext cx="3804910" cy="6309"/>
          </a:xfrm>
          <a:prstGeom prst="rect">
            <a:avLst/>
          </a:prstGeom>
          <a:solidFill>
            <a:srgbClr val="E3E6EA"/>
          </a:solidFill>
          <a:ln/>
        </p:spPr>
      </p:sp>
      <p:sp>
        <p:nvSpPr>
          <p:cNvPr id="28" name="Text 26"/>
          <p:cNvSpPr txBox="1"/>
          <p:nvPr/>
        </p:nvSpPr>
        <p:spPr>
          <a:xfrm>
            <a:off x="7866035" y="2660904"/>
            <a:ext cx="50676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Gửi lại</a:t>
            </a:r>
            <a:endParaRPr lang="en-US" sz="1150" dirty="0"/>
          </a:p>
        </p:txBody>
      </p:sp>
      <p:sp>
        <p:nvSpPr>
          <p:cNvPr id="29" name="Shape 27"/>
          <p:cNvSpPr/>
          <p:nvPr/>
        </p:nvSpPr>
        <p:spPr>
          <a:xfrm>
            <a:off x="660380" y="2950677"/>
            <a:ext cx="2174169" cy="6309"/>
          </a:xfrm>
          <a:prstGeom prst="rect">
            <a:avLst/>
          </a:prstGeom>
          <a:solidFill>
            <a:srgbClr val="E3E6EA"/>
          </a:solidFill>
          <a:ln/>
        </p:spPr>
      </p:sp>
      <p:sp>
        <p:nvSpPr>
          <p:cNvPr id="30" name="Text 28"/>
          <p:cNvSpPr txBox="1"/>
          <p:nvPr/>
        </p:nvSpPr>
        <p:spPr>
          <a:xfrm>
            <a:off x="800100" y="3052633"/>
            <a:ext cx="259141"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04</a:t>
            </a:r>
            <a:endParaRPr lang="en-US" sz="1200" dirty="0"/>
          </a:p>
        </p:txBody>
      </p:sp>
      <p:sp>
        <p:nvSpPr>
          <p:cNvPr id="31" name="Shape 29"/>
          <p:cNvSpPr/>
          <p:nvPr/>
        </p:nvSpPr>
        <p:spPr>
          <a:xfrm>
            <a:off x="2834549" y="2950677"/>
            <a:ext cx="4891857" cy="6309"/>
          </a:xfrm>
          <a:prstGeom prst="rect">
            <a:avLst/>
          </a:prstGeom>
          <a:solidFill>
            <a:srgbClr val="E3E6EA"/>
          </a:solidFill>
          <a:ln/>
        </p:spPr>
      </p:sp>
      <p:sp>
        <p:nvSpPr>
          <p:cNvPr id="32" name="Text 30"/>
          <p:cNvSpPr txBox="1"/>
          <p:nvPr/>
        </p:nvSpPr>
        <p:spPr>
          <a:xfrm>
            <a:off x="2974177" y="3054645"/>
            <a:ext cx="134124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Số tiền không khớp</a:t>
            </a:r>
            <a:endParaRPr lang="en-US" sz="1150" dirty="0"/>
          </a:p>
        </p:txBody>
      </p:sp>
      <p:sp>
        <p:nvSpPr>
          <p:cNvPr id="33" name="Shape 31"/>
          <p:cNvSpPr/>
          <p:nvPr/>
        </p:nvSpPr>
        <p:spPr>
          <a:xfrm>
            <a:off x="7726406" y="2950677"/>
            <a:ext cx="3804910" cy="6309"/>
          </a:xfrm>
          <a:prstGeom prst="rect">
            <a:avLst/>
          </a:prstGeom>
          <a:solidFill>
            <a:srgbClr val="E3E6EA"/>
          </a:solidFill>
          <a:ln/>
        </p:spPr>
      </p:sp>
      <p:sp>
        <p:nvSpPr>
          <p:cNvPr id="34" name="Text 32"/>
          <p:cNvSpPr txBox="1"/>
          <p:nvPr/>
        </p:nvSpPr>
        <p:spPr>
          <a:xfrm>
            <a:off x="7866035" y="3054645"/>
            <a:ext cx="50676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Gửi lại</a:t>
            </a:r>
            <a:endParaRPr lang="en-US" sz="1150" dirty="0"/>
          </a:p>
        </p:txBody>
      </p:sp>
      <p:sp>
        <p:nvSpPr>
          <p:cNvPr id="35" name="Shape 33"/>
          <p:cNvSpPr/>
          <p:nvPr/>
        </p:nvSpPr>
        <p:spPr>
          <a:xfrm>
            <a:off x="660380" y="3344418"/>
            <a:ext cx="2174169" cy="6309"/>
          </a:xfrm>
          <a:prstGeom prst="rect">
            <a:avLst/>
          </a:prstGeom>
          <a:solidFill>
            <a:srgbClr val="E3E6EA"/>
          </a:solidFill>
          <a:ln/>
        </p:spPr>
      </p:sp>
      <p:sp>
        <p:nvSpPr>
          <p:cNvPr id="36" name="Text 34"/>
          <p:cNvSpPr txBox="1"/>
          <p:nvPr/>
        </p:nvSpPr>
        <p:spPr>
          <a:xfrm>
            <a:off x="800100" y="3446374"/>
            <a:ext cx="259141"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97</a:t>
            </a:r>
            <a:endParaRPr lang="en-US" sz="1200" dirty="0"/>
          </a:p>
        </p:txBody>
      </p:sp>
      <p:sp>
        <p:nvSpPr>
          <p:cNvPr id="37" name="Shape 35"/>
          <p:cNvSpPr/>
          <p:nvPr/>
        </p:nvSpPr>
        <p:spPr>
          <a:xfrm>
            <a:off x="2834549" y="3344418"/>
            <a:ext cx="4891857" cy="6309"/>
          </a:xfrm>
          <a:prstGeom prst="rect">
            <a:avLst/>
          </a:prstGeom>
          <a:solidFill>
            <a:srgbClr val="E3E6EA"/>
          </a:solidFill>
          <a:ln/>
        </p:spPr>
      </p:sp>
      <p:sp>
        <p:nvSpPr>
          <p:cNvPr id="38" name="Text 36"/>
          <p:cNvSpPr txBox="1"/>
          <p:nvPr/>
        </p:nvSpPr>
        <p:spPr>
          <a:xfrm>
            <a:off x="2974177" y="3448294"/>
            <a:ext cx="203975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Sai chữ ký hoặc sai merchant</a:t>
            </a:r>
            <a:endParaRPr lang="en-US" sz="1150" dirty="0"/>
          </a:p>
        </p:txBody>
      </p:sp>
      <p:sp>
        <p:nvSpPr>
          <p:cNvPr id="39" name="Shape 37"/>
          <p:cNvSpPr/>
          <p:nvPr/>
        </p:nvSpPr>
        <p:spPr>
          <a:xfrm>
            <a:off x="7726406" y="3344418"/>
            <a:ext cx="3804910" cy="6309"/>
          </a:xfrm>
          <a:prstGeom prst="rect">
            <a:avLst/>
          </a:prstGeom>
          <a:solidFill>
            <a:srgbClr val="E3E6EA"/>
          </a:solidFill>
          <a:ln/>
        </p:spPr>
      </p:sp>
      <p:sp>
        <p:nvSpPr>
          <p:cNvPr id="40" name="Text 38"/>
          <p:cNvSpPr txBox="1"/>
          <p:nvPr/>
        </p:nvSpPr>
        <p:spPr>
          <a:xfrm>
            <a:off x="7866035" y="3448294"/>
            <a:ext cx="50676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Gửi lại</a:t>
            </a:r>
            <a:endParaRPr lang="en-US" sz="1150" dirty="0"/>
          </a:p>
        </p:txBody>
      </p:sp>
      <p:sp>
        <p:nvSpPr>
          <p:cNvPr id="41" name="Shape 39"/>
          <p:cNvSpPr/>
          <p:nvPr/>
        </p:nvSpPr>
        <p:spPr>
          <a:xfrm>
            <a:off x="660380" y="3738067"/>
            <a:ext cx="2174169" cy="6309"/>
          </a:xfrm>
          <a:prstGeom prst="rect">
            <a:avLst/>
          </a:prstGeom>
          <a:solidFill>
            <a:srgbClr val="E3E6EA"/>
          </a:solidFill>
          <a:ln/>
        </p:spPr>
      </p:sp>
      <p:sp>
        <p:nvSpPr>
          <p:cNvPr id="42" name="Text 40"/>
          <p:cNvSpPr txBox="1"/>
          <p:nvPr/>
        </p:nvSpPr>
        <p:spPr>
          <a:xfrm>
            <a:off x="800100" y="3833713"/>
            <a:ext cx="1304209"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99</a:t>
            </a:r>
            <a:pPr algn="l" indent="0" marL="0">
              <a:buNone/>
            </a:pPr>
            <a:r>
              <a:rPr lang="en-US" sz="1150" b="1" dirty="0">
                <a:solidFill>
                  <a:srgbClr val="111111"/>
                </a:solidFill>
                <a:latin typeface="Arial" pitchFamily="34" charset="0"/>
                <a:ea typeface="Arial" pitchFamily="34" charset="-122"/>
                <a:cs typeface="Arial" pitchFamily="34" charset="-120"/>
              </a:rPr>
              <a:t> / quá thời gian</a:t>
            </a:r>
            <a:endParaRPr lang="en-US" sz="1200" dirty="0"/>
          </a:p>
        </p:txBody>
      </p:sp>
      <p:sp>
        <p:nvSpPr>
          <p:cNvPr id="43" name="Shape 41"/>
          <p:cNvSpPr/>
          <p:nvPr/>
        </p:nvSpPr>
        <p:spPr>
          <a:xfrm>
            <a:off x="2834549" y="3738067"/>
            <a:ext cx="4891857" cy="6309"/>
          </a:xfrm>
          <a:prstGeom prst="rect">
            <a:avLst/>
          </a:prstGeom>
          <a:solidFill>
            <a:srgbClr val="E3E6EA"/>
          </a:solidFill>
          <a:ln/>
        </p:spPr>
      </p:sp>
      <p:sp>
        <p:nvSpPr>
          <p:cNvPr id="44" name="Text 42"/>
          <p:cNvSpPr txBox="1"/>
          <p:nvPr/>
        </p:nvSpPr>
        <p:spPr>
          <a:xfrm>
            <a:off x="2974177" y="3842034"/>
            <a:ext cx="62023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Lỗi khác</a:t>
            </a:r>
            <a:endParaRPr lang="en-US" sz="1150" dirty="0"/>
          </a:p>
        </p:txBody>
      </p:sp>
      <p:sp>
        <p:nvSpPr>
          <p:cNvPr id="45" name="Shape 43"/>
          <p:cNvSpPr/>
          <p:nvPr/>
        </p:nvSpPr>
        <p:spPr>
          <a:xfrm>
            <a:off x="7726406" y="3738067"/>
            <a:ext cx="3804910" cy="6309"/>
          </a:xfrm>
          <a:prstGeom prst="rect">
            <a:avLst/>
          </a:prstGeom>
          <a:solidFill>
            <a:srgbClr val="E3E6EA"/>
          </a:solidFill>
          <a:ln/>
        </p:spPr>
      </p:sp>
      <p:sp>
        <p:nvSpPr>
          <p:cNvPr id="46" name="Text 44"/>
          <p:cNvSpPr txBox="1"/>
          <p:nvPr/>
        </p:nvSpPr>
        <p:spPr>
          <a:xfrm>
            <a:off x="7866035" y="3842034"/>
            <a:ext cx="50676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Gửi lại</a:t>
            </a:r>
            <a:endParaRPr lang="en-US" sz="1150" dirty="0"/>
          </a:p>
        </p:txBody>
      </p:sp>
      <p:sp>
        <p:nvSpPr>
          <p:cNvPr id="47" name="Shape 45"/>
          <p:cNvSpPr/>
          <p:nvPr/>
        </p:nvSpPr>
        <p:spPr>
          <a:xfrm>
            <a:off x="660380" y="4306367"/>
            <a:ext cx="10870936" cy="386060"/>
          </a:xfrm>
          <a:prstGeom prst="roundRect">
            <a:avLst>
              <a:gd name="adj" fmla="val 19730"/>
            </a:avLst>
          </a:prstGeom>
          <a:solidFill>
            <a:srgbClr val="FFFFFF"/>
          </a:solidFill>
          <a:ln w="6350">
            <a:solidFill>
              <a:srgbClr val="E3E6EA"/>
            </a:solidFill>
            <a:prstDash val="solid"/>
          </a:ln>
        </p:spPr>
      </p:sp>
      <p:sp>
        <p:nvSpPr>
          <p:cNvPr id="48" name="Text 46"/>
          <p:cNvSpPr txBox="1"/>
          <p:nvPr/>
        </p:nvSpPr>
        <p:spPr>
          <a:xfrm>
            <a:off x="780989" y="4405945"/>
            <a:ext cx="6722852"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VNPAY gửi lại tối đa 10 lần, mỗi lần cách 5 phút. Demo trả HTTP 500 khi lỗi, chưa ánh xạ sang mã 99.</a:t>
            </a:r>
            <a:endParaRPr lang="en-US" sz="1100" dirty="0"/>
          </a:p>
        </p:txBody>
      </p:sp>
      <p:sp>
        <p:nvSpPr>
          <p:cNvPr id="49" name="Shape 47"/>
          <p:cNvSpPr/>
          <p:nvPr/>
        </p:nvSpPr>
        <p:spPr>
          <a:xfrm>
            <a:off x="660380" y="4870186"/>
            <a:ext cx="10870936" cy="565648"/>
          </a:xfrm>
          <a:prstGeom prst="rect">
            <a:avLst/>
          </a:prstGeom>
          <a:solidFill>
            <a:srgbClr val="FFFAF0"/>
          </a:solidFill>
          <a:ln/>
        </p:spPr>
      </p:sp>
      <p:sp>
        <p:nvSpPr>
          <p:cNvPr id="50" name="Shape 48"/>
          <p:cNvSpPr/>
          <p:nvPr/>
        </p:nvSpPr>
        <p:spPr>
          <a:xfrm>
            <a:off x="660380" y="4870186"/>
            <a:ext cx="10870936" cy="6309"/>
          </a:xfrm>
          <a:prstGeom prst="rect">
            <a:avLst/>
          </a:prstGeom>
          <a:solidFill>
            <a:srgbClr val="F3DFB5"/>
          </a:solidFill>
          <a:ln/>
        </p:spPr>
      </p:sp>
      <p:sp>
        <p:nvSpPr>
          <p:cNvPr id="51" name="Shape 49"/>
          <p:cNvSpPr/>
          <p:nvPr/>
        </p:nvSpPr>
        <p:spPr>
          <a:xfrm>
            <a:off x="660380" y="5429524"/>
            <a:ext cx="10870936" cy="6309"/>
          </a:xfrm>
          <a:prstGeom prst="rect">
            <a:avLst/>
          </a:prstGeom>
          <a:solidFill>
            <a:srgbClr val="F3DFB5"/>
          </a:solidFill>
          <a:ln/>
        </p:spPr>
      </p:sp>
      <p:sp>
        <p:nvSpPr>
          <p:cNvPr id="52" name="Shape 50"/>
          <p:cNvSpPr/>
          <p:nvPr/>
        </p:nvSpPr>
        <p:spPr>
          <a:xfrm>
            <a:off x="660380" y="4870186"/>
            <a:ext cx="38130" cy="565648"/>
          </a:xfrm>
          <a:prstGeom prst="rect">
            <a:avLst/>
          </a:prstGeom>
          <a:solidFill>
            <a:srgbClr val="E8A317"/>
          </a:solidFill>
          <a:ln/>
        </p:spPr>
      </p:sp>
      <p:sp>
        <p:nvSpPr>
          <p:cNvPr id="53" name="Text 51"/>
          <p:cNvSpPr txBox="1"/>
          <p:nvPr/>
        </p:nvSpPr>
        <p:spPr>
          <a:xfrm>
            <a:off x="825520" y="4957054"/>
            <a:ext cx="2937967" cy="188549"/>
          </a:xfrm>
          <a:prstGeom prst="rect">
            <a:avLst/>
          </a:prstGeom>
          <a:noFill/>
          <a:ln/>
        </p:spPr>
        <p:txBody>
          <a:bodyPr wrap="square" lIns="0" tIns="0" rIns="0" bIns="0" rtlCol="0" anchor="ctr"/>
          <a:lstStyle/>
          <a:p>
            <a:pPr algn="l" indent="0" marL="0">
              <a:buNone/>
            </a:pPr>
            <a:r>
              <a:rPr lang="en-US" sz="1100" b="1" dirty="0">
                <a:solidFill>
                  <a:srgbClr val="111111"/>
                </a:solidFill>
                <a:latin typeface="Arial" pitchFamily="34" charset="0"/>
                <a:ea typeface="Arial" pitchFamily="34" charset="-122"/>
                <a:cs typeface="Arial" pitchFamily="34" charset="-120"/>
              </a:rPr>
              <a:t>Gửi lại đủ 10 lần vẫn lỗi thì xử lý thế nào?</a:t>
            </a:r>
            <a:endParaRPr lang="en-US" sz="1100" dirty="0"/>
          </a:p>
        </p:txBody>
      </p:sp>
      <p:sp>
        <p:nvSpPr>
          <p:cNvPr id="54" name="Text 52"/>
          <p:cNvSpPr txBox="1"/>
          <p:nvPr/>
        </p:nvSpPr>
        <p:spPr>
          <a:xfrm>
            <a:off x="825520" y="5177699"/>
            <a:ext cx="3793388" cy="186720"/>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Đơn giữ PENDING; Payment Service truy vấn bằng querydr.</a:t>
            </a:r>
            <a:endParaRPr lang="en-US" sz="1050" dirty="0"/>
          </a:p>
        </p:txBody>
      </p:sp>
      <p:sp>
        <p:nvSpPr>
          <p:cNvPr id="55" name="Text 5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6" name="Text 5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66571"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Xử lý kết quả trả về</a:t>
            </a:r>
            <a:endParaRPr lang="en-US" sz="1100" dirty="0"/>
          </a:p>
        </p:txBody>
      </p:sp>
      <p:sp>
        <p:nvSpPr>
          <p:cNvPr id="3" name="Text 1"/>
          <p:cNvSpPr txBox="1"/>
          <p:nvPr/>
        </p:nvSpPr>
        <p:spPr>
          <a:xfrm>
            <a:off x="660380" y="643829"/>
            <a:ext cx="9016990"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confirm(): bảo đảm mỗi đơn chỉ cập nhật một lần</a:t>
            </a:r>
            <a:endParaRPr lang="en-US" sz="3000" dirty="0"/>
          </a:p>
        </p:txBody>
      </p:sp>
      <p:sp>
        <p:nvSpPr>
          <p:cNvPr id="4" name="Text 2"/>
          <p:cNvSpPr txBox="1"/>
          <p:nvPr/>
        </p:nvSpPr>
        <p:spPr>
          <a:xfrm>
            <a:off x="660380" y="1358798"/>
            <a:ext cx="379686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Trích từ SeminarDemo.java, ngắt dòng cho dễ đọc</a:t>
            </a:r>
            <a:endParaRPr lang="en-US" sz="1000" dirty="0"/>
          </a:p>
        </p:txBody>
      </p:sp>
      <p:sp>
        <p:nvSpPr>
          <p:cNvPr id="5" name="Shape 3"/>
          <p:cNvSpPr/>
          <p:nvPr/>
        </p:nvSpPr>
        <p:spPr>
          <a:xfrm>
            <a:off x="660380" y="1601389"/>
            <a:ext cx="6705570" cy="1983516"/>
          </a:xfrm>
          <a:prstGeom prst="roundRect">
            <a:avLst>
              <a:gd name="adj" fmla="val 5122"/>
            </a:avLst>
          </a:prstGeom>
          <a:solidFill>
            <a:srgbClr val="0C131E"/>
          </a:solidFill>
          <a:ln/>
        </p:spPr>
      </p:sp>
      <p:sp>
        <p:nvSpPr>
          <p:cNvPr id="6" name="Text 4"/>
          <p:cNvSpPr txBox="1"/>
          <p:nvPr/>
        </p:nvSpPr>
        <p:spPr>
          <a:xfrm>
            <a:off x="907999" y="1783812"/>
            <a:ext cx="5428701" cy="206654"/>
          </a:xfrm>
          <a:prstGeom prst="rect">
            <a:avLst/>
          </a:prstGeom>
          <a:noFill/>
          <a:ln/>
        </p:spPr>
        <p:txBody>
          <a:bodyPr wrap="none" lIns="0" tIns="0" rIns="0" bIns="0" rtlCol="0" anchor="ctr"/>
          <a:lstStyle/>
          <a:p>
            <a:pPr algn="l" indent="0" marL="0">
              <a:buNone/>
            </a:pPr>
            <a:r>
              <a:rPr lang="en-US" sz="1050" dirty="0">
                <a:solidFill>
                  <a:srgbClr val="7FC2FF"/>
                </a:solidFill>
                <a:latin typeface="Courier New" pitchFamily="34" charset="0"/>
                <a:ea typeface="Courier New" pitchFamily="34" charset="-122"/>
                <a:cs typeface="Courier New" pitchFamily="34" charset="-120"/>
              </a:rPr>
              <a:t>static</a:t>
            </a:r>
            <a:pPr algn="l" indent="0" marL="0">
              <a:buNone/>
            </a:pPr>
            <a:r>
              <a:rPr lang="en-US" sz="1050" dirty="0">
                <a:solidFill>
                  <a:srgbClr val="E6EDF7"/>
                </a:solidFill>
                <a:latin typeface="Courier New" pitchFamily="34" charset="0"/>
                <a:ea typeface="Courier New" pitchFamily="34" charset="-122"/>
                <a:cs typeface="Courier New" pitchFamily="34" charset="-120"/>
              </a:rPr>
              <a:t> void confirm(Payment p, String status) throws Exception {</a:t>
            </a:r>
            <a:endParaRPr lang="en-US" sz="1050" dirty="0"/>
          </a:p>
        </p:txBody>
      </p:sp>
      <p:sp>
        <p:nvSpPr>
          <p:cNvPr id="7" name="Text 5"/>
          <p:cNvSpPr txBox="1"/>
          <p:nvPr/>
        </p:nvSpPr>
        <p:spPr>
          <a:xfrm>
            <a:off x="907999" y="1990557"/>
            <a:ext cx="1866290"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synchronized</a:t>
            </a:r>
            <a:pPr algn="l" indent="0" marL="0">
              <a:buNone/>
            </a:pPr>
            <a:r>
              <a:rPr lang="en-US" sz="1050" dirty="0">
                <a:solidFill>
                  <a:srgbClr val="E6EDF7"/>
                </a:solidFill>
                <a:latin typeface="Courier New" pitchFamily="34" charset="0"/>
                <a:ea typeface="Courier New" pitchFamily="34" charset="-122"/>
                <a:cs typeface="Courier New" pitchFamily="34" charset="-120"/>
              </a:rPr>
              <a:t> (p) {</a:t>
            </a:r>
            <a:endParaRPr lang="en-US" sz="1050" dirty="0"/>
          </a:p>
        </p:txBody>
      </p:sp>
      <p:sp>
        <p:nvSpPr>
          <p:cNvPr id="8" name="Shape 6"/>
          <p:cNvSpPr/>
          <p:nvPr/>
        </p:nvSpPr>
        <p:spPr>
          <a:xfrm>
            <a:off x="660380" y="2179747"/>
            <a:ext cx="6705570" cy="206654"/>
          </a:xfrm>
          <a:prstGeom prst="rect">
            <a:avLst/>
          </a:prstGeom>
          <a:solidFill>
            <a:srgbClr val="FFD479">
              <a:alpha val="13000"/>
            </a:srgbClr>
          </a:solidFill>
          <a:ln/>
        </p:spPr>
      </p:sp>
      <p:sp>
        <p:nvSpPr>
          <p:cNvPr id="9" name="Shape 7"/>
          <p:cNvSpPr/>
          <p:nvPr/>
        </p:nvSpPr>
        <p:spPr>
          <a:xfrm>
            <a:off x="660380" y="2179747"/>
            <a:ext cx="31730" cy="206654"/>
          </a:xfrm>
          <a:prstGeom prst="rect">
            <a:avLst/>
          </a:prstGeom>
          <a:solidFill>
            <a:srgbClr val="FFD479"/>
          </a:solidFill>
          <a:ln/>
        </p:spPr>
      </p:sp>
      <p:sp>
        <p:nvSpPr>
          <p:cNvPr id="10" name="Text 8"/>
          <p:cNvSpPr txBox="1"/>
          <p:nvPr/>
        </p:nvSpPr>
        <p:spPr>
          <a:xfrm>
            <a:off x="907999" y="2197212"/>
            <a:ext cx="4071915"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if</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9BE3B4"/>
                </a:solidFill>
                <a:latin typeface="Courier New" pitchFamily="34" charset="0"/>
                <a:ea typeface="Courier New" pitchFamily="34" charset="-122"/>
                <a:cs typeface="Courier New" pitchFamily="34" charset="-120"/>
              </a:rPr>
              <a:t>"PENDING"</a:t>
            </a:r>
            <a:pPr algn="l" indent="0" marL="0">
              <a:buNone/>
            </a:pPr>
            <a:r>
              <a:rPr lang="en-US" sz="1050" dirty="0">
                <a:solidFill>
                  <a:srgbClr val="E6EDF7"/>
                </a:solidFill>
                <a:latin typeface="Courier New" pitchFamily="34" charset="0"/>
                <a:ea typeface="Courier New" pitchFamily="34" charset="-122"/>
                <a:cs typeface="Courier New" pitchFamily="34" charset="-120"/>
              </a:rPr>
              <a:t>.equals(p.status)) </a:t>
            </a:r>
            <a:pPr algn="l" indent="0" marL="0">
              <a:buNone/>
            </a:pPr>
            <a:r>
              <a:rPr lang="en-US" sz="1050" dirty="0">
                <a:solidFill>
                  <a:srgbClr val="7FC2FF"/>
                </a:solidFill>
                <a:latin typeface="Courier New" pitchFamily="34" charset="0"/>
                <a:ea typeface="Courier New" pitchFamily="34" charset="-122"/>
                <a:cs typeface="Courier New" pitchFamily="34" charset="-120"/>
              </a:rPr>
              <a:t>return</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1" name="Shape 9"/>
          <p:cNvSpPr/>
          <p:nvPr/>
        </p:nvSpPr>
        <p:spPr>
          <a:xfrm>
            <a:off x="660380" y="2386493"/>
            <a:ext cx="6705570" cy="206654"/>
          </a:xfrm>
          <a:prstGeom prst="rect">
            <a:avLst/>
          </a:prstGeom>
          <a:solidFill>
            <a:srgbClr val="FFD479">
              <a:alpha val="13000"/>
            </a:srgbClr>
          </a:solidFill>
          <a:ln/>
        </p:spPr>
      </p:sp>
      <p:sp>
        <p:nvSpPr>
          <p:cNvPr id="12" name="Shape 10"/>
          <p:cNvSpPr/>
          <p:nvPr/>
        </p:nvSpPr>
        <p:spPr>
          <a:xfrm>
            <a:off x="660380" y="2386493"/>
            <a:ext cx="31730" cy="206654"/>
          </a:xfrm>
          <a:prstGeom prst="rect">
            <a:avLst/>
          </a:prstGeom>
          <a:solidFill>
            <a:srgbClr val="FFD479"/>
          </a:solidFill>
          <a:ln/>
        </p:spPr>
      </p:sp>
      <p:sp>
        <p:nvSpPr>
          <p:cNvPr id="13" name="Text 11"/>
          <p:cNvSpPr txBox="1"/>
          <p:nvPr/>
        </p:nvSpPr>
        <p:spPr>
          <a:xfrm>
            <a:off x="907999" y="2403866"/>
            <a:ext cx="5937748"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post(</a:t>
            </a:r>
            <a:pPr algn="l" indent="0" marL="0">
              <a:buNone/>
            </a:pPr>
            <a:r>
              <a:rPr lang="en-US" sz="1050" dirty="0">
                <a:solidFill>
                  <a:srgbClr val="9BE3B4"/>
                </a:solidFill>
                <a:latin typeface="Courier New" pitchFamily="34" charset="0"/>
                <a:ea typeface="Courier New" pitchFamily="34" charset="-122"/>
                <a:cs typeface="Courier New" pitchFamily="34" charset="-120"/>
              </a:rPr>
              <a:t>"http://127.0.0.1:8090/internal/result"</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new</a:t>
            </a:r>
            <a:pPr algn="l" indent="0" marL="0">
              <a:buNone/>
            </a:pPr>
            <a:r>
              <a:rPr lang="en-US" sz="1050" dirty="0">
                <a:solidFill>
                  <a:srgbClr val="E6EDF7"/>
                </a:solidFill>
                <a:latin typeface="Courier New" pitchFamily="34" charset="0"/>
                <a:ea typeface="Courier New" pitchFamily="34" charset="-122"/>
                <a:cs typeface="Courier New" pitchFamily="34" charset="-120"/>
              </a:rPr>
              <a:t> JSONObject()</a:t>
            </a:r>
            <a:endParaRPr lang="en-US" sz="1050" dirty="0"/>
          </a:p>
        </p:txBody>
      </p:sp>
      <p:sp>
        <p:nvSpPr>
          <p:cNvPr id="14" name="Text 12"/>
          <p:cNvSpPr txBox="1"/>
          <p:nvPr/>
        </p:nvSpPr>
        <p:spPr>
          <a:xfrm>
            <a:off x="907999" y="2610521"/>
            <a:ext cx="6616507"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.put(</a:t>
            </a:r>
            <a:pPr algn="l" indent="0" marL="0">
              <a:buNone/>
            </a:pPr>
            <a:r>
              <a:rPr lang="en-US" sz="1050" dirty="0">
                <a:solidFill>
                  <a:srgbClr val="9BE3B4"/>
                </a:solidFill>
                <a:latin typeface="Courier New" pitchFamily="34" charset="0"/>
                <a:ea typeface="Courier New" pitchFamily="34" charset="-122"/>
                <a:cs typeface="Courier New" pitchFamily="34" charset="-120"/>
              </a:rPr>
              <a:t>"ref"</a:t>
            </a:r>
            <a:pPr algn="l" indent="0" marL="0">
              <a:buNone/>
            </a:pPr>
            <a:r>
              <a:rPr lang="en-US" sz="1050" dirty="0">
                <a:solidFill>
                  <a:srgbClr val="E6EDF7"/>
                </a:solidFill>
                <a:latin typeface="Courier New" pitchFamily="34" charset="0"/>
                <a:ea typeface="Courier New" pitchFamily="34" charset="-122"/>
                <a:cs typeface="Courier New" pitchFamily="34" charset="-120"/>
              </a:rPr>
              <a:t>, p.ref).put(</a:t>
            </a:r>
            <a:pPr algn="l" indent="0" marL="0">
              <a:buNone/>
            </a:pPr>
            <a:r>
              <a:rPr lang="en-US" sz="1050" dirty="0">
                <a:solidFill>
                  <a:srgbClr val="9BE3B4"/>
                </a:solidFill>
                <a:latin typeface="Courier New" pitchFamily="34" charset="0"/>
                <a:ea typeface="Courier New" pitchFamily="34" charset="-122"/>
                <a:cs typeface="Courier New" pitchFamily="34" charset="-120"/>
              </a:rPr>
              <a:t>"amount"</a:t>
            </a:r>
            <a:pPr algn="l" indent="0" marL="0">
              <a:buNone/>
            </a:pPr>
            <a:r>
              <a:rPr lang="en-US" sz="1050" dirty="0">
                <a:solidFill>
                  <a:srgbClr val="E6EDF7"/>
                </a:solidFill>
                <a:latin typeface="Courier New" pitchFamily="34" charset="0"/>
                <a:ea typeface="Courier New" pitchFamily="34" charset="-122"/>
                <a:cs typeface="Courier New" pitchFamily="34" charset="-120"/>
              </a:rPr>
              <a:t>, p.amount).put(</a:t>
            </a:r>
            <a:pPr algn="l" indent="0" marL="0">
              <a:buNone/>
            </a:pPr>
            <a:r>
              <a:rPr lang="en-US" sz="1050" dirty="0">
                <a:solidFill>
                  <a:srgbClr val="9BE3B4"/>
                </a:solidFill>
                <a:latin typeface="Courier New" pitchFamily="34" charset="0"/>
                <a:ea typeface="Courier New" pitchFamily="34" charset="-122"/>
                <a:cs typeface="Courier New" pitchFamily="34" charset="-120"/>
              </a:rPr>
              <a:t>"status"</a:t>
            </a:r>
            <a:pPr algn="l" indent="0" marL="0">
              <a:buNone/>
            </a:pPr>
            <a:r>
              <a:rPr lang="en-US" sz="1050" dirty="0">
                <a:solidFill>
                  <a:srgbClr val="E6EDF7"/>
                </a:solidFill>
                <a:latin typeface="Courier New" pitchFamily="34" charset="0"/>
                <a:ea typeface="Courier New" pitchFamily="34" charset="-122"/>
                <a:cs typeface="Courier New" pitchFamily="34" charset="-120"/>
              </a:rPr>
              <a:t>, status));</a:t>
            </a:r>
            <a:endParaRPr lang="en-US" sz="1050" dirty="0"/>
          </a:p>
        </p:txBody>
      </p:sp>
      <p:sp>
        <p:nvSpPr>
          <p:cNvPr id="15" name="Shape 13"/>
          <p:cNvSpPr/>
          <p:nvPr/>
        </p:nvSpPr>
        <p:spPr>
          <a:xfrm>
            <a:off x="660380" y="2799801"/>
            <a:ext cx="6705570" cy="206654"/>
          </a:xfrm>
          <a:prstGeom prst="rect">
            <a:avLst/>
          </a:prstGeom>
          <a:solidFill>
            <a:srgbClr val="FFD479">
              <a:alpha val="13000"/>
            </a:srgbClr>
          </a:solidFill>
          <a:ln/>
        </p:spPr>
      </p:sp>
      <p:sp>
        <p:nvSpPr>
          <p:cNvPr id="16" name="Shape 14"/>
          <p:cNvSpPr/>
          <p:nvPr/>
        </p:nvSpPr>
        <p:spPr>
          <a:xfrm>
            <a:off x="660380" y="2799801"/>
            <a:ext cx="31730" cy="206654"/>
          </a:xfrm>
          <a:prstGeom prst="rect">
            <a:avLst/>
          </a:prstGeom>
          <a:solidFill>
            <a:srgbClr val="FFD479"/>
          </a:solidFill>
          <a:ln/>
        </p:spPr>
      </p:sp>
      <p:sp>
        <p:nvSpPr>
          <p:cNvPr id="17" name="Text 15"/>
          <p:cNvSpPr txBox="1"/>
          <p:nvPr/>
        </p:nvSpPr>
        <p:spPr>
          <a:xfrm>
            <a:off x="907999" y="2817175"/>
            <a:ext cx="220544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p.status = status;</a:t>
            </a:r>
            <a:endParaRPr lang="en-US" sz="1050" dirty="0"/>
          </a:p>
        </p:txBody>
      </p:sp>
      <p:sp>
        <p:nvSpPr>
          <p:cNvPr id="18" name="Text 16"/>
          <p:cNvSpPr txBox="1"/>
          <p:nvPr/>
        </p:nvSpPr>
        <p:spPr>
          <a:xfrm>
            <a:off x="907999" y="3023829"/>
            <a:ext cx="47631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p:txBody>
      </p:sp>
      <p:sp>
        <p:nvSpPr>
          <p:cNvPr id="19" name="Text 17"/>
          <p:cNvSpPr txBox="1"/>
          <p:nvPr/>
        </p:nvSpPr>
        <p:spPr>
          <a:xfrm>
            <a:off x="907999" y="3230484"/>
            <a:ext cx="15627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20" name="Shape 18"/>
          <p:cNvSpPr/>
          <p:nvPr/>
        </p:nvSpPr>
        <p:spPr>
          <a:xfrm>
            <a:off x="7569129" y="1347368"/>
            <a:ext cx="3962187" cy="386060"/>
          </a:xfrm>
          <a:prstGeom prst="roundRect">
            <a:avLst>
              <a:gd name="adj" fmla="val 19730"/>
            </a:avLst>
          </a:prstGeom>
          <a:solidFill>
            <a:srgbClr val="FFFFFF"/>
          </a:solidFill>
          <a:ln w="6350">
            <a:solidFill>
              <a:srgbClr val="E3E6EA"/>
            </a:solidFill>
            <a:prstDash val="solid"/>
          </a:ln>
        </p:spPr>
      </p:sp>
      <p:sp>
        <p:nvSpPr>
          <p:cNvPr id="21" name="Text 19"/>
          <p:cNvSpPr txBox="1"/>
          <p:nvPr/>
        </p:nvSpPr>
        <p:spPr>
          <a:xfrm>
            <a:off x="7689738" y="1446947"/>
            <a:ext cx="328287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Đơn đã kết thúc thì bỏ qua; IPN trùng nhận mã 02</a:t>
            </a:r>
            <a:endParaRPr lang="en-US" sz="1100" dirty="0"/>
          </a:p>
        </p:txBody>
      </p:sp>
      <p:sp>
        <p:nvSpPr>
          <p:cNvPr id="22" name="Shape 20"/>
          <p:cNvSpPr/>
          <p:nvPr/>
        </p:nvSpPr>
        <p:spPr>
          <a:xfrm>
            <a:off x="7569129" y="1809598"/>
            <a:ext cx="3962187" cy="581650"/>
          </a:xfrm>
          <a:prstGeom prst="roundRect">
            <a:avLst>
              <a:gd name="adj" fmla="val 13095"/>
            </a:avLst>
          </a:prstGeom>
          <a:solidFill>
            <a:srgbClr val="FFFFFF"/>
          </a:solidFill>
          <a:ln w="6350">
            <a:solidFill>
              <a:srgbClr val="E3E6EA"/>
            </a:solidFill>
            <a:prstDash val="solid"/>
          </a:ln>
        </p:spPr>
      </p:sp>
      <p:sp>
        <p:nvSpPr>
          <p:cNvPr id="23" name="Text 21"/>
          <p:cNvSpPr txBox="1"/>
          <p:nvPr/>
        </p:nvSpPr>
        <p:spPr>
          <a:xfrm>
            <a:off x="7689738" y="1900123"/>
            <a:ext cx="3832525"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Báo Order trước, lưu trạng thái sau; Order lỗi thì Payment giữ PENDING để xử lý ở lần gửi lại</a:t>
            </a:r>
            <a:endParaRPr lang="en-US" sz="1100" dirty="0"/>
          </a:p>
        </p:txBody>
      </p:sp>
      <p:sp>
        <p:nvSpPr>
          <p:cNvPr id="24" name="Shape 22"/>
          <p:cNvSpPr/>
          <p:nvPr/>
        </p:nvSpPr>
        <p:spPr>
          <a:xfrm>
            <a:off x="7569129" y="2467417"/>
            <a:ext cx="3962187" cy="398770"/>
          </a:xfrm>
          <a:prstGeom prst="roundRect">
            <a:avLst>
              <a:gd name="adj" fmla="val 19101"/>
            </a:avLst>
          </a:prstGeom>
          <a:solidFill>
            <a:srgbClr val="FFFFFF"/>
          </a:solidFill>
          <a:ln w="6350">
            <a:solidFill>
              <a:srgbClr val="E3E6EA"/>
            </a:solidFill>
            <a:prstDash val="solid"/>
          </a:ln>
        </p:spPr>
      </p:sp>
      <p:sp>
        <p:nvSpPr>
          <p:cNvPr id="25" name="Text 23"/>
          <p:cNvSpPr txBox="1"/>
          <p:nvPr/>
        </p:nvSpPr>
        <p:spPr>
          <a:xfrm>
            <a:off x="7689738" y="2566995"/>
            <a:ext cx="3066623"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synchronized</a:t>
            </a:r>
            <a:pPr algn="l" indent="0" marL="0">
              <a:buNone/>
            </a:pPr>
            <a:r>
              <a:rPr lang="en-US" sz="1100" dirty="0">
                <a:solidFill>
                  <a:srgbClr val="3F454D"/>
                </a:solidFill>
                <a:latin typeface="Arial" pitchFamily="34" charset="0"/>
                <a:ea typeface="Arial" pitchFamily="34" charset="-122"/>
                <a:cs typeface="Arial" pitchFamily="34" charset="-120"/>
              </a:rPr>
              <a:t> chỉ có hiệu lực trong một JVM</a:t>
            </a:r>
            <a:endParaRPr lang="en-US" sz="1100" dirty="0"/>
          </a:p>
        </p:txBody>
      </p:sp>
      <p:sp>
        <p:nvSpPr>
          <p:cNvPr id="26" name="Shape 24"/>
          <p:cNvSpPr/>
          <p:nvPr/>
        </p:nvSpPr>
        <p:spPr>
          <a:xfrm>
            <a:off x="7569129" y="2980487"/>
            <a:ext cx="3962187" cy="752277"/>
          </a:xfrm>
          <a:prstGeom prst="rect">
            <a:avLst/>
          </a:prstGeom>
          <a:solidFill>
            <a:srgbClr val="FFFAF0"/>
          </a:solidFill>
          <a:ln/>
        </p:spPr>
      </p:sp>
      <p:sp>
        <p:nvSpPr>
          <p:cNvPr id="27" name="Shape 25"/>
          <p:cNvSpPr/>
          <p:nvPr/>
        </p:nvSpPr>
        <p:spPr>
          <a:xfrm>
            <a:off x="7569129" y="2980487"/>
            <a:ext cx="3962187" cy="6309"/>
          </a:xfrm>
          <a:prstGeom prst="rect">
            <a:avLst/>
          </a:prstGeom>
          <a:solidFill>
            <a:srgbClr val="F3DFB5"/>
          </a:solidFill>
          <a:ln/>
        </p:spPr>
      </p:sp>
      <p:sp>
        <p:nvSpPr>
          <p:cNvPr id="28" name="Shape 26"/>
          <p:cNvSpPr/>
          <p:nvPr/>
        </p:nvSpPr>
        <p:spPr>
          <a:xfrm>
            <a:off x="7569129" y="3726363"/>
            <a:ext cx="3962187" cy="6309"/>
          </a:xfrm>
          <a:prstGeom prst="rect">
            <a:avLst/>
          </a:prstGeom>
          <a:solidFill>
            <a:srgbClr val="F3DFB5"/>
          </a:solidFill>
          <a:ln/>
        </p:spPr>
      </p:sp>
      <p:sp>
        <p:nvSpPr>
          <p:cNvPr id="29" name="Shape 27"/>
          <p:cNvSpPr/>
          <p:nvPr/>
        </p:nvSpPr>
        <p:spPr>
          <a:xfrm>
            <a:off x="7569129" y="2980487"/>
            <a:ext cx="38130" cy="752277"/>
          </a:xfrm>
          <a:prstGeom prst="rect">
            <a:avLst/>
          </a:prstGeom>
          <a:solidFill>
            <a:srgbClr val="E8A317"/>
          </a:solidFill>
          <a:ln/>
        </p:spPr>
      </p:sp>
      <p:sp>
        <p:nvSpPr>
          <p:cNvPr id="30" name="Text 28"/>
          <p:cNvSpPr txBox="1"/>
          <p:nvPr/>
        </p:nvSpPr>
        <p:spPr>
          <a:xfrm>
            <a:off x="7734178" y="3067355"/>
            <a:ext cx="3288365" cy="188549"/>
          </a:xfrm>
          <a:prstGeom prst="rect">
            <a:avLst/>
          </a:prstGeom>
          <a:noFill/>
          <a:ln/>
        </p:spPr>
        <p:txBody>
          <a:bodyPr wrap="square" lIns="0" tIns="0" rIns="0" bIns="0" rtlCol="0" anchor="ctr"/>
          <a:lstStyle/>
          <a:p>
            <a:pPr algn="l" indent="0" marL="0">
              <a:buNone/>
            </a:pPr>
            <a:r>
              <a:rPr lang="en-US" sz="1100" b="1" dirty="0">
                <a:solidFill>
                  <a:srgbClr val="111111"/>
                </a:solidFill>
                <a:latin typeface="Arial" pitchFamily="34" charset="0"/>
                <a:ea typeface="Arial" pitchFamily="34" charset="-122"/>
                <a:cs typeface="Arial" pitchFamily="34" charset="-120"/>
              </a:rPr>
              <a:t>Order đã lưu PAID nhưng phản hồi bị timeout?</a:t>
            </a:r>
            <a:endParaRPr lang="en-US" sz="1100" dirty="0"/>
          </a:p>
        </p:txBody>
      </p:sp>
      <p:sp>
        <p:nvSpPr>
          <p:cNvPr id="31" name="Text 29"/>
          <p:cNvSpPr txBox="1"/>
          <p:nvPr/>
        </p:nvSpPr>
        <p:spPr>
          <a:xfrm>
            <a:off x="7734178" y="3279313"/>
            <a:ext cx="3773637" cy="426019"/>
          </a:xfrm>
          <a:prstGeom prst="rect">
            <a:avLst/>
          </a:prstGeom>
          <a:noFill/>
          <a:ln/>
        </p:spPr>
        <p:txBody>
          <a:bodyPr wrap="square" lIns="0" tIns="0" rIns="0" bIns="0" rtlCol="0" anchor="t"/>
          <a:lstStyle/>
          <a:p>
            <a:pPr algn="l" indent="0" marL="0">
              <a:lnSpc>
                <a:spcPts val="1470"/>
              </a:lnSpc>
              <a:buNone/>
            </a:pPr>
            <a:r>
              <a:rPr lang="en-US" sz="1050" dirty="0">
                <a:solidFill>
                  <a:srgbClr val="3F454D"/>
                </a:solidFill>
                <a:latin typeface="Arial" pitchFamily="34" charset="0"/>
                <a:ea typeface="Arial" pitchFamily="34" charset="-122"/>
                <a:cs typeface="Arial" pitchFamily="34" charset="-120"/>
              </a:rPr>
              <a:t>Payment giữ PENDING; ở lần IPN sau, Order nhận lại yêu cầu, giữ nguyên PAID. Hai bên nhất quán.</a:t>
            </a:r>
            <a:endParaRPr lang="en-US" sz="1050" dirty="0"/>
          </a:p>
        </p:txBody>
      </p:sp>
      <p:sp>
        <p:nvSpPr>
          <p:cNvPr id="32" name="Text 30"/>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3" name="Text 31"/>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02746"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Truy vấn giao dịch</a:t>
            </a:r>
            <a:endParaRPr lang="en-US" sz="1100" dirty="0"/>
          </a:p>
        </p:txBody>
      </p:sp>
      <p:sp>
        <p:nvSpPr>
          <p:cNvPr id="3" name="Text 1"/>
          <p:cNvSpPr txBox="1"/>
          <p:nvPr/>
        </p:nvSpPr>
        <p:spPr>
          <a:xfrm>
            <a:off x="660380" y="643829"/>
            <a:ext cx="7236927"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querydr: thời điểm sử dụng và tham số</a:t>
            </a:r>
            <a:endParaRPr lang="en-US" sz="3000" dirty="0"/>
          </a:p>
        </p:txBody>
      </p:sp>
      <p:sp>
        <p:nvSpPr>
          <p:cNvPr id="4" name="Shape 2"/>
          <p:cNvSpPr/>
          <p:nvPr/>
        </p:nvSpPr>
        <p:spPr>
          <a:xfrm>
            <a:off x="660380" y="1347368"/>
            <a:ext cx="10870936" cy="3568629"/>
          </a:xfrm>
          <a:prstGeom prst="roundRect">
            <a:avLst>
              <a:gd name="adj" fmla="val 2847"/>
            </a:avLst>
          </a:prstGeom>
          <a:solidFill>
            <a:srgbClr val="FFFFFF"/>
          </a:solidFill>
          <a:ln/>
        </p:spPr>
      </p:sp>
      <p:sp>
        <p:nvSpPr>
          <p:cNvPr id="5" name="Shape 3"/>
          <p:cNvSpPr/>
          <p:nvPr/>
        </p:nvSpPr>
        <p:spPr>
          <a:xfrm>
            <a:off x="660380" y="1347368"/>
            <a:ext cx="2935133" cy="422270"/>
          </a:xfrm>
          <a:prstGeom prst="rect">
            <a:avLst/>
          </a:prstGeom>
          <a:solidFill>
            <a:srgbClr val="ECF2FF"/>
          </a:solidFill>
          <a:ln/>
        </p:spPr>
      </p:sp>
      <p:sp>
        <p:nvSpPr>
          <p:cNvPr id="6" name="Text 4"/>
          <p:cNvSpPr txBox="1"/>
          <p:nvPr/>
        </p:nvSpPr>
        <p:spPr>
          <a:xfrm>
            <a:off x="825520" y="1479408"/>
            <a:ext cx="70619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THAM SỐ</a:t>
            </a:r>
            <a:endParaRPr lang="en-US" sz="1000" dirty="0"/>
          </a:p>
        </p:txBody>
      </p:sp>
      <p:sp>
        <p:nvSpPr>
          <p:cNvPr id="7" name="Shape 5"/>
          <p:cNvSpPr/>
          <p:nvPr/>
        </p:nvSpPr>
        <p:spPr>
          <a:xfrm>
            <a:off x="3595512" y="1347368"/>
            <a:ext cx="2065355" cy="422270"/>
          </a:xfrm>
          <a:prstGeom prst="rect">
            <a:avLst/>
          </a:prstGeom>
          <a:solidFill>
            <a:srgbClr val="ECF2FF"/>
          </a:solidFill>
          <a:ln/>
        </p:spPr>
      </p:sp>
      <p:sp>
        <p:nvSpPr>
          <p:cNvPr id="8" name="Text 6"/>
          <p:cNvSpPr txBox="1"/>
          <p:nvPr/>
        </p:nvSpPr>
        <p:spPr>
          <a:xfrm>
            <a:off x="3760561" y="1479408"/>
            <a:ext cx="101278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KIỂU DỮ LIỆU</a:t>
            </a:r>
            <a:endParaRPr lang="en-US" sz="1000" dirty="0"/>
          </a:p>
        </p:txBody>
      </p:sp>
      <p:sp>
        <p:nvSpPr>
          <p:cNvPr id="9" name="Shape 7"/>
          <p:cNvSpPr/>
          <p:nvPr/>
        </p:nvSpPr>
        <p:spPr>
          <a:xfrm>
            <a:off x="5660868" y="1347368"/>
            <a:ext cx="2391522" cy="422270"/>
          </a:xfrm>
          <a:prstGeom prst="rect">
            <a:avLst/>
          </a:prstGeom>
          <a:solidFill>
            <a:srgbClr val="ECF2FF"/>
          </a:solidFill>
          <a:ln/>
        </p:spPr>
      </p:sp>
      <p:sp>
        <p:nvSpPr>
          <p:cNvPr id="10" name="Text 8"/>
          <p:cNvSpPr txBox="1"/>
          <p:nvPr/>
        </p:nvSpPr>
        <p:spPr>
          <a:xfrm>
            <a:off x="5826008" y="1479408"/>
            <a:ext cx="103436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GIÁ TRỊ DEMO</a:t>
            </a:r>
            <a:endParaRPr lang="en-US" sz="1000" dirty="0"/>
          </a:p>
        </p:txBody>
      </p:sp>
      <p:sp>
        <p:nvSpPr>
          <p:cNvPr id="11" name="Shape 9"/>
          <p:cNvSpPr/>
          <p:nvPr/>
        </p:nvSpPr>
        <p:spPr>
          <a:xfrm>
            <a:off x="8052389" y="1347368"/>
            <a:ext cx="3478926" cy="422270"/>
          </a:xfrm>
          <a:prstGeom prst="rect">
            <a:avLst/>
          </a:prstGeom>
          <a:solidFill>
            <a:srgbClr val="ECF2FF"/>
          </a:solidFill>
          <a:ln/>
        </p:spPr>
      </p:sp>
      <p:sp>
        <p:nvSpPr>
          <p:cNvPr id="12" name="Text 10"/>
          <p:cNvSpPr txBox="1"/>
          <p:nvPr/>
        </p:nvSpPr>
        <p:spPr>
          <a:xfrm>
            <a:off x="8217530" y="1479408"/>
            <a:ext cx="76197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MỤC ĐÍCH</a:t>
            </a:r>
            <a:endParaRPr lang="en-US" sz="1000" dirty="0"/>
          </a:p>
        </p:txBody>
      </p:sp>
      <p:sp>
        <p:nvSpPr>
          <p:cNvPr id="13" name="Shape 11"/>
          <p:cNvSpPr/>
          <p:nvPr/>
        </p:nvSpPr>
        <p:spPr>
          <a:xfrm>
            <a:off x="660380" y="1769638"/>
            <a:ext cx="2935133" cy="6309"/>
          </a:xfrm>
          <a:prstGeom prst="rect">
            <a:avLst/>
          </a:prstGeom>
          <a:solidFill>
            <a:srgbClr val="E3E6EA"/>
          </a:solidFill>
          <a:ln/>
        </p:spPr>
      </p:sp>
      <p:sp>
        <p:nvSpPr>
          <p:cNvPr id="14" name="Text 12"/>
          <p:cNvSpPr txBox="1"/>
          <p:nvPr/>
        </p:nvSpPr>
        <p:spPr>
          <a:xfrm>
            <a:off x="800100" y="1871594"/>
            <a:ext cx="126507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vnp_RequestId</a:t>
            </a:r>
            <a:endParaRPr lang="en-US" sz="1200" dirty="0"/>
          </a:p>
        </p:txBody>
      </p:sp>
      <p:sp>
        <p:nvSpPr>
          <p:cNvPr id="15" name="Shape 13"/>
          <p:cNvSpPr/>
          <p:nvPr/>
        </p:nvSpPr>
        <p:spPr>
          <a:xfrm>
            <a:off x="3595512" y="1769638"/>
            <a:ext cx="2065355" cy="6309"/>
          </a:xfrm>
          <a:prstGeom prst="rect">
            <a:avLst/>
          </a:prstGeom>
          <a:solidFill>
            <a:srgbClr val="E3E6EA"/>
          </a:solidFill>
          <a:ln/>
        </p:spPr>
      </p:sp>
      <p:sp>
        <p:nvSpPr>
          <p:cNvPr id="16" name="Text 14"/>
          <p:cNvSpPr txBox="1"/>
          <p:nvPr/>
        </p:nvSpPr>
        <p:spPr>
          <a:xfrm>
            <a:off x="3735233" y="1873606"/>
            <a:ext cx="133465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Alphanumeric[1,32]</a:t>
            </a:r>
            <a:endParaRPr lang="en-US" sz="1150" dirty="0"/>
          </a:p>
        </p:txBody>
      </p:sp>
      <p:sp>
        <p:nvSpPr>
          <p:cNvPr id="17" name="Shape 15"/>
          <p:cNvSpPr/>
          <p:nvPr/>
        </p:nvSpPr>
        <p:spPr>
          <a:xfrm>
            <a:off x="5660868" y="1769638"/>
            <a:ext cx="2391522" cy="6309"/>
          </a:xfrm>
          <a:prstGeom prst="rect">
            <a:avLst/>
          </a:prstGeom>
          <a:solidFill>
            <a:srgbClr val="E3E6EA"/>
          </a:solidFill>
          <a:ln/>
        </p:spPr>
      </p:sp>
      <p:sp>
        <p:nvSpPr>
          <p:cNvPr id="18" name="Text 16"/>
          <p:cNvSpPr txBox="1"/>
          <p:nvPr/>
        </p:nvSpPr>
        <p:spPr>
          <a:xfrm>
            <a:off x="5800588" y="1873606"/>
            <a:ext cx="123508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UUID mới mỗi lần</a:t>
            </a:r>
            <a:endParaRPr lang="en-US" sz="1150" dirty="0"/>
          </a:p>
        </p:txBody>
      </p:sp>
      <p:sp>
        <p:nvSpPr>
          <p:cNvPr id="19" name="Shape 17"/>
          <p:cNvSpPr/>
          <p:nvPr/>
        </p:nvSpPr>
        <p:spPr>
          <a:xfrm>
            <a:off x="8052389" y="1769638"/>
            <a:ext cx="3478926" cy="6309"/>
          </a:xfrm>
          <a:prstGeom prst="rect">
            <a:avLst/>
          </a:prstGeom>
          <a:solidFill>
            <a:srgbClr val="E3E6EA"/>
          </a:solidFill>
          <a:ln/>
        </p:spPr>
      </p:sp>
      <p:sp>
        <p:nvSpPr>
          <p:cNvPr id="20" name="Text 18"/>
          <p:cNvSpPr txBox="1"/>
          <p:nvPr/>
        </p:nvSpPr>
        <p:spPr>
          <a:xfrm>
            <a:off x="8192110" y="1873606"/>
            <a:ext cx="154917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Định danh lần truy vấn</a:t>
            </a:r>
            <a:endParaRPr lang="en-US" sz="1150" dirty="0"/>
          </a:p>
        </p:txBody>
      </p:sp>
      <p:sp>
        <p:nvSpPr>
          <p:cNvPr id="21" name="Shape 19"/>
          <p:cNvSpPr/>
          <p:nvPr/>
        </p:nvSpPr>
        <p:spPr>
          <a:xfrm>
            <a:off x="660380" y="2163288"/>
            <a:ext cx="2935133" cy="6309"/>
          </a:xfrm>
          <a:prstGeom prst="rect">
            <a:avLst/>
          </a:prstGeom>
          <a:solidFill>
            <a:srgbClr val="E3E6EA"/>
          </a:solidFill>
          <a:ln/>
        </p:spPr>
      </p:sp>
      <p:sp>
        <p:nvSpPr>
          <p:cNvPr id="22" name="Text 20"/>
          <p:cNvSpPr txBox="1"/>
          <p:nvPr/>
        </p:nvSpPr>
        <p:spPr>
          <a:xfrm>
            <a:off x="800100" y="2265335"/>
            <a:ext cx="2326599"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vnp_Version, vnp_Command</a:t>
            </a:r>
            <a:endParaRPr lang="en-US" sz="1200" dirty="0"/>
          </a:p>
        </p:txBody>
      </p:sp>
      <p:sp>
        <p:nvSpPr>
          <p:cNvPr id="23" name="Shape 21"/>
          <p:cNvSpPr/>
          <p:nvPr/>
        </p:nvSpPr>
        <p:spPr>
          <a:xfrm>
            <a:off x="3595512" y="2163288"/>
            <a:ext cx="2065355" cy="6309"/>
          </a:xfrm>
          <a:prstGeom prst="rect">
            <a:avLst/>
          </a:prstGeom>
          <a:solidFill>
            <a:srgbClr val="E3E6EA"/>
          </a:solidFill>
          <a:ln/>
        </p:spPr>
      </p:sp>
      <p:sp>
        <p:nvSpPr>
          <p:cNvPr id="24" name="Text 22"/>
          <p:cNvSpPr txBox="1"/>
          <p:nvPr/>
        </p:nvSpPr>
        <p:spPr>
          <a:xfrm>
            <a:off x="3735233" y="2267255"/>
            <a:ext cx="82323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theo tài liệu</a:t>
            </a:r>
            <a:endParaRPr lang="en-US" sz="1150" dirty="0"/>
          </a:p>
        </p:txBody>
      </p:sp>
      <p:sp>
        <p:nvSpPr>
          <p:cNvPr id="25" name="Shape 23"/>
          <p:cNvSpPr/>
          <p:nvPr/>
        </p:nvSpPr>
        <p:spPr>
          <a:xfrm>
            <a:off x="5660868" y="2163288"/>
            <a:ext cx="2391522" cy="6309"/>
          </a:xfrm>
          <a:prstGeom prst="rect">
            <a:avLst/>
          </a:prstGeom>
          <a:solidFill>
            <a:srgbClr val="E3E6EA"/>
          </a:solidFill>
          <a:ln/>
        </p:spPr>
      </p:sp>
      <p:sp>
        <p:nvSpPr>
          <p:cNvPr id="26" name="Text 24"/>
          <p:cNvSpPr txBox="1"/>
          <p:nvPr/>
        </p:nvSpPr>
        <p:spPr>
          <a:xfrm>
            <a:off x="5800588" y="2265335"/>
            <a:ext cx="1357244"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2.1.0, querydr</a:t>
            </a:r>
            <a:endParaRPr lang="en-US" sz="1200" dirty="0"/>
          </a:p>
        </p:txBody>
      </p:sp>
      <p:sp>
        <p:nvSpPr>
          <p:cNvPr id="27" name="Shape 25"/>
          <p:cNvSpPr/>
          <p:nvPr/>
        </p:nvSpPr>
        <p:spPr>
          <a:xfrm>
            <a:off x="8052389" y="2163288"/>
            <a:ext cx="3478926" cy="6309"/>
          </a:xfrm>
          <a:prstGeom prst="rect">
            <a:avLst/>
          </a:prstGeom>
          <a:solidFill>
            <a:srgbClr val="E3E6EA"/>
          </a:solidFill>
          <a:ln/>
        </p:spPr>
      </p:sp>
      <p:sp>
        <p:nvSpPr>
          <p:cNvPr id="28" name="Text 26"/>
          <p:cNvSpPr txBox="1"/>
          <p:nvPr/>
        </p:nvSpPr>
        <p:spPr>
          <a:xfrm>
            <a:off x="8192110" y="2267255"/>
            <a:ext cx="15234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Phiên bản và loại lệnh</a:t>
            </a:r>
            <a:endParaRPr lang="en-US" sz="1150" dirty="0"/>
          </a:p>
        </p:txBody>
      </p:sp>
      <p:sp>
        <p:nvSpPr>
          <p:cNvPr id="29" name="Shape 27"/>
          <p:cNvSpPr/>
          <p:nvPr/>
        </p:nvSpPr>
        <p:spPr>
          <a:xfrm>
            <a:off x="660380" y="2557028"/>
            <a:ext cx="2935133" cy="6309"/>
          </a:xfrm>
          <a:prstGeom prst="rect">
            <a:avLst/>
          </a:prstGeom>
          <a:solidFill>
            <a:srgbClr val="E3E6EA"/>
          </a:solidFill>
          <a:ln/>
        </p:spPr>
      </p:sp>
      <p:sp>
        <p:nvSpPr>
          <p:cNvPr id="30" name="Text 28"/>
          <p:cNvSpPr txBox="1"/>
          <p:nvPr/>
        </p:nvSpPr>
        <p:spPr>
          <a:xfrm>
            <a:off x="800100" y="2658984"/>
            <a:ext cx="108228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vnp_TmnCode</a:t>
            </a:r>
            <a:endParaRPr lang="en-US" sz="1200" dirty="0"/>
          </a:p>
        </p:txBody>
      </p:sp>
      <p:sp>
        <p:nvSpPr>
          <p:cNvPr id="31" name="Shape 29"/>
          <p:cNvSpPr/>
          <p:nvPr/>
        </p:nvSpPr>
        <p:spPr>
          <a:xfrm>
            <a:off x="3595512" y="2557028"/>
            <a:ext cx="2065355" cy="6309"/>
          </a:xfrm>
          <a:prstGeom prst="rect">
            <a:avLst/>
          </a:prstGeom>
          <a:solidFill>
            <a:srgbClr val="E3E6EA"/>
          </a:solidFill>
          <a:ln/>
        </p:spPr>
      </p:sp>
      <p:sp>
        <p:nvSpPr>
          <p:cNvPr id="32" name="Text 30"/>
          <p:cNvSpPr txBox="1"/>
          <p:nvPr/>
        </p:nvSpPr>
        <p:spPr>
          <a:xfrm>
            <a:off x="3735233" y="2660904"/>
            <a:ext cx="113157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Alphanumeric[8]</a:t>
            </a:r>
            <a:endParaRPr lang="en-US" sz="1150" dirty="0"/>
          </a:p>
        </p:txBody>
      </p:sp>
      <p:sp>
        <p:nvSpPr>
          <p:cNvPr id="33" name="Shape 31"/>
          <p:cNvSpPr/>
          <p:nvPr/>
        </p:nvSpPr>
        <p:spPr>
          <a:xfrm>
            <a:off x="5660868" y="2557028"/>
            <a:ext cx="2391522" cy="6309"/>
          </a:xfrm>
          <a:prstGeom prst="rect">
            <a:avLst/>
          </a:prstGeom>
          <a:solidFill>
            <a:srgbClr val="E3E6EA"/>
          </a:solidFill>
          <a:ln/>
        </p:spPr>
      </p:sp>
      <p:sp>
        <p:nvSpPr>
          <p:cNvPr id="34" name="Text 32"/>
          <p:cNvSpPr txBox="1"/>
          <p:nvPr/>
        </p:nvSpPr>
        <p:spPr>
          <a:xfrm>
            <a:off x="5800588" y="2660904"/>
            <a:ext cx="9284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merchant</a:t>
            </a:r>
            <a:endParaRPr lang="en-US" sz="1150" dirty="0"/>
          </a:p>
        </p:txBody>
      </p:sp>
      <p:sp>
        <p:nvSpPr>
          <p:cNvPr id="35" name="Shape 33"/>
          <p:cNvSpPr/>
          <p:nvPr/>
        </p:nvSpPr>
        <p:spPr>
          <a:xfrm>
            <a:off x="8052389" y="2557028"/>
            <a:ext cx="3478926" cy="6309"/>
          </a:xfrm>
          <a:prstGeom prst="rect">
            <a:avLst/>
          </a:prstGeom>
          <a:solidFill>
            <a:srgbClr val="E3E6EA"/>
          </a:solidFill>
          <a:ln/>
        </p:spPr>
      </p:sp>
      <p:sp>
        <p:nvSpPr>
          <p:cNvPr id="36" name="Text 34"/>
          <p:cNvSpPr txBox="1"/>
          <p:nvPr/>
        </p:nvSpPr>
        <p:spPr>
          <a:xfrm>
            <a:off x="8192110" y="2660904"/>
            <a:ext cx="211701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chọn đúng HashSecret</a:t>
            </a:r>
            <a:endParaRPr lang="en-US" sz="1150" dirty="0"/>
          </a:p>
        </p:txBody>
      </p:sp>
      <p:sp>
        <p:nvSpPr>
          <p:cNvPr id="37" name="Shape 35"/>
          <p:cNvSpPr/>
          <p:nvPr/>
        </p:nvSpPr>
        <p:spPr>
          <a:xfrm>
            <a:off x="660380" y="2950677"/>
            <a:ext cx="2935133" cy="6309"/>
          </a:xfrm>
          <a:prstGeom prst="rect">
            <a:avLst/>
          </a:prstGeom>
          <a:solidFill>
            <a:srgbClr val="E3E6EA"/>
          </a:solidFill>
          <a:ln/>
        </p:spPr>
      </p:sp>
      <p:sp>
        <p:nvSpPr>
          <p:cNvPr id="38" name="Text 36"/>
          <p:cNvSpPr txBox="1"/>
          <p:nvPr/>
        </p:nvSpPr>
        <p:spPr>
          <a:xfrm>
            <a:off x="800100" y="3052633"/>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vnp_TxnRef</a:t>
            </a:r>
            <a:endParaRPr lang="en-US" sz="1200" dirty="0"/>
          </a:p>
        </p:txBody>
      </p:sp>
      <p:sp>
        <p:nvSpPr>
          <p:cNvPr id="39" name="Shape 37"/>
          <p:cNvSpPr/>
          <p:nvPr/>
        </p:nvSpPr>
        <p:spPr>
          <a:xfrm>
            <a:off x="3595512" y="2950677"/>
            <a:ext cx="2065355" cy="6309"/>
          </a:xfrm>
          <a:prstGeom prst="rect">
            <a:avLst/>
          </a:prstGeom>
          <a:solidFill>
            <a:srgbClr val="E3E6EA"/>
          </a:solidFill>
          <a:ln/>
        </p:spPr>
      </p:sp>
      <p:sp>
        <p:nvSpPr>
          <p:cNvPr id="40" name="Text 38"/>
          <p:cNvSpPr txBox="1"/>
          <p:nvPr/>
        </p:nvSpPr>
        <p:spPr>
          <a:xfrm>
            <a:off x="3735233" y="3054645"/>
            <a:ext cx="141997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Alphanumeric[1,100]</a:t>
            </a:r>
            <a:endParaRPr lang="en-US" sz="1150" dirty="0"/>
          </a:p>
        </p:txBody>
      </p:sp>
      <p:sp>
        <p:nvSpPr>
          <p:cNvPr id="41" name="Shape 39"/>
          <p:cNvSpPr/>
          <p:nvPr/>
        </p:nvSpPr>
        <p:spPr>
          <a:xfrm>
            <a:off x="5660868" y="2950677"/>
            <a:ext cx="2391522" cy="6309"/>
          </a:xfrm>
          <a:prstGeom prst="rect">
            <a:avLst/>
          </a:prstGeom>
          <a:solidFill>
            <a:srgbClr val="E3E6EA"/>
          </a:solidFill>
          <a:ln/>
        </p:spPr>
      </p:sp>
      <p:sp>
        <p:nvSpPr>
          <p:cNvPr id="42" name="Text 40"/>
          <p:cNvSpPr txBox="1"/>
          <p:nvPr/>
        </p:nvSpPr>
        <p:spPr>
          <a:xfrm>
            <a:off x="5800588" y="3054645"/>
            <a:ext cx="90434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giao dịch</a:t>
            </a:r>
            <a:endParaRPr lang="en-US" sz="1150" dirty="0"/>
          </a:p>
        </p:txBody>
      </p:sp>
      <p:sp>
        <p:nvSpPr>
          <p:cNvPr id="43" name="Shape 41"/>
          <p:cNvSpPr/>
          <p:nvPr/>
        </p:nvSpPr>
        <p:spPr>
          <a:xfrm>
            <a:off x="8052389" y="2950677"/>
            <a:ext cx="3478926" cy="6309"/>
          </a:xfrm>
          <a:prstGeom prst="rect">
            <a:avLst/>
          </a:prstGeom>
          <a:solidFill>
            <a:srgbClr val="E3E6EA"/>
          </a:solidFill>
          <a:ln/>
        </p:spPr>
      </p:sp>
      <p:sp>
        <p:nvSpPr>
          <p:cNvPr id="44" name="Text 42"/>
          <p:cNvSpPr txBox="1"/>
          <p:nvPr/>
        </p:nvSpPr>
        <p:spPr>
          <a:xfrm>
            <a:off x="8192110" y="3054645"/>
            <a:ext cx="154030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Giao dịch cần truy vấn</a:t>
            </a:r>
            <a:endParaRPr lang="en-US" sz="1150" dirty="0"/>
          </a:p>
        </p:txBody>
      </p:sp>
      <p:sp>
        <p:nvSpPr>
          <p:cNvPr id="45" name="Shape 43"/>
          <p:cNvSpPr/>
          <p:nvPr/>
        </p:nvSpPr>
        <p:spPr>
          <a:xfrm>
            <a:off x="660380" y="3344418"/>
            <a:ext cx="2935133" cy="6309"/>
          </a:xfrm>
          <a:prstGeom prst="rect">
            <a:avLst/>
          </a:prstGeom>
          <a:solidFill>
            <a:srgbClr val="E3E6EA"/>
          </a:solidFill>
          <a:ln/>
        </p:spPr>
      </p:sp>
      <p:sp>
        <p:nvSpPr>
          <p:cNvPr id="46" name="Text 44"/>
          <p:cNvSpPr txBox="1"/>
          <p:nvPr/>
        </p:nvSpPr>
        <p:spPr>
          <a:xfrm>
            <a:off x="800100" y="3446374"/>
            <a:ext cx="1841967"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vnp_TransactionDate</a:t>
            </a:r>
            <a:endParaRPr lang="en-US" sz="1200" dirty="0"/>
          </a:p>
        </p:txBody>
      </p:sp>
      <p:sp>
        <p:nvSpPr>
          <p:cNvPr id="47" name="Shape 45"/>
          <p:cNvSpPr/>
          <p:nvPr/>
        </p:nvSpPr>
        <p:spPr>
          <a:xfrm>
            <a:off x="3595512" y="3344418"/>
            <a:ext cx="2065355" cy="6309"/>
          </a:xfrm>
          <a:prstGeom prst="rect">
            <a:avLst/>
          </a:prstGeom>
          <a:solidFill>
            <a:srgbClr val="E3E6EA"/>
          </a:solidFill>
          <a:ln/>
        </p:spPr>
      </p:sp>
      <p:sp>
        <p:nvSpPr>
          <p:cNvPr id="48" name="Text 46"/>
          <p:cNvSpPr txBox="1"/>
          <p:nvPr/>
        </p:nvSpPr>
        <p:spPr>
          <a:xfrm>
            <a:off x="3735233" y="3448294"/>
            <a:ext cx="86346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Numeric[14]</a:t>
            </a:r>
            <a:endParaRPr lang="en-US" sz="1150" dirty="0"/>
          </a:p>
        </p:txBody>
      </p:sp>
      <p:sp>
        <p:nvSpPr>
          <p:cNvPr id="49" name="Shape 47"/>
          <p:cNvSpPr/>
          <p:nvPr/>
        </p:nvSpPr>
        <p:spPr>
          <a:xfrm>
            <a:off x="5660868" y="3344418"/>
            <a:ext cx="2391522" cy="6309"/>
          </a:xfrm>
          <a:prstGeom prst="rect">
            <a:avLst/>
          </a:prstGeom>
          <a:solidFill>
            <a:srgbClr val="E3E6EA"/>
          </a:solidFill>
          <a:ln/>
        </p:spPr>
      </p:sp>
      <p:sp>
        <p:nvSpPr>
          <p:cNvPr id="50" name="Text 48"/>
          <p:cNvSpPr txBox="1"/>
          <p:nvPr/>
        </p:nvSpPr>
        <p:spPr>
          <a:xfrm>
            <a:off x="5800588" y="3448294"/>
            <a:ext cx="139436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CreateDate ban đầu</a:t>
            </a:r>
            <a:endParaRPr lang="en-US" sz="1150" dirty="0"/>
          </a:p>
        </p:txBody>
      </p:sp>
      <p:sp>
        <p:nvSpPr>
          <p:cNvPr id="51" name="Shape 49"/>
          <p:cNvSpPr/>
          <p:nvPr/>
        </p:nvSpPr>
        <p:spPr>
          <a:xfrm>
            <a:off x="8052389" y="3344418"/>
            <a:ext cx="3478926" cy="6309"/>
          </a:xfrm>
          <a:prstGeom prst="rect">
            <a:avLst/>
          </a:prstGeom>
          <a:solidFill>
            <a:srgbClr val="E3E6EA"/>
          </a:solidFill>
          <a:ln/>
        </p:spPr>
      </p:sp>
      <p:sp>
        <p:nvSpPr>
          <p:cNvPr id="52" name="Text 50"/>
          <p:cNvSpPr txBox="1"/>
          <p:nvPr/>
        </p:nvSpPr>
        <p:spPr>
          <a:xfrm>
            <a:off x="8192110" y="3448294"/>
            <a:ext cx="265614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Ngày tạo giao dịch gốc, đi kèm TxnRef</a:t>
            </a:r>
            <a:endParaRPr lang="en-US" sz="1150" dirty="0"/>
          </a:p>
        </p:txBody>
      </p:sp>
      <p:sp>
        <p:nvSpPr>
          <p:cNvPr id="53" name="Shape 51"/>
          <p:cNvSpPr/>
          <p:nvPr/>
        </p:nvSpPr>
        <p:spPr>
          <a:xfrm>
            <a:off x="660380" y="3738067"/>
            <a:ext cx="2935133" cy="6309"/>
          </a:xfrm>
          <a:prstGeom prst="rect">
            <a:avLst/>
          </a:prstGeom>
          <a:solidFill>
            <a:srgbClr val="E3E6EA"/>
          </a:solidFill>
          <a:ln/>
        </p:spPr>
      </p:sp>
      <p:sp>
        <p:nvSpPr>
          <p:cNvPr id="54" name="Text 52"/>
          <p:cNvSpPr txBox="1"/>
          <p:nvPr/>
        </p:nvSpPr>
        <p:spPr>
          <a:xfrm>
            <a:off x="800100" y="3840023"/>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vnp_CreateDate</a:t>
            </a:r>
            <a:endParaRPr lang="en-US" sz="1200" dirty="0"/>
          </a:p>
        </p:txBody>
      </p:sp>
      <p:sp>
        <p:nvSpPr>
          <p:cNvPr id="55" name="Shape 53"/>
          <p:cNvSpPr/>
          <p:nvPr/>
        </p:nvSpPr>
        <p:spPr>
          <a:xfrm>
            <a:off x="3595512" y="3738067"/>
            <a:ext cx="2065355" cy="6309"/>
          </a:xfrm>
          <a:prstGeom prst="rect">
            <a:avLst/>
          </a:prstGeom>
          <a:solidFill>
            <a:srgbClr val="E3E6EA"/>
          </a:solidFill>
          <a:ln/>
        </p:spPr>
      </p:sp>
      <p:sp>
        <p:nvSpPr>
          <p:cNvPr id="56" name="Text 54"/>
          <p:cNvSpPr txBox="1"/>
          <p:nvPr/>
        </p:nvSpPr>
        <p:spPr>
          <a:xfrm>
            <a:off x="3735233" y="3842034"/>
            <a:ext cx="86346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Numeric[14]</a:t>
            </a:r>
            <a:endParaRPr lang="en-US" sz="1150" dirty="0"/>
          </a:p>
        </p:txBody>
      </p:sp>
      <p:sp>
        <p:nvSpPr>
          <p:cNvPr id="57" name="Shape 55"/>
          <p:cNvSpPr/>
          <p:nvPr/>
        </p:nvSpPr>
        <p:spPr>
          <a:xfrm>
            <a:off x="5660868" y="3738067"/>
            <a:ext cx="2391522" cy="6309"/>
          </a:xfrm>
          <a:prstGeom prst="rect">
            <a:avLst/>
          </a:prstGeom>
          <a:solidFill>
            <a:srgbClr val="E3E6EA"/>
          </a:solidFill>
          <a:ln/>
        </p:spPr>
      </p:sp>
      <p:sp>
        <p:nvSpPr>
          <p:cNvPr id="58" name="Text 56"/>
          <p:cNvSpPr txBox="1"/>
          <p:nvPr/>
        </p:nvSpPr>
        <p:spPr>
          <a:xfrm>
            <a:off x="5800588" y="3842034"/>
            <a:ext cx="124349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thời điểm truy vấn</a:t>
            </a:r>
            <a:endParaRPr lang="en-US" sz="1150" dirty="0"/>
          </a:p>
        </p:txBody>
      </p:sp>
      <p:sp>
        <p:nvSpPr>
          <p:cNvPr id="59" name="Shape 57"/>
          <p:cNvSpPr/>
          <p:nvPr/>
        </p:nvSpPr>
        <p:spPr>
          <a:xfrm>
            <a:off x="8052389" y="3738067"/>
            <a:ext cx="3478926" cy="6309"/>
          </a:xfrm>
          <a:prstGeom prst="rect">
            <a:avLst/>
          </a:prstGeom>
          <a:solidFill>
            <a:srgbClr val="E3E6EA"/>
          </a:solidFill>
          <a:ln/>
        </p:spPr>
      </p:sp>
      <p:sp>
        <p:nvSpPr>
          <p:cNvPr id="60" name="Text 58"/>
          <p:cNvSpPr txBox="1"/>
          <p:nvPr/>
        </p:nvSpPr>
        <p:spPr>
          <a:xfrm>
            <a:off x="8192110" y="3842034"/>
            <a:ext cx="154753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Thời điểm gửi yêu cầu</a:t>
            </a:r>
            <a:endParaRPr lang="en-US" sz="1150" dirty="0"/>
          </a:p>
        </p:txBody>
      </p:sp>
      <p:sp>
        <p:nvSpPr>
          <p:cNvPr id="61" name="Shape 59"/>
          <p:cNvSpPr/>
          <p:nvPr/>
        </p:nvSpPr>
        <p:spPr>
          <a:xfrm>
            <a:off x="660380" y="4131808"/>
            <a:ext cx="2935133" cy="6309"/>
          </a:xfrm>
          <a:prstGeom prst="rect">
            <a:avLst/>
          </a:prstGeom>
          <a:solidFill>
            <a:srgbClr val="E3E6EA"/>
          </a:solidFill>
          <a:ln/>
        </p:spPr>
      </p:sp>
      <p:sp>
        <p:nvSpPr>
          <p:cNvPr id="62" name="Text 60"/>
          <p:cNvSpPr txBox="1"/>
          <p:nvPr/>
        </p:nvSpPr>
        <p:spPr>
          <a:xfrm>
            <a:off x="800100" y="4233763"/>
            <a:ext cx="2423526"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vnp_IpAddr, vnp_OrderInfo</a:t>
            </a:r>
            <a:endParaRPr lang="en-US" sz="1200" dirty="0"/>
          </a:p>
        </p:txBody>
      </p:sp>
      <p:sp>
        <p:nvSpPr>
          <p:cNvPr id="63" name="Shape 61"/>
          <p:cNvSpPr/>
          <p:nvPr/>
        </p:nvSpPr>
        <p:spPr>
          <a:xfrm>
            <a:off x="3595512" y="4131808"/>
            <a:ext cx="2065355" cy="6309"/>
          </a:xfrm>
          <a:prstGeom prst="rect">
            <a:avLst/>
          </a:prstGeom>
          <a:solidFill>
            <a:srgbClr val="E3E6EA"/>
          </a:solidFill>
          <a:ln/>
        </p:spPr>
      </p:sp>
      <p:sp>
        <p:nvSpPr>
          <p:cNvPr id="64" name="Text 62"/>
          <p:cNvSpPr txBox="1"/>
          <p:nvPr/>
        </p:nvSpPr>
        <p:spPr>
          <a:xfrm>
            <a:off x="3735233" y="4235684"/>
            <a:ext cx="96926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a:t>
            </a:r>
            <a:endParaRPr lang="en-US" sz="1150" dirty="0"/>
          </a:p>
        </p:txBody>
      </p:sp>
      <p:sp>
        <p:nvSpPr>
          <p:cNvPr id="65" name="Shape 63"/>
          <p:cNvSpPr/>
          <p:nvPr/>
        </p:nvSpPr>
        <p:spPr>
          <a:xfrm>
            <a:off x="5660868" y="4131808"/>
            <a:ext cx="2391522" cy="6309"/>
          </a:xfrm>
          <a:prstGeom prst="rect">
            <a:avLst/>
          </a:prstGeom>
          <a:solidFill>
            <a:srgbClr val="E3E6EA"/>
          </a:solidFill>
          <a:ln/>
        </p:spPr>
      </p:sp>
      <p:sp>
        <p:nvSpPr>
          <p:cNvPr id="66" name="Text 64"/>
          <p:cNvSpPr txBox="1"/>
          <p:nvPr/>
        </p:nvSpPr>
        <p:spPr>
          <a:xfrm>
            <a:off x="5800588" y="4235684"/>
            <a:ext cx="132679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127.0.0.1, nội dung</a:t>
            </a:r>
            <a:endParaRPr lang="en-US" sz="1150" dirty="0"/>
          </a:p>
        </p:txBody>
      </p:sp>
      <p:sp>
        <p:nvSpPr>
          <p:cNvPr id="67" name="Shape 65"/>
          <p:cNvSpPr/>
          <p:nvPr/>
        </p:nvSpPr>
        <p:spPr>
          <a:xfrm>
            <a:off x="8052389" y="4131808"/>
            <a:ext cx="3478926" cy="6309"/>
          </a:xfrm>
          <a:prstGeom prst="rect">
            <a:avLst/>
          </a:prstGeom>
          <a:solidFill>
            <a:srgbClr val="E3E6EA"/>
          </a:solidFill>
          <a:ln/>
        </p:spPr>
      </p:sp>
      <p:sp>
        <p:nvSpPr>
          <p:cNvPr id="68" name="Text 66"/>
          <p:cNvSpPr txBox="1"/>
          <p:nvPr/>
        </p:nvSpPr>
        <p:spPr>
          <a:xfrm>
            <a:off x="8192110" y="4235684"/>
            <a:ext cx="12452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Tham số bắt buộc</a:t>
            </a:r>
            <a:endParaRPr lang="en-US" sz="1150" dirty="0"/>
          </a:p>
        </p:txBody>
      </p:sp>
      <p:sp>
        <p:nvSpPr>
          <p:cNvPr id="69" name="Shape 67"/>
          <p:cNvSpPr/>
          <p:nvPr/>
        </p:nvSpPr>
        <p:spPr>
          <a:xfrm>
            <a:off x="660380" y="4525457"/>
            <a:ext cx="2935133" cy="6309"/>
          </a:xfrm>
          <a:prstGeom prst="rect">
            <a:avLst/>
          </a:prstGeom>
          <a:solidFill>
            <a:srgbClr val="E3E6EA"/>
          </a:solidFill>
          <a:ln/>
        </p:spPr>
      </p:sp>
      <p:sp>
        <p:nvSpPr>
          <p:cNvPr id="70" name="Text 68"/>
          <p:cNvSpPr txBox="1"/>
          <p:nvPr/>
        </p:nvSpPr>
        <p:spPr>
          <a:xfrm>
            <a:off x="800100" y="4627413"/>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vnp_SecureHash</a:t>
            </a:r>
            <a:endParaRPr lang="en-US" sz="1200" dirty="0"/>
          </a:p>
        </p:txBody>
      </p:sp>
      <p:sp>
        <p:nvSpPr>
          <p:cNvPr id="71" name="Shape 69"/>
          <p:cNvSpPr/>
          <p:nvPr/>
        </p:nvSpPr>
        <p:spPr>
          <a:xfrm>
            <a:off x="3595512" y="4525457"/>
            <a:ext cx="2065355" cy="6309"/>
          </a:xfrm>
          <a:prstGeom prst="rect">
            <a:avLst/>
          </a:prstGeom>
          <a:solidFill>
            <a:srgbClr val="E3E6EA"/>
          </a:solidFill>
          <a:ln/>
        </p:spPr>
      </p:sp>
      <p:sp>
        <p:nvSpPr>
          <p:cNvPr id="72" name="Text 70"/>
          <p:cNvSpPr txBox="1"/>
          <p:nvPr/>
        </p:nvSpPr>
        <p:spPr>
          <a:xfrm>
            <a:off x="3735233" y="4629424"/>
            <a:ext cx="150610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Alphanumeric[32,256]</a:t>
            </a:r>
            <a:endParaRPr lang="en-US" sz="1150" dirty="0"/>
          </a:p>
        </p:txBody>
      </p:sp>
      <p:sp>
        <p:nvSpPr>
          <p:cNvPr id="73" name="Shape 71"/>
          <p:cNvSpPr/>
          <p:nvPr/>
        </p:nvSpPr>
        <p:spPr>
          <a:xfrm>
            <a:off x="5660868" y="4525457"/>
            <a:ext cx="2391522" cy="6309"/>
          </a:xfrm>
          <a:prstGeom prst="rect">
            <a:avLst/>
          </a:prstGeom>
          <a:solidFill>
            <a:srgbClr val="E3E6EA"/>
          </a:solidFill>
          <a:ln/>
        </p:spPr>
      </p:sp>
      <p:sp>
        <p:nvSpPr>
          <p:cNvPr id="74" name="Text 72"/>
          <p:cNvSpPr txBox="1"/>
          <p:nvPr/>
        </p:nvSpPr>
        <p:spPr>
          <a:xfrm>
            <a:off x="5800588" y="4629424"/>
            <a:ext cx="109883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HMAC-SHA512</a:t>
            </a:r>
            <a:endParaRPr lang="en-US" sz="1150" dirty="0"/>
          </a:p>
        </p:txBody>
      </p:sp>
      <p:sp>
        <p:nvSpPr>
          <p:cNvPr id="75" name="Shape 73"/>
          <p:cNvSpPr/>
          <p:nvPr/>
        </p:nvSpPr>
        <p:spPr>
          <a:xfrm>
            <a:off x="8052389" y="4525457"/>
            <a:ext cx="3478926" cy="6309"/>
          </a:xfrm>
          <a:prstGeom prst="rect">
            <a:avLst/>
          </a:prstGeom>
          <a:solidFill>
            <a:srgbClr val="E3E6EA"/>
          </a:solidFill>
          <a:ln/>
        </p:spPr>
      </p:sp>
      <p:sp>
        <p:nvSpPr>
          <p:cNvPr id="76" name="Text 74"/>
          <p:cNvSpPr txBox="1"/>
          <p:nvPr/>
        </p:nvSpPr>
        <p:spPr>
          <a:xfrm>
            <a:off x="8192110" y="4629424"/>
            <a:ext cx="195800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Ký chuỗi 9 trường nối bằng |</a:t>
            </a:r>
            <a:endParaRPr lang="en-US" sz="1150" dirty="0"/>
          </a:p>
        </p:txBody>
      </p:sp>
      <p:sp>
        <p:nvSpPr>
          <p:cNvPr id="77" name="Text 75"/>
          <p:cNvSpPr txBox="1"/>
          <p:nvPr/>
        </p:nvSpPr>
        <p:spPr>
          <a:xfrm>
            <a:off x="660380" y="5186934"/>
            <a:ext cx="4632533"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Sử dụng khi đơn còn PENDING: IPN chưa đến hoặc chưa xử lý được.</a:t>
            </a:r>
            <a:endParaRPr lang="en-US" sz="1100" dirty="0"/>
          </a:p>
        </p:txBody>
      </p:sp>
      <p:sp>
        <p:nvSpPr>
          <p:cNvPr id="78" name="Text 76"/>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79" name="Text 77"/>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02746"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Truy vấn giao dịch</a:t>
            </a:r>
            <a:endParaRPr lang="en-US" sz="1100" dirty="0"/>
          </a:p>
        </p:txBody>
      </p:sp>
      <p:sp>
        <p:nvSpPr>
          <p:cNvPr id="3" name="Text 1"/>
          <p:cNvSpPr txBox="1"/>
          <p:nvPr/>
        </p:nvSpPr>
        <p:spPr>
          <a:xfrm>
            <a:off x="660380" y="643829"/>
            <a:ext cx="5272522"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query(): gửi yêu cầu querydr</a:t>
            </a:r>
            <a:endParaRPr lang="en-US" sz="3000" dirty="0"/>
          </a:p>
        </p:txBody>
      </p:sp>
      <p:sp>
        <p:nvSpPr>
          <p:cNvPr id="4" name="Text 2"/>
          <p:cNvSpPr txBox="1"/>
          <p:nvPr/>
        </p:nvSpPr>
        <p:spPr>
          <a:xfrm>
            <a:off x="660380" y="1358798"/>
            <a:ext cx="379686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Trích từ SeminarDemo.java, ngắt dòng cho dễ đọc</a:t>
            </a:r>
            <a:endParaRPr lang="en-US" sz="1000" dirty="0"/>
          </a:p>
        </p:txBody>
      </p:sp>
      <p:sp>
        <p:nvSpPr>
          <p:cNvPr id="5" name="Shape 3"/>
          <p:cNvSpPr/>
          <p:nvPr/>
        </p:nvSpPr>
        <p:spPr>
          <a:xfrm>
            <a:off x="660380" y="1779148"/>
            <a:ext cx="10870936" cy="2057126"/>
          </a:xfrm>
          <a:prstGeom prst="roundRect">
            <a:avLst>
              <a:gd name="adj" fmla="val 4938"/>
            </a:avLst>
          </a:prstGeom>
          <a:solidFill>
            <a:srgbClr val="0C131E"/>
          </a:solidFill>
          <a:ln/>
        </p:spPr>
      </p:sp>
      <p:sp>
        <p:nvSpPr>
          <p:cNvPr id="6" name="Text 4"/>
          <p:cNvSpPr txBox="1"/>
          <p:nvPr/>
        </p:nvSpPr>
        <p:spPr>
          <a:xfrm>
            <a:off x="907999" y="1962211"/>
            <a:ext cx="244172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JSONObject b = </a:t>
            </a:r>
            <a:pPr algn="l" indent="0" marL="0">
              <a:buNone/>
            </a:pPr>
            <a:r>
              <a:rPr lang="en-US" sz="980" dirty="0">
                <a:solidFill>
                  <a:srgbClr val="7FC2FF"/>
                </a:solidFill>
                <a:latin typeface="Courier New" pitchFamily="34" charset="0"/>
                <a:ea typeface="Courier New" pitchFamily="34" charset="-122"/>
                <a:cs typeface="Courier New" pitchFamily="34" charset="-120"/>
              </a:rPr>
              <a:t>new</a:t>
            </a:r>
            <a:pPr algn="l" indent="0" marL="0">
              <a:buNone/>
            </a:pPr>
            <a:r>
              <a:rPr lang="en-US" sz="980" dirty="0">
                <a:solidFill>
                  <a:srgbClr val="E6EDF7"/>
                </a:solidFill>
                <a:latin typeface="Courier New" pitchFamily="34" charset="0"/>
                <a:ea typeface="Courier New" pitchFamily="34" charset="-122"/>
                <a:cs typeface="Courier New" pitchFamily="34" charset="-120"/>
              </a:rPr>
              <a:t> JSONObject()</a:t>
            </a:r>
            <a:endParaRPr lang="en-US" sz="980" dirty="0"/>
          </a:p>
        </p:txBody>
      </p:sp>
      <p:sp>
        <p:nvSpPr>
          <p:cNvPr id="7" name="Text 5"/>
          <p:cNvSpPr txBox="1"/>
          <p:nvPr/>
        </p:nvSpPr>
        <p:spPr>
          <a:xfrm>
            <a:off x="907999" y="2154052"/>
            <a:ext cx="567110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.put(</a:t>
            </a:r>
            <a:pPr algn="l" indent="0" marL="0">
              <a:buNone/>
            </a:pPr>
            <a:r>
              <a:rPr lang="en-US" sz="980" dirty="0">
                <a:solidFill>
                  <a:srgbClr val="9BE3B4"/>
                </a:solidFill>
                <a:latin typeface="Courier New" pitchFamily="34" charset="0"/>
                <a:ea typeface="Courier New" pitchFamily="34" charset="-122"/>
                <a:cs typeface="Courier New" pitchFamily="34" charset="-120"/>
              </a:rPr>
              <a:t>"vnp_RequestId"</a:t>
            </a:r>
            <a:pPr algn="l" indent="0" marL="0">
              <a:buNone/>
            </a:pPr>
            <a:r>
              <a:rPr lang="en-US" sz="980" dirty="0">
                <a:solidFill>
                  <a:srgbClr val="E6EDF7"/>
                </a:solidFill>
                <a:latin typeface="Courier New" pitchFamily="34" charset="0"/>
                <a:ea typeface="Courier New" pitchFamily="34" charset="-122"/>
                <a:cs typeface="Courier New" pitchFamily="34" charset="-120"/>
              </a:rPr>
              <a:t>, UUID.randomUUID().toString().replace(</a:t>
            </a:r>
            <a:pPr algn="l" indent="0" marL="0">
              <a:buNone/>
            </a:pPr>
            <a:r>
              <a:rPr lang="en-US" sz="980" dirty="0">
                <a:solidFill>
                  <a:srgbClr val="9BE3B4"/>
                </a:solidFill>
                <a:latin typeface="Courier New" pitchFamily="34" charset="0"/>
                <a:ea typeface="Courier New" pitchFamily="34" charset="-122"/>
                <a:cs typeface="Courier New" pitchFamily="34" charset="-120"/>
              </a:rPr>
              <a:t>"-"</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8" name="Text 6"/>
          <p:cNvSpPr txBox="1"/>
          <p:nvPr/>
        </p:nvSpPr>
        <p:spPr>
          <a:xfrm>
            <a:off x="907999" y="2345985"/>
            <a:ext cx="488362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.put(</a:t>
            </a:r>
            <a:pPr algn="l" indent="0" marL="0">
              <a:buNone/>
            </a:pPr>
            <a:r>
              <a:rPr lang="en-US" sz="980" dirty="0">
                <a:solidFill>
                  <a:srgbClr val="9BE3B4"/>
                </a:solidFill>
                <a:latin typeface="Courier New" pitchFamily="34" charset="0"/>
                <a:ea typeface="Courier New" pitchFamily="34" charset="-122"/>
                <a:cs typeface="Courier New" pitchFamily="34" charset="-120"/>
              </a:rPr>
              <a:t>"vnp_Version"</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"2.1.0"</a:t>
            </a:r>
            <a:pPr algn="l" indent="0" marL="0">
              <a:buNone/>
            </a:pPr>
            <a:r>
              <a:rPr lang="en-US" sz="980" dirty="0">
                <a:solidFill>
                  <a:srgbClr val="E6EDF7"/>
                </a:solidFill>
                <a:latin typeface="Courier New" pitchFamily="34" charset="0"/>
                <a:ea typeface="Courier New" pitchFamily="34" charset="-122"/>
                <a:cs typeface="Courier New" pitchFamily="34" charset="-120"/>
              </a:rPr>
              <a:t>).put(</a:t>
            </a:r>
            <a:pPr algn="l" indent="0" marL="0">
              <a:buNone/>
            </a:pPr>
            <a:r>
              <a:rPr lang="en-US" sz="980" dirty="0">
                <a:solidFill>
                  <a:srgbClr val="9BE3B4"/>
                </a:solidFill>
                <a:latin typeface="Courier New" pitchFamily="34" charset="0"/>
                <a:ea typeface="Courier New" pitchFamily="34" charset="-122"/>
                <a:cs typeface="Courier New" pitchFamily="34" charset="-120"/>
              </a:rPr>
              <a:t>"vnp_Command"</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"querydr"</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9" name="Text 7"/>
          <p:cNvSpPr txBox="1"/>
          <p:nvPr/>
        </p:nvSpPr>
        <p:spPr>
          <a:xfrm>
            <a:off x="907999" y="2537826"/>
            <a:ext cx="417478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.put(</a:t>
            </a:r>
            <a:pPr algn="l" indent="0" marL="0">
              <a:buNone/>
            </a:pPr>
            <a:r>
              <a:rPr lang="en-US" sz="980" dirty="0">
                <a:solidFill>
                  <a:srgbClr val="9BE3B4"/>
                </a:solidFill>
                <a:latin typeface="Courier New" pitchFamily="34" charset="0"/>
                <a:ea typeface="Courier New" pitchFamily="34" charset="-122"/>
                <a:cs typeface="Courier New" pitchFamily="34" charset="-120"/>
              </a:rPr>
              <a:t>"vnp_TmnCode"</a:t>
            </a:r>
            <a:pPr algn="l" indent="0" marL="0">
              <a:buNone/>
            </a:pPr>
            <a:r>
              <a:rPr lang="en-US" sz="980" dirty="0">
                <a:solidFill>
                  <a:srgbClr val="E6EDF7"/>
                </a:solidFill>
                <a:latin typeface="Courier New" pitchFamily="34" charset="0"/>
                <a:ea typeface="Courier New" pitchFamily="34" charset="-122"/>
                <a:cs typeface="Courier New" pitchFamily="34" charset="-120"/>
              </a:rPr>
              <a:t>, TMN).put(</a:t>
            </a:r>
            <a:pPr algn="l" indent="0" marL="0">
              <a:buNone/>
            </a:pPr>
            <a:r>
              <a:rPr lang="en-US" sz="980" dirty="0">
                <a:solidFill>
                  <a:srgbClr val="9BE3B4"/>
                </a:solidFill>
                <a:latin typeface="Courier New" pitchFamily="34" charset="0"/>
                <a:ea typeface="Courier New" pitchFamily="34" charset="-122"/>
                <a:cs typeface="Courier New" pitchFamily="34" charset="-120"/>
              </a:rPr>
              <a:t>"vnp_TxnRef"</a:t>
            </a:r>
            <a:pPr algn="l" indent="0" marL="0">
              <a:buNone/>
            </a:pPr>
            <a:r>
              <a:rPr lang="en-US" sz="980" dirty="0">
                <a:solidFill>
                  <a:srgbClr val="E6EDF7"/>
                </a:solidFill>
                <a:latin typeface="Courier New" pitchFamily="34" charset="0"/>
                <a:ea typeface="Courier New" pitchFamily="34" charset="-122"/>
                <a:cs typeface="Courier New" pitchFamily="34" charset="-120"/>
              </a:rPr>
              <a:t>, p.ref)</a:t>
            </a:r>
            <a:endParaRPr lang="en-US" sz="980" dirty="0"/>
          </a:p>
        </p:txBody>
      </p:sp>
      <p:sp>
        <p:nvSpPr>
          <p:cNvPr id="10" name="Shape 8"/>
          <p:cNvSpPr/>
          <p:nvPr/>
        </p:nvSpPr>
        <p:spPr>
          <a:xfrm>
            <a:off x="660380" y="2711745"/>
            <a:ext cx="10870936" cy="191841"/>
          </a:xfrm>
          <a:prstGeom prst="rect">
            <a:avLst/>
          </a:prstGeom>
          <a:solidFill>
            <a:srgbClr val="FFD479">
              <a:alpha val="13000"/>
            </a:srgbClr>
          </a:solidFill>
          <a:ln/>
        </p:spPr>
      </p:sp>
      <p:sp>
        <p:nvSpPr>
          <p:cNvPr id="11" name="Shape 9"/>
          <p:cNvSpPr/>
          <p:nvPr/>
        </p:nvSpPr>
        <p:spPr>
          <a:xfrm>
            <a:off x="660380" y="2711745"/>
            <a:ext cx="31730" cy="191841"/>
          </a:xfrm>
          <a:prstGeom prst="rect">
            <a:avLst/>
          </a:prstGeom>
          <a:solidFill>
            <a:srgbClr val="FFD479"/>
          </a:solidFill>
          <a:ln/>
        </p:spPr>
      </p:sp>
      <p:sp>
        <p:nvSpPr>
          <p:cNvPr id="12" name="Text 10"/>
          <p:cNvSpPr txBox="1"/>
          <p:nvPr/>
        </p:nvSpPr>
        <p:spPr>
          <a:xfrm>
            <a:off x="907999" y="2729758"/>
            <a:ext cx="535618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.put(</a:t>
            </a:r>
            <a:pPr algn="l" indent="0" marL="0">
              <a:buNone/>
            </a:pPr>
            <a:r>
              <a:rPr lang="en-US" sz="980" dirty="0">
                <a:solidFill>
                  <a:srgbClr val="9BE3B4"/>
                </a:solidFill>
                <a:latin typeface="Courier New" pitchFamily="34" charset="0"/>
                <a:ea typeface="Courier New" pitchFamily="34" charset="-122"/>
                <a:cs typeface="Courier New" pitchFamily="34" charset="-120"/>
              </a:rPr>
              <a:t>"vnp_TransactionDate"</a:t>
            </a:r>
            <a:pPr algn="l" indent="0" marL="0">
              <a:buNone/>
            </a:pPr>
            <a:r>
              <a:rPr lang="en-US" sz="980" dirty="0">
                <a:solidFill>
                  <a:srgbClr val="E6EDF7"/>
                </a:solidFill>
                <a:latin typeface="Courier New" pitchFamily="34" charset="0"/>
                <a:ea typeface="Courier New" pitchFamily="34" charset="-122"/>
                <a:cs typeface="Courier New" pitchFamily="34" charset="-120"/>
              </a:rPr>
              <a:t>, p.date).put(</a:t>
            </a:r>
            <a:pPr algn="l" indent="0" marL="0">
              <a:buNone/>
            </a:pPr>
            <a:r>
              <a:rPr lang="en-US" sz="980" dirty="0">
                <a:solidFill>
                  <a:srgbClr val="9BE3B4"/>
                </a:solidFill>
                <a:latin typeface="Courier New" pitchFamily="34" charset="0"/>
                <a:ea typeface="Courier New" pitchFamily="34" charset="-122"/>
                <a:cs typeface="Courier New" pitchFamily="34" charset="-120"/>
              </a:rPr>
              <a:t>"vnp_CreateDate"</a:t>
            </a:r>
            <a:pPr algn="l" indent="0" marL="0">
              <a:buNone/>
            </a:pPr>
            <a:r>
              <a:rPr lang="en-US" sz="980" dirty="0">
                <a:solidFill>
                  <a:srgbClr val="E6EDF7"/>
                </a:solidFill>
                <a:latin typeface="Courier New" pitchFamily="34" charset="0"/>
                <a:ea typeface="Courier New" pitchFamily="34" charset="-122"/>
                <a:cs typeface="Courier New" pitchFamily="34" charset="-120"/>
              </a:rPr>
              <a:t>, now())</a:t>
            </a:r>
            <a:endParaRPr lang="en-US" sz="980" dirty="0"/>
          </a:p>
        </p:txBody>
      </p:sp>
      <p:sp>
        <p:nvSpPr>
          <p:cNvPr id="13" name="Text 11"/>
          <p:cNvSpPr txBox="1"/>
          <p:nvPr/>
        </p:nvSpPr>
        <p:spPr>
          <a:xfrm>
            <a:off x="907999" y="2921599"/>
            <a:ext cx="645904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.put(</a:t>
            </a:r>
            <a:pPr algn="l" indent="0" marL="0">
              <a:buNone/>
            </a:pPr>
            <a:r>
              <a:rPr lang="en-US" sz="980" dirty="0">
                <a:solidFill>
                  <a:srgbClr val="9BE3B4"/>
                </a:solidFill>
                <a:latin typeface="Courier New" pitchFamily="34" charset="0"/>
                <a:ea typeface="Courier New" pitchFamily="34" charset="-122"/>
                <a:cs typeface="Courier New" pitchFamily="34" charset="-120"/>
              </a:rPr>
              <a:t>"vnp_IpAddr"</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"127.0.0.1"</a:t>
            </a:r>
            <a:pPr algn="l" indent="0" marL="0">
              <a:buNone/>
            </a:pPr>
            <a:r>
              <a:rPr lang="en-US" sz="980" dirty="0">
                <a:solidFill>
                  <a:srgbClr val="E6EDF7"/>
                </a:solidFill>
                <a:latin typeface="Courier New" pitchFamily="34" charset="0"/>
                <a:ea typeface="Courier New" pitchFamily="34" charset="-122"/>
                <a:cs typeface="Courier New" pitchFamily="34" charset="-120"/>
              </a:rPr>
              <a:t>).put(</a:t>
            </a:r>
            <a:pPr algn="l" indent="0" marL="0">
              <a:buNone/>
            </a:pPr>
            <a:r>
              <a:rPr lang="en-US" sz="980" dirty="0">
                <a:solidFill>
                  <a:srgbClr val="9BE3B4"/>
                </a:solidFill>
                <a:latin typeface="Courier New" pitchFamily="34" charset="0"/>
                <a:ea typeface="Courier New" pitchFamily="34" charset="-122"/>
                <a:cs typeface="Courier New" pitchFamily="34" charset="-120"/>
              </a:rPr>
              <a:t>"vnp_OrderInfo"</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"Truy van don hang mau"</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4" name="Shape 12"/>
          <p:cNvSpPr/>
          <p:nvPr/>
        </p:nvSpPr>
        <p:spPr>
          <a:xfrm>
            <a:off x="660380" y="3095518"/>
            <a:ext cx="10870936" cy="191841"/>
          </a:xfrm>
          <a:prstGeom prst="rect">
            <a:avLst/>
          </a:prstGeom>
          <a:solidFill>
            <a:srgbClr val="FFD479">
              <a:alpha val="13000"/>
            </a:srgbClr>
          </a:solidFill>
          <a:ln/>
        </p:spPr>
      </p:sp>
      <p:sp>
        <p:nvSpPr>
          <p:cNvPr id="15" name="Shape 13"/>
          <p:cNvSpPr/>
          <p:nvPr/>
        </p:nvSpPr>
        <p:spPr>
          <a:xfrm>
            <a:off x="660380" y="3095518"/>
            <a:ext cx="31730" cy="191841"/>
          </a:xfrm>
          <a:prstGeom prst="rect">
            <a:avLst/>
          </a:prstGeom>
          <a:solidFill>
            <a:srgbClr val="FFD479"/>
          </a:solidFill>
          <a:ln/>
        </p:spPr>
      </p:sp>
      <p:sp>
        <p:nvSpPr>
          <p:cNvPr id="16" name="Text 14"/>
          <p:cNvSpPr txBox="1"/>
          <p:nvPr/>
        </p:nvSpPr>
        <p:spPr>
          <a:xfrm>
            <a:off x="907999" y="3113532"/>
            <a:ext cx="653750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String data = join(b, </a:t>
            </a:r>
            <a:pPr algn="l" indent="0" marL="0">
              <a:buNone/>
            </a:pPr>
            <a:r>
              <a:rPr lang="en-US" sz="980" dirty="0">
                <a:solidFill>
                  <a:srgbClr val="9BE3B4"/>
                </a:solidFill>
                <a:latin typeface="Courier New" pitchFamily="34" charset="0"/>
                <a:ea typeface="Courier New" pitchFamily="34" charset="-122"/>
                <a:cs typeface="Courier New" pitchFamily="34" charset="-120"/>
              </a:rPr>
              <a:t>"vnp_RequestId"</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"vnp_Version"</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"vnp_Command"</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"vnp_TmnCode"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7" name="Shape 15"/>
          <p:cNvSpPr/>
          <p:nvPr/>
        </p:nvSpPr>
        <p:spPr>
          <a:xfrm>
            <a:off x="660380" y="3287451"/>
            <a:ext cx="10870936" cy="191841"/>
          </a:xfrm>
          <a:prstGeom prst="rect">
            <a:avLst/>
          </a:prstGeom>
          <a:solidFill>
            <a:srgbClr val="FFD479">
              <a:alpha val="13000"/>
            </a:srgbClr>
          </a:solidFill>
          <a:ln/>
        </p:spPr>
      </p:sp>
      <p:sp>
        <p:nvSpPr>
          <p:cNvPr id="18" name="Shape 16"/>
          <p:cNvSpPr/>
          <p:nvPr/>
        </p:nvSpPr>
        <p:spPr>
          <a:xfrm>
            <a:off x="660380" y="3287451"/>
            <a:ext cx="31730" cy="191841"/>
          </a:xfrm>
          <a:prstGeom prst="rect">
            <a:avLst/>
          </a:prstGeom>
          <a:solidFill>
            <a:srgbClr val="FFD479"/>
          </a:solidFill>
          <a:ln/>
        </p:spPr>
      </p:sp>
      <p:sp>
        <p:nvSpPr>
          <p:cNvPr id="19" name="Text 17"/>
          <p:cNvSpPr txBox="1"/>
          <p:nvPr/>
        </p:nvSpPr>
        <p:spPr>
          <a:xfrm>
            <a:off x="907999" y="3305373"/>
            <a:ext cx="708916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"vnp_TxnRef"</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"vnp_TransactionDate"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"vnp_CreateDate"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"vnp_IpAddr"</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"vnp_OrderInfo"</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0" name="Text 18"/>
          <p:cNvSpPr txBox="1"/>
          <p:nvPr/>
        </p:nvSpPr>
        <p:spPr>
          <a:xfrm>
            <a:off x="907999" y="3497306"/>
            <a:ext cx="4568434"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post(API_URL, b.put(</a:t>
            </a:r>
            <a:pPr algn="l" indent="0" marL="0">
              <a:buNone/>
            </a:pPr>
            <a:r>
              <a:rPr lang="en-US" sz="980" dirty="0">
                <a:solidFill>
                  <a:srgbClr val="9BE3B4"/>
                </a:solidFill>
                <a:latin typeface="Courier New" pitchFamily="34" charset="0"/>
                <a:ea typeface="Courier New" pitchFamily="34" charset="-122"/>
                <a:cs typeface="Courier New" pitchFamily="34" charset="-120"/>
              </a:rPr>
              <a:t>"vnp_SecureHash"</a:t>
            </a:r>
            <a:pPr algn="l" indent="0" marL="0">
              <a:buNone/>
            </a:pPr>
            <a:r>
              <a:rPr lang="en-US" sz="980" dirty="0">
                <a:solidFill>
                  <a:srgbClr val="E6EDF7"/>
                </a:solidFill>
                <a:latin typeface="Courier New" pitchFamily="34" charset="0"/>
                <a:ea typeface="Courier New" pitchFamily="34" charset="-122"/>
                <a:cs typeface="Courier New" pitchFamily="34" charset="-120"/>
              </a:rPr>
              <a:t>, hmac(data)));</a:t>
            </a:r>
            <a:endParaRPr lang="en-US" sz="980" dirty="0"/>
          </a:p>
        </p:txBody>
      </p:sp>
      <p:sp>
        <p:nvSpPr>
          <p:cNvPr id="21" name="Shape 19"/>
          <p:cNvSpPr/>
          <p:nvPr/>
        </p:nvSpPr>
        <p:spPr>
          <a:xfrm>
            <a:off x="660380" y="4014125"/>
            <a:ext cx="10870936" cy="386060"/>
          </a:xfrm>
          <a:prstGeom prst="roundRect">
            <a:avLst>
              <a:gd name="adj" fmla="val 19730"/>
            </a:avLst>
          </a:prstGeom>
          <a:solidFill>
            <a:srgbClr val="FFFFFF"/>
          </a:solidFill>
          <a:ln w="6350">
            <a:solidFill>
              <a:srgbClr val="E3E6EA"/>
            </a:solidFill>
            <a:prstDash val="solid"/>
          </a:ln>
        </p:spPr>
      </p:sp>
      <p:sp>
        <p:nvSpPr>
          <p:cNvPr id="22" name="Text 20"/>
          <p:cNvSpPr txBox="1"/>
          <p:nvPr/>
        </p:nvSpPr>
        <p:spPr>
          <a:xfrm>
            <a:off x="780989" y="4113703"/>
            <a:ext cx="2147286"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Phương thức POST, body JSON</a:t>
            </a:r>
            <a:endParaRPr lang="en-US" sz="1100" dirty="0"/>
          </a:p>
        </p:txBody>
      </p:sp>
      <p:sp>
        <p:nvSpPr>
          <p:cNvPr id="23" name="Shape 21"/>
          <p:cNvSpPr/>
          <p:nvPr/>
        </p:nvSpPr>
        <p:spPr>
          <a:xfrm>
            <a:off x="660380" y="4476354"/>
            <a:ext cx="10870936" cy="398770"/>
          </a:xfrm>
          <a:prstGeom prst="roundRect">
            <a:avLst>
              <a:gd name="adj" fmla="val 19101"/>
            </a:avLst>
          </a:prstGeom>
          <a:solidFill>
            <a:srgbClr val="FFFFFF"/>
          </a:solidFill>
          <a:ln w="6350">
            <a:solidFill>
              <a:srgbClr val="E3E6EA"/>
            </a:solidFill>
            <a:prstDash val="solid"/>
          </a:ln>
        </p:spPr>
      </p:sp>
      <p:sp>
        <p:nvSpPr>
          <p:cNvPr id="24" name="Text 22"/>
          <p:cNvSpPr txBox="1"/>
          <p:nvPr/>
        </p:nvSpPr>
        <p:spPr>
          <a:xfrm>
            <a:off x="780989" y="4575932"/>
            <a:ext cx="4838090"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Chuỗi ký: 9 trường nối bằng </a:t>
            </a:r>
            <a:pPr algn="l" indent="0" marL="0">
              <a:buNone/>
            </a:pPr>
            <a:r>
              <a:rPr lang="en-US" sz="1100" dirty="0">
                <a:solidFill>
                  <a:srgbClr val="3F454D"/>
                </a:solidFill>
                <a:latin typeface="Courier New" pitchFamily="34" charset="0"/>
                <a:ea typeface="Courier New" pitchFamily="34" charset="-122"/>
                <a:cs typeface="Courier New" pitchFamily="34" charset="-120"/>
              </a:rPr>
              <a:t>|</a:t>
            </a:r>
            <a:pPr algn="l" indent="0" marL="0">
              <a:buNone/>
            </a:pPr>
            <a:r>
              <a:rPr lang="en-US" sz="1100" dirty="0">
                <a:solidFill>
                  <a:srgbClr val="3F454D"/>
                </a:solidFill>
                <a:latin typeface="Arial" pitchFamily="34" charset="0"/>
                <a:ea typeface="Arial" pitchFamily="34" charset="-122"/>
                <a:cs typeface="Arial" pitchFamily="34" charset="-120"/>
              </a:rPr>
              <a:t> theo thứ tự tài liệu; không dùng canonical()</a:t>
            </a:r>
            <a:endParaRPr lang="en-US" sz="1100" dirty="0"/>
          </a:p>
        </p:txBody>
      </p:sp>
      <p:sp>
        <p:nvSpPr>
          <p:cNvPr id="25" name="Shape 23"/>
          <p:cNvSpPr/>
          <p:nvPr/>
        </p:nvSpPr>
        <p:spPr>
          <a:xfrm>
            <a:off x="660380" y="4951293"/>
            <a:ext cx="10870936" cy="386060"/>
          </a:xfrm>
          <a:prstGeom prst="roundRect">
            <a:avLst>
              <a:gd name="adj" fmla="val 19730"/>
            </a:avLst>
          </a:prstGeom>
          <a:solidFill>
            <a:srgbClr val="FFFFFF"/>
          </a:solidFill>
          <a:ln w="6350">
            <a:solidFill>
              <a:srgbClr val="E3E6EA"/>
            </a:solidFill>
            <a:prstDash val="solid"/>
          </a:ln>
        </p:spPr>
      </p:sp>
      <p:sp>
        <p:nvSpPr>
          <p:cNvPr id="26" name="Text 24"/>
          <p:cNvSpPr txBox="1"/>
          <p:nvPr/>
        </p:nvSpPr>
        <p:spPr>
          <a:xfrm>
            <a:off x="780989" y="5050871"/>
            <a:ext cx="5275631"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Demo gọi khi người dùng yêu cầu truy vấn; hệ thống thực tế dùng tác vụ định kỳ</a:t>
            </a:r>
            <a:endParaRPr lang="en-US" sz="1100" dirty="0"/>
          </a:p>
        </p:txBody>
      </p:sp>
      <p:sp>
        <p:nvSpPr>
          <p:cNvPr id="27" name="Text 25"/>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8" name="Text 26"/>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02746"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Truy vấn giao dịch</a:t>
            </a:r>
            <a:endParaRPr lang="en-US" sz="1100" dirty="0"/>
          </a:p>
        </p:txBody>
      </p:sp>
      <p:sp>
        <p:nvSpPr>
          <p:cNvPr id="3" name="Text 1"/>
          <p:cNvSpPr txBox="1"/>
          <p:nvPr/>
        </p:nvSpPr>
        <p:spPr>
          <a:xfrm>
            <a:off x="660380" y="643829"/>
            <a:ext cx="7397496"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verifyQuery(): xác minh kết quả truy vấn</a:t>
            </a:r>
            <a:endParaRPr lang="en-US" sz="3000" dirty="0"/>
          </a:p>
        </p:txBody>
      </p:sp>
      <p:sp>
        <p:nvSpPr>
          <p:cNvPr id="4" name="Text 2"/>
          <p:cNvSpPr txBox="1"/>
          <p:nvPr/>
        </p:nvSpPr>
        <p:spPr>
          <a:xfrm>
            <a:off x="660380" y="1358798"/>
            <a:ext cx="379686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Trích từ SeminarDemo.java, ngắt dòng cho dễ đọc</a:t>
            </a:r>
            <a:endParaRPr lang="en-US" sz="1000" dirty="0"/>
          </a:p>
        </p:txBody>
      </p:sp>
      <p:sp>
        <p:nvSpPr>
          <p:cNvPr id="5" name="Shape 3"/>
          <p:cNvSpPr/>
          <p:nvPr/>
        </p:nvSpPr>
        <p:spPr>
          <a:xfrm>
            <a:off x="660380" y="1601389"/>
            <a:ext cx="6854068" cy="2249058"/>
          </a:xfrm>
          <a:prstGeom prst="roundRect">
            <a:avLst>
              <a:gd name="adj" fmla="val 4517"/>
            </a:avLst>
          </a:prstGeom>
          <a:solidFill>
            <a:srgbClr val="0C131E"/>
          </a:solidFill>
          <a:ln/>
        </p:spPr>
      </p:sp>
      <p:sp>
        <p:nvSpPr>
          <p:cNvPr id="6" name="Text 4"/>
          <p:cNvSpPr txBox="1"/>
          <p:nvPr/>
        </p:nvSpPr>
        <p:spPr>
          <a:xfrm>
            <a:off x="907999" y="1784452"/>
            <a:ext cx="4174602"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static</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boolean</a:t>
            </a:r>
            <a:pPr algn="l" indent="0" marL="0">
              <a:buNone/>
            </a:pPr>
            <a:r>
              <a:rPr lang="en-US" sz="980" dirty="0">
                <a:solidFill>
                  <a:srgbClr val="E6EDF7"/>
                </a:solidFill>
                <a:latin typeface="Courier New" pitchFamily="34" charset="0"/>
                <a:ea typeface="Courier New" pitchFamily="34" charset="-122"/>
                <a:cs typeface="Courier New" pitchFamily="34" charset="-120"/>
              </a:rPr>
              <a:t> verifyQuery(Payment p, JSONObject r) {</a:t>
            </a:r>
            <a:endParaRPr lang="en-US" sz="980" dirty="0"/>
          </a:p>
        </p:txBody>
      </p:sp>
      <p:sp>
        <p:nvSpPr>
          <p:cNvPr id="7" name="Shape 5"/>
          <p:cNvSpPr/>
          <p:nvPr/>
        </p:nvSpPr>
        <p:spPr>
          <a:xfrm>
            <a:off x="660380" y="1958370"/>
            <a:ext cx="6854068" cy="191841"/>
          </a:xfrm>
          <a:prstGeom prst="rect">
            <a:avLst/>
          </a:prstGeom>
          <a:solidFill>
            <a:srgbClr val="FFD479">
              <a:alpha val="13000"/>
            </a:srgbClr>
          </a:solidFill>
          <a:ln/>
        </p:spPr>
      </p:sp>
      <p:sp>
        <p:nvSpPr>
          <p:cNvPr id="8" name="Shape 6"/>
          <p:cNvSpPr/>
          <p:nvPr/>
        </p:nvSpPr>
        <p:spPr>
          <a:xfrm>
            <a:off x="660380" y="1958370"/>
            <a:ext cx="31730" cy="191841"/>
          </a:xfrm>
          <a:prstGeom prst="rect">
            <a:avLst/>
          </a:prstGeom>
          <a:solidFill>
            <a:srgbClr val="FFD479"/>
          </a:solidFill>
          <a:ln/>
        </p:spPr>
      </p:sp>
      <p:sp>
        <p:nvSpPr>
          <p:cNvPr id="9" name="Text 7"/>
          <p:cNvSpPr txBox="1"/>
          <p:nvPr/>
        </p:nvSpPr>
        <p:spPr>
          <a:xfrm>
            <a:off x="907999" y="1976293"/>
            <a:ext cx="519863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same(hmac(queryHash(r)), r.optString(</a:t>
            </a:r>
            <a:pPr algn="l" indent="0" marL="0">
              <a:buNone/>
            </a:pPr>
            <a:r>
              <a:rPr lang="en-US" sz="980" dirty="0">
                <a:solidFill>
                  <a:srgbClr val="9BE3B4"/>
                </a:solidFill>
                <a:latin typeface="Courier New" pitchFamily="34" charset="0"/>
                <a:ea typeface="Courier New" pitchFamily="34" charset="-122"/>
                <a:cs typeface="Courier New" pitchFamily="34" charset="-120"/>
              </a:rPr>
              <a:t>"vnp_SecureHash"</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0" name="Text 8"/>
          <p:cNvSpPr txBox="1"/>
          <p:nvPr/>
        </p:nvSpPr>
        <p:spPr>
          <a:xfrm>
            <a:off x="907999" y="2168225"/>
            <a:ext cx="433224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&amp;&amp; </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.equals(r.optString(</a:t>
            </a:r>
            <a:pPr algn="l" indent="0" marL="0">
              <a:buNone/>
            </a:pPr>
            <a:r>
              <a:rPr lang="en-US" sz="980" dirty="0">
                <a:solidFill>
                  <a:srgbClr val="9BE3B4"/>
                </a:solidFill>
                <a:latin typeface="Courier New" pitchFamily="34" charset="0"/>
                <a:ea typeface="Courier New" pitchFamily="34" charset="-122"/>
                <a:cs typeface="Courier New" pitchFamily="34" charset="-120"/>
              </a:rPr>
              <a:t>"vnp_ResponseCode"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1" name="Text 9"/>
          <p:cNvSpPr txBox="1"/>
          <p:nvPr/>
        </p:nvSpPr>
        <p:spPr>
          <a:xfrm>
            <a:off x="907999" y="2360066"/>
            <a:ext cx="385950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&amp;&amp; TMN.equals(r.optString(</a:t>
            </a:r>
            <a:pPr algn="l" indent="0" marL="0">
              <a:buNone/>
            </a:pPr>
            <a:r>
              <a:rPr lang="en-US" sz="980" dirty="0">
                <a:solidFill>
                  <a:srgbClr val="9BE3B4"/>
                </a:solidFill>
                <a:latin typeface="Courier New" pitchFamily="34" charset="0"/>
                <a:ea typeface="Courier New" pitchFamily="34" charset="-122"/>
                <a:cs typeface="Courier New" pitchFamily="34" charset="-120"/>
              </a:rPr>
              <a:t>"vnp_TmnCode"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2" name="Text 10"/>
          <p:cNvSpPr txBox="1"/>
          <p:nvPr/>
        </p:nvSpPr>
        <p:spPr>
          <a:xfrm>
            <a:off x="907999" y="2551999"/>
            <a:ext cx="393841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&amp;&amp; p.ref.equals(r.optString(</a:t>
            </a:r>
            <a:pPr algn="l" indent="0" marL="0">
              <a:buNone/>
            </a:pPr>
            <a:r>
              <a:rPr lang="en-US" sz="980" dirty="0">
                <a:solidFill>
                  <a:srgbClr val="9BE3B4"/>
                </a:solidFill>
                <a:latin typeface="Courier New" pitchFamily="34" charset="0"/>
                <a:ea typeface="Courier New" pitchFamily="34" charset="-122"/>
                <a:cs typeface="Courier New" pitchFamily="34" charset="-120"/>
              </a:rPr>
              <a:t>"vnp_TxnRef"</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3" name="Text 11"/>
          <p:cNvSpPr txBox="1"/>
          <p:nvPr/>
        </p:nvSpPr>
        <p:spPr>
          <a:xfrm>
            <a:off x="907999" y="2743840"/>
            <a:ext cx="582866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&amp;&amp; Long.toString(p.amount * 100).equals(r.optString(</a:t>
            </a:r>
            <a:pPr algn="l" indent="0" marL="0">
              <a:buNone/>
            </a:pPr>
            <a:r>
              <a:rPr lang="en-US" sz="980" dirty="0">
                <a:solidFill>
                  <a:srgbClr val="9BE3B4"/>
                </a:solidFill>
                <a:latin typeface="Courier New" pitchFamily="34" charset="0"/>
                <a:ea typeface="Courier New" pitchFamily="34" charset="-122"/>
                <a:cs typeface="Courier New" pitchFamily="34" charset="-120"/>
              </a:rPr>
              <a:t>"vnp_Amount"</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4" name="Text 12"/>
          <p:cNvSpPr txBox="1"/>
          <p:nvPr/>
        </p:nvSpPr>
        <p:spPr>
          <a:xfrm>
            <a:off x="907999" y="2935681"/>
            <a:ext cx="464734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&amp;&amp; </a:t>
            </a:r>
            <a:pPr algn="l" indent="0" marL="0">
              <a:buNone/>
            </a:pPr>
            <a:r>
              <a:rPr lang="en-US" sz="980" dirty="0">
                <a:solidFill>
                  <a:srgbClr val="9BE3B4"/>
                </a:solidFill>
                <a:latin typeface="Courier New" pitchFamily="34" charset="0"/>
                <a:ea typeface="Courier New" pitchFamily="34" charset="-122"/>
                <a:cs typeface="Courier New" pitchFamily="34" charset="-120"/>
              </a:rPr>
              <a:t>"01"</a:t>
            </a:r>
            <a:pPr algn="l" indent="0" marL="0">
              <a:buNone/>
            </a:pPr>
            <a:r>
              <a:rPr lang="en-US" sz="980" dirty="0">
                <a:solidFill>
                  <a:srgbClr val="E6EDF7"/>
                </a:solidFill>
                <a:latin typeface="Courier New" pitchFamily="34" charset="0"/>
                <a:ea typeface="Courier New" pitchFamily="34" charset="-122"/>
                <a:cs typeface="Courier New" pitchFamily="34" charset="-120"/>
              </a:rPr>
              <a:t>.equals(r.optString(</a:t>
            </a:r>
            <a:pPr algn="l" indent="0" marL="0">
              <a:buNone/>
            </a:pPr>
            <a:r>
              <a:rPr lang="en-US" sz="980" dirty="0">
                <a:solidFill>
                  <a:srgbClr val="9BE3B4"/>
                </a:solidFill>
                <a:latin typeface="Courier New" pitchFamily="34" charset="0"/>
                <a:ea typeface="Courier New" pitchFamily="34" charset="-122"/>
                <a:cs typeface="Courier New" pitchFamily="34" charset="-120"/>
              </a:rPr>
              <a:t>"vnp_TransactionType"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5" name="Text 13"/>
          <p:cNvSpPr txBox="1"/>
          <p:nvPr/>
        </p:nvSpPr>
        <p:spPr>
          <a:xfrm>
            <a:off x="907999" y="3127614"/>
            <a:ext cx="15051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6" name="Text 14"/>
          <p:cNvSpPr txBox="1"/>
          <p:nvPr/>
        </p:nvSpPr>
        <p:spPr>
          <a:xfrm>
            <a:off x="907999" y="3319455"/>
            <a:ext cx="967984"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ở /verify</a:t>
            </a:r>
            <a:endParaRPr lang="en-US" sz="980" dirty="0"/>
          </a:p>
        </p:txBody>
      </p:sp>
      <p:sp>
        <p:nvSpPr>
          <p:cNvPr id="17" name="Shape 15"/>
          <p:cNvSpPr/>
          <p:nvPr/>
        </p:nvSpPr>
        <p:spPr>
          <a:xfrm>
            <a:off x="660380" y="3493374"/>
            <a:ext cx="6854068" cy="191841"/>
          </a:xfrm>
          <a:prstGeom prst="rect">
            <a:avLst/>
          </a:prstGeom>
          <a:solidFill>
            <a:srgbClr val="FFD479">
              <a:alpha val="13000"/>
            </a:srgbClr>
          </a:solidFill>
          <a:ln/>
        </p:spPr>
      </p:sp>
      <p:sp>
        <p:nvSpPr>
          <p:cNvPr id="18" name="Shape 16"/>
          <p:cNvSpPr/>
          <p:nvPr/>
        </p:nvSpPr>
        <p:spPr>
          <a:xfrm>
            <a:off x="660380" y="3493374"/>
            <a:ext cx="31730" cy="191841"/>
          </a:xfrm>
          <a:prstGeom prst="rect">
            <a:avLst/>
          </a:prstGeom>
          <a:solidFill>
            <a:srgbClr val="FFD479"/>
          </a:solidFill>
          <a:ln/>
        </p:spPr>
      </p:sp>
      <p:sp>
        <p:nvSpPr>
          <p:cNvPr id="19" name="Text 17"/>
          <p:cNvSpPr txBox="1"/>
          <p:nvPr/>
        </p:nvSpPr>
        <p:spPr>
          <a:xfrm>
            <a:off x="907999" y="3511387"/>
            <a:ext cx="6773967"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(verified &amp;&amp; </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.equals(r.optString(</a:t>
            </a:r>
            <a:pPr algn="l" indent="0" marL="0">
              <a:buNone/>
            </a:pPr>
            <a:r>
              <a:rPr lang="en-US" sz="980" dirty="0">
                <a:solidFill>
                  <a:srgbClr val="9BE3B4"/>
                </a:solidFill>
                <a:latin typeface="Courier New" pitchFamily="34" charset="0"/>
                <a:ea typeface="Courier New" pitchFamily="34" charset="-122"/>
                <a:cs typeface="Courier New" pitchFamily="34" charset="-120"/>
              </a:rPr>
              <a:t>"vnp_TransactionStatus"</a:t>
            </a:r>
            <a:pPr algn="l" indent="0" marL="0">
              <a:buNone/>
            </a:pPr>
            <a:r>
              <a:rPr lang="en-US" sz="980" dirty="0">
                <a:solidFill>
                  <a:srgbClr val="E6EDF7"/>
                </a:solidFill>
                <a:latin typeface="Courier New" pitchFamily="34" charset="0"/>
                <a:ea typeface="Courier New" pitchFamily="34" charset="-122"/>
                <a:cs typeface="Courier New" pitchFamily="34" charset="-120"/>
              </a:rPr>
              <a:t>))) confirm(p, </a:t>
            </a:r>
            <a:pPr algn="l" indent="0" marL="0">
              <a:buNone/>
            </a:pPr>
            <a:r>
              <a:rPr lang="en-US" sz="980" dirty="0">
                <a:solidFill>
                  <a:srgbClr val="9BE3B4"/>
                </a:solidFill>
                <a:latin typeface="Courier New" pitchFamily="34" charset="0"/>
                <a:ea typeface="Courier New" pitchFamily="34" charset="-122"/>
                <a:cs typeface="Courier New" pitchFamily="34" charset="-120"/>
              </a:rPr>
              <a:t>"PAID"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0" name="Shape 18"/>
          <p:cNvSpPr/>
          <p:nvPr/>
        </p:nvSpPr>
        <p:spPr>
          <a:xfrm>
            <a:off x="7717627" y="1347368"/>
            <a:ext cx="3813688" cy="581650"/>
          </a:xfrm>
          <a:prstGeom prst="roundRect">
            <a:avLst>
              <a:gd name="adj" fmla="val 13095"/>
            </a:avLst>
          </a:prstGeom>
          <a:solidFill>
            <a:srgbClr val="FFFFFF"/>
          </a:solidFill>
          <a:ln w="6350">
            <a:solidFill>
              <a:srgbClr val="E3E6EA"/>
            </a:solidFill>
            <a:prstDash val="solid"/>
          </a:ln>
        </p:spPr>
      </p:sp>
      <p:sp>
        <p:nvSpPr>
          <p:cNvPr id="21" name="Text 19"/>
          <p:cNvSpPr txBox="1"/>
          <p:nvPr/>
        </p:nvSpPr>
        <p:spPr>
          <a:xfrm>
            <a:off x="7838328" y="1437803"/>
            <a:ext cx="3679546"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ResponseCode 00: truy vấn thành công. TransactionStatus 00: giao dịch đã thanh toán</a:t>
            </a:r>
            <a:endParaRPr lang="en-US" sz="1100" dirty="0"/>
          </a:p>
        </p:txBody>
      </p:sp>
      <p:sp>
        <p:nvSpPr>
          <p:cNvPr id="22" name="Shape 20"/>
          <p:cNvSpPr/>
          <p:nvPr/>
        </p:nvSpPr>
        <p:spPr>
          <a:xfrm>
            <a:off x="7717627" y="2005188"/>
            <a:ext cx="3813688" cy="581650"/>
          </a:xfrm>
          <a:prstGeom prst="roundRect">
            <a:avLst>
              <a:gd name="adj" fmla="val 13095"/>
            </a:avLst>
          </a:prstGeom>
          <a:solidFill>
            <a:srgbClr val="FFFFFF"/>
          </a:solidFill>
          <a:ln w="6350">
            <a:solidFill>
              <a:srgbClr val="E3E6EA"/>
            </a:solidFill>
            <a:prstDash val="solid"/>
          </a:ln>
        </p:spPr>
      </p:sp>
      <p:sp>
        <p:nvSpPr>
          <p:cNvPr id="23" name="Text 21"/>
          <p:cNvSpPr txBox="1"/>
          <p:nvPr/>
        </p:nvSpPr>
        <p:spPr>
          <a:xfrm>
            <a:off x="7838328" y="2095622"/>
            <a:ext cx="3679546"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Kiểm tra chữ ký response; đối chiếu merchant, mã giao dịch, số tiền</a:t>
            </a:r>
            <a:endParaRPr lang="en-US" sz="1100" dirty="0"/>
          </a:p>
        </p:txBody>
      </p:sp>
      <p:sp>
        <p:nvSpPr>
          <p:cNvPr id="24" name="Shape 22"/>
          <p:cNvSpPr/>
          <p:nvPr/>
        </p:nvSpPr>
        <p:spPr>
          <a:xfrm>
            <a:off x="7717627" y="2663007"/>
            <a:ext cx="3813688" cy="386060"/>
          </a:xfrm>
          <a:prstGeom prst="roundRect">
            <a:avLst>
              <a:gd name="adj" fmla="val 19730"/>
            </a:avLst>
          </a:prstGeom>
          <a:solidFill>
            <a:srgbClr val="FFFFFF"/>
          </a:solidFill>
          <a:ln w="6350">
            <a:solidFill>
              <a:srgbClr val="E3E6EA"/>
            </a:solidFill>
            <a:prstDash val="solid"/>
          </a:ln>
        </p:spPr>
      </p:sp>
      <p:sp>
        <p:nvSpPr>
          <p:cNvPr id="25" name="Text 23"/>
          <p:cNvSpPr txBox="1"/>
          <p:nvPr/>
        </p:nvSpPr>
        <p:spPr>
          <a:xfrm>
            <a:off x="7838328" y="2762494"/>
            <a:ext cx="3311682"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Trạng thái khác 00: giữ PENDING, truy vấn lại sau</a:t>
            </a:r>
            <a:endParaRPr lang="en-US" sz="1100" dirty="0"/>
          </a:p>
        </p:txBody>
      </p:sp>
      <p:sp>
        <p:nvSpPr>
          <p:cNvPr id="26" name="Shape 24"/>
          <p:cNvSpPr/>
          <p:nvPr/>
        </p:nvSpPr>
        <p:spPr>
          <a:xfrm>
            <a:off x="7717627" y="3163275"/>
            <a:ext cx="3813688" cy="940735"/>
          </a:xfrm>
          <a:prstGeom prst="rect">
            <a:avLst/>
          </a:prstGeom>
          <a:solidFill>
            <a:srgbClr val="FFFAF0"/>
          </a:solidFill>
          <a:ln/>
        </p:spPr>
      </p:sp>
      <p:sp>
        <p:nvSpPr>
          <p:cNvPr id="27" name="Shape 25"/>
          <p:cNvSpPr/>
          <p:nvPr/>
        </p:nvSpPr>
        <p:spPr>
          <a:xfrm>
            <a:off x="7717627" y="3163275"/>
            <a:ext cx="3813688" cy="6309"/>
          </a:xfrm>
          <a:prstGeom prst="rect">
            <a:avLst/>
          </a:prstGeom>
          <a:solidFill>
            <a:srgbClr val="F3DFB5"/>
          </a:solidFill>
          <a:ln/>
        </p:spPr>
      </p:sp>
      <p:sp>
        <p:nvSpPr>
          <p:cNvPr id="28" name="Shape 26"/>
          <p:cNvSpPr/>
          <p:nvPr/>
        </p:nvSpPr>
        <p:spPr>
          <a:xfrm>
            <a:off x="7717627" y="4097701"/>
            <a:ext cx="3813688" cy="6309"/>
          </a:xfrm>
          <a:prstGeom prst="rect">
            <a:avLst/>
          </a:prstGeom>
          <a:solidFill>
            <a:srgbClr val="F3DFB5"/>
          </a:solidFill>
          <a:ln/>
        </p:spPr>
      </p:sp>
      <p:sp>
        <p:nvSpPr>
          <p:cNvPr id="29" name="Shape 27"/>
          <p:cNvSpPr/>
          <p:nvPr/>
        </p:nvSpPr>
        <p:spPr>
          <a:xfrm>
            <a:off x="7717627" y="3163275"/>
            <a:ext cx="38130" cy="940735"/>
          </a:xfrm>
          <a:prstGeom prst="rect">
            <a:avLst/>
          </a:prstGeom>
          <a:solidFill>
            <a:srgbClr val="E8A317"/>
          </a:solidFill>
          <a:ln/>
        </p:spPr>
      </p:sp>
      <p:sp>
        <p:nvSpPr>
          <p:cNvPr id="30" name="Text 28"/>
          <p:cNvSpPr txBox="1"/>
          <p:nvPr/>
        </p:nvSpPr>
        <p:spPr>
          <a:xfrm>
            <a:off x="7882768" y="3244566"/>
            <a:ext cx="3620658" cy="441564"/>
          </a:xfrm>
          <a:prstGeom prst="rect">
            <a:avLst/>
          </a:prstGeom>
          <a:noFill/>
          <a:ln/>
        </p:spPr>
        <p:txBody>
          <a:bodyPr wrap="square" lIns="0" tIns="0" rIns="0" bIns="0" rtlCol="0" anchor="t"/>
          <a:lstStyle/>
          <a:p>
            <a:pPr algn="l" indent="0" marL="0">
              <a:lnSpc>
                <a:spcPts val="1480"/>
              </a:lnSpc>
              <a:buNone/>
            </a:pPr>
            <a:r>
              <a:rPr lang="en-US" sz="1100" b="1" dirty="0">
                <a:solidFill>
                  <a:srgbClr val="111111"/>
                </a:solidFill>
                <a:latin typeface="Arial" pitchFamily="34" charset="0"/>
                <a:ea typeface="Arial" pitchFamily="34" charset="-122"/>
                <a:cs typeface="Arial" pitchFamily="34" charset="-120"/>
              </a:rPr>
              <a:t>Trạng thái tại Payment và VNPAY khác nhau thì căn cứ vào đâu?</a:t>
            </a:r>
            <a:endParaRPr lang="en-US" sz="1100" dirty="0"/>
          </a:p>
        </p:txBody>
      </p:sp>
      <p:sp>
        <p:nvSpPr>
          <p:cNvPr id="31" name="Text 29"/>
          <p:cNvSpPr txBox="1"/>
          <p:nvPr/>
        </p:nvSpPr>
        <p:spPr>
          <a:xfrm>
            <a:off x="7882768" y="3650651"/>
            <a:ext cx="3620658" cy="426019"/>
          </a:xfrm>
          <a:prstGeom prst="rect">
            <a:avLst/>
          </a:prstGeom>
          <a:noFill/>
          <a:ln/>
        </p:spPr>
        <p:txBody>
          <a:bodyPr wrap="square" lIns="0" tIns="0" rIns="0" bIns="0" rtlCol="0" anchor="t"/>
          <a:lstStyle/>
          <a:p>
            <a:pPr algn="l" indent="0" marL="0">
              <a:lnSpc>
                <a:spcPts val="1470"/>
              </a:lnSpc>
              <a:buNone/>
            </a:pPr>
            <a:r>
              <a:rPr lang="en-US" sz="1050" dirty="0">
                <a:solidFill>
                  <a:srgbClr val="3F454D"/>
                </a:solidFill>
                <a:latin typeface="Arial" pitchFamily="34" charset="0"/>
                <a:ea typeface="Arial" pitchFamily="34" charset="-122"/>
                <a:cs typeface="Arial" pitchFamily="34" charset="-120"/>
              </a:rPr>
              <a:t>Căn cứ vào VNPAY. Payment chỉ lưu bản sao và đồng bộ lại bằng querydr.</a:t>
            </a:r>
            <a:endParaRPr lang="en-US" sz="1050" dirty="0"/>
          </a:p>
        </p:txBody>
      </p:sp>
      <p:sp>
        <p:nvSpPr>
          <p:cNvPr id="32" name="Text 30"/>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3" name="Text 31"/>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02746"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Truy vấn giao dịch</a:t>
            </a:r>
            <a:endParaRPr lang="en-US" sz="1100" dirty="0"/>
          </a:p>
        </p:txBody>
      </p:sp>
      <p:sp>
        <p:nvSpPr>
          <p:cNvPr id="3" name="Text 1"/>
          <p:cNvSpPr txBox="1"/>
          <p:nvPr/>
        </p:nvSpPr>
        <p:spPr>
          <a:xfrm>
            <a:off x="660380" y="643829"/>
            <a:ext cx="5415625"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querydr trên VNPAY Sandbox</a:t>
            </a:r>
            <a:endParaRPr lang="en-US" sz="3000" dirty="0"/>
          </a:p>
        </p:txBody>
      </p:sp>
      <p:sp>
        <p:nvSpPr>
          <p:cNvPr id="4" name="Text 2"/>
          <p:cNvSpPr txBox="1"/>
          <p:nvPr/>
        </p:nvSpPr>
        <p:spPr>
          <a:xfrm>
            <a:off x="660380" y="1358798"/>
            <a:ext cx="4200754"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Request gửi ngày 10/10, truy vấn giao dịch ngày 20/9</a:t>
            </a:r>
            <a:endParaRPr lang="en-US" sz="1000" dirty="0"/>
          </a:p>
        </p:txBody>
      </p:sp>
      <p:sp>
        <p:nvSpPr>
          <p:cNvPr id="5" name="Shape 3"/>
          <p:cNvSpPr/>
          <p:nvPr/>
        </p:nvSpPr>
        <p:spPr>
          <a:xfrm>
            <a:off x="660380" y="1601389"/>
            <a:ext cx="5714817" cy="1097737"/>
          </a:xfrm>
          <a:prstGeom prst="roundRect">
            <a:avLst>
              <a:gd name="adj" fmla="val 9254"/>
            </a:avLst>
          </a:prstGeom>
          <a:solidFill>
            <a:srgbClr val="0C131E"/>
          </a:solidFill>
          <a:ln/>
        </p:spPr>
      </p:sp>
      <p:sp>
        <p:nvSpPr>
          <p:cNvPr id="6" name="Text 4"/>
          <p:cNvSpPr txBox="1"/>
          <p:nvPr/>
        </p:nvSpPr>
        <p:spPr>
          <a:xfrm>
            <a:off x="907999" y="1784452"/>
            <a:ext cx="291437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POST /merchant_webapi/api/transaction</a:t>
            </a:r>
            <a:endParaRPr lang="en-US" sz="980" dirty="0"/>
          </a:p>
        </p:txBody>
      </p:sp>
      <p:sp>
        <p:nvSpPr>
          <p:cNvPr id="7" name="Text 5"/>
          <p:cNvSpPr txBox="1"/>
          <p:nvPr/>
        </p:nvSpPr>
        <p:spPr>
          <a:xfrm>
            <a:off x="907999" y="1976293"/>
            <a:ext cx="2362901"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Content-Type: application/json</a:t>
            </a:r>
            <a:endParaRPr lang="en-US" sz="980" dirty="0"/>
          </a:p>
        </p:txBody>
      </p:sp>
      <p:sp>
        <p:nvSpPr>
          <p:cNvPr id="8" name="Text 6"/>
          <p:cNvSpPr txBox="1"/>
          <p:nvPr/>
        </p:nvSpPr>
        <p:spPr>
          <a:xfrm>
            <a:off x="907999" y="2168225"/>
            <a:ext cx="488344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{"vnp_Command":"querydr", "vnp_TxnRef":"20260920125606777443",</a:t>
            </a:r>
            <a:endParaRPr lang="en-US" sz="980" dirty="0"/>
          </a:p>
        </p:txBody>
      </p:sp>
      <p:sp>
        <p:nvSpPr>
          <p:cNvPr id="9" name="Text 7"/>
          <p:cNvSpPr txBox="1"/>
          <p:nvPr/>
        </p:nvSpPr>
        <p:spPr>
          <a:xfrm>
            <a:off x="907999" y="2360066"/>
            <a:ext cx="354439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"vnp_TransactionDate":"20260920125606", ...}</a:t>
            </a:r>
            <a:endParaRPr lang="en-US" sz="980" dirty="0"/>
          </a:p>
        </p:txBody>
      </p:sp>
      <p:sp>
        <p:nvSpPr>
          <p:cNvPr id="10" name="Text 8"/>
          <p:cNvSpPr txBox="1"/>
          <p:nvPr/>
        </p:nvSpPr>
        <p:spPr>
          <a:xfrm>
            <a:off x="660380" y="2710464"/>
            <a:ext cx="1454170"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Response của VNPAY</a:t>
            </a:r>
            <a:endParaRPr lang="en-US" sz="1000" dirty="0"/>
          </a:p>
        </p:txBody>
      </p:sp>
      <p:sp>
        <p:nvSpPr>
          <p:cNvPr id="11" name="Shape 9"/>
          <p:cNvSpPr/>
          <p:nvPr/>
        </p:nvSpPr>
        <p:spPr>
          <a:xfrm>
            <a:off x="660380" y="2953055"/>
            <a:ext cx="5714817" cy="1097737"/>
          </a:xfrm>
          <a:prstGeom prst="roundRect">
            <a:avLst>
              <a:gd name="adj" fmla="val 9254"/>
            </a:avLst>
          </a:prstGeom>
          <a:solidFill>
            <a:srgbClr val="0C131E"/>
          </a:solidFill>
          <a:ln/>
        </p:spPr>
      </p:sp>
      <p:sp>
        <p:nvSpPr>
          <p:cNvPr id="12" name="Text 10"/>
          <p:cNvSpPr txBox="1"/>
          <p:nvPr/>
        </p:nvSpPr>
        <p:spPr>
          <a:xfrm>
            <a:off x="907999" y="3136118"/>
            <a:ext cx="204789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HTTP 200  application/json</a:t>
            </a:r>
            <a:endParaRPr lang="en-US" sz="980" dirty="0"/>
          </a:p>
        </p:txBody>
      </p:sp>
      <p:sp>
        <p:nvSpPr>
          <p:cNvPr id="13" name="Text 11"/>
          <p:cNvSpPr txBox="1"/>
          <p:nvPr/>
        </p:nvSpPr>
        <p:spPr>
          <a:xfrm>
            <a:off x="907999" y="3328050"/>
            <a:ext cx="456834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{"vnp_ResponseCode":"00", "vnp_Message":"QueryDR success",</a:t>
            </a:r>
            <a:endParaRPr lang="en-US" sz="980" dirty="0"/>
          </a:p>
        </p:txBody>
      </p:sp>
      <p:sp>
        <p:nvSpPr>
          <p:cNvPr id="14" name="Shape 12"/>
          <p:cNvSpPr/>
          <p:nvPr/>
        </p:nvSpPr>
        <p:spPr>
          <a:xfrm>
            <a:off x="660380" y="3501969"/>
            <a:ext cx="5714817" cy="191841"/>
          </a:xfrm>
          <a:prstGeom prst="rect">
            <a:avLst/>
          </a:prstGeom>
          <a:solidFill>
            <a:srgbClr val="FFD479">
              <a:alpha val="13000"/>
            </a:srgbClr>
          </a:solidFill>
          <a:ln/>
        </p:spPr>
      </p:sp>
      <p:sp>
        <p:nvSpPr>
          <p:cNvPr id="15" name="Shape 13"/>
          <p:cNvSpPr/>
          <p:nvPr/>
        </p:nvSpPr>
        <p:spPr>
          <a:xfrm>
            <a:off x="660380" y="3501969"/>
            <a:ext cx="31730" cy="191841"/>
          </a:xfrm>
          <a:prstGeom prst="rect">
            <a:avLst/>
          </a:prstGeom>
          <a:solidFill>
            <a:srgbClr val="FFD479"/>
          </a:solidFill>
          <a:ln/>
        </p:spPr>
      </p:sp>
      <p:sp>
        <p:nvSpPr>
          <p:cNvPr id="16" name="Text 14"/>
          <p:cNvSpPr txBox="1"/>
          <p:nvPr/>
        </p:nvSpPr>
        <p:spPr>
          <a:xfrm>
            <a:off x="907999" y="3519891"/>
            <a:ext cx="425324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"vnp_TransactionStatus":"00", "vnp_Amount":"2500000",</a:t>
            </a:r>
            <a:endParaRPr lang="en-US" sz="980" dirty="0"/>
          </a:p>
        </p:txBody>
      </p:sp>
      <p:sp>
        <p:nvSpPr>
          <p:cNvPr id="17" name="Text 15"/>
          <p:cNvSpPr txBox="1"/>
          <p:nvPr/>
        </p:nvSpPr>
        <p:spPr>
          <a:xfrm>
            <a:off x="907999" y="3711824"/>
            <a:ext cx="511963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"vnp_TransactionNo":"15683165", "vnp_TransactionType":"01", ...}</a:t>
            </a:r>
            <a:endParaRPr lang="en-US" sz="980" dirty="0"/>
          </a:p>
        </p:txBody>
      </p:sp>
      <p:sp>
        <p:nvSpPr>
          <p:cNvPr id="18" name="Shape 16"/>
          <p:cNvSpPr/>
          <p:nvPr/>
        </p:nvSpPr>
        <p:spPr>
          <a:xfrm>
            <a:off x="6616507" y="1458468"/>
            <a:ext cx="63459" cy="63459"/>
          </a:xfrm>
          <a:prstGeom prst="ellipse">
            <a:avLst/>
          </a:prstGeom>
          <a:solidFill>
            <a:srgbClr val="0066FF"/>
          </a:solidFill>
          <a:ln/>
        </p:spPr>
      </p:sp>
      <p:sp>
        <p:nvSpPr>
          <p:cNvPr id="19" name="Text 17"/>
          <p:cNvSpPr txBox="1"/>
          <p:nvPr/>
        </p:nvSpPr>
        <p:spPr>
          <a:xfrm>
            <a:off x="6794358" y="1363188"/>
            <a:ext cx="2965491"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ResponseCode 00: truy vấn thành công</a:t>
            </a:r>
            <a:endParaRPr lang="en-US" sz="1250" dirty="0"/>
          </a:p>
        </p:txBody>
      </p:sp>
      <p:sp>
        <p:nvSpPr>
          <p:cNvPr id="20" name="Shape 18"/>
          <p:cNvSpPr/>
          <p:nvPr/>
        </p:nvSpPr>
        <p:spPr>
          <a:xfrm>
            <a:off x="6616507" y="1785457"/>
            <a:ext cx="63459" cy="63459"/>
          </a:xfrm>
          <a:prstGeom prst="ellipse">
            <a:avLst/>
          </a:prstGeom>
          <a:solidFill>
            <a:srgbClr val="0066FF"/>
          </a:solidFill>
          <a:ln/>
        </p:spPr>
      </p:sp>
      <p:sp>
        <p:nvSpPr>
          <p:cNvPr id="21" name="Text 19"/>
          <p:cNvSpPr txBox="1"/>
          <p:nvPr/>
        </p:nvSpPr>
        <p:spPr>
          <a:xfrm>
            <a:off x="6794358" y="1690268"/>
            <a:ext cx="3427080"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TransactionStatus 00: giao dịch đã thanh toán</a:t>
            </a:r>
            <a:endParaRPr lang="en-US" sz="1250" dirty="0"/>
          </a:p>
        </p:txBody>
      </p:sp>
      <p:sp>
        <p:nvSpPr>
          <p:cNvPr id="22" name="Shape 20"/>
          <p:cNvSpPr/>
          <p:nvPr/>
        </p:nvSpPr>
        <p:spPr>
          <a:xfrm>
            <a:off x="6616507" y="2112538"/>
            <a:ext cx="63459" cy="63459"/>
          </a:xfrm>
          <a:prstGeom prst="ellipse">
            <a:avLst/>
          </a:prstGeom>
          <a:solidFill>
            <a:srgbClr val="0066FF"/>
          </a:solidFill>
          <a:ln/>
        </p:spPr>
      </p:sp>
      <p:sp>
        <p:nvSpPr>
          <p:cNvPr id="23" name="Text 21"/>
          <p:cNvSpPr txBox="1"/>
          <p:nvPr/>
        </p:nvSpPr>
        <p:spPr>
          <a:xfrm>
            <a:off x="6794358" y="2017258"/>
            <a:ext cx="3080796"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TransactionType 01: giao dịch thanh toán</a:t>
            </a:r>
            <a:endParaRPr lang="en-US" sz="1250" dirty="0"/>
          </a:p>
        </p:txBody>
      </p:sp>
      <p:sp>
        <p:nvSpPr>
          <p:cNvPr id="24" name="Shape 22"/>
          <p:cNvSpPr/>
          <p:nvPr/>
        </p:nvSpPr>
        <p:spPr>
          <a:xfrm>
            <a:off x="6616507" y="2439528"/>
            <a:ext cx="63459" cy="63459"/>
          </a:xfrm>
          <a:prstGeom prst="ellipse">
            <a:avLst/>
          </a:prstGeom>
          <a:solidFill>
            <a:srgbClr val="0066FF"/>
          </a:solidFill>
          <a:ln/>
        </p:spPr>
      </p:sp>
      <p:sp>
        <p:nvSpPr>
          <p:cNvPr id="25" name="Text 23"/>
          <p:cNvSpPr txBox="1"/>
          <p:nvPr/>
        </p:nvSpPr>
        <p:spPr>
          <a:xfrm>
            <a:off x="6794358" y="2344247"/>
            <a:ext cx="3206892"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Chữ ký response tính lại theo tài liệu: khớp</a:t>
            </a:r>
            <a:endParaRPr lang="en-US" sz="1250" dirty="0"/>
          </a:p>
        </p:txBody>
      </p:sp>
      <p:sp>
        <p:nvSpPr>
          <p:cNvPr id="26" name="Text 24"/>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7" name="Text 25"/>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84545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Xử lý sự cố</a:t>
            </a:r>
            <a:endParaRPr lang="en-US" sz="1100" dirty="0"/>
          </a:p>
        </p:txBody>
      </p:sp>
      <p:sp>
        <p:nvSpPr>
          <p:cNvPr id="3" name="Text 1"/>
          <p:cNvSpPr txBox="1"/>
          <p:nvPr/>
        </p:nvSpPr>
        <p:spPr>
          <a:xfrm>
            <a:off x="660380" y="643829"/>
            <a:ext cx="5935919"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Các tình huống lỗi và cách xử lý</a:t>
            </a:r>
            <a:endParaRPr lang="en-US" sz="3000" dirty="0"/>
          </a:p>
        </p:txBody>
      </p:sp>
      <p:sp>
        <p:nvSpPr>
          <p:cNvPr id="4" name="Shape 2"/>
          <p:cNvSpPr/>
          <p:nvPr/>
        </p:nvSpPr>
        <p:spPr>
          <a:xfrm>
            <a:off x="660380" y="1347368"/>
            <a:ext cx="10870936" cy="3079699"/>
          </a:xfrm>
          <a:prstGeom prst="roundRect">
            <a:avLst>
              <a:gd name="adj" fmla="val 3299"/>
            </a:avLst>
          </a:prstGeom>
          <a:solidFill>
            <a:srgbClr val="FFFFFF"/>
          </a:solidFill>
          <a:ln/>
        </p:spPr>
      </p:sp>
      <p:sp>
        <p:nvSpPr>
          <p:cNvPr id="5" name="Shape 3"/>
          <p:cNvSpPr/>
          <p:nvPr/>
        </p:nvSpPr>
        <p:spPr>
          <a:xfrm>
            <a:off x="660380" y="1347368"/>
            <a:ext cx="3261208" cy="422270"/>
          </a:xfrm>
          <a:prstGeom prst="rect">
            <a:avLst/>
          </a:prstGeom>
          <a:solidFill>
            <a:srgbClr val="ECF2FF"/>
          </a:solidFill>
          <a:ln/>
        </p:spPr>
      </p:sp>
      <p:sp>
        <p:nvSpPr>
          <p:cNvPr id="6" name="Text 4"/>
          <p:cNvSpPr txBox="1"/>
          <p:nvPr/>
        </p:nvSpPr>
        <p:spPr>
          <a:xfrm>
            <a:off x="825520" y="1479408"/>
            <a:ext cx="944027"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TÌNH HUỐNG</a:t>
            </a:r>
            <a:endParaRPr lang="en-US" sz="1000" dirty="0"/>
          </a:p>
        </p:txBody>
      </p:sp>
      <p:sp>
        <p:nvSpPr>
          <p:cNvPr id="7" name="Shape 5"/>
          <p:cNvSpPr/>
          <p:nvPr/>
        </p:nvSpPr>
        <p:spPr>
          <a:xfrm>
            <a:off x="3921587" y="1347368"/>
            <a:ext cx="4783135" cy="422270"/>
          </a:xfrm>
          <a:prstGeom prst="rect">
            <a:avLst/>
          </a:prstGeom>
          <a:solidFill>
            <a:srgbClr val="ECF2FF"/>
          </a:solidFill>
          <a:ln/>
        </p:spPr>
      </p:sp>
      <p:sp>
        <p:nvSpPr>
          <p:cNvPr id="8" name="Text 6"/>
          <p:cNvSpPr txBox="1"/>
          <p:nvPr/>
        </p:nvSpPr>
        <p:spPr>
          <a:xfrm>
            <a:off x="4086728" y="1479408"/>
            <a:ext cx="1468435"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XỬ LÝ TRONG CODE</a:t>
            </a:r>
            <a:endParaRPr lang="en-US" sz="1000" dirty="0"/>
          </a:p>
        </p:txBody>
      </p:sp>
      <p:sp>
        <p:nvSpPr>
          <p:cNvPr id="9" name="Shape 7"/>
          <p:cNvSpPr/>
          <p:nvPr/>
        </p:nvSpPr>
        <p:spPr>
          <a:xfrm>
            <a:off x="8704722" y="1347368"/>
            <a:ext cx="2826593" cy="422270"/>
          </a:xfrm>
          <a:prstGeom prst="rect">
            <a:avLst/>
          </a:prstGeom>
          <a:solidFill>
            <a:srgbClr val="ECF2FF"/>
          </a:solidFill>
          <a:ln/>
        </p:spPr>
      </p:sp>
      <p:sp>
        <p:nvSpPr>
          <p:cNvPr id="10" name="Text 8"/>
          <p:cNvSpPr txBox="1"/>
          <p:nvPr/>
        </p:nvSpPr>
        <p:spPr>
          <a:xfrm>
            <a:off x="8869863" y="1479408"/>
            <a:ext cx="69210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KẾT QUẢ</a:t>
            </a:r>
            <a:endParaRPr lang="en-US" sz="1000" dirty="0"/>
          </a:p>
        </p:txBody>
      </p:sp>
      <p:sp>
        <p:nvSpPr>
          <p:cNvPr id="11" name="Shape 9"/>
          <p:cNvSpPr/>
          <p:nvPr/>
        </p:nvSpPr>
        <p:spPr>
          <a:xfrm>
            <a:off x="660380" y="1769638"/>
            <a:ext cx="3261208" cy="6309"/>
          </a:xfrm>
          <a:prstGeom prst="rect">
            <a:avLst/>
          </a:prstGeom>
          <a:solidFill>
            <a:srgbClr val="E3E6EA"/>
          </a:solidFill>
          <a:ln/>
        </p:spPr>
      </p:sp>
      <p:sp>
        <p:nvSpPr>
          <p:cNvPr id="12" name="Text 10"/>
          <p:cNvSpPr txBox="1"/>
          <p:nvPr/>
        </p:nvSpPr>
        <p:spPr>
          <a:xfrm>
            <a:off x="800100" y="1865650"/>
            <a:ext cx="1009498"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IPN gửi trùng</a:t>
            </a:r>
            <a:endParaRPr lang="en-US" sz="1150" dirty="0"/>
          </a:p>
        </p:txBody>
      </p:sp>
      <p:sp>
        <p:nvSpPr>
          <p:cNvPr id="13" name="Shape 11"/>
          <p:cNvSpPr/>
          <p:nvPr/>
        </p:nvSpPr>
        <p:spPr>
          <a:xfrm>
            <a:off x="3921587" y="1769638"/>
            <a:ext cx="4783135" cy="6309"/>
          </a:xfrm>
          <a:prstGeom prst="rect">
            <a:avLst/>
          </a:prstGeom>
          <a:solidFill>
            <a:srgbClr val="E3E6EA"/>
          </a:solidFill>
          <a:ln/>
        </p:spPr>
      </p:sp>
      <p:sp>
        <p:nvSpPr>
          <p:cNvPr id="14" name="Text 12"/>
          <p:cNvSpPr txBox="1"/>
          <p:nvPr/>
        </p:nvSpPr>
        <p:spPr>
          <a:xfrm>
            <a:off x="4061308" y="1865650"/>
            <a:ext cx="158172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Đơn đã kết thúc: trả 02</a:t>
            </a:r>
            <a:endParaRPr lang="en-US" sz="1150" dirty="0"/>
          </a:p>
        </p:txBody>
      </p:sp>
      <p:sp>
        <p:nvSpPr>
          <p:cNvPr id="15" name="Shape 13"/>
          <p:cNvSpPr/>
          <p:nvPr/>
        </p:nvSpPr>
        <p:spPr>
          <a:xfrm>
            <a:off x="8704722" y="1769638"/>
            <a:ext cx="2826593" cy="6309"/>
          </a:xfrm>
          <a:prstGeom prst="rect">
            <a:avLst/>
          </a:prstGeom>
          <a:solidFill>
            <a:srgbClr val="E3E6EA"/>
          </a:solidFill>
          <a:ln/>
        </p:spPr>
      </p:sp>
      <p:sp>
        <p:nvSpPr>
          <p:cNvPr id="16" name="Text 14"/>
          <p:cNvSpPr txBox="1"/>
          <p:nvPr/>
        </p:nvSpPr>
        <p:spPr>
          <a:xfrm>
            <a:off x="8844443" y="1865650"/>
            <a:ext cx="118853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Cập nhật một lần</a:t>
            </a:r>
            <a:endParaRPr lang="en-US" sz="1150" dirty="0"/>
          </a:p>
        </p:txBody>
      </p:sp>
      <p:sp>
        <p:nvSpPr>
          <p:cNvPr id="17" name="Shape 15"/>
          <p:cNvSpPr/>
          <p:nvPr/>
        </p:nvSpPr>
        <p:spPr>
          <a:xfrm>
            <a:off x="660380" y="2147468"/>
            <a:ext cx="3261208" cy="6309"/>
          </a:xfrm>
          <a:prstGeom prst="rect">
            <a:avLst/>
          </a:prstGeom>
          <a:solidFill>
            <a:srgbClr val="E3E6EA"/>
          </a:solidFill>
          <a:ln/>
        </p:spPr>
      </p:sp>
      <p:sp>
        <p:nvSpPr>
          <p:cNvPr id="18" name="Text 16"/>
          <p:cNvSpPr txBox="1"/>
          <p:nvPr/>
        </p:nvSpPr>
        <p:spPr>
          <a:xfrm>
            <a:off x="800100" y="2251344"/>
            <a:ext cx="162580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Order lỗi khi nhận IPN</a:t>
            </a:r>
            <a:endParaRPr lang="en-US" sz="1150" dirty="0"/>
          </a:p>
        </p:txBody>
      </p:sp>
      <p:sp>
        <p:nvSpPr>
          <p:cNvPr id="19" name="Shape 17"/>
          <p:cNvSpPr/>
          <p:nvPr/>
        </p:nvSpPr>
        <p:spPr>
          <a:xfrm>
            <a:off x="3921587" y="2147468"/>
            <a:ext cx="4783135" cy="6309"/>
          </a:xfrm>
          <a:prstGeom prst="rect">
            <a:avLst/>
          </a:prstGeom>
          <a:solidFill>
            <a:srgbClr val="E3E6EA"/>
          </a:solidFill>
          <a:ln/>
        </p:spPr>
      </p:sp>
      <p:sp>
        <p:nvSpPr>
          <p:cNvPr id="20" name="Text 18"/>
          <p:cNvSpPr txBox="1"/>
          <p:nvPr/>
        </p:nvSpPr>
        <p:spPr>
          <a:xfrm>
            <a:off x="4061308" y="2243023"/>
            <a:ext cx="4246656"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confirm</a:t>
            </a:r>
            <a:pPr algn="l" indent="0" marL="0">
              <a:buNone/>
            </a:pPr>
            <a:r>
              <a:rPr lang="en-US" sz="1150" dirty="0">
                <a:solidFill>
                  <a:srgbClr val="3F454D"/>
                </a:solidFill>
                <a:latin typeface="Arial" pitchFamily="34" charset="0"/>
                <a:ea typeface="Arial" pitchFamily="34" charset="-122"/>
                <a:cs typeface="Arial" pitchFamily="34" charset="-120"/>
              </a:rPr>
              <a:t> ném lỗi, IPN trả HTTP 500, Payment giữ PENDING</a:t>
            </a:r>
            <a:endParaRPr lang="en-US" sz="1200" dirty="0"/>
          </a:p>
        </p:txBody>
      </p:sp>
      <p:sp>
        <p:nvSpPr>
          <p:cNvPr id="21" name="Shape 19"/>
          <p:cNvSpPr/>
          <p:nvPr/>
        </p:nvSpPr>
        <p:spPr>
          <a:xfrm>
            <a:off x="8704722" y="2147468"/>
            <a:ext cx="2826593" cy="6309"/>
          </a:xfrm>
          <a:prstGeom prst="rect">
            <a:avLst/>
          </a:prstGeom>
          <a:solidFill>
            <a:srgbClr val="E3E6EA"/>
          </a:solidFill>
          <a:ln/>
        </p:spPr>
      </p:sp>
      <p:sp>
        <p:nvSpPr>
          <p:cNvPr id="22" name="Text 20"/>
          <p:cNvSpPr txBox="1"/>
          <p:nvPr/>
        </p:nvSpPr>
        <p:spPr>
          <a:xfrm>
            <a:off x="8844443" y="2251344"/>
            <a:ext cx="171669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gửi lại; đơn PAID</a:t>
            </a:r>
            <a:endParaRPr lang="en-US" sz="1150" dirty="0"/>
          </a:p>
        </p:txBody>
      </p:sp>
      <p:sp>
        <p:nvSpPr>
          <p:cNvPr id="23" name="Shape 21"/>
          <p:cNvSpPr/>
          <p:nvPr/>
        </p:nvSpPr>
        <p:spPr>
          <a:xfrm>
            <a:off x="660380" y="2541118"/>
            <a:ext cx="3261208" cy="6309"/>
          </a:xfrm>
          <a:prstGeom prst="rect">
            <a:avLst/>
          </a:prstGeom>
          <a:solidFill>
            <a:srgbClr val="E3E6EA"/>
          </a:solidFill>
          <a:ln/>
        </p:spPr>
      </p:sp>
      <p:sp>
        <p:nvSpPr>
          <p:cNvPr id="24" name="Text 22"/>
          <p:cNvSpPr txBox="1"/>
          <p:nvPr/>
        </p:nvSpPr>
        <p:spPr>
          <a:xfrm>
            <a:off x="800100" y="2637130"/>
            <a:ext cx="227091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Order đã lưu, phản hồi timeout</a:t>
            </a:r>
            <a:endParaRPr lang="en-US" sz="1150" dirty="0"/>
          </a:p>
        </p:txBody>
      </p:sp>
      <p:sp>
        <p:nvSpPr>
          <p:cNvPr id="25" name="Shape 23"/>
          <p:cNvSpPr/>
          <p:nvPr/>
        </p:nvSpPr>
        <p:spPr>
          <a:xfrm>
            <a:off x="3921587" y="2541118"/>
            <a:ext cx="4783135" cy="6309"/>
          </a:xfrm>
          <a:prstGeom prst="rect">
            <a:avLst/>
          </a:prstGeom>
          <a:solidFill>
            <a:srgbClr val="E3E6EA"/>
          </a:solidFill>
          <a:ln/>
        </p:spPr>
      </p:sp>
      <p:sp>
        <p:nvSpPr>
          <p:cNvPr id="26" name="Text 24"/>
          <p:cNvSpPr txBox="1"/>
          <p:nvPr/>
        </p:nvSpPr>
        <p:spPr>
          <a:xfrm>
            <a:off x="4061308" y="2637130"/>
            <a:ext cx="303800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Lần IPN sau gọi lại Order; Order giữ nguyên</a:t>
            </a:r>
            <a:endParaRPr lang="en-US" sz="1150" dirty="0"/>
          </a:p>
        </p:txBody>
      </p:sp>
      <p:sp>
        <p:nvSpPr>
          <p:cNvPr id="27" name="Shape 25"/>
          <p:cNvSpPr/>
          <p:nvPr/>
        </p:nvSpPr>
        <p:spPr>
          <a:xfrm>
            <a:off x="8704722" y="2541118"/>
            <a:ext cx="2826593" cy="6309"/>
          </a:xfrm>
          <a:prstGeom prst="rect">
            <a:avLst/>
          </a:prstGeom>
          <a:solidFill>
            <a:srgbClr val="E3E6EA"/>
          </a:solidFill>
          <a:ln/>
        </p:spPr>
      </p:sp>
      <p:sp>
        <p:nvSpPr>
          <p:cNvPr id="28" name="Text 26"/>
          <p:cNvSpPr txBox="1"/>
          <p:nvPr/>
        </p:nvSpPr>
        <p:spPr>
          <a:xfrm>
            <a:off x="8844443" y="2637130"/>
            <a:ext cx="130750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Hai bên cùng PAID</a:t>
            </a:r>
            <a:endParaRPr lang="en-US" sz="1150" dirty="0"/>
          </a:p>
        </p:txBody>
      </p:sp>
      <p:sp>
        <p:nvSpPr>
          <p:cNvPr id="29" name="Shape 27"/>
          <p:cNvSpPr/>
          <p:nvPr/>
        </p:nvSpPr>
        <p:spPr>
          <a:xfrm>
            <a:off x="660380" y="2918948"/>
            <a:ext cx="3261208" cy="6309"/>
          </a:xfrm>
          <a:prstGeom prst="rect">
            <a:avLst/>
          </a:prstGeom>
          <a:solidFill>
            <a:srgbClr val="E3E6EA"/>
          </a:solidFill>
          <a:ln/>
        </p:spPr>
      </p:sp>
      <p:sp>
        <p:nvSpPr>
          <p:cNvPr id="30" name="Text 28"/>
          <p:cNvSpPr txBox="1"/>
          <p:nvPr/>
        </p:nvSpPr>
        <p:spPr>
          <a:xfrm>
            <a:off x="800100" y="3014960"/>
            <a:ext cx="16497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Không nhận được IPN</a:t>
            </a:r>
            <a:endParaRPr lang="en-US" sz="1150" dirty="0"/>
          </a:p>
        </p:txBody>
      </p:sp>
      <p:sp>
        <p:nvSpPr>
          <p:cNvPr id="31" name="Shape 29"/>
          <p:cNvSpPr/>
          <p:nvPr/>
        </p:nvSpPr>
        <p:spPr>
          <a:xfrm>
            <a:off x="3921587" y="2918948"/>
            <a:ext cx="4783135" cy="6309"/>
          </a:xfrm>
          <a:prstGeom prst="rect">
            <a:avLst/>
          </a:prstGeom>
          <a:solidFill>
            <a:srgbClr val="E3E6EA"/>
          </a:solidFill>
          <a:ln/>
        </p:spPr>
      </p:sp>
      <p:sp>
        <p:nvSpPr>
          <p:cNvPr id="32" name="Text 30"/>
          <p:cNvSpPr txBox="1"/>
          <p:nvPr/>
        </p:nvSpPr>
        <p:spPr>
          <a:xfrm>
            <a:off x="4061308" y="3014960"/>
            <a:ext cx="263987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Đơn PENDING; truy vấn bằng querydr</a:t>
            </a:r>
            <a:endParaRPr lang="en-US" sz="1150" dirty="0"/>
          </a:p>
        </p:txBody>
      </p:sp>
      <p:sp>
        <p:nvSpPr>
          <p:cNvPr id="33" name="Shape 31"/>
          <p:cNvSpPr/>
          <p:nvPr/>
        </p:nvSpPr>
        <p:spPr>
          <a:xfrm>
            <a:off x="8704722" y="2918948"/>
            <a:ext cx="2826593" cy="6309"/>
          </a:xfrm>
          <a:prstGeom prst="rect">
            <a:avLst/>
          </a:prstGeom>
          <a:solidFill>
            <a:srgbClr val="E3E6EA"/>
          </a:solidFill>
          <a:ln/>
        </p:spPr>
      </p:sp>
      <p:sp>
        <p:nvSpPr>
          <p:cNvPr id="34" name="Text 32"/>
          <p:cNvSpPr txBox="1"/>
          <p:nvPr/>
        </p:nvSpPr>
        <p:spPr>
          <a:xfrm>
            <a:off x="8844443" y="3014960"/>
            <a:ext cx="201936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PAID khi VNPAY xác nhận 00</a:t>
            </a:r>
            <a:endParaRPr lang="en-US" sz="1150" dirty="0"/>
          </a:p>
        </p:txBody>
      </p:sp>
      <p:sp>
        <p:nvSpPr>
          <p:cNvPr id="35" name="Shape 33"/>
          <p:cNvSpPr/>
          <p:nvPr/>
        </p:nvSpPr>
        <p:spPr>
          <a:xfrm>
            <a:off x="660380" y="3296778"/>
            <a:ext cx="3261208" cy="6309"/>
          </a:xfrm>
          <a:prstGeom prst="rect">
            <a:avLst/>
          </a:prstGeom>
          <a:solidFill>
            <a:srgbClr val="E3E6EA"/>
          </a:solidFill>
          <a:ln/>
        </p:spPr>
      </p:sp>
      <p:sp>
        <p:nvSpPr>
          <p:cNvPr id="36" name="Text 34"/>
          <p:cNvSpPr txBox="1"/>
          <p:nvPr/>
        </p:nvSpPr>
        <p:spPr>
          <a:xfrm>
            <a:off x="800100" y="3392790"/>
            <a:ext cx="2451781"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Khách hàng sửa số tiền trên URL</a:t>
            </a:r>
            <a:endParaRPr lang="en-US" sz="1150" dirty="0"/>
          </a:p>
        </p:txBody>
      </p:sp>
      <p:sp>
        <p:nvSpPr>
          <p:cNvPr id="37" name="Shape 35"/>
          <p:cNvSpPr/>
          <p:nvPr/>
        </p:nvSpPr>
        <p:spPr>
          <a:xfrm>
            <a:off x="3921587" y="3296778"/>
            <a:ext cx="4783135" cy="6309"/>
          </a:xfrm>
          <a:prstGeom prst="rect">
            <a:avLst/>
          </a:prstGeom>
          <a:solidFill>
            <a:srgbClr val="E3E6EA"/>
          </a:solidFill>
          <a:ln/>
        </p:spPr>
      </p:sp>
      <p:sp>
        <p:nvSpPr>
          <p:cNvPr id="38" name="Text 36"/>
          <p:cNvSpPr txBox="1"/>
          <p:nvPr/>
        </p:nvSpPr>
        <p:spPr>
          <a:xfrm>
            <a:off x="4061308" y="3392790"/>
            <a:ext cx="25025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kiểm tra chữ ký, không khớp</a:t>
            </a:r>
            <a:endParaRPr lang="en-US" sz="1150" dirty="0"/>
          </a:p>
        </p:txBody>
      </p:sp>
      <p:sp>
        <p:nvSpPr>
          <p:cNvPr id="39" name="Shape 37"/>
          <p:cNvSpPr/>
          <p:nvPr/>
        </p:nvSpPr>
        <p:spPr>
          <a:xfrm>
            <a:off x="8704722" y="3296778"/>
            <a:ext cx="2826593" cy="6309"/>
          </a:xfrm>
          <a:prstGeom prst="rect">
            <a:avLst/>
          </a:prstGeom>
          <a:solidFill>
            <a:srgbClr val="E3E6EA"/>
          </a:solidFill>
          <a:ln/>
        </p:spPr>
      </p:sp>
      <p:sp>
        <p:nvSpPr>
          <p:cNvPr id="40" name="Text 38"/>
          <p:cNvSpPr txBox="1"/>
          <p:nvPr/>
        </p:nvSpPr>
        <p:spPr>
          <a:xfrm>
            <a:off x="8844443" y="3392790"/>
            <a:ext cx="163412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thanh toán được</a:t>
            </a:r>
            <a:endParaRPr lang="en-US" sz="1150" dirty="0"/>
          </a:p>
        </p:txBody>
      </p:sp>
      <p:sp>
        <p:nvSpPr>
          <p:cNvPr id="41" name="Shape 39"/>
          <p:cNvSpPr/>
          <p:nvPr/>
        </p:nvSpPr>
        <p:spPr>
          <a:xfrm>
            <a:off x="660380" y="3674608"/>
            <a:ext cx="3261208" cy="6309"/>
          </a:xfrm>
          <a:prstGeom prst="rect">
            <a:avLst/>
          </a:prstGeom>
          <a:solidFill>
            <a:srgbClr val="E3E6EA"/>
          </a:solidFill>
          <a:ln/>
        </p:spPr>
      </p:sp>
      <p:sp>
        <p:nvSpPr>
          <p:cNvPr id="42" name="Text 40"/>
          <p:cNvSpPr txBox="1"/>
          <p:nvPr/>
        </p:nvSpPr>
        <p:spPr>
          <a:xfrm>
            <a:off x="800100" y="3770620"/>
            <a:ext cx="912205"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IPN giả mạo</a:t>
            </a:r>
            <a:endParaRPr lang="en-US" sz="1150" dirty="0"/>
          </a:p>
        </p:txBody>
      </p:sp>
      <p:sp>
        <p:nvSpPr>
          <p:cNvPr id="43" name="Shape 41"/>
          <p:cNvSpPr/>
          <p:nvPr/>
        </p:nvSpPr>
        <p:spPr>
          <a:xfrm>
            <a:off x="3921587" y="3674608"/>
            <a:ext cx="4783135" cy="6309"/>
          </a:xfrm>
          <a:prstGeom prst="rect">
            <a:avLst/>
          </a:prstGeom>
          <a:solidFill>
            <a:srgbClr val="E3E6EA"/>
          </a:solidFill>
          <a:ln/>
        </p:spPr>
      </p:sp>
      <p:sp>
        <p:nvSpPr>
          <p:cNvPr id="44" name="Text 42"/>
          <p:cNvSpPr txBox="1"/>
          <p:nvPr/>
        </p:nvSpPr>
        <p:spPr>
          <a:xfrm>
            <a:off x="4061308" y="3770620"/>
            <a:ext cx="277986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có HashSecret, chữ ký sai: trả 97</a:t>
            </a:r>
            <a:endParaRPr lang="en-US" sz="1150" dirty="0"/>
          </a:p>
        </p:txBody>
      </p:sp>
      <p:sp>
        <p:nvSpPr>
          <p:cNvPr id="45" name="Shape 43"/>
          <p:cNvSpPr/>
          <p:nvPr/>
        </p:nvSpPr>
        <p:spPr>
          <a:xfrm>
            <a:off x="8704722" y="3674608"/>
            <a:ext cx="2826593" cy="6309"/>
          </a:xfrm>
          <a:prstGeom prst="rect">
            <a:avLst/>
          </a:prstGeom>
          <a:solidFill>
            <a:srgbClr val="E3E6EA"/>
          </a:solidFill>
          <a:ln/>
        </p:spPr>
      </p:sp>
      <p:sp>
        <p:nvSpPr>
          <p:cNvPr id="46" name="Text 44"/>
          <p:cNvSpPr txBox="1"/>
          <p:nvPr/>
        </p:nvSpPr>
        <p:spPr>
          <a:xfrm>
            <a:off x="8844443" y="3770620"/>
            <a:ext cx="134956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Đơn không thay đổi</a:t>
            </a:r>
            <a:endParaRPr lang="en-US" sz="1150" dirty="0"/>
          </a:p>
        </p:txBody>
      </p:sp>
      <p:sp>
        <p:nvSpPr>
          <p:cNvPr id="47" name="Shape 45"/>
          <p:cNvSpPr/>
          <p:nvPr/>
        </p:nvSpPr>
        <p:spPr>
          <a:xfrm>
            <a:off x="660380" y="4052346"/>
            <a:ext cx="3261208" cy="6309"/>
          </a:xfrm>
          <a:prstGeom prst="rect">
            <a:avLst/>
          </a:prstGeom>
          <a:solidFill>
            <a:srgbClr val="E3E6EA"/>
          </a:solidFill>
          <a:ln/>
        </p:spPr>
      </p:sp>
      <p:sp>
        <p:nvSpPr>
          <p:cNvPr id="48" name="Text 46"/>
          <p:cNvSpPr txBox="1"/>
          <p:nvPr/>
        </p:nvSpPr>
        <p:spPr>
          <a:xfrm>
            <a:off x="800100" y="4148358"/>
            <a:ext cx="207349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IPN đúng chữ ký, sai số tiền</a:t>
            </a:r>
            <a:endParaRPr lang="en-US" sz="1150" dirty="0"/>
          </a:p>
        </p:txBody>
      </p:sp>
      <p:sp>
        <p:nvSpPr>
          <p:cNvPr id="49" name="Shape 47"/>
          <p:cNvSpPr/>
          <p:nvPr/>
        </p:nvSpPr>
        <p:spPr>
          <a:xfrm>
            <a:off x="3921587" y="4052346"/>
            <a:ext cx="4783135" cy="6309"/>
          </a:xfrm>
          <a:prstGeom prst="rect">
            <a:avLst/>
          </a:prstGeom>
          <a:solidFill>
            <a:srgbClr val="E3E6EA"/>
          </a:solidFill>
          <a:ln/>
        </p:spPr>
      </p:sp>
      <p:sp>
        <p:nvSpPr>
          <p:cNvPr id="50" name="Text 48"/>
          <p:cNvSpPr txBox="1"/>
          <p:nvPr/>
        </p:nvSpPr>
        <p:spPr>
          <a:xfrm>
            <a:off x="4061308" y="4148358"/>
            <a:ext cx="49286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Trả 04</a:t>
            </a:r>
            <a:endParaRPr lang="en-US" sz="1150" dirty="0"/>
          </a:p>
        </p:txBody>
      </p:sp>
      <p:sp>
        <p:nvSpPr>
          <p:cNvPr id="51" name="Shape 49"/>
          <p:cNvSpPr/>
          <p:nvPr/>
        </p:nvSpPr>
        <p:spPr>
          <a:xfrm>
            <a:off x="8704722" y="4052346"/>
            <a:ext cx="2826593" cy="6309"/>
          </a:xfrm>
          <a:prstGeom prst="rect">
            <a:avLst/>
          </a:prstGeom>
          <a:solidFill>
            <a:srgbClr val="E3E6EA"/>
          </a:solidFill>
          <a:ln/>
        </p:spPr>
      </p:sp>
      <p:sp>
        <p:nvSpPr>
          <p:cNvPr id="52" name="Text 50"/>
          <p:cNvSpPr txBox="1"/>
          <p:nvPr/>
        </p:nvSpPr>
        <p:spPr>
          <a:xfrm>
            <a:off x="8844443" y="4148358"/>
            <a:ext cx="134956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Đơn không thay đổi</a:t>
            </a:r>
            <a:endParaRPr lang="en-US" sz="1150" dirty="0"/>
          </a:p>
        </p:txBody>
      </p:sp>
      <p:sp>
        <p:nvSpPr>
          <p:cNvPr id="53" name="Text 5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4" name="Text 52"/>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8266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Demo và thực hành</a:t>
            </a:r>
            <a:endParaRPr lang="en-US" sz="1100" dirty="0"/>
          </a:p>
        </p:txBody>
      </p:sp>
      <p:sp>
        <p:nvSpPr>
          <p:cNvPr id="3" name="Text 1"/>
          <p:cNvSpPr txBox="1"/>
          <p:nvPr/>
        </p:nvSpPr>
        <p:spPr>
          <a:xfrm>
            <a:off x="660380" y="643829"/>
            <a:ext cx="6959773"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Chạy demo: chế độ mock và sandbox</a:t>
            </a:r>
            <a:endParaRPr lang="en-US" sz="3000" dirty="0"/>
          </a:p>
        </p:txBody>
      </p:sp>
      <p:sp>
        <p:nvSpPr>
          <p:cNvPr id="4" name="Text 2"/>
          <p:cNvSpPr txBox="1"/>
          <p:nvPr/>
        </p:nvSpPr>
        <p:spPr>
          <a:xfrm>
            <a:off x="660380" y="1358798"/>
            <a:ext cx="339297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Chế độ mock, không cần khóa (macOS, Linux)</a:t>
            </a:r>
            <a:endParaRPr lang="en-US" sz="1000" dirty="0"/>
          </a:p>
        </p:txBody>
      </p:sp>
      <p:sp>
        <p:nvSpPr>
          <p:cNvPr id="5" name="Shape 3"/>
          <p:cNvSpPr/>
          <p:nvPr/>
        </p:nvSpPr>
        <p:spPr>
          <a:xfrm>
            <a:off x="660380" y="1601389"/>
            <a:ext cx="5714817" cy="1097737"/>
          </a:xfrm>
          <a:prstGeom prst="roundRect">
            <a:avLst>
              <a:gd name="adj" fmla="val 9254"/>
            </a:avLst>
          </a:prstGeom>
          <a:solidFill>
            <a:srgbClr val="0C131E"/>
          </a:solidFill>
          <a:ln/>
        </p:spPr>
      </p:sp>
      <p:sp>
        <p:nvSpPr>
          <p:cNvPr id="6" name="Text 4"/>
          <p:cNvSpPr txBox="1"/>
          <p:nvPr/>
        </p:nvSpPr>
        <p:spPr>
          <a:xfrm>
            <a:off x="907999" y="1784452"/>
            <a:ext cx="104214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cd VNPAY-demo</a:t>
            </a:r>
            <a:endParaRPr lang="en-US" sz="980" dirty="0"/>
          </a:p>
        </p:txBody>
      </p:sp>
      <p:sp>
        <p:nvSpPr>
          <p:cNvPr id="7" name="Text 5"/>
          <p:cNvSpPr txBox="1"/>
          <p:nvPr/>
        </p:nvSpPr>
        <p:spPr>
          <a:xfrm>
            <a:off x="907999" y="1976293"/>
            <a:ext cx="409568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javac --release 17 -cp lib/json.jar SeminarDemo.java</a:t>
            </a:r>
            <a:endParaRPr lang="en-US" sz="980" dirty="0"/>
          </a:p>
        </p:txBody>
      </p:sp>
      <p:sp>
        <p:nvSpPr>
          <p:cNvPr id="8" name="Text 6"/>
          <p:cNvSpPr txBox="1"/>
          <p:nvPr/>
        </p:nvSpPr>
        <p:spPr>
          <a:xfrm>
            <a:off x="907999" y="2168225"/>
            <a:ext cx="291437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java -cp '.:lib/json.jar' SeminarDemo</a:t>
            </a:r>
            <a:endParaRPr lang="en-US" sz="980" dirty="0"/>
          </a:p>
        </p:txBody>
      </p:sp>
      <p:sp>
        <p:nvSpPr>
          <p:cNvPr id="9" name="Text 7"/>
          <p:cNvSpPr txBox="1"/>
          <p:nvPr/>
        </p:nvSpPr>
        <p:spPr>
          <a:xfrm>
            <a:off x="907999" y="2360066"/>
            <a:ext cx="2047890"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mở http://localhost:8090</a:t>
            </a:r>
            <a:endParaRPr lang="en-US" sz="980" dirty="0"/>
          </a:p>
        </p:txBody>
      </p:sp>
      <p:sp>
        <p:nvSpPr>
          <p:cNvPr id="10" name="Text 8"/>
          <p:cNvSpPr txBox="1"/>
          <p:nvPr/>
        </p:nvSpPr>
        <p:spPr>
          <a:xfrm>
            <a:off x="660380" y="2710464"/>
            <a:ext cx="2019635"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Chế độ sandbox, cần ngrok</a:t>
            </a:r>
            <a:endParaRPr lang="en-US" sz="1000" dirty="0"/>
          </a:p>
        </p:txBody>
      </p:sp>
      <p:sp>
        <p:nvSpPr>
          <p:cNvPr id="11" name="Shape 9"/>
          <p:cNvSpPr/>
          <p:nvPr/>
        </p:nvSpPr>
        <p:spPr>
          <a:xfrm>
            <a:off x="660380" y="2953055"/>
            <a:ext cx="5714817" cy="1289578"/>
          </a:xfrm>
          <a:prstGeom prst="roundRect">
            <a:avLst>
              <a:gd name="adj" fmla="val 7878"/>
            </a:avLst>
          </a:prstGeom>
          <a:solidFill>
            <a:srgbClr val="0C131E"/>
          </a:solidFill>
          <a:ln/>
        </p:spPr>
      </p:sp>
      <p:sp>
        <p:nvSpPr>
          <p:cNvPr id="12" name="Text 10"/>
          <p:cNvSpPr txBox="1"/>
          <p:nvPr/>
        </p:nvSpPr>
        <p:spPr>
          <a:xfrm>
            <a:off x="907999" y="3136118"/>
            <a:ext cx="488353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ngrok http 8091                                   </a:t>
            </a:r>
            <a:pPr algn="l" indent="0" marL="0">
              <a:buNone/>
            </a:pPr>
            <a:r>
              <a:rPr lang="en-US" sz="980" dirty="0">
                <a:solidFill>
                  <a:srgbClr val="7D8CA3"/>
                </a:solidFill>
                <a:latin typeface="Courier New" pitchFamily="34" charset="0"/>
                <a:ea typeface="Courier New" pitchFamily="34" charset="-122"/>
                <a:cs typeface="Courier New" pitchFamily="34" charset="-120"/>
              </a:rPr>
              <a:t># terminal 1</a:t>
            </a:r>
            <a:endParaRPr lang="en-US" sz="980" dirty="0"/>
          </a:p>
        </p:txBody>
      </p:sp>
      <p:sp>
        <p:nvSpPr>
          <p:cNvPr id="13" name="Text 11"/>
          <p:cNvSpPr txBox="1"/>
          <p:nvPr/>
        </p:nvSpPr>
        <p:spPr>
          <a:xfrm>
            <a:off x="907999" y="3328050"/>
            <a:ext cx="196916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export VNPAY_MODE=sandbox</a:t>
            </a:r>
            <a:endParaRPr lang="en-US" sz="980" dirty="0"/>
          </a:p>
        </p:txBody>
      </p:sp>
      <p:sp>
        <p:nvSpPr>
          <p:cNvPr id="14" name="Text 12"/>
          <p:cNvSpPr txBox="1"/>
          <p:nvPr/>
        </p:nvSpPr>
        <p:spPr>
          <a:xfrm>
            <a:off x="907999" y="3519891"/>
            <a:ext cx="378077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export VNPAY_TMN_CODE=...  VNPAY_HASH_SECRET=...</a:t>
            </a:r>
            <a:endParaRPr lang="en-US" sz="980" dirty="0"/>
          </a:p>
        </p:txBody>
      </p:sp>
      <p:sp>
        <p:nvSpPr>
          <p:cNvPr id="15" name="Text 13"/>
          <p:cNvSpPr txBox="1"/>
          <p:nvPr/>
        </p:nvSpPr>
        <p:spPr>
          <a:xfrm>
            <a:off x="907999" y="3711824"/>
            <a:ext cx="417451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export VNPAY_RETURN_URL=https://&lt;domain&gt;/vnpay/return</a:t>
            </a:r>
            <a:endParaRPr lang="en-US" sz="980" dirty="0"/>
          </a:p>
        </p:txBody>
      </p:sp>
      <p:sp>
        <p:nvSpPr>
          <p:cNvPr id="16" name="Text 14"/>
          <p:cNvSpPr txBox="1"/>
          <p:nvPr/>
        </p:nvSpPr>
        <p:spPr>
          <a:xfrm>
            <a:off x="907999" y="3903665"/>
            <a:ext cx="291437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java -cp '.:lib/json.jar' SeminarDemo</a:t>
            </a:r>
            <a:endParaRPr lang="en-US" sz="980" dirty="0"/>
          </a:p>
        </p:txBody>
      </p:sp>
      <p:sp>
        <p:nvSpPr>
          <p:cNvPr id="17" name="Shape 15"/>
          <p:cNvSpPr/>
          <p:nvPr/>
        </p:nvSpPr>
        <p:spPr>
          <a:xfrm>
            <a:off x="6578468" y="1347368"/>
            <a:ext cx="4952848" cy="398770"/>
          </a:xfrm>
          <a:prstGeom prst="roundRect">
            <a:avLst>
              <a:gd name="adj" fmla="val 19101"/>
            </a:avLst>
          </a:prstGeom>
          <a:solidFill>
            <a:srgbClr val="FFFFFF"/>
          </a:solidFill>
          <a:ln w="6350">
            <a:solidFill>
              <a:srgbClr val="E3E6EA"/>
            </a:solidFill>
            <a:prstDash val="solid"/>
          </a:ln>
        </p:spPr>
      </p:sp>
      <p:sp>
        <p:nvSpPr>
          <p:cNvPr id="18" name="Text 16"/>
          <p:cNvSpPr txBox="1"/>
          <p:nvPr/>
        </p:nvSpPr>
        <p:spPr>
          <a:xfrm>
            <a:off x="6699077" y="1446947"/>
            <a:ext cx="263886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Windows: thay </a:t>
            </a:r>
            <a:pPr algn="l" indent="0" marL="0">
              <a:buNone/>
            </a:pPr>
            <a:r>
              <a:rPr lang="en-US" sz="1100" dirty="0">
                <a:solidFill>
                  <a:srgbClr val="3F454D"/>
                </a:solidFill>
                <a:latin typeface="Courier New" pitchFamily="34" charset="0"/>
                <a:ea typeface="Courier New" pitchFamily="34" charset="-122"/>
                <a:cs typeface="Courier New" pitchFamily="34" charset="-120"/>
              </a:rPr>
              <a:t>:</a:t>
            </a:r>
            <a:pPr algn="l" indent="0" marL="0">
              <a:buNone/>
            </a:pPr>
            <a:r>
              <a:rPr lang="en-US" sz="1100" dirty="0">
                <a:solidFill>
                  <a:srgbClr val="3F454D"/>
                </a:solidFill>
                <a:latin typeface="Arial" pitchFamily="34" charset="0"/>
                <a:ea typeface="Arial" pitchFamily="34" charset="-122"/>
                <a:cs typeface="Arial" pitchFamily="34" charset="-120"/>
              </a:rPr>
              <a:t> bằng </a:t>
            </a:r>
            <a:pPr algn="l" indent="0" marL="0">
              <a:buNone/>
            </a:pPr>
            <a:r>
              <a:rPr lang="en-US" sz="1100" dirty="0">
                <a:solidFill>
                  <a:srgbClr val="3F454D"/>
                </a:solidFill>
                <a:latin typeface="Courier New" pitchFamily="34" charset="0"/>
                <a:ea typeface="Courier New" pitchFamily="34" charset="-122"/>
                <a:cs typeface="Courier New" pitchFamily="34" charset="-120"/>
              </a:rPr>
              <a:t>;</a:t>
            </a:r>
            <a:pPr algn="l" indent="0" marL="0">
              <a:buNone/>
            </a:pPr>
            <a:r>
              <a:rPr lang="en-US" sz="1100" dirty="0">
                <a:solidFill>
                  <a:srgbClr val="3F454D"/>
                </a:solidFill>
                <a:latin typeface="Arial" pitchFamily="34" charset="0"/>
                <a:ea typeface="Arial" pitchFamily="34" charset="-122"/>
                <a:cs typeface="Arial" pitchFamily="34" charset="-120"/>
              </a:rPr>
              <a:t> trong classpath</a:t>
            </a:r>
            <a:endParaRPr lang="en-US" sz="1100" dirty="0"/>
          </a:p>
        </p:txBody>
      </p:sp>
      <p:sp>
        <p:nvSpPr>
          <p:cNvPr id="19" name="Shape 17"/>
          <p:cNvSpPr/>
          <p:nvPr/>
        </p:nvSpPr>
        <p:spPr>
          <a:xfrm>
            <a:off x="6578468" y="1822308"/>
            <a:ext cx="4952848" cy="386060"/>
          </a:xfrm>
          <a:prstGeom prst="roundRect">
            <a:avLst>
              <a:gd name="adj" fmla="val 19730"/>
            </a:avLst>
          </a:prstGeom>
          <a:solidFill>
            <a:srgbClr val="FFFFFF"/>
          </a:solidFill>
          <a:ln w="6350">
            <a:solidFill>
              <a:srgbClr val="E3E6EA"/>
            </a:solidFill>
            <a:prstDash val="solid"/>
          </a:ln>
        </p:spPr>
      </p:sp>
      <p:sp>
        <p:nvSpPr>
          <p:cNvPr id="20" name="Text 18"/>
          <p:cNvSpPr txBox="1"/>
          <p:nvPr/>
        </p:nvSpPr>
        <p:spPr>
          <a:xfrm>
            <a:off x="6699077" y="1921886"/>
            <a:ext cx="3101645"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Mock mô phỏng được IPN trùng và IPN đến trễ</a:t>
            </a:r>
            <a:endParaRPr lang="en-US" sz="1100" dirty="0"/>
          </a:p>
        </p:txBody>
      </p:sp>
      <p:sp>
        <p:nvSpPr>
          <p:cNvPr id="21" name="Shape 19"/>
          <p:cNvSpPr/>
          <p:nvPr/>
        </p:nvSpPr>
        <p:spPr>
          <a:xfrm>
            <a:off x="6578468" y="2284537"/>
            <a:ext cx="4952848" cy="386060"/>
          </a:xfrm>
          <a:prstGeom prst="roundRect">
            <a:avLst>
              <a:gd name="adj" fmla="val 19730"/>
            </a:avLst>
          </a:prstGeom>
          <a:solidFill>
            <a:srgbClr val="FFFFFF"/>
          </a:solidFill>
          <a:ln w="6350">
            <a:solidFill>
              <a:srgbClr val="E3E6EA"/>
            </a:solidFill>
            <a:prstDash val="solid"/>
          </a:ln>
        </p:spPr>
      </p:sp>
      <p:sp>
        <p:nvSpPr>
          <p:cNvPr id="22" name="Text 20"/>
          <p:cNvSpPr txBox="1"/>
          <p:nvPr/>
        </p:nvSpPr>
        <p:spPr>
          <a:xfrm>
            <a:off x="6699077" y="2384115"/>
            <a:ext cx="4420575"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Sandbox yêu cầu địa chỉ HTTPS công khai cho IPN; sử dụng ngrok</a:t>
            </a:r>
            <a:endParaRPr lang="en-US" sz="1100" dirty="0"/>
          </a:p>
        </p:txBody>
      </p:sp>
      <p:sp>
        <p:nvSpPr>
          <p:cNvPr id="23" name="Shape 21"/>
          <p:cNvSpPr/>
          <p:nvPr/>
        </p:nvSpPr>
        <p:spPr>
          <a:xfrm>
            <a:off x="6578468" y="2746766"/>
            <a:ext cx="4952848" cy="386060"/>
          </a:xfrm>
          <a:prstGeom prst="roundRect">
            <a:avLst>
              <a:gd name="adj" fmla="val 19730"/>
            </a:avLst>
          </a:prstGeom>
          <a:solidFill>
            <a:srgbClr val="FFFFFF"/>
          </a:solidFill>
          <a:ln w="6350">
            <a:solidFill>
              <a:srgbClr val="E3E6EA"/>
            </a:solidFill>
            <a:prstDash val="solid"/>
          </a:ln>
        </p:spPr>
      </p:sp>
      <p:sp>
        <p:nvSpPr>
          <p:cNvPr id="24" name="Text 22"/>
          <p:cNvSpPr txBox="1"/>
          <p:nvPr/>
        </p:nvSpPr>
        <p:spPr>
          <a:xfrm>
            <a:off x="6699077" y="2846344"/>
            <a:ext cx="3769065"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Khóa đặt trong biến môi trường, không ghi vào mã nguồn</a:t>
            </a:r>
            <a:endParaRPr lang="en-US" sz="1100" dirty="0"/>
          </a:p>
        </p:txBody>
      </p:sp>
      <p:sp>
        <p:nvSpPr>
          <p:cNvPr id="25" name="Text 2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6" name="Text 2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8266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Demo và thực hành</a:t>
            </a:r>
            <a:endParaRPr lang="en-US" sz="1100" dirty="0"/>
          </a:p>
        </p:txBody>
      </p:sp>
      <p:sp>
        <p:nvSpPr>
          <p:cNvPr id="3" name="Text 1"/>
          <p:cNvSpPr txBox="1"/>
          <p:nvPr/>
        </p:nvSpPr>
        <p:spPr>
          <a:xfrm>
            <a:off x="660380" y="643829"/>
            <a:ext cx="5144049"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Tình huống 1: IPN gửi trùng</a:t>
            </a:r>
            <a:endParaRPr lang="en-US" sz="3000" dirty="0"/>
          </a:p>
        </p:txBody>
      </p:sp>
      <p:pic>
        <p:nvPicPr>
          <p:cNvPr id="4" name="Image 0" descr="/Users/minhdang_work/Documents/Codex/2026-10-11/v-o/work/gop/slides-html/demo-2-mock.png">    </p:cNvPr>
          <p:cNvPicPr>
            <a:picLocks noChangeAspect="1"/>
          </p:cNvPicPr>
          <p:nvPr/>
        </p:nvPicPr>
        <p:blipFill>
          <a:blip r:embed="rId1"/>
          <a:stretch>
            <a:fillRect/>
          </a:stretch>
        </p:blipFill>
        <p:spPr>
          <a:xfrm>
            <a:off x="660380" y="1347368"/>
            <a:ext cx="4825837" cy="2668219"/>
          </a:xfrm>
          <a:prstGeom prst="rect">
            <a:avLst/>
          </a:prstGeom>
        </p:spPr>
      </p:pic>
      <p:sp>
        <p:nvSpPr>
          <p:cNvPr id="5" name="Shape 2"/>
          <p:cNvSpPr/>
          <p:nvPr/>
        </p:nvSpPr>
        <p:spPr>
          <a:xfrm>
            <a:off x="660380" y="1347368"/>
            <a:ext cx="4825837" cy="2668219"/>
          </a:xfrm>
          <a:prstGeom prst="roundRect">
            <a:avLst>
              <a:gd name="adj" fmla="val 3331"/>
            </a:avLst>
          </a:prstGeom>
          <a:ln w="6350">
            <a:solidFill>
              <a:srgbClr val="E3E6EA"/>
            </a:solidFill>
            <a:prstDash val="solid"/>
          </a:ln>
        </p:spPr>
      </p:sp>
      <p:sp>
        <p:nvSpPr>
          <p:cNvPr id="6" name="Text 3"/>
          <p:cNvSpPr txBox="1"/>
          <p:nvPr/>
        </p:nvSpPr>
        <p:spPr>
          <a:xfrm>
            <a:off x="660380" y="4141318"/>
            <a:ext cx="129552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Log chương trình</a:t>
            </a:r>
            <a:endParaRPr lang="en-US" sz="1000" dirty="0"/>
          </a:p>
        </p:txBody>
      </p:sp>
      <p:sp>
        <p:nvSpPr>
          <p:cNvPr id="7" name="Shape 4"/>
          <p:cNvSpPr/>
          <p:nvPr/>
        </p:nvSpPr>
        <p:spPr>
          <a:xfrm>
            <a:off x="660380" y="4498208"/>
            <a:ext cx="4825837" cy="713964"/>
          </a:xfrm>
          <a:prstGeom prst="roundRect">
            <a:avLst>
              <a:gd name="adj" fmla="val 14229"/>
            </a:avLst>
          </a:prstGeom>
          <a:solidFill>
            <a:srgbClr val="0C131E"/>
          </a:solidFill>
          <a:ln/>
        </p:spPr>
      </p:sp>
      <p:sp>
        <p:nvSpPr>
          <p:cNvPr id="8" name="Text 5"/>
          <p:cNvSpPr txBox="1"/>
          <p:nvPr/>
        </p:nvSpPr>
        <p:spPr>
          <a:xfrm>
            <a:off x="907999" y="4681271"/>
            <a:ext cx="425324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First IPN {"RspCode":"00","Message":"Confirm success"}</a:t>
            </a:r>
            <a:endParaRPr lang="en-US" sz="980" dirty="0"/>
          </a:p>
        </p:txBody>
      </p:sp>
      <p:sp>
        <p:nvSpPr>
          <p:cNvPr id="9" name="Text 6"/>
          <p:cNvSpPr txBox="1"/>
          <p:nvPr/>
        </p:nvSpPr>
        <p:spPr>
          <a:xfrm>
            <a:off x="907999" y="4873112"/>
            <a:ext cx="4725894" cy="191933"/>
          </a:xfrm>
          <a:prstGeom prst="rect">
            <a:avLst/>
          </a:prstGeom>
          <a:noFill/>
          <a:ln/>
        </p:spPr>
        <p:txBody>
          <a:bodyPr wrap="none" lIns="0" tIns="0" rIns="0" bIns="0" rtlCol="0" anchor="ctr"/>
          <a:lstStyle/>
          <a:p>
            <a:pPr algn="l" indent="0" marL="0">
              <a:buNone/>
            </a:pPr>
            <a:r>
              <a:rPr lang="en-US" sz="980" dirty="0">
                <a:solidFill>
                  <a:srgbClr val="FFD479"/>
                </a:solidFill>
                <a:latin typeface="Courier New" pitchFamily="34" charset="0"/>
                <a:ea typeface="Courier New" pitchFamily="34" charset="-122"/>
                <a:cs typeface="Courier New" pitchFamily="34" charset="-120"/>
              </a:rPr>
              <a:t>Duplicate IPN {"RspCode":"02","Message":"Already confirmed"}</a:t>
            </a:r>
            <a:endParaRPr lang="en-US" sz="980" dirty="0"/>
          </a:p>
        </p:txBody>
      </p:sp>
      <p:pic>
        <p:nvPicPr>
          <p:cNvPr id="10" name="Image 1" descr="/Users/minhdang_work/Documents/Codex/2026-10-11/v-o/work/gop/slides-html/demo-3-paid-ipn.png">    </p:cNvPr>
          <p:cNvPicPr>
            <a:picLocks noChangeAspect="1"/>
          </p:cNvPicPr>
          <p:nvPr/>
        </p:nvPicPr>
        <p:blipFill>
          <a:blip r:embed="rId2"/>
          <a:stretch>
            <a:fillRect/>
          </a:stretch>
        </p:blipFill>
        <p:spPr>
          <a:xfrm>
            <a:off x="5689488" y="1347368"/>
            <a:ext cx="5841827" cy="3228655"/>
          </a:xfrm>
          <a:prstGeom prst="rect">
            <a:avLst/>
          </a:prstGeom>
        </p:spPr>
      </p:pic>
      <p:sp>
        <p:nvSpPr>
          <p:cNvPr id="11" name="Shape 7"/>
          <p:cNvSpPr/>
          <p:nvPr/>
        </p:nvSpPr>
        <p:spPr>
          <a:xfrm>
            <a:off x="5689488" y="1347368"/>
            <a:ext cx="5841827" cy="3228655"/>
          </a:xfrm>
          <a:prstGeom prst="roundRect">
            <a:avLst>
              <a:gd name="adj" fmla="val 2753"/>
            </a:avLst>
          </a:prstGeom>
          <a:ln w="6350">
            <a:solidFill>
              <a:srgbClr val="E3E6EA"/>
            </a:solidFill>
            <a:prstDash val="solid"/>
          </a:ln>
        </p:spPr>
      </p:sp>
      <p:sp>
        <p:nvSpPr>
          <p:cNvPr id="12" name="Shape 8"/>
          <p:cNvSpPr/>
          <p:nvPr/>
        </p:nvSpPr>
        <p:spPr>
          <a:xfrm>
            <a:off x="5727527" y="4801514"/>
            <a:ext cx="63459" cy="63459"/>
          </a:xfrm>
          <a:prstGeom prst="ellipse">
            <a:avLst/>
          </a:prstGeom>
          <a:solidFill>
            <a:srgbClr val="0066FF"/>
          </a:solidFill>
          <a:ln/>
        </p:spPr>
      </p:sp>
      <p:sp>
        <p:nvSpPr>
          <p:cNvPr id="13" name="Text 9"/>
          <p:cNvSpPr txBox="1"/>
          <p:nvPr/>
        </p:nvSpPr>
        <p:spPr>
          <a:xfrm>
            <a:off x="5905378" y="4706234"/>
            <a:ext cx="3423331"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Chọn Thanh toán, sau đó "Thanh cong + IPN"</a:t>
            </a:r>
            <a:endParaRPr lang="en-US" sz="1250" dirty="0"/>
          </a:p>
        </p:txBody>
      </p:sp>
      <p:sp>
        <p:nvSpPr>
          <p:cNvPr id="14" name="Shape 10"/>
          <p:cNvSpPr/>
          <p:nvPr/>
        </p:nvSpPr>
        <p:spPr>
          <a:xfrm>
            <a:off x="5727527" y="5128504"/>
            <a:ext cx="63459" cy="63459"/>
          </a:xfrm>
          <a:prstGeom prst="ellipse">
            <a:avLst/>
          </a:prstGeom>
          <a:solidFill>
            <a:srgbClr val="0066FF"/>
          </a:solidFill>
          <a:ln/>
        </p:spPr>
      </p:sp>
      <p:sp>
        <p:nvSpPr>
          <p:cNvPr id="15" name="Text 11"/>
          <p:cNvSpPr txBox="1"/>
          <p:nvPr/>
        </p:nvSpPr>
        <p:spPr>
          <a:xfrm>
            <a:off x="5905378" y="5033223"/>
            <a:ext cx="2301179"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Mock gửi cùng một IPN hai lần</a:t>
            </a:r>
            <a:endParaRPr lang="en-US" sz="1250" dirty="0"/>
          </a:p>
        </p:txBody>
      </p:sp>
      <p:sp>
        <p:nvSpPr>
          <p:cNvPr id="16" name="Shape 12"/>
          <p:cNvSpPr/>
          <p:nvPr/>
        </p:nvSpPr>
        <p:spPr>
          <a:xfrm>
            <a:off x="5727527" y="5455493"/>
            <a:ext cx="63459" cy="63459"/>
          </a:xfrm>
          <a:prstGeom prst="ellipse">
            <a:avLst/>
          </a:prstGeom>
          <a:solidFill>
            <a:srgbClr val="0066FF"/>
          </a:solidFill>
          <a:ln/>
        </p:spPr>
      </p:sp>
      <p:sp>
        <p:nvSpPr>
          <p:cNvPr id="17" name="Text 13"/>
          <p:cNvSpPr txBox="1"/>
          <p:nvPr/>
        </p:nvSpPr>
        <p:spPr>
          <a:xfrm>
            <a:off x="5905378" y="5360213"/>
            <a:ext cx="2198492"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Lần đầu trả 00, lần sau trả 02</a:t>
            </a:r>
            <a:endParaRPr lang="en-US" sz="1250" dirty="0"/>
          </a:p>
        </p:txBody>
      </p:sp>
      <p:sp>
        <p:nvSpPr>
          <p:cNvPr id="18" name="Shape 14"/>
          <p:cNvSpPr/>
          <p:nvPr/>
        </p:nvSpPr>
        <p:spPr>
          <a:xfrm>
            <a:off x="5727527" y="5782483"/>
            <a:ext cx="63459" cy="63459"/>
          </a:xfrm>
          <a:prstGeom prst="ellipse">
            <a:avLst/>
          </a:prstGeom>
          <a:solidFill>
            <a:srgbClr val="0066FF"/>
          </a:solidFill>
          <a:ln/>
        </p:spPr>
      </p:sp>
      <p:sp>
        <p:nvSpPr>
          <p:cNvPr id="19" name="Text 15"/>
          <p:cNvSpPr txBox="1"/>
          <p:nvPr/>
        </p:nvSpPr>
        <p:spPr>
          <a:xfrm>
            <a:off x="5905378" y="5687294"/>
            <a:ext cx="1569476"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Trạng thái đơn: PAID</a:t>
            </a:r>
            <a:endParaRPr lang="en-US" sz="1250" dirty="0"/>
          </a:p>
        </p:txBody>
      </p:sp>
      <p:sp>
        <p:nvSpPr>
          <p:cNvPr id="20" name="Text 16"/>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1" name="Text 17"/>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8266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Demo và thực hành</a:t>
            </a:r>
            <a:endParaRPr lang="en-US" sz="1100" dirty="0"/>
          </a:p>
        </p:txBody>
      </p:sp>
      <p:sp>
        <p:nvSpPr>
          <p:cNvPr id="3" name="Text 1"/>
          <p:cNvSpPr txBox="1"/>
          <p:nvPr/>
        </p:nvSpPr>
        <p:spPr>
          <a:xfrm>
            <a:off x="660380" y="643829"/>
            <a:ext cx="9518538"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Tình huống 2: khách hàng quay về trước khi có IPN</a:t>
            </a:r>
            <a:endParaRPr lang="en-US" sz="3000" dirty="0"/>
          </a:p>
        </p:txBody>
      </p:sp>
      <p:pic>
        <p:nvPicPr>
          <p:cNvPr id="4" name="Image 0" descr="/Users/minhdang_work/Documents/Codex/2026-10-11/v-o/work/gop/slides-html/demo-4-pending.png">    </p:cNvPr>
          <p:cNvPicPr>
            <a:picLocks noChangeAspect="1"/>
          </p:cNvPicPr>
          <p:nvPr/>
        </p:nvPicPr>
        <p:blipFill>
          <a:blip r:embed="rId1"/>
          <a:stretch>
            <a:fillRect/>
          </a:stretch>
        </p:blipFill>
        <p:spPr>
          <a:xfrm>
            <a:off x="660380" y="1347368"/>
            <a:ext cx="5333878" cy="2948483"/>
          </a:xfrm>
          <a:prstGeom prst="rect">
            <a:avLst/>
          </a:prstGeom>
        </p:spPr>
      </p:pic>
      <p:sp>
        <p:nvSpPr>
          <p:cNvPr id="5" name="Shape 2"/>
          <p:cNvSpPr/>
          <p:nvPr/>
        </p:nvSpPr>
        <p:spPr>
          <a:xfrm>
            <a:off x="660380" y="1347368"/>
            <a:ext cx="5333878" cy="2948483"/>
          </a:xfrm>
          <a:prstGeom prst="roundRect">
            <a:avLst>
              <a:gd name="adj" fmla="val 3014"/>
            </a:avLst>
          </a:prstGeom>
          <a:ln w="6350">
            <a:solidFill>
              <a:srgbClr val="E3E6EA"/>
            </a:solidFill>
            <a:prstDash val="solid"/>
          </a:ln>
        </p:spPr>
      </p:sp>
      <p:sp>
        <p:nvSpPr>
          <p:cNvPr id="6" name="Text 3"/>
          <p:cNvSpPr txBox="1"/>
          <p:nvPr/>
        </p:nvSpPr>
        <p:spPr>
          <a:xfrm>
            <a:off x="660380" y="4389120"/>
            <a:ext cx="4301338"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"Thanh cong, chua gui IPN": quay về website, đơn vẫn PENDING</a:t>
            </a:r>
            <a:endParaRPr lang="en-US" sz="1100" dirty="0"/>
          </a:p>
        </p:txBody>
      </p:sp>
      <p:pic>
        <p:nvPicPr>
          <p:cNvPr id="7" name="Image 1" descr="/Users/minhdang_work/Documents/Codex/2026-10-11/v-o/work/gop/slides-html/demo-5-paid-querydr.png">    </p:cNvPr>
          <p:cNvPicPr>
            <a:picLocks noChangeAspect="1"/>
          </p:cNvPicPr>
          <p:nvPr/>
        </p:nvPicPr>
        <p:blipFill>
          <a:blip r:embed="rId2"/>
          <a:stretch>
            <a:fillRect/>
          </a:stretch>
        </p:blipFill>
        <p:spPr>
          <a:xfrm>
            <a:off x="6197437" y="1347368"/>
            <a:ext cx="5333878" cy="2948483"/>
          </a:xfrm>
          <a:prstGeom prst="rect">
            <a:avLst/>
          </a:prstGeom>
        </p:spPr>
      </p:pic>
      <p:sp>
        <p:nvSpPr>
          <p:cNvPr id="8" name="Shape 4"/>
          <p:cNvSpPr/>
          <p:nvPr/>
        </p:nvSpPr>
        <p:spPr>
          <a:xfrm>
            <a:off x="6197437" y="1347368"/>
            <a:ext cx="5333878" cy="2948483"/>
          </a:xfrm>
          <a:prstGeom prst="roundRect">
            <a:avLst>
              <a:gd name="adj" fmla="val 3014"/>
            </a:avLst>
          </a:prstGeom>
          <a:ln w="6350">
            <a:solidFill>
              <a:srgbClr val="E3E6EA"/>
            </a:solidFill>
            <a:prstDash val="solid"/>
          </a:ln>
        </p:spPr>
      </p:sp>
      <p:sp>
        <p:nvSpPr>
          <p:cNvPr id="9" name="Text 5"/>
          <p:cNvSpPr txBox="1"/>
          <p:nvPr/>
        </p:nvSpPr>
        <p:spPr>
          <a:xfrm>
            <a:off x="6197437" y="4389120"/>
            <a:ext cx="3766139"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"Truy van giao dich": querydr xác minh, đơn chuyển PAID</a:t>
            </a:r>
            <a:endParaRPr lang="en-US" sz="1100" dirty="0"/>
          </a:p>
        </p:txBody>
      </p:sp>
      <p:sp>
        <p:nvSpPr>
          <p:cNvPr id="10" name="Shape 6"/>
          <p:cNvSpPr/>
          <p:nvPr/>
        </p:nvSpPr>
        <p:spPr>
          <a:xfrm>
            <a:off x="660380" y="4759361"/>
            <a:ext cx="10870936" cy="536844"/>
          </a:xfrm>
          <a:prstGeom prst="roundRect">
            <a:avLst>
              <a:gd name="adj" fmla="val 18924"/>
            </a:avLst>
          </a:prstGeom>
          <a:solidFill>
            <a:srgbClr val="0C131E"/>
          </a:solidFill>
          <a:ln/>
        </p:spPr>
      </p:sp>
      <p:sp>
        <p:nvSpPr>
          <p:cNvPr id="11" name="Text 7"/>
          <p:cNvSpPr txBox="1"/>
          <p:nvPr/>
        </p:nvSpPr>
        <p:spPr>
          <a:xfrm>
            <a:off x="907999" y="4941875"/>
            <a:ext cx="2714305" cy="206654"/>
          </a:xfrm>
          <a:prstGeom prst="rect">
            <a:avLst/>
          </a:prstGeom>
          <a:noFill/>
          <a:ln/>
        </p:spPr>
        <p:txBody>
          <a:bodyPr wrap="none" lIns="0" tIns="0" rIns="0" bIns="0" rtlCol="0" anchor="ctr"/>
          <a:lstStyle/>
          <a:p>
            <a:pPr algn="l" indent="0" marL="0">
              <a:buNone/>
            </a:pPr>
            <a:r>
              <a:rPr lang="en-US" sz="1050" dirty="0">
                <a:solidFill>
                  <a:srgbClr val="FFD479"/>
                </a:solidFill>
                <a:latin typeface="Courier New" pitchFamily="34" charset="0"/>
                <a:ea typeface="Courier New" pitchFamily="34" charset="-122"/>
                <a:cs typeface="Courier New" pitchFamily="34" charset="-120"/>
              </a:rPr>
              <a:t>querydr verified=true local=PAID</a:t>
            </a:r>
            <a:endParaRPr lang="en-US" sz="1050" dirty="0"/>
          </a:p>
        </p:txBody>
      </p:sp>
      <p:sp>
        <p:nvSpPr>
          <p:cNvPr id="12" name="Text 8"/>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13" name="Text 9"/>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38266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Demo và thực hành</a:t>
            </a:r>
            <a:endParaRPr lang="en-US" sz="1100" dirty="0"/>
          </a:p>
        </p:txBody>
      </p:sp>
      <p:sp>
        <p:nvSpPr>
          <p:cNvPr id="3" name="Text 1"/>
          <p:cNvSpPr txBox="1"/>
          <p:nvPr/>
        </p:nvSpPr>
        <p:spPr>
          <a:xfrm>
            <a:off x="660380" y="643829"/>
            <a:ext cx="6994794"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Thực hành: gọi trực tiếp các endpoint</a:t>
            </a:r>
            <a:endParaRPr lang="en-US" sz="3000" dirty="0"/>
          </a:p>
        </p:txBody>
      </p:sp>
      <p:sp>
        <p:nvSpPr>
          <p:cNvPr id="4" name="Text 2"/>
          <p:cNvSpPr txBox="1"/>
          <p:nvPr/>
        </p:nvSpPr>
        <p:spPr>
          <a:xfrm>
            <a:off x="660380" y="1358798"/>
            <a:ext cx="4766310"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Demo đang chạy, mở terminal thứ hai (Windows dùng curl.exe)</a:t>
            </a:r>
            <a:endParaRPr lang="en-US" sz="1000" dirty="0"/>
          </a:p>
        </p:txBody>
      </p:sp>
      <p:sp>
        <p:nvSpPr>
          <p:cNvPr id="5" name="Shape 3"/>
          <p:cNvSpPr/>
          <p:nvPr/>
        </p:nvSpPr>
        <p:spPr>
          <a:xfrm>
            <a:off x="660380" y="1601389"/>
            <a:ext cx="6413327" cy="1865285"/>
          </a:xfrm>
          <a:prstGeom prst="roundRect">
            <a:avLst>
              <a:gd name="adj" fmla="val 5446"/>
            </a:avLst>
          </a:prstGeom>
          <a:solidFill>
            <a:srgbClr val="0C131E"/>
          </a:solidFill>
          <a:ln/>
        </p:spPr>
      </p:sp>
      <p:sp>
        <p:nvSpPr>
          <p:cNvPr id="6" name="Text 4"/>
          <p:cNvSpPr txBox="1"/>
          <p:nvPr/>
        </p:nvSpPr>
        <p:spPr>
          <a:xfrm>
            <a:off x="907999" y="1784452"/>
            <a:ext cx="2678003"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1. Gọi API nội bộ không có token</a:t>
            </a:r>
            <a:endParaRPr lang="en-US" sz="980" dirty="0"/>
          </a:p>
        </p:txBody>
      </p:sp>
      <p:sp>
        <p:nvSpPr>
          <p:cNvPr id="7" name="Text 5"/>
          <p:cNvSpPr txBox="1"/>
          <p:nvPr/>
        </p:nvSpPr>
        <p:spPr>
          <a:xfrm>
            <a:off x="907999" y="1976293"/>
            <a:ext cx="338684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curl -X POST http://localhost:8091/payments</a:t>
            </a:r>
            <a:endParaRPr lang="en-US" sz="980" dirty="0"/>
          </a:p>
        </p:txBody>
      </p:sp>
      <p:sp>
        <p:nvSpPr>
          <p:cNvPr id="8" name="Text 6"/>
          <p:cNvSpPr txBox="1"/>
          <p:nvPr/>
        </p:nvSpPr>
        <p:spPr>
          <a:xfrm>
            <a:off x="907999" y="2168225"/>
            <a:ext cx="745053" cy="191933"/>
          </a:xfrm>
          <a:prstGeom prst="rect">
            <a:avLst/>
          </a:prstGeom>
          <a:noFill/>
          <a:ln/>
        </p:spPr>
        <p:txBody>
          <a:bodyPr wrap="none" lIns="0" tIns="0" rIns="0" bIns="0" rtlCol="0" anchor="ctr"/>
          <a:lstStyle/>
          <a:p>
            <a:pPr algn="l" indent="0" marL="0">
              <a:buNone/>
            </a:pPr>
            <a:r>
              <a:rPr lang="en-US" sz="980" dirty="0">
                <a:solidFill>
                  <a:srgbClr val="FFD479"/>
                </a:solidFill>
                <a:latin typeface="Courier New" pitchFamily="34" charset="0"/>
                <a:ea typeface="Courier New" pitchFamily="34" charset="-122"/>
                <a:cs typeface="Courier New" pitchFamily="34" charset="-120"/>
              </a:rPr>
              <a:t>Forbidden</a:t>
            </a:r>
            <a:endParaRPr lang="en-US" sz="980" dirty="0"/>
          </a:p>
        </p:txBody>
      </p:sp>
      <p:sp>
        <p:nvSpPr>
          <p:cNvPr id="9" name="Text 7"/>
          <p:cNvSpPr txBox="1"/>
          <p:nvPr/>
        </p:nvSpPr>
        <p:spPr>
          <a:xfrm>
            <a:off x="907999" y="2360066"/>
            <a:ext cx="2835554"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2. Gửi IPN với chữ ký không hợp lệ</a:t>
            </a:r>
            <a:endParaRPr lang="en-US" sz="980" dirty="0"/>
          </a:p>
        </p:txBody>
      </p:sp>
      <p:sp>
        <p:nvSpPr>
          <p:cNvPr id="10" name="Text 8"/>
          <p:cNvSpPr txBox="1"/>
          <p:nvPr/>
        </p:nvSpPr>
        <p:spPr>
          <a:xfrm>
            <a:off x="907999" y="2551999"/>
            <a:ext cx="567101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curl "http://localhost:8091/vnpay/ipn?vnp_TxnRef=abc&amp;vnp_SecureHash=123"</a:t>
            </a:r>
            <a:endParaRPr lang="en-US" sz="980" dirty="0"/>
          </a:p>
        </p:txBody>
      </p:sp>
      <p:sp>
        <p:nvSpPr>
          <p:cNvPr id="11" name="Text 9"/>
          <p:cNvSpPr txBox="1"/>
          <p:nvPr/>
        </p:nvSpPr>
        <p:spPr>
          <a:xfrm>
            <a:off x="907999" y="2743840"/>
            <a:ext cx="4568342" cy="191933"/>
          </a:xfrm>
          <a:prstGeom prst="rect">
            <a:avLst/>
          </a:prstGeom>
          <a:noFill/>
          <a:ln/>
        </p:spPr>
        <p:txBody>
          <a:bodyPr wrap="none" lIns="0" tIns="0" rIns="0" bIns="0" rtlCol="0" anchor="ctr"/>
          <a:lstStyle/>
          <a:p>
            <a:pPr algn="l" indent="0" marL="0">
              <a:buNone/>
            </a:pPr>
            <a:r>
              <a:rPr lang="en-US" sz="980" dirty="0">
                <a:solidFill>
                  <a:srgbClr val="FFD479"/>
                </a:solidFill>
                <a:latin typeface="Courier New" pitchFamily="34" charset="0"/>
                <a:ea typeface="Courier New" pitchFamily="34" charset="-122"/>
                <a:cs typeface="Courier New" pitchFamily="34" charset="-120"/>
              </a:rPr>
              <a:t>{"Message":"Invalid signature or merchant","RspCode":"97"}</a:t>
            </a:r>
            <a:endParaRPr lang="en-US" sz="980" dirty="0"/>
          </a:p>
        </p:txBody>
      </p:sp>
      <p:sp>
        <p:nvSpPr>
          <p:cNvPr id="12" name="Text 10"/>
          <p:cNvSpPr txBox="1"/>
          <p:nvPr/>
        </p:nvSpPr>
        <p:spPr>
          <a:xfrm>
            <a:off x="907999" y="2935681"/>
            <a:ext cx="4647072"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3. Lấy ReturnURL có chữ ký hợp lệ (REF lấy từ trang mock)</a:t>
            </a:r>
            <a:endParaRPr lang="en-US" sz="980" dirty="0"/>
          </a:p>
        </p:txBody>
      </p:sp>
      <p:sp>
        <p:nvSpPr>
          <p:cNvPr id="13" name="Text 11"/>
          <p:cNvSpPr txBox="1"/>
          <p:nvPr/>
        </p:nvSpPr>
        <p:spPr>
          <a:xfrm>
            <a:off x="907999" y="3127614"/>
            <a:ext cx="630113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curl -si -X POST http://localhost:8091/mock/finish -d "ref=REF&amp;scenario=delayed"</a:t>
            </a:r>
            <a:endParaRPr lang="en-US" sz="980" dirty="0"/>
          </a:p>
        </p:txBody>
      </p:sp>
      <p:sp>
        <p:nvSpPr>
          <p:cNvPr id="14" name="Shape 12"/>
          <p:cNvSpPr/>
          <p:nvPr/>
        </p:nvSpPr>
        <p:spPr>
          <a:xfrm>
            <a:off x="7315017" y="1458468"/>
            <a:ext cx="63459" cy="63459"/>
          </a:xfrm>
          <a:prstGeom prst="ellipse">
            <a:avLst/>
          </a:prstGeom>
          <a:solidFill>
            <a:srgbClr val="0066FF"/>
          </a:solidFill>
          <a:ln/>
        </p:spPr>
      </p:sp>
      <p:sp>
        <p:nvSpPr>
          <p:cNvPr id="15" name="Text 13"/>
          <p:cNvSpPr txBox="1"/>
          <p:nvPr/>
        </p:nvSpPr>
        <p:spPr>
          <a:xfrm>
            <a:off x="7492776" y="1363188"/>
            <a:ext cx="3908969"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Bài 3: sao chép phần sau dấu </a:t>
            </a:r>
            <a:pPr algn="l" indent="0" marL="0">
              <a:buNone/>
            </a:pPr>
            <a:r>
              <a:rPr lang="en-US" sz="1250" dirty="0">
                <a:solidFill>
                  <a:srgbClr val="3F454D"/>
                </a:solidFill>
                <a:latin typeface="Courier New" pitchFamily="34" charset="0"/>
                <a:ea typeface="Courier New" pitchFamily="34" charset="-122"/>
                <a:cs typeface="Courier New" pitchFamily="34" charset="-120"/>
              </a:rPr>
              <a:t>?</a:t>
            </a:r>
            <a:pPr algn="l" indent="0" marL="0">
              <a:buNone/>
            </a:pPr>
            <a:r>
              <a:rPr lang="en-US" sz="1250" dirty="0">
                <a:solidFill>
                  <a:srgbClr val="3F454D"/>
                </a:solidFill>
                <a:latin typeface="Arial" pitchFamily="34" charset="0"/>
                <a:ea typeface="Arial" pitchFamily="34" charset="-122"/>
                <a:cs typeface="Arial" pitchFamily="34" charset="-120"/>
              </a:rPr>
              <a:t> trong dòng Location</a:t>
            </a:r>
            <a:endParaRPr lang="en-US" sz="1250" dirty="0"/>
          </a:p>
        </p:txBody>
      </p:sp>
      <p:sp>
        <p:nvSpPr>
          <p:cNvPr id="16" name="Shape 14"/>
          <p:cNvSpPr/>
          <p:nvPr/>
        </p:nvSpPr>
        <p:spPr>
          <a:xfrm>
            <a:off x="7315017" y="1798168"/>
            <a:ext cx="63459" cy="63459"/>
          </a:xfrm>
          <a:prstGeom prst="ellipse">
            <a:avLst/>
          </a:prstGeom>
          <a:solidFill>
            <a:srgbClr val="0066FF"/>
          </a:solidFill>
          <a:ln/>
        </p:spPr>
      </p:sp>
      <p:sp>
        <p:nvSpPr>
          <p:cNvPr id="17" name="Text 15"/>
          <p:cNvSpPr txBox="1"/>
          <p:nvPr/>
        </p:nvSpPr>
        <p:spPr>
          <a:xfrm>
            <a:off x="7492776" y="1702979"/>
            <a:ext cx="4136654"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Gọi </a:t>
            </a:r>
            <a:pPr algn="l" indent="0" marL="0">
              <a:buNone/>
            </a:pPr>
            <a:r>
              <a:rPr lang="en-US" sz="1250" dirty="0">
                <a:solidFill>
                  <a:srgbClr val="3F454D"/>
                </a:solidFill>
                <a:latin typeface="Courier New" pitchFamily="34" charset="0"/>
                <a:ea typeface="Courier New" pitchFamily="34" charset="-122"/>
                <a:cs typeface="Courier New" pitchFamily="34" charset="-120"/>
              </a:rPr>
              <a:t>/vnpay/ipn?</a:t>
            </a:r>
            <a:pPr algn="l" indent="0" marL="0">
              <a:buNone/>
            </a:pPr>
            <a:r>
              <a:rPr lang="en-US" sz="1250" dirty="0">
                <a:solidFill>
                  <a:srgbClr val="3F454D"/>
                </a:solidFill>
                <a:latin typeface="Arial" pitchFamily="34" charset="0"/>
                <a:ea typeface="Arial" pitchFamily="34" charset="-122"/>
                <a:cs typeface="Arial" pitchFamily="34" charset="-120"/>
              </a:rPr>
              <a:t> kèm phần đó: kết quả 00, đơn PAID</a:t>
            </a:r>
            <a:endParaRPr lang="en-US" sz="1250" dirty="0"/>
          </a:p>
        </p:txBody>
      </p:sp>
      <p:sp>
        <p:nvSpPr>
          <p:cNvPr id="18" name="Shape 16"/>
          <p:cNvSpPr/>
          <p:nvPr/>
        </p:nvSpPr>
        <p:spPr>
          <a:xfrm>
            <a:off x="7315017" y="2137867"/>
            <a:ext cx="63459" cy="63459"/>
          </a:xfrm>
          <a:prstGeom prst="ellipse">
            <a:avLst/>
          </a:prstGeom>
          <a:solidFill>
            <a:srgbClr val="0066FF"/>
          </a:solidFill>
          <a:ln/>
        </p:spPr>
      </p:sp>
      <p:sp>
        <p:nvSpPr>
          <p:cNvPr id="19" name="Text 17"/>
          <p:cNvSpPr txBox="1"/>
          <p:nvPr/>
        </p:nvSpPr>
        <p:spPr>
          <a:xfrm>
            <a:off x="7492776" y="2042678"/>
            <a:ext cx="1899026"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Gọi lại lần hai: kết quả 02</a:t>
            </a:r>
            <a:endParaRPr lang="en-US" sz="1250" dirty="0"/>
          </a:p>
        </p:txBody>
      </p:sp>
      <p:sp>
        <p:nvSpPr>
          <p:cNvPr id="20" name="Shape 18"/>
          <p:cNvSpPr/>
          <p:nvPr/>
        </p:nvSpPr>
        <p:spPr>
          <a:xfrm>
            <a:off x="7315017" y="2464948"/>
            <a:ext cx="63459" cy="63459"/>
          </a:xfrm>
          <a:prstGeom prst="ellipse">
            <a:avLst/>
          </a:prstGeom>
          <a:solidFill>
            <a:srgbClr val="0066FF"/>
          </a:solidFill>
          <a:ln/>
        </p:spPr>
      </p:sp>
      <p:sp>
        <p:nvSpPr>
          <p:cNvPr id="21" name="Text 19"/>
          <p:cNvSpPr txBox="1"/>
          <p:nvPr/>
        </p:nvSpPr>
        <p:spPr>
          <a:xfrm>
            <a:off x="7492776" y="2369668"/>
            <a:ext cx="2254545"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Sửa </a:t>
            </a:r>
            <a:pPr algn="l" indent="0" marL="0">
              <a:buNone/>
            </a:pPr>
            <a:r>
              <a:rPr lang="en-US" sz="1250" dirty="0">
                <a:solidFill>
                  <a:srgbClr val="3F454D"/>
                </a:solidFill>
                <a:latin typeface="Courier New" pitchFamily="34" charset="0"/>
                <a:ea typeface="Courier New" pitchFamily="34" charset="-122"/>
                <a:cs typeface="Courier New" pitchFamily="34" charset="-120"/>
              </a:rPr>
              <a:t>vnp_Amount</a:t>
            </a:r>
            <a:pPr algn="l" indent="0" marL="0">
              <a:buNone/>
            </a:pPr>
            <a:r>
              <a:rPr lang="en-US" sz="1250" dirty="0">
                <a:solidFill>
                  <a:srgbClr val="3F454D"/>
                </a:solidFill>
                <a:latin typeface="Arial" pitchFamily="34" charset="0"/>
                <a:ea typeface="Arial" pitchFamily="34" charset="-122"/>
                <a:cs typeface="Arial" pitchFamily="34" charset="-120"/>
              </a:rPr>
              <a:t>: kết quả 97</a:t>
            </a:r>
            <a:endParaRPr lang="en-US" sz="1250" dirty="0"/>
          </a:p>
        </p:txBody>
      </p:sp>
      <p:sp>
        <p:nvSpPr>
          <p:cNvPr id="22" name="Text 20"/>
          <p:cNvSpPr txBox="1"/>
          <p:nvPr/>
        </p:nvSpPr>
        <p:spPr>
          <a:xfrm>
            <a:off x="7276887" y="2812146"/>
            <a:ext cx="2953146"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Hướng dẫn chi tiết: HUONG-DAN.pdf, mục 5</a:t>
            </a:r>
            <a:endParaRPr lang="en-US" sz="1100" dirty="0"/>
          </a:p>
        </p:txBody>
      </p:sp>
      <p:sp>
        <p:nvSpPr>
          <p:cNvPr id="23" name="Text 2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4" name="Text 22"/>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658277"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Tổng kết</a:t>
            </a:r>
            <a:endParaRPr lang="en-US" sz="1100" dirty="0"/>
          </a:p>
        </p:txBody>
      </p:sp>
      <p:sp>
        <p:nvSpPr>
          <p:cNvPr id="3" name="Text 1"/>
          <p:cNvSpPr txBox="1"/>
          <p:nvPr/>
        </p:nvSpPr>
        <p:spPr>
          <a:xfrm>
            <a:off x="660380" y="643829"/>
            <a:ext cx="8672352"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Giới hạn của demo và hướng triển khai thực tế</a:t>
            </a:r>
            <a:endParaRPr lang="en-US" sz="3000" dirty="0"/>
          </a:p>
        </p:txBody>
      </p:sp>
      <p:sp>
        <p:nvSpPr>
          <p:cNvPr id="4" name="Shape 2"/>
          <p:cNvSpPr/>
          <p:nvPr/>
        </p:nvSpPr>
        <p:spPr>
          <a:xfrm>
            <a:off x="660380" y="1347368"/>
            <a:ext cx="10870936" cy="2895539"/>
          </a:xfrm>
          <a:prstGeom prst="roundRect">
            <a:avLst>
              <a:gd name="adj" fmla="val 3508"/>
            </a:avLst>
          </a:prstGeom>
          <a:solidFill>
            <a:srgbClr val="FFFFFF"/>
          </a:solidFill>
          <a:ln/>
        </p:spPr>
      </p:sp>
      <p:sp>
        <p:nvSpPr>
          <p:cNvPr id="5" name="Shape 3"/>
          <p:cNvSpPr/>
          <p:nvPr/>
        </p:nvSpPr>
        <p:spPr>
          <a:xfrm>
            <a:off x="660380" y="1347368"/>
            <a:ext cx="4565691" cy="326989"/>
          </a:xfrm>
          <a:prstGeom prst="rect">
            <a:avLst/>
          </a:prstGeom>
          <a:solidFill>
            <a:srgbClr val="ECF2FF"/>
          </a:solidFill>
          <a:ln/>
        </p:spPr>
      </p:sp>
      <p:sp>
        <p:nvSpPr>
          <p:cNvPr id="6" name="Text 4"/>
          <p:cNvSpPr txBox="1"/>
          <p:nvPr/>
        </p:nvSpPr>
        <p:spPr>
          <a:xfrm>
            <a:off x="774680" y="1435791"/>
            <a:ext cx="442021" cy="171450"/>
          </a:xfrm>
          <a:prstGeom prst="rect">
            <a:avLst/>
          </a:prstGeom>
          <a:noFill/>
          <a:ln/>
        </p:spPr>
        <p:txBody>
          <a:bodyPr wrap="square" lIns="0" tIns="0" rIns="0" bIns="0" rtlCol="0" anchor="ctr"/>
          <a:lstStyle/>
          <a:p>
            <a:pPr algn="l" indent="0" marL="0">
              <a:buNone/>
            </a:pPr>
            <a:r>
              <a:rPr lang="en-US" sz="900" b="1" dirty="0">
                <a:solidFill>
                  <a:srgbClr val="0066FF"/>
                </a:solidFill>
                <a:latin typeface="Arial" pitchFamily="34" charset="0"/>
                <a:ea typeface="Arial" pitchFamily="34" charset="-122"/>
                <a:cs typeface="Arial" pitchFamily="34" charset="-120"/>
              </a:rPr>
              <a:t>DEMO</a:t>
            </a:r>
            <a:endParaRPr lang="en-US" sz="900" dirty="0"/>
          </a:p>
        </p:txBody>
      </p:sp>
      <p:sp>
        <p:nvSpPr>
          <p:cNvPr id="7" name="Shape 5"/>
          <p:cNvSpPr/>
          <p:nvPr/>
        </p:nvSpPr>
        <p:spPr>
          <a:xfrm>
            <a:off x="5226162" y="1347368"/>
            <a:ext cx="6305154" cy="326989"/>
          </a:xfrm>
          <a:prstGeom prst="rect">
            <a:avLst/>
          </a:prstGeom>
          <a:solidFill>
            <a:srgbClr val="ECF2FF"/>
          </a:solidFill>
          <a:ln/>
        </p:spPr>
      </p:sp>
      <p:sp>
        <p:nvSpPr>
          <p:cNvPr id="8" name="Text 6"/>
          <p:cNvSpPr txBox="1"/>
          <p:nvPr/>
        </p:nvSpPr>
        <p:spPr>
          <a:xfrm>
            <a:off x="5340370" y="1435791"/>
            <a:ext cx="1374069" cy="171450"/>
          </a:xfrm>
          <a:prstGeom prst="rect">
            <a:avLst/>
          </a:prstGeom>
          <a:noFill/>
          <a:ln/>
        </p:spPr>
        <p:txBody>
          <a:bodyPr wrap="square" lIns="0" tIns="0" rIns="0" bIns="0" rtlCol="0" anchor="ctr"/>
          <a:lstStyle/>
          <a:p>
            <a:pPr algn="l" indent="0" marL="0">
              <a:buNone/>
            </a:pPr>
            <a:r>
              <a:rPr lang="en-US" sz="900" b="1" dirty="0">
                <a:solidFill>
                  <a:srgbClr val="0066FF"/>
                </a:solidFill>
                <a:latin typeface="Arial" pitchFamily="34" charset="0"/>
                <a:ea typeface="Arial" pitchFamily="34" charset="-122"/>
                <a:cs typeface="Arial" pitchFamily="34" charset="-120"/>
              </a:rPr>
              <a:t>TRIỂN KHAI THỰC TẾ</a:t>
            </a:r>
            <a:endParaRPr lang="en-US" sz="900" dirty="0"/>
          </a:p>
        </p:txBody>
      </p:sp>
      <p:sp>
        <p:nvSpPr>
          <p:cNvPr id="9" name="Shape 7"/>
          <p:cNvSpPr/>
          <p:nvPr/>
        </p:nvSpPr>
        <p:spPr>
          <a:xfrm>
            <a:off x="660380" y="1674358"/>
            <a:ext cx="4565691" cy="6309"/>
          </a:xfrm>
          <a:prstGeom prst="rect">
            <a:avLst/>
          </a:prstGeom>
          <a:solidFill>
            <a:srgbClr val="E3E6EA"/>
          </a:solidFill>
          <a:ln/>
        </p:spPr>
      </p:sp>
      <p:sp>
        <p:nvSpPr>
          <p:cNvPr id="10" name="Text 8"/>
          <p:cNvSpPr txBox="1"/>
          <p:nvPr/>
        </p:nvSpPr>
        <p:spPr>
          <a:xfrm>
            <a:off x="774680" y="1733062"/>
            <a:ext cx="1547348" cy="199979"/>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Lưu dữ liệu trong RAM</a:t>
            </a:r>
            <a:endParaRPr lang="en-US" sz="1050" dirty="0"/>
          </a:p>
        </p:txBody>
      </p:sp>
      <p:sp>
        <p:nvSpPr>
          <p:cNvPr id="11" name="Shape 9"/>
          <p:cNvSpPr/>
          <p:nvPr/>
        </p:nvSpPr>
        <p:spPr>
          <a:xfrm>
            <a:off x="5226162" y="1674358"/>
            <a:ext cx="6305154" cy="6309"/>
          </a:xfrm>
          <a:prstGeom prst="rect">
            <a:avLst/>
          </a:prstGeom>
          <a:solidFill>
            <a:srgbClr val="E3E6EA"/>
          </a:solidFill>
          <a:ln/>
        </p:spPr>
      </p:sp>
      <p:sp>
        <p:nvSpPr>
          <p:cNvPr id="12" name="Text 10"/>
          <p:cNvSpPr txBox="1"/>
          <p:nvPr/>
        </p:nvSpPr>
        <p:spPr>
          <a:xfrm>
            <a:off x="5340370" y="1733062"/>
            <a:ext cx="2220346"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Mỗi service một cơ sở dữ liệu riêng</a:t>
            </a:r>
            <a:endParaRPr lang="en-US" sz="1050" dirty="0"/>
          </a:p>
        </p:txBody>
      </p:sp>
      <p:sp>
        <p:nvSpPr>
          <p:cNvPr id="13" name="Shape 11"/>
          <p:cNvSpPr/>
          <p:nvPr/>
        </p:nvSpPr>
        <p:spPr>
          <a:xfrm>
            <a:off x="660380" y="1956907"/>
            <a:ext cx="4565691" cy="6309"/>
          </a:xfrm>
          <a:prstGeom prst="rect">
            <a:avLst/>
          </a:prstGeom>
          <a:solidFill>
            <a:srgbClr val="E3E6EA"/>
          </a:solidFill>
          <a:ln/>
        </p:spPr>
      </p:sp>
      <p:sp>
        <p:nvSpPr>
          <p:cNvPr id="14" name="Text 12"/>
          <p:cNvSpPr txBox="1"/>
          <p:nvPr/>
        </p:nvSpPr>
        <p:spPr>
          <a:xfrm>
            <a:off x="774680" y="2015612"/>
            <a:ext cx="1838127" cy="199979"/>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Hai service chung một JVM</a:t>
            </a:r>
            <a:endParaRPr lang="en-US" sz="1050" dirty="0"/>
          </a:p>
        </p:txBody>
      </p:sp>
      <p:sp>
        <p:nvSpPr>
          <p:cNvPr id="15" name="Shape 13"/>
          <p:cNvSpPr/>
          <p:nvPr/>
        </p:nvSpPr>
        <p:spPr>
          <a:xfrm>
            <a:off x="5226162" y="1956907"/>
            <a:ext cx="6305154" cy="6309"/>
          </a:xfrm>
          <a:prstGeom prst="rect">
            <a:avLst/>
          </a:prstGeom>
          <a:solidFill>
            <a:srgbClr val="E3E6EA"/>
          </a:solidFill>
          <a:ln/>
        </p:spPr>
      </p:sp>
      <p:sp>
        <p:nvSpPr>
          <p:cNvPr id="16" name="Text 14"/>
          <p:cNvSpPr txBox="1"/>
          <p:nvPr/>
        </p:nvSpPr>
        <p:spPr>
          <a:xfrm>
            <a:off x="5340370" y="2015612"/>
            <a:ext cx="2398837"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Triển khai độc lập (process, container)</a:t>
            </a:r>
            <a:endParaRPr lang="en-US" sz="1050" dirty="0"/>
          </a:p>
        </p:txBody>
      </p:sp>
      <p:sp>
        <p:nvSpPr>
          <p:cNvPr id="17" name="Shape 15"/>
          <p:cNvSpPr/>
          <p:nvPr/>
        </p:nvSpPr>
        <p:spPr>
          <a:xfrm>
            <a:off x="660380" y="2239548"/>
            <a:ext cx="4565691" cy="6309"/>
          </a:xfrm>
          <a:prstGeom prst="rect">
            <a:avLst/>
          </a:prstGeom>
          <a:solidFill>
            <a:srgbClr val="E3E6EA"/>
          </a:solidFill>
          <a:ln/>
        </p:spPr>
      </p:sp>
      <p:sp>
        <p:nvSpPr>
          <p:cNvPr id="18" name="Text 16"/>
          <p:cNvSpPr txBox="1"/>
          <p:nvPr/>
        </p:nvSpPr>
        <p:spPr>
          <a:xfrm>
            <a:off x="774680" y="2298162"/>
            <a:ext cx="2310689"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synchronized</a:t>
            </a:r>
            <a:pPr algn="l" indent="0" marL="0">
              <a:buNone/>
            </a:pPr>
            <a:r>
              <a:rPr lang="en-US" sz="1050" b="1" dirty="0">
                <a:solidFill>
                  <a:srgbClr val="111111"/>
                </a:solidFill>
                <a:latin typeface="Arial" pitchFamily="34" charset="0"/>
                <a:ea typeface="Arial" pitchFamily="34" charset="-122"/>
                <a:cs typeface="Arial" pitchFamily="34" charset="-120"/>
              </a:rPr>
              <a:t> chặn IPN đồng thời</a:t>
            </a:r>
            <a:endParaRPr lang="en-US" sz="1000" dirty="0"/>
          </a:p>
        </p:txBody>
      </p:sp>
      <p:sp>
        <p:nvSpPr>
          <p:cNvPr id="19" name="Shape 17"/>
          <p:cNvSpPr/>
          <p:nvPr/>
        </p:nvSpPr>
        <p:spPr>
          <a:xfrm>
            <a:off x="5226162" y="2239548"/>
            <a:ext cx="6305154" cy="6309"/>
          </a:xfrm>
          <a:prstGeom prst="rect">
            <a:avLst/>
          </a:prstGeom>
          <a:solidFill>
            <a:srgbClr val="E3E6EA"/>
          </a:solidFill>
          <a:ln/>
        </p:spPr>
      </p:sp>
      <p:sp>
        <p:nvSpPr>
          <p:cNvPr id="20" name="Text 18"/>
          <p:cNvSpPr txBox="1"/>
          <p:nvPr/>
        </p:nvSpPr>
        <p:spPr>
          <a:xfrm>
            <a:off x="5340370" y="2298162"/>
            <a:ext cx="4405945"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UPDATE … WHERE status='PENDING'</a:t>
            </a:r>
            <a:pPr algn="l" indent="0" marL="0">
              <a:buNone/>
            </a:pPr>
            <a:r>
              <a:rPr lang="en-US" sz="1050" dirty="0">
                <a:solidFill>
                  <a:srgbClr val="3F454D"/>
                </a:solidFill>
                <a:latin typeface="Arial" pitchFamily="34" charset="0"/>
                <a:ea typeface="Arial" pitchFamily="34" charset="-122"/>
                <a:cs typeface="Arial" pitchFamily="34" charset="-120"/>
              </a:rPr>
              <a:t>, đúng khi chạy nhiều instance</a:t>
            </a:r>
            <a:endParaRPr lang="en-US" sz="1000" dirty="0"/>
          </a:p>
        </p:txBody>
      </p:sp>
      <p:sp>
        <p:nvSpPr>
          <p:cNvPr id="21" name="Shape 19"/>
          <p:cNvSpPr/>
          <p:nvPr/>
        </p:nvSpPr>
        <p:spPr>
          <a:xfrm>
            <a:off x="660380" y="2531608"/>
            <a:ext cx="4565691" cy="6309"/>
          </a:xfrm>
          <a:prstGeom prst="rect">
            <a:avLst/>
          </a:prstGeom>
          <a:solidFill>
            <a:srgbClr val="E3E6EA"/>
          </a:solidFill>
          <a:ln/>
        </p:spPr>
      </p:sp>
      <p:sp>
        <p:nvSpPr>
          <p:cNvPr id="22" name="Text 20"/>
          <p:cNvSpPr txBox="1"/>
          <p:nvPr/>
        </p:nvSpPr>
        <p:spPr>
          <a:xfrm>
            <a:off x="774680" y="2590312"/>
            <a:ext cx="2576413" cy="199979"/>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Payment gọi Order trực tiếp qua HTTP</a:t>
            </a:r>
            <a:endParaRPr lang="en-US" sz="1050" dirty="0"/>
          </a:p>
        </p:txBody>
      </p:sp>
      <p:sp>
        <p:nvSpPr>
          <p:cNvPr id="23" name="Shape 21"/>
          <p:cNvSpPr/>
          <p:nvPr/>
        </p:nvSpPr>
        <p:spPr>
          <a:xfrm>
            <a:off x="5226162" y="2531608"/>
            <a:ext cx="6305154" cy="6309"/>
          </a:xfrm>
          <a:prstGeom prst="rect">
            <a:avLst/>
          </a:prstGeom>
          <a:solidFill>
            <a:srgbClr val="E3E6EA"/>
          </a:solidFill>
          <a:ln/>
        </p:spPr>
      </p:sp>
      <p:sp>
        <p:nvSpPr>
          <p:cNvPr id="24" name="Text 22"/>
          <p:cNvSpPr txBox="1"/>
          <p:nvPr/>
        </p:nvSpPr>
        <p:spPr>
          <a:xfrm>
            <a:off x="5340370" y="2590312"/>
            <a:ext cx="2017898"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Outbox kết hợp message queue</a:t>
            </a:r>
            <a:endParaRPr lang="en-US" sz="1050" dirty="0"/>
          </a:p>
        </p:txBody>
      </p:sp>
      <p:sp>
        <p:nvSpPr>
          <p:cNvPr id="25" name="Shape 23"/>
          <p:cNvSpPr/>
          <p:nvPr/>
        </p:nvSpPr>
        <p:spPr>
          <a:xfrm>
            <a:off x="660380" y="2814157"/>
            <a:ext cx="4565691" cy="6309"/>
          </a:xfrm>
          <a:prstGeom prst="rect">
            <a:avLst/>
          </a:prstGeom>
          <a:solidFill>
            <a:srgbClr val="E3E6EA"/>
          </a:solidFill>
          <a:ln/>
        </p:spPr>
      </p:sp>
      <p:sp>
        <p:nvSpPr>
          <p:cNvPr id="26" name="Text 24"/>
          <p:cNvSpPr txBox="1"/>
          <p:nvPr/>
        </p:nvSpPr>
        <p:spPr>
          <a:xfrm>
            <a:off x="774680" y="2872862"/>
            <a:ext cx="2170877" cy="199979"/>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Token nội bộ sinh khi khởi động</a:t>
            </a:r>
            <a:endParaRPr lang="en-US" sz="1050" dirty="0"/>
          </a:p>
        </p:txBody>
      </p:sp>
      <p:sp>
        <p:nvSpPr>
          <p:cNvPr id="27" name="Shape 25"/>
          <p:cNvSpPr/>
          <p:nvPr/>
        </p:nvSpPr>
        <p:spPr>
          <a:xfrm>
            <a:off x="5226162" y="2814157"/>
            <a:ext cx="6305154" cy="6309"/>
          </a:xfrm>
          <a:prstGeom prst="rect">
            <a:avLst/>
          </a:prstGeom>
          <a:solidFill>
            <a:srgbClr val="E3E6EA"/>
          </a:solidFill>
          <a:ln/>
        </p:spPr>
      </p:sp>
      <p:sp>
        <p:nvSpPr>
          <p:cNvPr id="28" name="Text 26"/>
          <p:cNvSpPr txBox="1"/>
          <p:nvPr/>
        </p:nvSpPr>
        <p:spPr>
          <a:xfrm>
            <a:off x="5340370" y="2872862"/>
            <a:ext cx="3048518"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mTLS hoặc JWT; khóa lưu trong secret manager</a:t>
            </a:r>
            <a:endParaRPr lang="en-US" sz="1050" dirty="0"/>
          </a:p>
        </p:txBody>
      </p:sp>
      <p:sp>
        <p:nvSpPr>
          <p:cNvPr id="29" name="Shape 27"/>
          <p:cNvSpPr/>
          <p:nvPr/>
        </p:nvSpPr>
        <p:spPr>
          <a:xfrm>
            <a:off x="660380" y="3096707"/>
            <a:ext cx="4565691" cy="6309"/>
          </a:xfrm>
          <a:prstGeom prst="rect">
            <a:avLst/>
          </a:prstGeom>
          <a:solidFill>
            <a:srgbClr val="E3E6EA"/>
          </a:solidFill>
          <a:ln/>
        </p:spPr>
      </p:sp>
      <p:sp>
        <p:nvSpPr>
          <p:cNvPr id="30" name="Text 28"/>
          <p:cNvSpPr txBox="1"/>
          <p:nvPr/>
        </p:nvSpPr>
        <p:spPr>
          <a:xfrm>
            <a:off x="774680" y="3155412"/>
            <a:ext cx="2175632" cy="199979"/>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Địa chỉ </a:t>
            </a:r>
            <a:pPr algn="l" indent="0" marL="0">
              <a:buNone/>
            </a:pPr>
            <a:r>
              <a:rPr lang="en-US" sz="1000" b="1" dirty="0">
                <a:solidFill>
                  <a:srgbClr val="111111"/>
                </a:solidFill>
                <a:latin typeface="Courier New" pitchFamily="34" charset="0"/>
                <a:ea typeface="Courier New" pitchFamily="34" charset="-122"/>
                <a:cs typeface="Courier New" pitchFamily="34" charset="-120"/>
              </a:rPr>
              <a:t>127.0.0.1:8090</a:t>
            </a:r>
            <a:pPr algn="l" indent="0" marL="0">
              <a:buNone/>
            </a:pPr>
            <a:r>
              <a:rPr lang="en-US" sz="1050" b="1" dirty="0">
                <a:solidFill>
                  <a:srgbClr val="111111"/>
                </a:solidFill>
                <a:latin typeface="Arial" pitchFamily="34" charset="0"/>
                <a:ea typeface="Arial" pitchFamily="34" charset="-122"/>
                <a:cs typeface="Arial" pitchFamily="34" charset="-120"/>
              </a:rPr>
              <a:t> cố định</a:t>
            </a:r>
            <a:endParaRPr lang="en-US" sz="1050" dirty="0"/>
          </a:p>
        </p:txBody>
      </p:sp>
      <p:sp>
        <p:nvSpPr>
          <p:cNvPr id="31" name="Shape 29"/>
          <p:cNvSpPr/>
          <p:nvPr/>
        </p:nvSpPr>
        <p:spPr>
          <a:xfrm>
            <a:off x="5226162" y="3096707"/>
            <a:ext cx="6305154" cy="6309"/>
          </a:xfrm>
          <a:prstGeom prst="rect">
            <a:avLst/>
          </a:prstGeom>
          <a:solidFill>
            <a:srgbClr val="E3E6EA"/>
          </a:solidFill>
          <a:ln/>
        </p:spPr>
      </p:sp>
      <p:sp>
        <p:nvSpPr>
          <p:cNvPr id="32" name="Text 30"/>
          <p:cNvSpPr txBox="1"/>
          <p:nvPr/>
        </p:nvSpPr>
        <p:spPr>
          <a:xfrm>
            <a:off x="5340370" y="3160166"/>
            <a:ext cx="2042770"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Cấu hình hoặc service discovery</a:t>
            </a:r>
            <a:endParaRPr lang="en-US" sz="1050" dirty="0"/>
          </a:p>
        </p:txBody>
      </p:sp>
      <p:sp>
        <p:nvSpPr>
          <p:cNvPr id="33" name="Shape 31"/>
          <p:cNvSpPr/>
          <p:nvPr/>
        </p:nvSpPr>
        <p:spPr>
          <a:xfrm>
            <a:off x="660380" y="3388858"/>
            <a:ext cx="4565691" cy="6309"/>
          </a:xfrm>
          <a:prstGeom prst="rect">
            <a:avLst/>
          </a:prstGeom>
          <a:solidFill>
            <a:srgbClr val="E3E6EA"/>
          </a:solidFill>
          <a:ln/>
        </p:spPr>
      </p:sp>
      <p:sp>
        <p:nvSpPr>
          <p:cNvPr id="34" name="Text 32"/>
          <p:cNvSpPr txBox="1"/>
          <p:nvPr/>
        </p:nvSpPr>
        <p:spPr>
          <a:xfrm>
            <a:off x="774680" y="3447471"/>
            <a:ext cx="1435425" cy="199979"/>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TxnRef trùng mã đơn</a:t>
            </a:r>
            <a:endParaRPr lang="en-US" sz="1050" dirty="0"/>
          </a:p>
        </p:txBody>
      </p:sp>
      <p:sp>
        <p:nvSpPr>
          <p:cNvPr id="35" name="Shape 33"/>
          <p:cNvSpPr/>
          <p:nvPr/>
        </p:nvSpPr>
        <p:spPr>
          <a:xfrm>
            <a:off x="5226162" y="3388858"/>
            <a:ext cx="6305154" cy="6309"/>
          </a:xfrm>
          <a:prstGeom prst="rect">
            <a:avLst/>
          </a:prstGeom>
          <a:solidFill>
            <a:srgbClr val="E3E6EA"/>
          </a:solidFill>
          <a:ln/>
        </p:spPr>
      </p:sp>
      <p:sp>
        <p:nvSpPr>
          <p:cNvPr id="36" name="Text 34"/>
          <p:cNvSpPr txBox="1"/>
          <p:nvPr/>
        </p:nvSpPr>
        <p:spPr>
          <a:xfrm>
            <a:off x="5340370" y="3447471"/>
            <a:ext cx="3478469"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Mỗi lần thanh toán một TxnRef; cho phép thanh toán lại</a:t>
            </a:r>
            <a:endParaRPr lang="en-US" sz="1050" dirty="0"/>
          </a:p>
        </p:txBody>
      </p:sp>
      <p:sp>
        <p:nvSpPr>
          <p:cNvPr id="37" name="Shape 35"/>
          <p:cNvSpPr/>
          <p:nvPr/>
        </p:nvSpPr>
        <p:spPr>
          <a:xfrm>
            <a:off x="660380" y="3671407"/>
            <a:ext cx="4565691" cy="6309"/>
          </a:xfrm>
          <a:prstGeom prst="rect">
            <a:avLst/>
          </a:prstGeom>
          <a:solidFill>
            <a:srgbClr val="E3E6EA"/>
          </a:solidFill>
          <a:ln/>
        </p:spPr>
      </p:sp>
      <p:sp>
        <p:nvSpPr>
          <p:cNvPr id="38" name="Text 36"/>
          <p:cNvSpPr txBox="1"/>
          <p:nvPr/>
        </p:nvSpPr>
        <p:spPr>
          <a:xfrm>
            <a:off x="774680" y="3730112"/>
            <a:ext cx="2268261" cy="199979"/>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querydr theo yêu cầu người dùng</a:t>
            </a:r>
            <a:endParaRPr lang="en-US" sz="1050" dirty="0"/>
          </a:p>
        </p:txBody>
      </p:sp>
      <p:sp>
        <p:nvSpPr>
          <p:cNvPr id="39" name="Shape 37"/>
          <p:cNvSpPr/>
          <p:nvPr/>
        </p:nvSpPr>
        <p:spPr>
          <a:xfrm>
            <a:off x="5226162" y="3671407"/>
            <a:ext cx="6305154" cy="6309"/>
          </a:xfrm>
          <a:prstGeom prst="rect">
            <a:avLst/>
          </a:prstGeom>
          <a:solidFill>
            <a:srgbClr val="E3E6EA"/>
          </a:solidFill>
          <a:ln/>
        </p:spPr>
      </p:sp>
      <p:sp>
        <p:nvSpPr>
          <p:cNvPr id="40" name="Text 38"/>
          <p:cNvSpPr txBox="1"/>
          <p:nvPr/>
        </p:nvSpPr>
        <p:spPr>
          <a:xfrm>
            <a:off x="5340370" y="3730112"/>
            <a:ext cx="2701138"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Tác vụ định kỳ cho đơn PENDING quá hạn</a:t>
            </a:r>
            <a:endParaRPr lang="en-US" sz="1050" dirty="0"/>
          </a:p>
        </p:txBody>
      </p:sp>
      <p:sp>
        <p:nvSpPr>
          <p:cNvPr id="41" name="Shape 39"/>
          <p:cNvSpPr/>
          <p:nvPr/>
        </p:nvSpPr>
        <p:spPr>
          <a:xfrm>
            <a:off x="660380" y="3953957"/>
            <a:ext cx="4565691" cy="6309"/>
          </a:xfrm>
          <a:prstGeom prst="rect">
            <a:avLst/>
          </a:prstGeom>
          <a:solidFill>
            <a:srgbClr val="E3E6EA"/>
          </a:solidFill>
          <a:ln/>
        </p:spPr>
      </p:sp>
      <p:sp>
        <p:nvSpPr>
          <p:cNvPr id="42" name="Text 40"/>
          <p:cNvSpPr txBox="1"/>
          <p:nvPr/>
        </p:nvSpPr>
        <p:spPr>
          <a:xfrm>
            <a:off x="774680" y="4012662"/>
            <a:ext cx="2099920"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/payments</a:t>
            </a:r>
            <a:pPr algn="l" indent="0" marL="0">
              <a:buNone/>
            </a:pPr>
            <a:r>
              <a:rPr lang="en-US" sz="1050" b="1" dirty="0">
                <a:solidFill>
                  <a:srgbClr val="111111"/>
                </a:solidFill>
                <a:latin typeface="Arial" pitchFamily="34" charset="0"/>
                <a:ea typeface="Arial" pitchFamily="34" charset="-122"/>
                <a:cs typeface="Arial" pitchFamily="34" charset="-120"/>
              </a:rPr>
              <a:t> chung cổng với IPN</a:t>
            </a:r>
            <a:endParaRPr lang="en-US" sz="1000" dirty="0"/>
          </a:p>
        </p:txBody>
      </p:sp>
      <p:sp>
        <p:nvSpPr>
          <p:cNvPr id="43" name="Shape 41"/>
          <p:cNvSpPr/>
          <p:nvPr/>
        </p:nvSpPr>
        <p:spPr>
          <a:xfrm>
            <a:off x="5226162" y="3953957"/>
            <a:ext cx="6305154" cy="6309"/>
          </a:xfrm>
          <a:prstGeom prst="rect">
            <a:avLst/>
          </a:prstGeom>
          <a:solidFill>
            <a:srgbClr val="E3E6EA"/>
          </a:solidFill>
          <a:ln/>
        </p:spPr>
      </p:sp>
      <p:sp>
        <p:nvSpPr>
          <p:cNvPr id="44" name="Text 42"/>
          <p:cNvSpPr txBox="1"/>
          <p:nvPr/>
        </p:nvSpPr>
        <p:spPr>
          <a:xfrm>
            <a:off x="5340370" y="4012662"/>
            <a:ext cx="2107692"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Gateway chỉ công khai </a:t>
            </a:r>
            <a:pPr algn="l" indent="0" marL="0">
              <a:buNone/>
            </a:pPr>
            <a:r>
              <a:rPr lang="en-US" sz="1000" dirty="0">
                <a:solidFill>
                  <a:srgbClr val="3F454D"/>
                </a:solidFill>
                <a:latin typeface="Courier New" pitchFamily="34" charset="0"/>
                <a:ea typeface="Courier New" pitchFamily="34" charset="-122"/>
                <a:cs typeface="Courier New" pitchFamily="34" charset="-120"/>
              </a:rPr>
              <a:t>/vnpay/*</a:t>
            </a:r>
            <a:endParaRPr lang="en-US" sz="1050" dirty="0"/>
          </a:p>
        </p:txBody>
      </p:sp>
      <p:sp>
        <p:nvSpPr>
          <p:cNvPr id="45" name="Text 4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6" name="Text 4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658277"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Tổng kết</a:t>
            </a:r>
            <a:endParaRPr lang="en-US" sz="1100" dirty="0"/>
          </a:p>
        </p:txBody>
      </p:sp>
      <p:sp>
        <p:nvSpPr>
          <p:cNvPr id="3" name="Text 1"/>
          <p:cNvSpPr txBox="1"/>
          <p:nvPr/>
        </p:nvSpPr>
        <p:spPr>
          <a:xfrm>
            <a:off x="660380" y="643829"/>
            <a:ext cx="10343144"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Phạm vi thay đổi khi chuyển sang cổng thanh toán khác</a:t>
            </a:r>
            <a:endParaRPr lang="en-US" sz="3000" dirty="0"/>
          </a:p>
        </p:txBody>
      </p:sp>
      <p:sp>
        <p:nvSpPr>
          <p:cNvPr id="4" name="Shape 2"/>
          <p:cNvSpPr/>
          <p:nvPr/>
        </p:nvSpPr>
        <p:spPr>
          <a:xfrm>
            <a:off x="660380" y="1347368"/>
            <a:ext cx="10870936" cy="1977939"/>
          </a:xfrm>
          <a:prstGeom prst="roundRect">
            <a:avLst>
              <a:gd name="adj" fmla="val 5136"/>
            </a:avLst>
          </a:prstGeom>
          <a:solidFill>
            <a:srgbClr val="FFFFFF"/>
          </a:solidFill>
          <a:ln/>
        </p:spPr>
      </p:sp>
      <p:sp>
        <p:nvSpPr>
          <p:cNvPr id="5" name="Shape 3"/>
          <p:cNvSpPr/>
          <p:nvPr/>
        </p:nvSpPr>
        <p:spPr>
          <a:xfrm>
            <a:off x="660380" y="1347368"/>
            <a:ext cx="1848002" cy="422270"/>
          </a:xfrm>
          <a:prstGeom prst="rect">
            <a:avLst/>
          </a:prstGeom>
          <a:solidFill>
            <a:srgbClr val="ECF2FF"/>
          </a:solidFill>
          <a:ln/>
        </p:spPr>
      </p:sp>
      <p:sp>
        <p:nvSpPr>
          <p:cNvPr id="6" name="Text 4"/>
          <p:cNvSpPr txBox="1"/>
          <p:nvPr/>
        </p:nvSpPr>
        <p:spPr>
          <a:xfrm>
            <a:off x="825520" y="1479408"/>
            <a:ext cx="97923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THÀNH PHẦN</a:t>
            </a:r>
            <a:endParaRPr lang="en-US" sz="1000" dirty="0"/>
          </a:p>
        </p:txBody>
      </p:sp>
      <p:sp>
        <p:nvSpPr>
          <p:cNvPr id="7" name="Shape 5"/>
          <p:cNvSpPr/>
          <p:nvPr/>
        </p:nvSpPr>
        <p:spPr>
          <a:xfrm>
            <a:off x="2508382" y="1347368"/>
            <a:ext cx="4130893" cy="422270"/>
          </a:xfrm>
          <a:prstGeom prst="rect">
            <a:avLst/>
          </a:prstGeom>
          <a:solidFill>
            <a:srgbClr val="ECF2FF"/>
          </a:solidFill>
          <a:ln/>
        </p:spPr>
      </p:sp>
      <p:sp>
        <p:nvSpPr>
          <p:cNvPr id="8" name="Text 6"/>
          <p:cNvSpPr txBox="1"/>
          <p:nvPr/>
        </p:nvSpPr>
        <p:spPr>
          <a:xfrm>
            <a:off x="2673523" y="1479408"/>
            <a:ext cx="1930938"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THAY ĐỔI THEO CỔNG MỚI</a:t>
            </a:r>
            <a:endParaRPr lang="en-US" sz="1000" dirty="0"/>
          </a:p>
        </p:txBody>
      </p:sp>
      <p:sp>
        <p:nvSpPr>
          <p:cNvPr id="9" name="Shape 7"/>
          <p:cNvSpPr/>
          <p:nvPr/>
        </p:nvSpPr>
        <p:spPr>
          <a:xfrm>
            <a:off x="6639276" y="1347368"/>
            <a:ext cx="4892040" cy="422270"/>
          </a:xfrm>
          <a:prstGeom prst="rect">
            <a:avLst/>
          </a:prstGeom>
          <a:solidFill>
            <a:srgbClr val="ECF2FF"/>
          </a:solidFill>
          <a:ln/>
        </p:spPr>
      </p:sp>
      <p:sp>
        <p:nvSpPr>
          <p:cNvPr id="10" name="Text 8"/>
          <p:cNvSpPr txBox="1"/>
          <p:nvPr/>
        </p:nvSpPr>
        <p:spPr>
          <a:xfrm>
            <a:off x="6804325" y="1479408"/>
            <a:ext cx="957743"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GIỮ NGUYÊN</a:t>
            </a:r>
            <a:endParaRPr lang="en-US" sz="1000" dirty="0"/>
          </a:p>
        </p:txBody>
      </p:sp>
      <p:sp>
        <p:nvSpPr>
          <p:cNvPr id="11" name="Shape 9"/>
          <p:cNvSpPr/>
          <p:nvPr/>
        </p:nvSpPr>
        <p:spPr>
          <a:xfrm>
            <a:off x="660380" y="1769638"/>
            <a:ext cx="1848002" cy="6309"/>
          </a:xfrm>
          <a:prstGeom prst="rect">
            <a:avLst/>
          </a:prstGeom>
          <a:solidFill>
            <a:srgbClr val="E3E6EA"/>
          </a:solidFill>
          <a:ln/>
        </p:spPr>
      </p:sp>
      <p:sp>
        <p:nvSpPr>
          <p:cNvPr id="12" name="Text 10"/>
          <p:cNvSpPr txBox="1"/>
          <p:nvPr/>
        </p:nvSpPr>
        <p:spPr>
          <a:xfrm>
            <a:off x="800100" y="1873606"/>
            <a:ext cx="92034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Tạo yêu cầu</a:t>
            </a:r>
            <a:endParaRPr lang="en-US" sz="1150" dirty="0"/>
          </a:p>
        </p:txBody>
      </p:sp>
      <p:sp>
        <p:nvSpPr>
          <p:cNvPr id="13" name="Shape 11"/>
          <p:cNvSpPr/>
          <p:nvPr/>
        </p:nvSpPr>
        <p:spPr>
          <a:xfrm>
            <a:off x="2508382" y="1769638"/>
            <a:ext cx="4130893" cy="6309"/>
          </a:xfrm>
          <a:prstGeom prst="rect">
            <a:avLst/>
          </a:prstGeom>
          <a:solidFill>
            <a:srgbClr val="E3E6EA"/>
          </a:solidFill>
          <a:ln/>
        </p:spPr>
      </p:sp>
      <p:sp>
        <p:nvSpPr>
          <p:cNvPr id="14" name="Text 12"/>
          <p:cNvSpPr txBox="1"/>
          <p:nvPr/>
        </p:nvSpPr>
        <p:spPr>
          <a:xfrm>
            <a:off x="2648102" y="1865285"/>
            <a:ext cx="315074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Tham số </a:t>
            </a:r>
            <a:pPr algn="l" indent="0" marL="0">
              <a:buNone/>
            </a:pPr>
            <a:r>
              <a:rPr lang="en-US" sz="1200" dirty="0">
                <a:solidFill>
                  <a:srgbClr val="3F454D"/>
                </a:solidFill>
                <a:latin typeface="Courier New" pitchFamily="34" charset="0"/>
                <a:ea typeface="Courier New" pitchFamily="34" charset="-122"/>
                <a:cs typeface="Courier New" pitchFamily="34" charset="-120"/>
              </a:rPr>
              <a:t>vnp_*</a:t>
            </a:r>
            <a:pPr algn="l" indent="0" marL="0">
              <a:buNone/>
            </a:pPr>
            <a:r>
              <a:rPr lang="en-US" sz="1150" dirty="0">
                <a:solidFill>
                  <a:srgbClr val="3F454D"/>
                </a:solidFill>
                <a:latin typeface="Arial" pitchFamily="34" charset="0"/>
                <a:ea typeface="Arial" pitchFamily="34" charset="-122"/>
                <a:cs typeface="Arial" pitchFamily="34" charset="-120"/>
              </a:rPr>
              <a:t>, cách ký, định dạng thời gian</a:t>
            </a:r>
            <a:endParaRPr lang="en-US" sz="1150" dirty="0"/>
          </a:p>
        </p:txBody>
      </p:sp>
      <p:sp>
        <p:nvSpPr>
          <p:cNvPr id="15" name="Shape 13"/>
          <p:cNvSpPr/>
          <p:nvPr/>
        </p:nvSpPr>
        <p:spPr>
          <a:xfrm>
            <a:off x="6639276" y="1769638"/>
            <a:ext cx="4892040" cy="6309"/>
          </a:xfrm>
          <a:prstGeom prst="rect">
            <a:avLst/>
          </a:prstGeom>
          <a:solidFill>
            <a:srgbClr val="E3E6EA"/>
          </a:solidFill>
          <a:ln/>
        </p:spPr>
      </p:sp>
      <p:sp>
        <p:nvSpPr>
          <p:cNvPr id="16" name="Text 14"/>
          <p:cNvSpPr txBox="1"/>
          <p:nvPr/>
        </p:nvSpPr>
        <p:spPr>
          <a:xfrm>
            <a:off x="6778996" y="1873606"/>
            <a:ext cx="259771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Số tiền lấy từ Order, lưu thời điểm tạo</a:t>
            </a:r>
            <a:endParaRPr lang="en-US" sz="1150" dirty="0"/>
          </a:p>
        </p:txBody>
      </p:sp>
      <p:sp>
        <p:nvSpPr>
          <p:cNvPr id="17" name="Shape 15"/>
          <p:cNvSpPr/>
          <p:nvPr/>
        </p:nvSpPr>
        <p:spPr>
          <a:xfrm>
            <a:off x="660380" y="2163288"/>
            <a:ext cx="1848002" cy="6309"/>
          </a:xfrm>
          <a:prstGeom prst="rect">
            <a:avLst/>
          </a:prstGeom>
          <a:solidFill>
            <a:srgbClr val="E3E6EA"/>
          </a:solidFill>
          <a:ln/>
        </p:spPr>
      </p:sp>
      <p:sp>
        <p:nvSpPr>
          <p:cNvPr id="18" name="Text 16"/>
          <p:cNvSpPr txBox="1"/>
          <p:nvPr/>
        </p:nvSpPr>
        <p:spPr>
          <a:xfrm>
            <a:off x="800100" y="2259300"/>
            <a:ext cx="993678"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Xử lý kết quả</a:t>
            </a:r>
            <a:endParaRPr lang="en-US" sz="1150" dirty="0"/>
          </a:p>
        </p:txBody>
      </p:sp>
      <p:sp>
        <p:nvSpPr>
          <p:cNvPr id="19" name="Shape 17"/>
          <p:cNvSpPr/>
          <p:nvPr/>
        </p:nvSpPr>
        <p:spPr>
          <a:xfrm>
            <a:off x="2508382" y="2163288"/>
            <a:ext cx="4130893" cy="6309"/>
          </a:xfrm>
          <a:prstGeom prst="rect">
            <a:avLst/>
          </a:prstGeom>
          <a:solidFill>
            <a:srgbClr val="E3E6EA"/>
          </a:solidFill>
          <a:ln/>
        </p:spPr>
      </p:sp>
      <p:sp>
        <p:nvSpPr>
          <p:cNvPr id="20" name="Text 18"/>
          <p:cNvSpPr txBox="1"/>
          <p:nvPr/>
        </p:nvSpPr>
        <p:spPr>
          <a:xfrm>
            <a:off x="2648102" y="2259300"/>
            <a:ext cx="184992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Tên tham số, mã RspCode</a:t>
            </a:r>
            <a:endParaRPr lang="en-US" sz="1150" dirty="0"/>
          </a:p>
        </p:txBody>
      </p:sp>
      <p:sp>
        <p:nvSpPr>
          <p:cNvPr id="21" name="Shape 19"/>
          <p:cNvSpPr/>
          <p:nvPr/>
        </p:nvSpPr>
        <p:spPr>
          <a:xfrm>
            <a:off x="6639276" y="2163288"/>
            <a:ext cx="4892040" cy="6309"/>
          </a:xfrm>
          <a:prstGeom prst="rect">
            <a:avLst/>
          </a:prstGeom>
          <a:solidFill>
            <a:srgbClr val="E3E6EA"/>
          </a:solidFill>
          <a:ln/>
        </p:spPr>
      </p:sp>
      <p:sp>
        <p:nvSpPr>
          <p:cNvPr id="22" name="Text 20"/>
          <p:cNvSpPr txBox="1"/>
          <p:nvPr/>
        </p:nvSpPr>
        <p:spPr>
          <a:xfrm>
            <a:off x="6778996" y="2259300"/>
            <a:ext cx="415503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tin ReturnURL, kiểm tra chữ ký trước, xử lý IPN trùng</a:t>
            </a:r>
            <a:endParaRPr lang="en-US" sz="1150" dirty="0"/>
          </a:p>
        </p:txBody>
      </p:sp>
      <p:sp>
        <p:nvSpPr>
          <p:cNvPr id="23" name="Shape 21"/>
          <p:cNvSpPr/>
          <p:nvPr/>
        </p:nvSpPr>
        <p:spPr>
          <a:xfrm>
            <a:off x="660380" y="2541118"/>
            <a:ext cx="1848002" cy="6309"/>
          </a:xfrm>
          <a:prstGeom prst="rect">
            <a:avLst/>
          </a:prstGeom>
          <a:solidFill>
            <a:srgbClr val="E3E6EA"/>
          </a:solidFill>
          <a:ln/>
        </p:spPr>
      </p:sp>
      <p:sp>
        <p:nvSpPr>
          <p:cNvPr id="24" name="Text 22"/>
          <p:cNvSpPr txBox="1"/>
          <p:nvPr/>
        </p:nvSpPr>
        <p:spPr>
          <a:xfrm>
            <a:off x="800100" y="2645085"/>
            <a:ext cx="67693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Truy vấn</a:t>
            </a:r>
            <a:endParaRPr lang="en-US" sz="1150" dirty="0"/>
          </a:p>
        </p:txBody>
      </p:sp>
      <p:sp>
        <p:nvSpPr>
          <p:cNvPr id="25" name="Shape 23"/>
          <p:cNvSpPr/>
          <p:nvPr/>
        </p:nvSpPr>
        <p:spPr>
          <a:xfrm>
            <a:off x="2508382" y="2541118"/>
            <a:ext cx="4130893" cy="6309"/>
          </a:xfrm>
          <a:prstGeom prst="rect">
            <a:avLst/>
          </a:prstGeom>
          <a:solidFill>
            <a:srgbClr val="E3E6EA"/>
          </a:solidFill>
          <a:ln/>
        </p:spPr>
      </p:sp>
      <p:sp>
        <p:nvSpPr>
          <p:cNvPr id="26" name="Text 24"/>
          <p:cNvSpPr txBox="1"/>
          <p:nvPr/>
        </p:nvSpPr>
        <p:spPr>
          <a:xfrm>
            <a:off x="2648102" y="2636764"/>
            <a:ext cx="213640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Request querydr, cách ký nối </a:t>
            </a:r>
            <a:pPr algn="l" indent="0" marL="0">
              <a:buNone/>
            </a:pPr>
            <a:r>
              <a:rPr lang="en-US" sz="1200" dirty="0">
                <a:solidFill>
                  <a:srgbClr val="3F454D"/>
                </a:solidFill>
                <a:latin typeface="Courier New" pitchFamily="34" charset="0"/>
                <a:ea typeface="Courier New" pitchFamily="34" charset="-122"/>
                <a:cs typeface="Courier New" pitchFamily="34" charset="-120"/>
              </a:rPr>
              <a:t>|</a:t>
            </a:r>
            <a:endParaRPr lang="en-US" sz="1150" dirty="0"/>
          </a:p>
        </p:txBody>
      </p:sp>
      <p:sp>
        <p:nvSpPr>
          <p:cNvPr id="27" name="Shape 25"/>
          <p:cNvSpPr/>
          <p:nvPr/>
        </p:nvSpPr>
        <p:spPr>
          <a:xfrm>
            <a:off x="6639276" y="2541118"/>
            <a:ext cx="4892040" cy="6309"/>
          </a:xfrm>
          <a:prstGeom prst="rect">
            <a:avLst/>
          </a:prstGeom>
          <a:solidFill>
            <a:srgbClr val="E3E6EA"/>
          </a:solidFill>
          <a:ln/>
        </p:spPr>
      </p:sp>
      <p:sp>
        <p:nvSpPr>
          <p:cNvPr id="28" name="Text 26"/>
          <p:cNvSpPr txBox="1"/>
          <p:nvPr/>
        </p:nvSpPr>
        <p:spPr>
          <a:xfrm>
            <a:off x="6778996" y="2645085"/>
            <a:ext cx="420084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Truy vấn khi đơn còn PENDING; căn cứ vào cổng thanh toán</a:t>
            </a:r>
            <a:endParaRPr lang="en-US" sz="1150" dirty="0"/>
          </a:p>
        </p:txBody>
      </p:sp>
      <p:sp>
        <p:nvSpPr>
          <p:cNvPr id="29" name="Shape 27"/>
          <p:cNvSpPr/>
          <p:nvPr/>
        </p:nvSpPr>
        <p:spPr>
          <a:xfrm>
            <a:off x="660380" y="2934858"/>
            <a:ext cx="1848002" cy="6309"/>
          </a:xfrm>
          <a:prstGeom prst="rect">
            <a:avLst/>
          </a:prstGeom>
          <a:solidFill>
            <a:srgbClr val="E3E6EA"/>
          </a:solidFill>
          <a:ln/>
        </p:spPr>
      </p:sp>
      <p:sp>
        <p:nvSpPr>
          <p:cNvPr id="30" name="Text 28"/>
          <p:cNvSpPr txBox="1"/>
          <p:nvPr/>
        </p:nvSpPr>
        <p:spPr>
          <a:xfrm>
            <a:off x="800100" y="3038734"/>
            <a:ext cx="103418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Order Service</a:t>
            </a:r>
            <a:endParaRPr lang="en-US" sz="1150" dirty="0"/>
          </a:p>
        </p:txBody>
      </p:sp>
      <p:sp>
        <p:nvSpPr>
          <p:cNvPr id="31" name="Shape 29"/>
          <p:cNvSpPr/>
          <p:nvPr/>
        </p:nvSpPr>
        <p:spPr>
          <a:xfrm>
            <a:off x="2508382" y="2934858"/>
            <a:ext cx="4130893" cy="6309"/>
          </a:xfrm>
          <a:prstGeom prst="rect">
            <a:avLst/>
          </a:prstGeom>
          <a:solidFill>
            <a:srgbClr val="E3E6EA"/>
          </a:solidFill>
          <a:ln/>
        </p:spPr>
      </p:sp>
      <p:sp>
        <p:nvSpPr>
          <p:cNvPr id="32" name="Text 30"/>
          <p:cNvSpPr txBox="1"/>
          <p:nvPr/>
        </p:nvSpPr>
        <p:spPr>
          <a:xfrm>
            <a:off x="2648102" y="3038734"/>
            <a:ext cx="105064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thay đổi</a:t>
            </a:r>
            <a:endParaRPr lang="en-US" sz="1150" dirty="0"/>
          </a:p>
        </p:txBody>
      </p:sp>
      <p:sp>
        <p:nvSpPr>
          <p:cNvPr id="33" name="Shape 31"/>
          <p:cNvSpPr/>
          <p:nvPr/>
        </p:nvSpPr>
        <p:spPr>
          <a:xfrm>
            <a:off x="6639276" y="2934858"/>
            <a:ext cx="4892040" cy="6309"/>
          </a:xfrm>
          <a:prstGeom prst="rect">
            <a:avLst/>
          </a:prstGeom>
          <a:solidFill>
            <a:srgbClr val="E3E6EA"/>
          </a:solidFill>
          <a:ln/>
        </p:spPr>
      </p:sp>
      <p:sp>
        <p:nvSpPr>
          <p:cNvPr id="34" name="Text 32"/>
          <p:cNvSpPr txBox="1"/>
          <p:nvPr/>
        </p:nvSpPr>
        <p:spPr>
          <a:xfrm>
            <a:off x="6778996" y="3030413"/>
            <a:ext cx="356680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API </a:t>
            </a:r>
            <a:pPr algn="l" indent="0" marL="0">
              <a:buNone/>
            </a:pPr>
            <a:r>
              <a:rPr lang="en-US" sz="1200" dirty="0">
                <a:solidFill>
                  <a:srgbClr val="3F454D"/>
                </a:solidFill>
                <a:latin typeface="Courier New" pitchFamily="34" charset="0"/>
                <a:ea typeface="Courier New" pitchFamily="34" charset="-122"/>
                <a:cs typeface="Courier New" pitchFamily="34" charset="-120"/>
              </a:rPr>
              <a:t>/payments</a:t>
            </a:r>
            <a:pPr algn="l" indent="0" marL="0">
              <a:buNone/>
            </a:pPr>
            <a:r>
              <a:rPr lang="en-US" sz="1150" dirty="0">
                <a:solidFill>
                  <a:srgbClr val="3F454D"/>
                </a:solidFill>
                <a:latin typeface="Arial" pitchFamily="34" charset="0"/>
                <a:ea typeface="Arial" pitchFamily="34" charset="-122"/>
                <a:cs typeface="Arial" pitchFamily="34" charset="-120"/>
              </a:rPr>
              <a:t>, </a:t>
            </a:r>
            <a:pPr algn="l" indent="0" marL="0">
              <a:buNone/>
            </a:pPr>
            <a:r>
              <a:rPr lang="en-US" sz="1200" dirty="0">
                <a:solidFill>
                  <a:srgbClr val="3F454D"/>
                </a:solidFill>
                <a:latin typeface="Courier New" pitchFamily="34" charset="0"/>
                <a:ea typeface="Courier New" pitchFamily="34" charset="-122"/>
                <a:cs typeface="Courier New" pitchFamily="34" charset="-120"/>
              </a:rPr>
              <a:t>/internal/result</a:t>
            </a:r>
            <a:pPr algn="l" indent="0" marL="0">
              <a:buNone/>
            </a:pPr>
            <a:r>
              <a:rPr lang="en-US" sz="1150" dirty="0">
                <a:solidFill>
                  <a:srgbClr val="3F454D"/>
                </a:solidFill>
                <a:latin typeface="Arial" pitchFamily="34" charset="0"/>
                <a:ea typeface="Arial" pitchFamily="34" charset="-122"/>
                <a:cs typeface="Arial" pitchFamily="34" charset="-120"/>
              </a:rPr>
              <a:t>, </a:t>
            </a:r>
            <a:pPr algn="l" indent="0" marL="0">
              <a:buNone/>
            </a:pPr>
            <a:r>
              <a:rPr lang="en-US" sz="1200" dirty="0">
                <a:solidFill>
                  <a:srgbClr val="3F454D"/>
                </a:solidFill>
                <a:latin typeface="Courier New" pitchFamily="34" charset="0"/>
                <a:ea typeface="Courier New" pitchFamily="34" charset="-122"/>
                <a:cs typeface="Courier New" pitchFamily="34" charset="-120"/>
              </a:rPr>
              <a:t>/verify</a:t>
            </a:r>
            <a:endParaRPr lang="en-US" sz="1150" dirty="0"/>
          </a:p>
        </p:txBody>
      </p:sp>
      <p:sp>
        <p:nvSpPr>
          <p:cNvPr id="35" name="Text 3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6" name="Text 3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2149206"/>
            <a:ext cx="4984120" cy="654253"/>
          </a:xfrm>
          <a:prstGeom prst="rect">
            <a:avLst/>
          </a:prstGeom>
          <a:noFill/>
          <a:ln/>
        </p:spPr>
        <p:txBody>
          <a:bodyPr wrap="square" lIns="0" tIns="0" rIns="0" bIns="0" rtlCol="0" anchor="ctr"/>
          <a:lstStyle/>
          <a:p>
            <a:pPr algn="l" indent="0" marL="0">
              <a:buNone/>
            </a:pPr>
            <a:r>
              <a:rPr lang="en-US" sz="4600" b="1" dirty="0">
                <a:solidFill>
                  <a:srgbClr val="111111"/>
                </a:solidFill>
                <a:latin typeface="Arial" pitchFamily="34" charset="0"/>
                <a:ea typeface="Arial" pitchFamily="34" charset="-122"/>
                <a:cs typeface="Arial" pitchFamily="34" charset="-120"/>
              </a:rPr>
              <a:t>Câu hỏi thảo luận</a:t>
            </a:r>
            <a:endParaRPr lang="en-US" sz="4600" dirty="0"/>
          </a:p>
        </p:txBody>
      </p:sp>
      <p:sp>
        <p:nvSpPr>
          <p:cNvPr id="3" name="Shape 1"/>
          <p:cNvSpPr/>
          <p:nvPr/>
        </p:nvSpPr>
        <p:spPr>
          <a:xfrm>
            <a:off x="698510" y="2961376"/>
            <a:ext cx="63459" cy="63459"/>
          </a:xfrm>
          <a:prstGeom prst="ellipse">
            <a:avLst/>
          </a:prstGeom>
          <a:solidFill>
            <a:srgbClr val="0066FF"/>
          </a:solidFill>
          <a:ln/>
        </p:spPr>
      </p:sp>
      <p:sp>
        <p:nvSpPr>
          <p:cNvPr id="4" name="Text 2"/>
          <p:cNvSpPr txBox="1"/>
          <p:nvPr/>
        </p:nvSpPr>
        <p:spPr>
          <a:xfrm>
            <a:off x="876270" y="2859603"/>
            <a:ext cx="7177400"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Khách hàng đóng trình duyệt sau khi thanh toán: server nhận kết quả bằng cách nào?</a:t>
            </a:r>
            <a:endParaRPr lang="en-US" sz="1400" dirty="0"/>
          </a:p>
        </p:txBody>
      </p:sp>
      <p:sp>
        <p:nvSpPr>
          <p:cNvPr id="5" name="Shape 3"/>
          <p:cNvSpPr/>
          <p:nvPr/>
        </p:nvSpPr>
        <p:spPr>
          <a:xfrm>
            <a:off x="698510" y="3316986"/>
            <a:ext cx="63459" cy="63459"/>
          </a:xfrm>
          <a:prstGeom prst="ellipse">
            <a:avLst/>
          </a:prstGeom>
          <a:solidFill>
            <a:srgbClr val="0066FF"/>
          </a:solidFill>
          <a:ln/>
        </p:spPr>
      </p:sp>
      <p:sp>
        <p:nvSpPr>
          <p:cNvPr id="6" name="Text 4"/>
          <p:cNvSpPr txBox="1"/>
          <p:nvPr/>
        </p:nvSpPr>
        <p:spPr>
          <a:xfrm>
            <a:off x="876270" y="3215122"/>
            <a:ext cx="4492996"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IPN gửi hai lần: vì sao đơn không bị cập nhật hai lần?</a:t>
            </a:r>
            <a:endParaRPr lang="en-US" sz="1400" dirty="0"/>
          </a:p>
        </p:txBody>
      </p:sp>
      <p:sp>
        <p:nvSpPr>
          <p:cNvPr id="7" name="Shape 5"/>
          <p:cNvSpPr/>
          <p:nvPr/>
        </p:nvSpPr>
        <p:spPr>
          <a:xfrm>
            <a:off x="698510" y="3672596"/>
            <a:ext cx="63459" cy="63459"/>
          </a:xfrm>
          <a:prstGeom prst="ellipse">
            <a:avLst/>
          </a:prstGeom>
          <a:solidFill>
            <a:srgbClr val="0066FF"/>
          </a:solidFill>
          <a:ln/>
        </p:spPr>
      </p:sp>
      <p:sp>
        <p:nvSpPr>
          <p:cNvPr id="8" name="Text 6"/>
          <p:cNvSpPr txBox="1"/>
          <p:nvPr/>
        </p:nvSpPr>
        <p:spPr>
          <a:xfrm>
            <a:off x="876270" y="3570732"/>
            <a:ext cx="5099517"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querydr trả ResponseCode 00: đã đủ căn cứ ghi PAID chưa?</a:t>
            </a:r>
            <a:endParaRPr lang="en-US" sz="1400" dirty="0"/>
          </a:p>
        </p:txBody>
      </p:sp>
      <p:sp>
        <p:nvSpPr>
          <p:cNvPr id="9" name="Text 7"/>
          <p:cNvSpPr txBox="1"/>
          <p:nvPr/>
        </p:nvSpPr>
        <p:spPr>
          <a:xfrm>
            <a:off x="660380" y="4238244"/>
            <a:ext cx="6600231" cy="247620"/>
          </a:xfrm>
          <a:prstGeom prst="rect">
            <a:avLst/>
          </a:prstGeom>
          <a:noFill/>
          <a:ln/>
        </p:spPr>
        <p:txBody>
          <a:bodyPr wrap="square" lIns="0" tIns="0" rIns="0" bIns="0" rtlCol="0" anchor="ctr"/>
          <a:lstStyle/>
          <a:p>
            <a:pPr algn="l" indent="0" marL="0">
              <a:buNone/>
            </a:pPr>
            <a:r>
              <a:rPr lang="en-US" sz="1300" dirty="0">
                <a:solidFill>
                  <a:srgbClr val="6B7280"/>
                </a:solidFill>
                <a:latin typeface="Arial" pitchFamily="34" charset="0"/>
                <a:ea typeface="Arial" pitchFamily="34" charset="-122"/>
                <a:cs typeface="Arial" pitchFamily="34" charset="-120"/>
              </a:rPr>
              <a:t>Cảm ơn thầy cô và các bạn đã lắng nghe · Tài liệu: sandbox.vnpayment.vn/apis/docs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Tích hợp VNPAY Sandbox</dc:title>
  <dc:subject>PptxGenJS Presentation</dc:subject>
  <dc:creator>Lê Minh Đăng</dc:creator>
  <cp:lastModifiedBy>Lê Minh Đăng</cp:lastModifiedBy>
  <cp:revision>1</cp:revision>
  <dcterms:created xsi:type="dcterms:W3CDTF">2026-10-12T14:52:02Z</dcterms:created>
  <dcterms:modified xsi:type="dcterms:W3CDTF">2026-10-12T14:52:02Z</dcterms:modified>
</cp:coreProperties>
</file>