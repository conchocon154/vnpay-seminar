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Chào mọi người, hôm nay mình làm một buổi nhỏ về VNPAY Sandbox. Buổi này làm cho vui thôi, ít lý thuyết, chủ yếu cả lớp code cùng mình. Code chỉ có một file Java, bị lỗi thì cứ giơ tay hỏi nha.</a:t>
            </a:r>
          </a:p>
          <a:p>
            <a:endParaRPr lang="vi-VN"/>
          </a:p>
          <a:p>
            <a:r>
              <a:rPr lang="vi-VN" sz="1600" b="1" dirty="0"/>
              <a:t>Làm</a:t>
            </a:r>
          </a:p>
          <a:p>
            <a:r>
              <a:rPr lang="vi-VN" sz="1600" dirty="0"/>
              <a:t>Hỏi xem mọi người tải hai file trên Drive về chưa. Bạn nào chưa có thì tải trong lúc mình nói phần đầu.</a:t>
            </a:r>
          </a:p>
          <a:p>
            <a:endParaRPr lang="vi-VN"/>
          </a:p>
          <a:p>
            <a:r>
              <a:rPr lang="vi-VN" sz="1600" b="1" dirty="0"/>
              <a:t>Hỏi: Sao không tự làm form nhập thẻ luôn cho nhanh?</a:t>
            </a:r>
          </a:p>
          <a:p>
            <a:r>
              <a:rPr lang="vi-VN" sz="1600" dirty="0"/>
              <a:t>Đáp: Tự lưu số thẻ là vi phạm chuẩn PCI-DSS, với lại ngân hàng cũng không cấp API cho mình tự gọi. Nên mới cần cổng trung gian như VNPAY, khách nhập thẻ trên trang của VNPAY.</a:t>
            </a:r>
          </a:p>
          <a:p>
            <a:endParaRPr lang="vi-VN"/>
          </a:p>
          <a:p>
            <a:r>
              <a:rPr lang="vi-VN" sz="1600" b="1" dirty="0"/>
              <a:t>Hỏi: Sandbox có bị trừ tiền thật không?</a:t>
            </a:r>
          </a:p>
          <a:p>
            <a:r>
              <a:rPr lang="vi-VN" sz="1600" dirty="0"/>
              <a:t>Đáp: Không nha, thẻ test là thẻ giả, không có tiền thật.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Đây là kết quả mà cuối buổi mọi người sẽ làm được. Bên trái là trang cửa hàng, bấm Thanh toán thì web chuyển qua trang của VNPAY. Mình nhập thẻ test, xong nó quay về trang bên phải, trạng thái đơn là PAID và có luôn mã giao dịch bên VNPAY.</a:t>
            </a:r>
          </a:p>
          <a:p>
            <a:endParaRPr lang="vi-VN"/>
          </a:p>
          <a:p>
            <a:r>
              <a:rPr lang="vi-VN" sz="1600" dirty="0"/>
              <a:t>Phần giao diện mình làm sẵn rồi, hôm nay mình chỉ code phía server thôi.</a:t>
            </a:r>
          </a:p>
          <a:p>
            <a:endParaRPr lang="vi-VN"/>
          </a:p>
          <a:p>
            <a:r>
              <a:rPr lang="vi-VN" sz="1600" b="1" dirty="0"/>
              <a:t>Hỏi: Mã đơn với mã GD tại VNPAY khác nhau sao?</a:t>
            </a:r>
          </a:p>
          <a:p>
            <a:r>
              <a:rPr lang="vi-VN" sz="1600" dirty="0"/>
              <a:t>Đáp: Mã đơn (vnp_TxnRef) là bên mình tự tạo. Còn mã GD (vnp_TransactionNo) là VNPAY cấp sau khi thanh toán xong, cần tra soát thì đưa mã này cho VNPAY.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Trước khi code mọi người nhìn qua luồng một chút. Số 1 là web gọi server lấy link thanh toán. Số 2 là IPN, VNPAY gọi thẳng về server báo kết quả. Số 3 là trình duyệt của khách quay về web. Số 4 là server tự hỏi lại VNPAY.</a:t>
            </a:r>
          </a:p>
          <a:p>
            <a:endParaRPr lang="vi-VN"/>
          </a:p>
          <a:p>
            <a:r>
              <a:rPr lang="vi-VN" sz="1600" dirty="0"/>
              <a:t>Chỉ số 2 với số 4 được cập nhật trạng thái đơn. Số 3 đi qua trình duyệt nên chỉ dùng để hiển thị.</a:t>
            </a:r>
          </a:p>
          <a:p>
            <a:endParaRPr lang="vi-VN"/>
          </a:p>
          <a:p>
            <a:r>
              <a:rPr lang="vi-VN" sz="1600" b="1" dirty="0"/>
              <a:t>Hỏi: Sao ReturnURL không được cập nhật trạng thái đơn?</a:t>
            </a:r>
          </a:p>
          <a:p>
            <a:r>
              <a:rPr lang="vi-VN" sz="1600" dirty="0"/>
              <a:t>Đáp: Nó nằm trên trình duyệt, khách sửa vnp_ResponseCode=00 trên URL là xong. Khách tắt tab thì nó cũng không về.</a:t>
            </a:r>
          </a:p>
          <a:p>
            <a:endParaRPr lang="vi-VN"/>
          </a:p>
          <a:p>
            <a:r>
              <a:rPr lang="vi-VN" sz="1600" b="1" dirty="0"/>
              <a:t>Hỏi: IPN với querydr khác nhau chỗ nào?</a:t>
            </a:r>
          </a:p>
          <a:p>
            <a:r>
              <a:rPr lang="vi-VN" sz="1600" dirty="0"/>
              <a:t>Đáp: IPN là VNPAY chủ động gọi mình, còn querydr là mình chủ động hỏi VNPAY. Hai cái đều là server gọi server và đều có chữ ký.</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Trước khi code mình chạy thử bản trống, để chắc là máy ai cũng chạy được.</a:t>
            </a:r>
          </a:p>
          <a:p>
            <a:endParaRPr lang="vi-VN"/>
          </a:p>
          <a:p>
            <a:r>
              <a:rPr lang="vi-VN" sz="1600" b="1" dirty="0"/>
              <a:t>Làm</a:t>
            </a:r>
          </a:p>
          <a:p>
            <a:r>
              <a:rPr lang="vi-VN" sz="1600" dirty="0"/>
              <a:t>1. Mở thư mục chứa ShopStart.java và index.html bằng VSCode.</a:t>
            </a:r>
          </a:p>
          <a:p>
            <a:r>
              <a:rPr lang="vi-VN" sz="1600" dirty="0"/>
              <a:t>2. Mở terminal: menu Terminal → New Terminal.</a:t>
            </a:r>
          </a:p>
          <a:p>
            <a:r>
              <a:rPr lang="vi-VN" sz="1600" dirty="0"/>
              <a:t>3. Gõ java ShopStart.java rồi Enter.</a:t>
            </a:r>
          </a:p>
          <a:p>
            <a:r>
              <a:rPr lang="vi-VN" sz="1600" dirty="0"/>
              <a:t>4. Mở trình duyệt vào localhost:8080, thấy trang cửa hàng.</a:t>
            </a:r>
          </a:p>
          <a:p>
            <a:r>
              <a:rPr lang="vi-VN" sz="1600" dirty="0"/>
              <a:t>5. Bấm Thanh toán, báo Chưa làm TODO 5 là đúng.</a:t>
            </a:r>
          </a:p>
          <a:p>
            <a:r>
              <a:rPr lang="vi-VN" sz="1600" dirty="0"/>
              <a:t>Chờ đa số chạy được rồi mới qua slide sau.</a:t>
            </a:r>
          </a:p>
          <a:p>
            <a:endParaRPr lang="vi-VN"/>
          </a:p>
          <a:p>
            <a:r>
              <a:rPr lang="vi-VN" sz="1600" b="1" dirty="0"/>
              <a:t>Hỏi: Báo java: command not found?</a:t>
            </a:r>
          </a:p>
          <a:p>
            <a:r>
              <a:rPr lang="vi-VN" sz="1600" dirty="0"/>
              <a:t>Đáp: Máy chưa cài JDK hoặc chưa có trong PATH. Gõ java -version kiểm tra, cần JDK 17 trở lên.</a:t>
            </a:r>
          </a:p>
          <a:p>
            <a:endParaRPr lang="vi-VN"/>
          </a:p>
          <a:p>
            <a:r>
              <a:rPr lang="vi-VN" sz="1600" b="1" dirty="0"/>
              <a:t>Hỏi: Báo Address already in use?</a:t>
            </a:r>
          </a:p>
          <a:p>
            <a:r>
              <a:rPr lang="vi-VN" sz="1600" dirty="0"/>
              <a:t>Đáp: Port 8080 đang bị chiếm, thường là terminal cũ còn chạy. Tắt terminal đó đi.</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TODO 1 là điền hai giá trị VNPAY gửi trong email lúc đăng ký sandbox.</a:t>
            </a:r>
          </a:p>
          <a:p>
            <a:endParaRPr lang="vi-VN"/>
          </a:p>
          <a:p>
            <a:r>
              <a:rPr lang="vi-VN" sz="1600" b="1" dirty="0"/>
              <a:t>Làm</a:t>
            </a:r>
          </a:p>
          <a:p>
            <a:r>
              <a:rPr lang="vi-VN" sz="1600" dirty="0"/>
              <a:t>1. Trong ShopStart.java bấm Ctrl+F (Mac là Cmd+F), tìm TODO 1.</a:t>
            </a:r>
          </a:p>
          <a:p>
            <a:r>
              <a:rPr lang="vi-VN" sz="1600" dirty="0"/>
              <a:t>2. Mở email VNPAY, copy vnp_TmnCode, dán vào giữa hai dấu nháy của TMN_CODE.</a:t>
            </a:r>
          </a:p>
          <a:p>
            <a:r>
              <a:rPr lang="vi-VN" sz="1600" dirty="0"/>
              <a:t>3. Copy vnp_HashSecret, dán vào HASH_SECRET.</a:t>
            </a:r>
          </a:p>
          <a:p>
            <a:r>
              <a:rPr lang="vi-VN" sz="1600" dirty="0"/>
              <a:t>4. Kiểm tra lại: TmnCode 8 ký tự, HashSecret 32 ký tự, không dính dấu cách.</a:t>
            </a:r>
          </a:p>
          <a:p>
            <a:r>
              <a:rPr lang="vi-VN" sz="1600" dirty="0"/>
              <a:t>5. Lưu file. Chưa cần chạy lại.</a:t>
            </a:r>
          </a:p>
          <a:p>
            <a:endParaRPr lang="vi-VN"/>
          </a:p>
          <a:p>
            <a:r>
              <a:rPr lang="vi-VN" sz="1600" b="1" dirty="0"/>
              <a:t>Hỏi: TmnCode có cần giấu không?</a:t>
            </a:r>
          </a:p>
          <a:p>
            <a:r>
              <a:rPr lang="vi-VN" sz="1600" dirty="0"/>
              <a:t>Đáp: Không, nó nằm luôn trên URL thanh toán. Cái cần giấu là HashSecret, lộ ra thì người khác ký được đơn giả.</a:t>
            </a:r>
          </a:p>
          <a:p>
            <a:endParaRPr lang="vi-VN"/>
          </a:p>
          <a:p>
            <a:r>
              <a:rPr lang="vi-VN" sz="1600" b="1" dirty="0"/>
              <a:t>Hỏi: Không thấy email VNPAY?</a:t>
            </a:r>
          </a:p>
          <a:p>
            <a:r>
              <a:rPr lang="vi-VN" sz="1600" dirty="0"/>
              <a:t>Đáp: Xem trong mục spam hoặc quảng cáo của hộp thư.</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Trước khi code mấy hàm ký thì mình nói qua cách VNPAY tạo chữ ký. Có 3 bước thôi: sắp xếp tham số theo alphabet, encode giá trị rồi nối bằng dấu &amp;, cuối cùng băm HMAC-SHA512 bằng HashSecret.</a:t>
            </a:r>
          </a:p>
          <a:p>
            <a:endParaRPr lang="vi-VN"/>
          </a:p>
          <a:p>
            <a:r>
              <a:rPr lang="vi-VN" sz="1600" dirty="0"/>
              <a:t>Lúc gửi đi mình ký, lúc VNPAY trả về thì họ cũng ký theo đúng cách này. Hai bên ra cùng một chuỗi thì chữ ký mới khớp được.</a:t>
            </a:r>
          </a:p>
          <a:p>
            <a:endParaRPr lang="vi-VN"/>
          </a:p>
          <a:p>
            <a:r>
              <a:rPr lang="vi-VN" sz="1600" dirty="0"/>
              <a:t>3 bước này tương ứng với 3 TODO tiếp theo.</a:t>
            </a:r>
          </a:p>
          <a:p>
            <a:endParaRPr lang="vi-VN"/>
          </a:p>
          <a:p>
            <a:r>
              <a:rPr lang="vi-VN" sz="1600" b="1" dirty="0"/>
              <a:t>Hỏi: Sao phải sắp xếp theo alphabet?</a:t>
            </a:r>
          </a:p>
          <a:p>
            <a:r>
              <a:rPr lang="vi-VN" sz="1600" dirty="0"/>
              <a:t>Đáp: Để mình với VNPAY ráp ra đúng một chuỗi giống nhau, chứ mỗi bên một thứ tự là hash ra khác liền.</a:t>
            </a:r>
          </a:p>
          <a:p>
            <a:endParaRPr lang="vi-VN"/>
          </a:p>
          <a:p>
            <a:r>
              <a:rPr lang="vi-VN" sz="1600" b="1" dirty="0"/>
              <a:t>Hỏi: HMAC khác hash thường chỗ nào?</a:t>
            </a:r>
          </a:p>
          <a:p>
            <a:r>
              <a:rPr lang="vi-VN" sz="1600" dirty="0"/>
              <a:t>Đáp: Hash thường thì ai cũng tính được. HMAC phải có thêm HashSecret, nên chỉ mình với VNPAY tính ra được.</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Hàm này băm chuỗi data bằng key là HashSecret, trả về chuỗi hex chữ thường.</a:t>
            </a:r>
          </a:p>
          <a:p>
            <a:endParaRPr lang="vi-VN"/>
          </a:p>
          <a:p>
            <a:r>
              <a:rPr lang="vi-VN" sz="1600" b="1" dirty="0"/>
              <a:t>Gõ theo thứ tự</a:t>
            </a:r>
          </a:p>
          <a:p>
            <a:r>
              <a:rPr lang="vi-VN" sz="1600" dirty="0"/>
              <a:t>1. Xoá dòng return ""; có sẵn trong hàm.</a:t>
            </a:r>
          </a:p>
          <a:p>
            <a:r>
              <a:rPr lang="vi-VN" sz="1600" dirty="0"/>
              <a:t>2. Mở try catch, vì getInstance và init có thể ném exception.</a:t>
            </a:r>
          </a:p>
          <a:p>
            <a:r>
              <a:rPr lang="vi-VN" sz="1600" dirty="0"/>
              <a:t>3. Mac mac = Mac.getInstance("HmacSHA512"): lấy thuật toán.</a:t>
            </a:r>
          </a:p>
          <a:p>
            <a:r>
              <a:rPr lang="vi-VN" sz="1600" dirty="0"/>
              <a:t>4. mac.init(new SecretKeySpec(...)): gắn key vào. UTF_8 đã khai báo sẵn ở đầu file.</a:t>
            </a:r>
          </a:p>
          <a:p>
            <a:r>
              <a:rPr lang="vi-VN" sz="1600" dirty="0"/>
              <a:t>5. mac.doFinal(data.getBytes(UTF_8)): ra mảng 64 byte.</a:t>
            </a:r>
          </a:p>
          <a:p>
            <a:r>
              <a:rPr lang="vi-VN" sz="1600" dirty="0"/>
              <a:t>6. Tạo StringBuilder, vòng for đổi từng byte ra 2 ký tự bằng String.format("%02x", b).</a:t>
            </a:r>
          </a:p>
          <a:p>
            <a:r>
              <a:rPr lang="vi-VN" sz="1600" dirty="0"/>
              <a:t>7. return hex.toString(). Trong catch thì ném IllegalStateException.</a:t>
            </a:r>
          </a:p>
          <a:p>
            <a:endParaRPr lang="vi-VN"/>
          </a:p>
          <a:p>
            <a:r>
              <a:rPr lang="vi-VN" sz="1600" b="1" dirty="0"/>
              <a:t>Hỏi: Sao chữ ký luôn dài 128 ký tự?</a:t>
            </a:r>
          </a:p>
          <a:p>
            <a:r>
              <a:rPr lang="vi-VN" sz="1600" dirty="0"/>
              <a:t>Đáp: SHA-512 ra 512 bit, chia 8 được 64 byte. Mỗi byte in ra hex là 2 ký tự nên 64 x 2 = 128.</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Hàm này ráp map tham số thành chuỗi key=value nối bằng dấu &amp;, đã sắp xếp và encode.</a:t>
            </a:r>
          </a:p>
          <a:p>
            <a:endParaRPr lang="vi-VN"/>
          </a:p>
          <a:p>
            <a:r>
              <a:rPr lang="vi-VN" sz="1600" b="1" dirty="0"/>
              <a:t>Gõ theo thứ tự</a:t>
            </a:r>
          </a:p>
          <a:p>
            <a:r>
              <a:rPr lang="vi-VN" sz="1600" dirty="0"/>
              <a:t>1. Xoá dòng return ""; có sẵn.</a:t>
            </a:r>
          </a:p>
          <a:p>
            <a:r>
              <a:rPr lang="vi-VN" sz="1600" dirty="0"/>
              <a:t>2. Tạo StringBuilder sb.</a:t>
            </a:r>
          </a:p>
          <a:p>
            <a:r>
              <a:rPr lang="vi-VN" sz="1600" dirty="0"/>
              <a:t>3. Vòng for duyệt new TreeMap&lt;&gt;(params).entrySet(). TreeMap tự sắp key theo alphabet.</a:t>
            </a:r>
          </a:p>
          <a:p>
            <a:r>
              <a:rPr lang="vi-VN" sz="1600" dirty="0"/>
              <a:t>4. Value null hoặc rỗng thì continue.</a:t>
            </a:r>
          </a:p>
          <a:p>
            <a:r>
              <a:rPr lang="vi-VN" sz="1600" dirty="0"/>
              <a:t>5. Nếu sb đã có chữ thì append dấu &amp; trước.</a:t>
            </a:r>
          </a:p>
          <a:p>
            <a:r>
              <a:rPr lang="vi-VN" sz="1600" dirty="0"/>
              <a:t>6. Append key đã encode, dấu =, rồi value đã encode. ASCII là US_ASCII khai báo sẵn ở đầu file.</a:t>
            </a:r>
          </a:p>
          <a:p>
            <a:r>
              <a:rPr lang="vi-VN" sz="1600" dirty="0"/>
              <a:t>7. Hết vòng for thì return sb.toString().</a:t>
            </a:r>
          </a:p>
          <a:p>
            <a:endParaRPr lang="vi-VN"/>
          </a:p>
          <a:p>
            <a:r>
              <a:rPr lang="vi-VN" sz="1600" b="1" dirty="0"/>
              <a:t>Hỏi: Encode key hay encode value?</a:t>
            </a:r>
          </a:p>
          <a:p>
            <a:r>
              <a:rPr lang="vi-VN" sz="1600" dirty="0"/>
              <a:t>Đáp: Bắt buộc encode value. Key toàn chữ không dấu nên encode hay không cũng như nhau.</a:t>
            </a:r>
          </a:p>
          <a:p>
            <a:endParaRPr lang="vi-VN"/>
          </a:p>
          <a:p>
            <a:r>
              <a:rPr lang="vi-VN" sz="1600" b="1" dirty="0"/>
              <a:t>Hỏi: Sao phải bỏ tham số rỗng?</a:t>
            </a:r>
          </a:p>
          <a:p>
            <a:r>
              <a:rPr lang="vi-VN" sz="1600" dirty="0"/>
              <a:t>Đáp: VNPAY không đưa tham số rỗng vào chuỗi ký, mình để lại là chuỗi khác của họ.</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Hàm này kiểm tra dữ liệu gửi về có đúng là VNPAY ký không.</a:t>
            </a:r>
          </a:p>
          <a:p>
            <a:endParaRPr lang="vi-VN"/>
          </a:p>
          <a:p>
            <a:r>
              <a:rPr lang="vi-VN" sz="1600" b="1" dirty="0"/>
              <a:t>Gõ theo thứ tự</a:t>
            </a:r>
          </a:p>
          <a:p>
            <a:r>
              <a:rPr lang="vi-VN" sz="1600" dirty="0"/>
              <a:t>1. Xoá dòng return false; có sẵn.</a:t>
            </a:r>
          </a:p>
          <a:p>
            <a:r>
              <a:rPr lang="vi-VN" sz="1600" dirty="0"/>
              <a:t>2. Lấy received = params.get("vnp_SecureHash"). Null hoặc rỗng thì return false.</a:t>
            </a:r>
          </a:p>
          <a:p>
            <a:r>
              <a:rPr lang="vi-VN" sz="1600" dirty="0"/>
              <a:t>3. Copy params sang một TreeMap tên clone, để không sửa map gốc.</a:t>
            </a:r>
          </a:p>
          <a:p>
            <a:r>
              <a:rPr lang="vi-VN" sz="1600" dirty="0"/>
              <a:t>4. clone.remove hai key vnp_SecureHash và vnp_SecureHashType.</a:t>
            </a:r>
          </a:p>
          <a:p>
            <a:r>
              <a:rPr lang="vi-VN" sz="1600" dirty="0"/>
              <a:t>5. Ký lại: hmacSHA512(HASH_SECRET, buildQueryString(clone)).</a:t>
            </a:r>
          </a:p>
          <a:p>
            <a:r>
              <a:rPr lang="vi-VN" sz="1600" dirty="0"/>
              <a:t>6. So với received bằng equalsIgnoreCase rồi return kết quả.</a:t>
            </a:r>
          </a:p>
          <a:p>
            <a:endParaRPr lang="vi-VN"/>
          </a:p>
          <a:p>
            <a:r>
              <a:rPr lang="vi-VN" sz="1600" b="1" dirty="0"/>
              <a:t>Hỏi: Sao phải remove vnp_SecureHash rồi mới ký lại?</a:t>
            </a:r>
          </a:p>
          <a:p>
            <a:r>
              <a:rPr lang="vi-VN" sz="1600" dirty="0"/>
              <a:t>Đáp: Lúc VNPAY ký thì chưa có chữ ký này. Phải ký đúng phần dữ liệu họ đã ký thì mới ra cùng kết quả.</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TODO 5 chia hai slide. Phần 1 là lưu đơn và bỏ tham số vào map.</a:t>
            </a:r>
          </a:p>
          <a:p>
            <a:endParaRPr lang="vi-VN"/>
          </a:p>
          <a:p>
            <a:r>
              <a:rPr lang="vi-VN" sz="1600" b="1" dirty="0"/>
              <a:t>Gõ theo thứ tự</a:t>
            </a:r>
          </a:p>
          <a:p>
            <a:r>
              <a:rPr lang="vi-VN" sz="1600" dirty="0"/>
              <a:t>1. Xoá dòng return báo lỗi Chưa làm TODO 5.</a:t>
            </a:r>
          </a:p>
          <a:p>
            <a:r>
              <a:rPr lang="vi-VN" sz="1600" dirty="0"/>
              <a:t>2. now = LocalDateTime.now(VN). VN là múi giờ Asia/Ho_Chi_Minh khai sẵn.</a:t>
            </a:r>
          </a:p>
          <a:p>
            <a:r>
              <a:rPr lang="vi-VN" sz="1600" dirty="0"/>
              <a:t>3. createDate = now.format(TIME), dạng yyyyMMddHHmmss.</a:t>
            </a:r>
          </a:p>
          <a:p>
            <a:r>
              <a:rPr lang="vi-VN" sz="1600" dirty="0"/>
              <a:t>4. txnRef = newTxnRef(createDate), hàm này có sẵn ở dưới.</a:t>
            </a:r>
          </a:p>
          <a:p>
            <a:r>
              <a:rPr lang="vi-VN" sz="1600" dirty="0"/>
              <a:t>5. ORDERS.put(...): lưu đơn, trạng thái mặc định là PENDING.</a:t>
            </a:r>
          </a:p>
          <a:p>
            <a:r>
              <a:rPr lang="vi-VN" sz="1600" dirty="0"/>
              <a:t>6. Tạo HashMap p, put 13 tham số. Mình đọc từng dòng, mọi người gõ theo.</a:t>
            </a:r>
          </a:p>
          <a:p>
            <a:r>
              <a:rPr lang="vi-VN" sz="1600" dirty="0"/>
              <a:t>7. Amount nhân 100, ExpireDate cộng 15 phút, bankCode có giá trị mới put.</a:t>
            </a:r>
          </a:p>
          <a:p>
            <a:r>
              <a:rPr lang="vi-VN" sz="1600" dirty="0"/>
              <a:t>Chưa đóng ngoặc hàm, qua slide sau gõ tiếp.</a:t>
            </a:r>
          </a:p>
          <a:p>
            <a:endParaRPr lang="vi-VN"/>
          </a:p>
          <a:p>
            <a:r>
              <a:rPr lang="vi-VN" sz="1600" b="1" dirty="0"/>
              <a:t>Hỏi: Sao Amount phải nhân 100?</a:t>
            </a:r>
          </a:p>
          <a:p>
            <a:r>
              <a:rPr lang="vi-VN" sz="1600" dirty="0"/>
              <a:t>Đáp: VNPAY quy định vậy để khỏi xử lý số lẻ. 25.000đ gửi đi là 2500000.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Phần 2 của createPayment, gõ tiếp ngay dưới dòng put bankCode.</a:t>
            </a:r>
          </a:p>
          <a:p>
            <a:endParaRPr lang="vi-VN"/>
          </a:p>
          <a:p>
            <a:r>
              <a:rPr lang="vi-VN" sz="1600" b="1" dirty="0"/>
              <a:t>Gõ theo thứ tự</a:t>
            </a:r>
          </a:p>
          <a:p>
            <a:r>
              <a:rPr lang="vi-VN" sz="1600" dirty="0"/>
              <a:t>1. query = buildQueryString(p).</a:t>
            </a:r>
          </a:p>
          <a:p>
            <a:r>
              <a:rPr lang="vi-VN" sz="1600" dirty="0"/>
              <a:t>2. url = PAY_URL + "?" + query + "&amp;vnp_SecureHash=" + hmacSHA512(HASH_SECRET, query). PAY_URL khai sẵn ở đầu file.</a:t>
            </a:r>
          </a:p>
          <a:p>
            <a:r>
              <a:rPr lang="vi-VN" sz="1600" dirty="0"/>
              <a:t>3. return chuỗi JSON có txnRef và paymentUrl. Dấu nháy kép trong chuỗi phải viết \".</a:t>
            </a:r>
          </a:p>
          <a:p>
            <a:r>
              <a:rPr lang="vi-VN" sz="1600" dirty="0"/>
              <a:t>4. Đóng ngoặc } của hàm.</a:t>
            </a:r>
          </a:p>
          <a:p>
            <a:r>
              <a:rPr lang="vi-VN" sz="1600" dirty="0"/>
              <a:t>Web nhận paymentUrl rồi tự chuyển trang sang VNPAY, phần đó index.html làm sẵn.</a:t>
            </a:r>
          </a:p>
          <a:p>
            <a:endParaRPr lang="vi-VN"/>
          </a:p>
          <a:p>
            <a:r>
              <a:rPr lang="vi-VN" sz="1600" b="1" dirty="0"/>
              <a:t>Hỏi: Sao không ký bằng JavaScript cho khỏi gọi server?</a:t>
            </a:r>
          </a:p>
          <a:p>
            <a:r>
              <a:rPr lang="vi-VN" sz="1600" dirty="0"/>
              <a:t>Đáp: Để HashSecret trong JavaScript thì ai mở View Source cũng thấy, rồi tự ký đơn giả được.</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Đủ TODO 1 tới 5 rồi, giờ test lần đầu.</a:t>
            </a:r>
          </a:p>
          <a:p>
            <a:endParaRPr lang="vi-VN"/>
          </a:p>
          <a:p>
            <a:r>
              <a:rPr lang="vi-VN" sz="1600" b="1" dirty="0"/>
              <a:t>Làm</a:t>
            </a:r>
          </a:p>
          <a:p>
            <a:r>
              <a:rPr lang="vi-VN" sz="1600" dirty="0"/>
              <a:t>1. Ở terminal bấm Ctrl+C để dừng server.</a:t>
            </a:r>
          </a:p>
          <a:p>
            <a:r>
              <a:rPr lang="vi-VN" sz="1600" dirty="0"/>
              <a:t>2. Bấm mũi tên lên, Enter để chạy lại java ShopStart.java.</a:t>
            </a:r>
          </a:p>
          <a:p>
            <a:r>
              <a:rPr lang="vi-VN" sz="1600" dirty="0"/>
              <a:t>3. Log phải hiện TmnCode của mình, không còn dòng Chưa điền TMN_CODE.</a:t>
            </a:r>
          </a:p>
          <a:p>
            <a:r>
              <a:rPr lang="vi-VN" sz="1600" dirty="0"/>
              <a:t>4. F5 trang localhost:8080, bấm Thanh toán.</a:t>
            </a:r>
          </a:p>
          <a:p>
            <a:r>
              <a:rPr lang="vi-VN" sz="1600" dirty="0"/>
              <a:t>5. Sang trang VNPAY, đúng số tiền và mã đơn là đạt.</a:t>
            </a:r>
          </a:p>
          <a:p>
            <a:r>
              <a:rPr lang="vi-VN" sz="1600" dirty="0"/>
              <a:t>Ai bị lỗi thì xem bảng bên phải. Cho khoảng 3 phút.</a:t>
            </a:r>
          </a:p>
          <a:p>
            <a:endParaRPr lang="vi-VN"/>
          </a:p>
          <a:p>
            <a:r>
              <a:rPr lang="vi-VN" sz="1600" b="1" dirty="0"/>
              <a:t>Hỏi: Báo lỗi biên dịch unreachable statement?</a:t>
            </a:r>
          </a:p>
          <a:p>
            <a:r>
              <a:rPr lang="vi-VN" sz="1600" dirty="0"/>
              <a:t>Đáp: Quên xoá dòng return có sẵn trong hàm, Java thấy code phía sau không bao giờ chạy tới.</a:t>
            </a:r>
          </a:p>
          <a:p>
            <a:endParaRPr lang="vi-VN"/>
          </a:p>
          <a:p>
            <a:r>
              <a:rPr lang="vi-VN" sz="1600" b="1" dirty="0"/>
              <a:t>Hỏi: Báo sai chữ ký mà không biết sai chỗ nào?</a:t>
            </a:r>
          </a:p>
          <a:p>
            <a:r>
              <a:rPr lang="vi-VN" sz="1600" dirty="0"/>
              <a:t>Đáp: In chuỗi query ra trước khi băm rồi so với link thật. Thường là quên encode hoặc HashSecret dính dấu cách.</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Giờ mọi người thanh toán bằng thẻ test bên trái. Xong quay về trang kết quả là thấy PAID.</a:t>
            </a:r>
          </a:p>
          <a:p>
            <a:endParaRPr lang="vi-VN"/>
          </a:p>
          <a:p>
            <a:r>
              <a:rPr lang="vi-VN" sz="1600" dirty="0"/>
              <a:t>Nhưng nhìn log thì dòng đó ghi querydr chứ không phải IPN. Trang kết quả hỏi server, server thấy đơn còn PENDING nên tự hỏi VNPAY. Hàm này mình viết sẵn rồi. IPN thì chưa về vì VNPAY không gọi vào localhost được.</a:t>
            </a:r>
          </a:p>
          <a:p>
            <a:endParaRPr lang="vi-VN"/>
          </a:p>
          <a:p>
            <a:r>
              <a:rPr lang="vi-VN" sz="1600" b="1" dirty="0"/>
              <a:t>Làm</a:t>
            </a:r>
          </a:p>
          <a:p>
            <a:r>
              <a:rPr lang="vi-VN" sz="1600" dirty="0"/>
              <a:t>Cho mọi người thanh toán, chỉ vào dòng log querydr.</a:t>
            </a:r>
          </a:p>
          <a:p>
            <a:endParaRPr lang="vi-VN"/>
          </a:p>
          <a:p>
            <a:r>
              <a:rPr lang="vi-VN" sz="1600" b="1" dirty="0"/>
              <a:t>Hỏi: PAID rồi thì cần IPN làm gì nữa?</a:t>
            </a:r>
          </a:p>
          <a:p>
            <a:r>
              <a:rPr lang="vi-VN" sz="1600" dirty="0"/>
              <a:t>Đáp: querydr chỉ chạy khi có người mở trang kết quả. Khách tắt tab luôn thì đơn kẹt PENDING. Slide sau nói tiếp.</a:t>
            </a:r>
          </a:p>
          <a:p>
            <a:endParaRPr lang="vi-VN"/>
          </a:p>
          <a:p>
            <a:r>
              <a:rPr lang="vi-VN" sz="1600" b="1" dirty="0"/>
              <a:t>Hỏi: VNPAY báo thẻ không hợp lệ?</a:t>
            </a:r>
          </a:p>
          <a:p>
            <a:r>
              <a:rPr lang="vi-VN" sz="1600" dirty="0"/>
              <a:t>Đáp: Nhớ chọn ngân hàng NCB, với 07/15 là ngày phát hành chứ không phải ngày hết hạn.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Như slide trước, querydr chỉ chạy khi có người mở trang kết quả. Khách tắt tab là đơn kẹt PENDING dù đã trả tiền.</a:t>
            </a:r>
          </a:p>
          <a:p>
            <a:endParaRPr lang="vi-VN"/>
          </a:p>
          <a:p>
            <a:r>
              <a:rPr lang="vi-VN" sz="1600" dirty="0"/>
              <a:t>IPN thì thanh toán xong VNPAY tự gọi về, lỗi thì gọi lại. Nhưng server mình chạy localhost, VNPAY không gọi vào được. ngrok tạo một link public, gọi vào link đó thì nó chuyển về máy mình.</a:t>
            </a:r>
          </a:p>
          <a:p>
            <a:endParaRPr lang="vi-VN"/>
          </a:p>
          <a:p>
            <a:r>
              <a:rPr lang="vi-VN" sz="1600" b="1" dirty="0"/>
              <a:t>Hỏi: Ngoài ngrok còn cách nào khác không?</a:t>
            </a:r>
          </a:p>
          <a:p>
            <a:r>
              <a:rPr lang="vi-VN" sz="1600" dirty="0"/>
              <a:t>Đáp: Deploy lên server có IP public, hoặc dùng Cloudflare Tunnel. Nhưng để thử nhanh như hôm nay thì ngrok là tiện nhất.</a:t>
            </a:r>
          </a:p>
          <a:p>
            <a:endParaRPr lang="vi-VN"/>
          </a:p>
          <a:p>
            <a:r>
              <a:rPr lang="vi-VN" sz="1600" b="1" dirty="0"/>
              <a:t>Hỏi: Chạy ngrok thì máy mình có bị lộ ra ngoài không?</a:t>
            </a:r>
          </a:p>
          <a:p>
            <a:r>
              <a:rPr lang="vi-VN" sz="1600" dirty="0"/>
              <a:t>Đáp: Chỉ lộ đúng port 8080 và chỉ trong lúc ngrok đang chạy thôi, tắt đi là hết.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Giờ mình cài ngrok, có 5 bước. Bước 1 là tạo tài khoản, mọi người đăng nhập bằng Google là nhanh nhất.</a:t>
            </a:r>
          </a:p>
          <a:p>
            <a:endParaRPr lang="vi-VN"/>
          </a:p>
          <a:p>
            <a:r>
              <a:rPr lang="vi-VN" sz="1600" dirty="0"/>
              <a:t>Mỗi người tự tạo tài khoản riêng nha, đừng dùng chung.</a:t>
            </a:r>
          </a:p>
          <a:p>
            <a:endParaRPr lang="vi-VN"/>
          </a:p>
          <a:p>
            <a:r>
              <a:rPr lang="vi-VN" sz="1600" b="1" dirty="0"/>
              <a:t>Hỏi: Dùng chung một tài khoản được không?</a:t>
            </a:r>
          </a:p>
          <a:p>
            <a:r>
              <a:rPr lang="vi-VN" sz="1600" dirty="0"/>
              <a:t>Đáp: Không được, bản free chỉ cho chạy một tunnel cùng lúc. Người sau bật lên là người trước bị ngắt.</a:t>
            </a:r>
          </a:p>
          <a:p>
            <a:endParaRPr lang="vi-VN"/>
          </a:p>
          <a:p>
            <a:r>
              <a:rPr lang="vi-VN" sz="1600" b="1" dirty="0"/>
              <a:t>Hỏi: ngrok có mất phí không?</a:t>
            </a:r>
          </a:p>
          <a:p>
            <a:r>
              <a:rPr lang="vi-VN" sz="1600" dirty="0"/>
              <a:t>Đáp: Bản free là đủ dùng rồi, chỉ có điều mỗi lần chạy lại thì link bị đổi.</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Bước 2 là cài ngrok. Máy Mac thì một lệnh brew, Linux thì dùng snap. Còn Windows thì tải file zip về, giải nén ra ngrok.exe rồi bỏ chung thư mục với ShopStart.java.</a:t>
            </a:r>
          </a:p>
          <a:p>
            <a:endParaRPr lang="vi-VN"/>
          </a:p>
          <a:p>
            <a:r>
              <a:rPr lang="vi-VN" sz="1600" dirty="0"/>
              <a:t>Bạn nào dùng Windows thì lúc gõ lệnh nhớ gõ .\ngrok.exe thay cho ngrok nha.</a:t>
            </a:r>
          </a:p>
          <a:p>
            <a:endParaRPr lang="vi-VN"/>
          </a:p>
          <a:p>
            <a:r>
              <a:rPr lang="vi-VN" sz="1600" b="1" dirty="0"/>
              <a:t>Làm</a:t>
            </a:r>
          </a:p>
          <a:p>
            <a:r>
              <a:rPr lang="vi-VN" sz="1600" dirty="0"/>
              <a:t>Ai cài xong thì gõ ngrok version kiểm tra.</a:t>
            </a:r>
          </a:p>
          <a:p>
            <a:endParaRPr lang="vi-VN"/>
          </a:p>
          <a:p>
            <a:r>
              <a:rPr lang="vi-VN" sz="1600" b="1" dirty="0"/>
              <a:t>Hỏi: Gõ ngrok mà báo command not found?</a:t>
            </a:r>
          </a:p>
          <a:p>
            <a:r>
              <a:rPr lang="vi-VN" sz="1600" dirty="0"/>
              <a:t>Đáp: Do file chưa nằm trong PATH. Thêm vào PATH, hoặc cd vào đúng thư mục chứa nó rồi gõ .\ngrok.exe.</a:t>
            </a:r>
          </a:p>
          <a:p>
            <a:endParaRPr lang="vi-VN"/>
          </a:p>
          <a:p>
            <a:r>
              <a:rPr lang="vi-VN" sz="1600" b="1" dirty="0"/>
              <a:t>Hỏi: Windows cài bằng lệnh được không?</a:t>
            </a:r>
          </a:p>
          <a:p>
            <a:r>
              <a:rPr lang="vi-VN" sz="1600" dirty="0"/>
              <a:t>Đáp: Được, dùng winget install ngrok.ngrok. Nhưng tải zip thì ít lỗi hơn.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Bước 3 là thêm authtoken, bước này mọi người hay quên nhất. Không có authtoken là ngrok không chạy.</a:t>
            </a:r>
          </a:p>
          <a:p>
            <a:endParaRPr lang="vi-VN"/>
          </a:p>
          <a:p>
            <a:r>
              <a:rPr lang="vi-VN" sz="1600" dirty="0"/>
              <a:t>Vào trang your-authtoken, ở mục Command line có sẵn nguyên dòng lệnh kèm token luôn. Copy, dán vào terminal, Enter. Gõ ngrok config check ra Valid là được.</a:t>
            </a:r>
          </a:p>
          <a:p>
            <a:endParaRPr lang="vi-VN"/>
          </a:p>
          <a:p>
            <a:r>
              <a:rPr lang="vi-VN" sz="1600" b="1" dirty="0"/>
              <a:t>Làm</a:t>
            </a:r>
          </a:p>
          <a:p>
            <a:r>
              <a:rPr lang="vi-VN" sz="1600" dirty="0"/>
              <a:t>Đi xuống kiểm tra từng bạn bằng lệnh ngrok config check.</a:t>
            </a:r>
          </a:p>
          <a:p>
            <a:endParaRPr lang="vi-VN"/>
          </a:p>
          <a:p>
            <a:r>
              <a:rPr lang="vi-VN" sz="1600" b="1" dirty="0"/>
              <a:t>Hỏi: Mỗi lần chạy ngrok có phải thêm token lại không?</a:t>
            </a:r>
          </a:p>
          <a:p>
            <a:r>
              <a:rPr lang="vi-VN" sz="1600" dirty="0"/>
              <a:t>Đáp: Không, token lưu trong file ngrok.yml rồi, thêm một lần là xong.</a:t>
            </a:r>
          </a:p>
          <a:p>
            <a:endParaRPr lang="vi-VN"/>
          </a:p>
          <a:p>
            <a:r>
              <a:rPr lang="vi-VN" sz="1600" b="1" dirty="0"/>
              <a:t>Hỏi: Báo no such file là sao?</a:t>
            </a:r>
          </a:p>
          <a:p>
            <a:r>
              <a:rPr lang="vi-VN" sz="1600" dirty="0"/>
              <a:t>Đáp: Là chưa có file cấu hình, tức là lệnh add-authtoken chưa chạy được. Copy lại dòng lệnh trên dashboard rồi chạy lại.</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Bước 4 là chạy ngrok http 8080. Ở dòng Forwarding sẽ có một link https, đó là link public của máy mình.</a:t>
            </a:r>
          </a:p>
          <a:p>
            <a:endParaRPr lang="vi-VN"/>
          </a:p>
          <a:p>
            <a:r>
              <a:rPr lang="vi-VN" sz="1600" dirty="0"/>
              <a:t>Cửa sổ này mọi người để yên nha, đừng tắt. Mở thêm một terminal nữa để chạy Java.</a:t>
            </a:r>
          </a:p>
          <a:p>
            <a:endParaRPr lang="vi-VN"/>
          </a:p>
          <a:p>
            <a:r>
              <a:rPr lang="vi-VN" sz="1600" b="1" dirty="0"/>
              <a:t>Làm</a:t>
            </a:r>
          </a:p>
          <a:p>
            <a:r>
              <a:rPr lang="vi-VN" sz="1600" dirty="0"/>
              <a:t>Chỉ mọi người bấm dấu cộng trong VSCode để mở terminal thứ hai.</a:t>
            </a:r>
          </a:p>
          <a:p>
            <a:endParaRPr lang="vi-VN"/>
          </a:p>
          <a:p>
            <a:r>
              <a:rPr lang="vi-VN" sz="1600" b="1" dirty="0"/>
              <a:t>Hỏi: Lỡ tắt cửa sổ ngrok thì sao?</a:t>
            </a:r>
          </a:p>
          <a:p>
            <a:r>
              <a:rPr lang="vi-VN" sz="1600" dirty="0"/>
              <a:t>Đáp: Link chết luôn. Chạy lại thì ra link khác, phải vào VNPAY khai lại.</a:t>
            </a:r>
          </a:p>
          <a:p>
            <a:endParaRPr lang="vi-VN"/>
          </a:p>
          <a:p>
            <a:r>
              <a:rPr lang="vi-VN" sz="1600" b="1" dirty="0"/>
              <a:t>Hỏi: Trang cảnh báo của ngrok có chặn IPN không?</a:t>
            </a:r>
          </a:p>
          <a:p>
            <a:r>
              <a:rPr lang="vi-VN" sz="1600" dirty="0"/>
              <a:t>Đáp: Không, trang đó chỉ hiện với trình duyệt thôi. VNPAY gọi IPN từ server nên không bị.</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Bước cuối, vào trang quản lý của VNPAY khai 2 link: URL trả về đuôi vnpay/return, URL IPN đuôi vnpay/ipn. Mỗi người dùng link ngrok của mình nha.</a:t>
            </a:r>
          </a:p>
          <a:p>
            <a:endParaRPr lang="vi-VN"/>
          </a:p>
          <a:p>
            <a:r>
              <a:rPr lang="vi-VN" sz="1600" dirty="0"/>
              <a:t>Rồi qua terminal Java, Ctrl C, set biến VNPAY_RETURN_URL rồi chạy lại. Mac dùng export, Windows dùng $env.</a:t>
            </a:r>
          </a:p>
          <a:p>
            <a:endParaRPr lang="vi-VN"/>
          </a:p>
          <a:p>
            <a:r>
              <a:rPr lang="vi-VN" sz="1600" b="1" dirty="0"/>
              <a:t>Làm</a:t>
            </a:r>
          </a:p>
          <a:p>
            <a:r>
              <a:rPr lang="vi-VN" sz="1600" dirty="0"/>
              <a:t>Đi chậm bước này. Kiểm tra log lúc chạy lên có dòng ReturnUrl là link https.</a:t>
            </a:r>
          </a:p>
          <a:p>
            <a:endParaRPr lang="vi-VN"/>
          </a:p>
          <a:p>
            <a:r>
              <a:rPr lang="vi-VN" sz="1600" b="1" dirty="0"/>
              <a:t>Hỏi: Set biến xong mà không chạy lại Java được không?</a:t>
            </a:r>
          </a:p>
          <a:p>
            <a:r>
              <a:rPr lang="vi-VN" sz="1600" dirty="0"/>
              <a:t>Đáp: Không được, RETURN_URL chỉ đọc lúc chương trình khởi động thôi.</a:t>
            </a:r>
          </a:p>
          <a:p>
            <a:endParaRPr lang="vi-VN"/>
          </a:p>
          <a:p>
            <a:r>
              <a:rPr lang="vi-VN" sz="1600" b="1" dirty="0"/>
              <a:t>Hỏi: Trang VNPAY báo lỗi, không lưu được URL IPN?</a:t>
            </a:r>
          </a:p>
          <a:p>
            <a:r>
              <a:rPr lang="vi-VN" sz="1600" dirty="0"/>
              <a:t>Đáp: Trang sandbox thỉnh thoảng bị vậy. Vẫn làm tiếp được, đơn vẫn PAID nhờ querydr như lúc nãy.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TODO cuối, xử lý IPN. Có 5 trường hợp, mỗi trường hợp trả một mã.</a:t>
            </a:r>
          </a:p>
          <a:p>
            <a:endParaRPr lang="vi-VN"/>
          </a:p>
          <a:p>
            <a:r>
              <a:rPr lang="vi-VN" sz="1600" b="1" dirty="0"/>
              <a:t>Gõ theo thứ tự</a:t>
            </a:r>
          </a:p>
          <a:p>
            <a:r>
              <a:rPr lang="vi-VN" sz="1600" dirty="0"/>
              <a:t>1. Xoá dòng return rsp("99", ...) có sẵn.</a:t>
            </a:r>
          </a:p>
          <a:p>
            <a:r>
              <a:rPr lang="vi-VN" sz="1600" dirty="0"/>
              <a:t>2. isValidSignature sai thì return rsp("97", ...). Hàm rsp có sẵn ở dưới.</a:t>
            </a:r>
          </a:p>
          <a:p>
            <a:r>
              <a:rPr lang="vi-VN" sz="1600" dirty="0"/>
              <a:t>3. Lấy order trong ORDERS theo vnp_TxnRef, không có thì return 01.</a:t>
            </a:r>
          </a:p>
          <a:p>
            <a:r>
              <a:rPr lang="vi-VN" sz="1600" dirty="0"/>
              <a:t>4. vnp_Amount khác order.amount * 100 thì return 04.</a:t>
            </a:r>
          </a:p>
          <a:p>
            <a:r>
              <a:rPr lang="vi-VN" sz="1600" dirty="0"/>
              <a:t>5. Mở synchronized (order), để hai IPN tới cùng lúc không ghi đè nhau.</a:t>
            </a:r>
          </a:p>
          <a:p>
            <a:r>
              <a:rPr lang="vi-VN" sz="1600" dirty="0"/>
              <a:t>6. Đơn không còn PENDING thì return 02.</a:t>
            </a:r>
          </a:p>
          <a:p>
            <a:r>
              <a:rPr lang="vi-VN" sz="1600" dirty="0"/>
              <a:t>7. paid khi ResponseCode và TransactionStatus đều là 00. Gán status, transactionNo, bankCode, gọi log.</a:t>
            </a:r>
          </a:p>
          <a:p>
            <a:r>
              <a:rPr lang="vi-VN" sz="1600" dirty="0"/>
              <a:t>8. Ra khỏi synchronized thì return 00.</a:t>
            </a:r>
          </a:p>
          <a:p>
            <a:r>
              <a:rPr lang="vi-VN" sz="1600" dirty="0"/>
              <a:t>Gõ xong Ctrl+C rồi chạy lại Java, vẫn giữ biến VNPAY_RETURN_URL.</a:t>
            </a:r>
          </a:p>
          <a:p>
            <a:endParaRPr lang="vi-VN"/>
          </a:p>
          <a:p>
            <a:r>
              <a:rPr lang="vi-VN" sz="1600" b="1" dirty="0"/>
              <a:t>Hỏi: Bỏ trường hợp 02 thì sao?</a:t>
            </a:r>
          </a:p>
          <a:p>
            <a:r>
              <a:rPr lang="vi-VN" sz="1600" dirty="0"/>
              <a:t>Đáp: VNPAY gọi lại mấy lần là đơn bị xử lý mấy lần, hệ thống thật có khi cộng tiền nhiều lần.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Test lần cuối, lần này phải thấy IPN.</a:t>
            </a:r>
          </a:p>
          <a:p>
            <a:endParaRPr lang="vi-VN"/>
          </a:p>
          <a:p>
            <a:r>
              <a:rPr lang="vi-VN" sz="1600" b="1" dirty="0"/>
              <a:t>Làm</a:t>
            </a:r>
          </a:p>
          <a:p>
            <a:r>
              <a:rPr lang="vi-VN" sz="1600" dirty="0"/>
              <a:t>1. Ngrok vẫn đang chạy ở một terminal, Java chạy ở terminal còn lại.</a:t>
            </a:r>
          </a:p>
          <a:p>
            <a:r>
              <a:rPr lang="vi-VN" sz="1600" dirty="0"/>
              <a:t>2. Vào localhost:8080, bấm Thanh toán, nhập thẻ test như lần trước.</a:t>
            </a:r>
          </a:p>
          <a:p>
            <a:r>
              <a:rPr lang="vi-VN" sz="1600" dirty="0"/>
              <a:t>3. Nhìn terminal Java, phải có dòng IPN ... -&gt; PAID.</a:t>
            </a:r>
          </a:p>
          <a:p>
            <a:r>
              <a:rPr lang="vi-VN" sz="1600" dirty="0"/>
              <a:t>4. Mở 127.0.0.1:4040 để xem request IPN mà VNPAY gọi vào.</a:t>
            </a:r>
          </a:p>
          <a:p>
            <a:r>
              <a:rPr lang="vi-VN" sz="1600" dirty="0"/>
              <a:t>Không thấy dòng IPN thì kiểm tra lại URL IPN đã khai trên VNPAY và link ngrok có bị đổi không.</a:t>
            </a:r>
          </a:p>
          <a:p>
            <a:endParaRPr lang="vi-VN"/>
          </a:p>
          <a:p>
            <a:r>
              <a:rPr lang="vi-VN" sz="1600" b="1" dirty="0"/>
              <a:t>Hỏi: Log hiện querydr trước rồi mới tới IPN thì có sao không?</a:t>
            </a:r>
          </a:p>
          <a:p>
            <a:r>
              <a:rPr lang="vi-VN" sz="1600" dirty="0"/>
              <a:t>Đáp: Không sao. IPN tới sau thấy đơn đã PAID nên trả 02, đơn không bị cập nhật lại.</a:t>
            </a:r>
          </a:p>
          <a:p>
            <a:endParaRPr lang="vi-VN"/>
          </a:p>
          <a:p>
            <a:r>
              <a:rPr lang="vi-VN" sz="1600" b="1" dirty="0"/>
              <a:t>Hỏi: Muốn làm thành web bán hàng thật thì thêm gì nữa?</a:t>
            </a:r>
          </a:p>
          <a:p>
            <a:r>
              <a:rPr lang="vi-VN" sz="1600" dirty="0"/>
              <a:t>Đáp: Chỗ cập nhật PAID thì thêm logic của mình vào, như trừ kho, gửi mail xác nhận.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Hàm reconcile này là cái giúp đơn PAID ở lần test 1. Hôm nay mình không code nó, mọi người biết là có nó là được.</a:t>
            </a:r>
          </a:p>
          <a:p>
            <a:endParaRPr lang="vi-VN"/>
          </a:p>
          <a:p>
            <a:r>
              <a:rPr lang="vi-VN" sz="1600" dirty="0"/>
              <a:t>Có một chỗ khác so với lúc tạo link: chữ ký của querydr nối bằng dấu gạch đứng theo thứ tự cố định, không sắp xếp alphabet. Nên ở đây không dùng lại buildQueryString được.</a:t>
            </a:r>
          </a:p>
          <a:p>
            <a:endParaRPr lang="vi-VN"/>
          </a:p>
          <a:p>
            <a:r>
              <a:rPr lang="vi-VN" sz="1600" b="1" dirty="0"/>
              <a:t>Hỏi: Dùng querydr thay hẳn IPN được không?</a:t>
            </a:r>
          </a:p>
          <a:p>
            <a:r>
              <a:rPr lang="vi-VN" sz="1600" dirty="0"/>
              <a:t>Đáp: Làm demo thì được. Nhưng thực tế vẫn nên dùng IPN là chính vì nó về ngay, querydr để kiểm tra lại khi IPN bị mất.</a:t>
            </a:r>
          </a:p>
          <a:p>
            <a:endParaRPr lang="vi-VN"/>
          </a:p>
          <a:p>
            <a:r>
              <a:rPr lang="vi-VN" sz="1600" b="1" dirty="0"/>
              <a:t>Hỏi: Web thật thì nên gọi querydr lúc nào?</a:t>
            </a:r>
          </a:p>
          <a:p>
            <a:r>
              <a:rPr lang="vi-VN" sz="1600" dirty="0"/>
              <a:t>Đáp: Có thể viết một job chạy định kỳ, quét mấy đơn PENDING quá 15 phút rồi hỏi lại VNPAY.</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Slide này mình để đây cho mọi người tự dò lỗi, mình không đọc hết.</a:t>
            </a:r>
          </a:p>
          <a:p>
            <a:endParaRPr lang="vi-VN"/>
          </a:p>
          <a:p>
            <a:r>
              <a:rPr lang="vi-VN" sz="1600" b="1" dirty="0"/>
              <a:t>Hỏi: Làm sao biết IPN có về không?</a:t>
            </a:r>
          </a:p>
          <a:p>
            <a:r>
              <a:rPr lang="vi-VN" sz="1600" dirty="0"/>
              <a:t>Đáp: Nhìn log trong terminal chạy Java, hoặc mở 127.0.0.1:4040 xem có request nào gọi vào không.</a:t>
            </a:r>
          </a:p>
          <a:p>
            <a:endParaRPr lang="vi-VN"/>
          </a:p>
          <a:p>
            <a:r>
              <a:rPr lang="vi-VN" sz="1600" b="1" dirty="0"/>
              <a:t>Hỏi: Sửa index.html có cần chạy lại Java không?</a:t>
            </a:r>
          </a:p>
          <a:p>
            <a:r>
              <a:rPr lang="vi-VN" sz="1600" dirty="0"/>
              <a:t>Đáp: Không cần, server đọc file mỗi lần load trang, F5 lại là thấy.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Đây là mấy điều nên nhớ nếu sau này mọi người tự tích hợp VNPAY, quan trọng nhất là cái đầu: chỉ cập nhật trạng thái đơn từ IPN hoặc querydr.</a:t>
            </a:r>
          </a:p>
          <a:p>
            <a:endParaRPr lang="vi-VN"/>
          </a:p>
          <a:p>
            <a:r>
              <a:rPr lang="vi-VN" sz="1600" dirty="0"/>
              <a:t>Chuyển qua Spring Boot thì hai hàm ký dùng lại y chang, ORDERS đổi thành repository, HttpServer thành RestController.</a:t>
            </a:r>
          </a:p>
          <a:p>
            <a:endParaRPr lang="vi-VN"/>
          </a:p>
          <a:p>
            <a:r>
              <a:rPr lang="vi-VN" sz="1600" b="1" dirty="0"/>
              <a:t>Làm</a:t>
            </a:r>
          </a:p>
          <a:p>
            <a:r>
              <a:rPr lang="vi-VN" sz="1600" dirty="0"/>
              <a:t>Nhắc mọi người file đáp án ShopDone.java mình sẽ để trên Drive sau buổi.</a:t>
            </a:r>
          </a:p>
          <a:p>
            <a:endParaRPr lang="vi-VN"/>
          </a:p>
          <a:p>
            <a:r>
              <a:rPr lang="vi-VN" sz="1600" b="1" dirty="0"/>
              <a:t>Hỏi: Sao Etc/GMT+7 lại bị lệch?</a:t>
            </a:r>
          </a:p>
          <a:p>
            <a:r>
              <a:rPr lang="vi-VN" sz="1600" dirty="0"/>
              <a:t>Đáp: Theo chuẩn POSIX dấu trong Etc/GMT bị ngược, Etc/GMT+7 là UTC-7. Code mẫu của VNPAY dính lỗi này.</a:t>
            </a:r>
          </a:p>
          <a:p>
            <a:endParaRPr lang="vi-VN"/>
          </a:p>
          <a:p>
            <a:r>
              <a:rPr lang="vi-VN" sz="1600" b="1" dirty="0"/>
              <a:t>Hỏi: Muốn tích hợp thêm MoMo hay ZaloPay thì sao?</a:t>
            </a:r>
          </a:p>
          <a:p>
            <a:r>
              <a:rPr lang="vi-VN" sz="1600" dirty="0"/>
              <a:t>Đáp: Mỗi bên ký một kiểu khác nhau. Mình nên tạo một interface PaymentGateway rồi mỗi cổng viết một class riêng.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sz="1600" b="1" dirty="0"/>
              <a:t>Nói</a:t>
            </a:r>
          </a:p>
          <a:p>
            <a:r>
              <a:rPr lang="vi-VN" sz="1600" dirty="0"/>
              <a:t>Phần của mình tới đây là hết, cảm ơn mọi người đã code cùng mình. Ai có câu hỏi gì thì hỏi nha, bạn nào còn bị lỗi thì mở ShopDone.java trên Drive ra so.</a:t>
            </a:r>
          </a:p>
          <a:p>
            <a:endParaRPr lang="vi-VN"/>
          </a:p>
          <a:p>
            <a:r>
              <a:rPr lang="vi-VN" sz="1600" dirty="0"/>
              <a:t>Một vài câu có thể bị hỏi:</a:t>
            </a:r>
          </a:p>
          <a:p>
            <a:endParaRPr lang="vi-VN"/>
          </a:p>
          <a:p>
            <a:r>
              <a:rPr lang="vi-VN" sz="1600" b="1" dirty="0"/>
              <a:t>Hỏi: Muốn chạy thật (production) thì cần đổi gì?</a:t>
            </a:r>
          </a:p>
          <a:p>
            <a:r>
              <a:rPr lang="vi-VN" sz="1600" dirty="0"/>
              <a:t>Đáp: Đổi PAY_URL với API_URL sang link thật, dùng TmnCode và HashSecret VNPAY cấp sau khi ký hợp đồng. Code thì giữ nguyên.</a:t>
            </a:r>
          </a:p>
          <a:p>
            <a:endParaRPr lang="vi-VN"/>
          </a:p>
          <a:p>
            <a:r>
              <a:rPr lang="vi-VN" sz="1600" b="1" dirty="0"/>
              <a:t>Hỏi: Hoàn tiền thì làm sao?</a:t>
            </a:r>
          </a:p>
          <a:p>
            <a:r>
              <a:rPr lang="vi-VN" sz="1600" dirty="0"/>
              <a:t>Đáp: Dùng API refund của VNPAY, cách ký giống querydr, cũng nối bằng dấu gạch đứng.</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2123054"/>
            <a:ext cx="9810506" cy="1629095"/>
          </a:xfrm>
          <a:prstGeom prst="rect">
            <a:avLst/>
          </a:prstGeom>
          <a:noFill/>
          <a:ln/>
        </p:spPr>
        <p:txBody>
          <a:bodyPr wrap="square" lIns="0" tIns="0" rIns="0" bIns="0" rtlCol="0" anchor="t"/>
          <a:lstStyle/>
          <a:p>
            <a:pPr algn="l" indent="0" marL="0">
              <a:lnSpc>
                <a:spcPts val="5150"/>
              </a:lnSpc>
              <a:buNone/>
            </a:pPr>
            <a:r>
              <a:rPr lang="en-US" sz="4600" b="1" dirty="0">
                <a:solidFill>
                  <a:srgbClr val="111111"/>
                </a:solidFill>
                <a:latin typeface="Arial" pitchFamily="34" charset="0"/>
                <a:ea typeface="Arial" pitchFamily="34" charset="-122"/>
                <a:cs typeface="Arial" pitchFamily="34" charset="-120"/>
              </a:rPr>
              <a:t>Tích hợp VNPAY Sandbox vào web bán hàng</a:t>
            </a:r>
            <a:endParaRPr lang="en-US" sz="4600" dirty="0"/>
          </a:p>
        </p:txBody>
      </p:sp>
      <p:sp>
        <p:nvSpPr>
          <p:cNvPr id="3" name="Text 1"/>
          <p:cNvSpPr txBox="1"/>
          <p:nvPr/>
        </p:nvSpPr>
        <p:spPr>
          <a:xfrm>
            <a:off x="660380" y="3627242"/>
            <a:ext cx="6937187" cy="285750"/>
          </a:xfrm>
          <a:prstGeom prst="rect">
            <a:avLst/>
          </a:prstGeom>
          <a:noFill/>
          <a:ln/>
        </p:spPr>
        <p:txBody>
          <a:bodyPr wrap="square" lIns="0" tIns="0" rIns="0" bIns="0" rtlCol="0" anchor="ctr"/>
          <a:lstStyle/>
          <a:p>
            <a:pPr algn="l" indent="0" marL="0">
              <a:buNone/>
            </a:pPr>
            <a:r>
              <a:rPr lang="en-US" sz="1500" dirty="0">
                <a:solidFill>
                  <a:srgbClr val="3F454D"/>
                </a:solidFill>
                <a:latin typeface="Arial" pitchFamily="34" charset="0"/>
                <a:ea typeface="Arial" pitchFamily="34" charset="-122"/>
                <a:cs typeface="Arial" pitchFamily="34" charset="-120"/>
              </a:rPr>
              <a:t>Tạo link thanh toán, nhận kết quả qua IPN và kiểm tra giao dịch bằng querydr</a:t>
            </a:r>
            <a:endParaRPr lang="en-US" sz="1500" dirty="0"/>
          </a:p>
        </p:txBody>
      </p:sp>
      <p:sp>
        <p:nvSpPr>
          <p:cNvPr id="4" name="Text 2"/>
          <p:cNvSpPr txBox="1"/>
          <p:nvPr/>
        </p:nvSpPr>
        <p:spPr>
          <a:xfrm>
            <a:off x="660380" y="4308196"/>
            <a:ext cx="2082272" cy="247620"/>
          </a:xfrm>
          <a:prstGeom prst="rect">
            <a:avLst/>
          </a:prstGeom>
          <a:noFill/>
          <a:ln/>
        </p:spPr>
        <p:txBody>
          <a:bodyPr wrap="square" lIns="0" tIns="0" rIns="0" bIns="0" rtlCol="0" anchor="ctr"/>
          <a:lstStyle/>
          <a:p>
            <a:pPr algn="l" indent="0" marL="0">
              <a:buNone/>
            </a:pPr>
            <a:r>
              <a:rPr lang="en-US" sz="1300" dirty="0">
                <a:solidFill>
                  <a:srgbClr val="6B7280"/>
                </a:solidFill>
                <a:latin typeface="Arial" pitchFamily="34" charset="0"/>
                <a:ea typeface="Arial" pitchFamily="34" charset="-122"/>
                <a:cs typeface="Arial" pitchFamily="34" charset="-120"/>
              </a:rPr>
              <a:t>Lê Minh Đăng – 520K0108</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734263"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Giới thiệu</a:t>
            </a:r>
            <a:endParaRPr lang="en-US" sz="1100" dirty="0"/>
          </a:p>
        </p:txBody>
      </p:sp>
      <p:sp>
        <p:nvSpPr>
          <p:cNvPr id="3" name="Text 1"/>
          <p:cNvSpPr txBox="1"/>
          <p:nvPr/>
        </p:nvSpPr>
        <p:spPr>
          <a:xfrm>
            <a:off x="660380" y="643829"/>
            <a:ext cx="4377324"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Demo kết quả cuối buổi</a:t>
            </a:r>
            <a:endParaRPr lang="en-US" sz="3000" dirty="0"/>
          </a:p>
        </p:txBody>
      </p:sp>
      <p:pic>
        <p:nvPicPr>
          <p:cNvPr id="4" name="Image 0" descr="/Users/minhdang_work/vnpay-seminar/slides-html/shop.png">    </p:cNvPr>
          <p:cNvPicPr>
            <a:picLocks noChangeAspect="1"/>
          </p:cNvPicPr>
          <p:nvPr/>
        </p:nvPicPr>
        <p:blipFill>
          <a:blip r:embed="rId1"/>
          <a:stretch>
            <a:fillRect/>
          </a:stretch>
        </p:blipFill>
        <p:spPr>
          <a:xfrm>
            <a:off x="660380" y="1347368"/>
            <a:ext cx="3549975" cy="3428909"/>
          </a:xfrm>
          <a:prstGeom prst="rect">
            <a:avLst/>
          </a:prstGeom>
        </p:spPr>
      </p:pic>
      <p:sp>
        <p:nvSpPr>
          <p:cNvPr id="5" name="Shape 2"/>
          <p:cNvSpPr/>
          <p:nvPr/>
        </p:nvSpPr>
        <p:spPr>
          <a:xfrm>
            <a:off x="660380" y="1347368"/>
            <a:ext cx="3549975" cy="3428909"/>
          </a:xfrm>
          <a:prstGeom prst="roundRect">
            <a:avLst>
              <a:gd name="adj" fmla="val 2592"/>
            </a:avLst>
          </a:prstGeom>
          <a:ln w="6350">
            <a:solidFill>
              <a:srgbClr val="E3E6EA"/>
            </a:solidFill>
            <a:prstDash val="solid"/>
          </a:ln>
        </p:spPr>
      </p:sp>
      <p:sp>
        <p:nvSpPr>
          <p:cNvPr id="6" name="Text 3"/>
          <p:cNvSpPr txBox="1"/>
          <p:nvPr/>
        </p:nvSpPr>
        <p:spPr>
          <a:xfrm>
            <a:off x="660380" y="4869454"/>
            <a:ext cx="3260385" cy="209580"/>
          </a:xfrm>
          <a:prstGeom prst="rect">
            <a:avLst/>
          </a:prstGeom>
          <a:noFill/>
          <a:ln/>
        </p:spPr>
        <p:txBody>
          <a:bodyPr wrap="square" lIns="0" tIns="0" rIns="0" bIns="0" rtlCol="0" anchor="ctr"/>
          <a:lstStyle/>
          <a:p>
            <a:pPr algn="l" indent="0" marL="0">
              <a:buNone/>
            </a:pPr>
            <a:r>
              <a:rPr lang="en-US" sz="1100" dirty="0">
                <a:solidFill>
                  <a:srgbClr val="6B7280"/>
                </a:solidFill>
                <a:latin typeface="Arial" pitchFamily="34" charset="0"/>
                <a:ea typeface="Arial" pitchFamily="34" charset="-122"/>
                <a:cs typeface="Arial" pitchFamily="34" charset="-120"/>
              </a:rPr>
              <a:t>Trang cửa hàng, nhập số tiền rồi bấm Thanh toán</a:t>
            </a:r>
            <a:endParaRPr lang="en-US" sz="1100" dirty="0"/>
          </a:p>
        </p:txBody>
      </p:sp>
      <p:pic>
        <p:nvPicPr>
          <p:cNvPr id="7" name="Image 1" descr="/Users/minhdang_work/vnpay-seminar/slides-html/paid.png">    </p:cNvPr>
          <p:cNvPicPr>
            <a:picLocks noChangeAspect="1"/>
          </p:cNvPicPr>
          <p:nvPr/>
        </p:nvPicPr>
        <p:blipFill>
          <a:blip r:embed="rId2"/>
          <a:stretch>
            <a:fillRect/>
          </a:stretch>
        </p:blipFill>
        <p:spPr>
          <a:xfrm>
            <a:off x="4565965" y="1347368"/>
            <a:ext cx="5206868" cy="2772095"/>
          </a:xfrm>
          <a:prstGeom prst="rect">
            <a:avLst/>
          </a:prstGeom>
        </p:spPr>
      </p:pic>
      <p:sp>
        <p:nvSpPr>
          <p:cNvPr id="8" name="Shape 4"/>
          <p:cNvSpPr/>
          <p:nvPr/>
        </p:nvSpPr>
        <p:spPr>
          <a:xfrm>
            <a:off x="4565965" y="1347368"/>
            <a:ext cx="5206868" cy="2772095"/>
          </a:xfrm>
          <a:prstGeom prst="roundRect">
            <a:avLst>
              <a:gd name="adj" fmla="val 3206"/>
            </a:avLst>
          </a:prstGeom>
          <a:ln w="6350">
            <a:solidFill>
              <a:srgbClr val="E3E6EA"/>
            </a:solidFill>
            <a:prstDash val="solid"/>
          </a:ln>
        </p:spPr>
      </p:sp>
      <p:sp>
        <p:nvSpPr>
          <p:cNvPr id="9" name="Text 5"/>
          <p:cNvSpPr txBox="1"/>
          <p:nvPr/>
        </p:nvSpPr>
        <p:spPr>
          <a:xfrm>
            <a:off x="4565965" y="4212641"/>
            <a:ext cx="3510564" cy="209580"/>
          </a:xfrm>
          <a:prstGeom prst="rect">
            <a:avLst/>
          </a:prstGeom>
          <a:noFill/>
          <a:ln/>
        </p:spPr>
        <p:txBody>
          <a:bodyPr wrap="square" lIns="0" tIns="0" rIns="0" bIns="0" rtlCol="0" anchor="ctr"/>
          <a:lstStyle/>
          <a:p>
            <a:pPr algn="l" indent="0" marL="0">
              <a:buNone/>
            </a:pPr>
            <a:r>
              <a:rPr lang="en-US" sz="1100" dirty="0">
                <a:solidFill>
                  <a:srgbClr val="6B7280"/>
                </a:solidFill>
                <a:latin typeface="Arial" pitchFamily="34" charset="0"/>
                <a:ea typeface="Arial" pitchFamily="34" charset="-122"/>
                <a:cs typeface="Arial" pitchFamily="34" charset="-120"/>
              </a:rPr>
              <a:t>Thanh toán xong trên VNPAY, quay về thấy đơn PAID</a:t>
            </a:r>
            <a:endParaRPr lang="en-US" sz="1100" dirty="0"/>
          </a:p>
        </p:txBody>
      </p:sp>
      <p:sp>
        <p:nvSpPr>
          <p:cNvPr id="10" name="Text 6"/>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11" name="Text 7"/>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734263"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Giới thiệu</a:t>
            </a:r>
            <a:endParaRPr lang="en-US" sz="1100" dirty="0"/>
          </a:p>
        </p:txBody>
      </p:sp>
      <p:sp>
        <p:nvSpPr>
          <p:cNvPr id="3" name="Text 1"/>
          <p:cNvSpPr txBox="1"/>
          <p:nvPr/>
        </p:nvSpPr>
        <p:spPr>
          <a:xfrm>
            <a:off x="660380" y="643829"/>
            <a:ext cx="5444155"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Luồng thanh toán của VNPAY</a:t>
            </a:r>
            <a:endParaRPr lang="en-US" sz="3000" dirty="0"/>
          </a:p>
        </p:txBody>
      </p:sp>
      <p:sp>
        <p:nvSpPr>
          <p:cNvPr id="4" name="Shape 2"/>
          <p:cNvSpPr/>
          <p:nvPr/>
        </p:nvSpPr>
        <p:spPr>
          <a:xfrm>
            <a:off x="660380" y="1347368"/>
            <a:ext cx="10870936" cy="647670"/>
          </a:xfrm>
          <a:prstGeom prst="roundRect">
            <a:avLst>
              <a:gd name="adj" fmla="val 15685"/>
            </a:avLst>
          </a:prstGeom>
          <a:solidFill>
            <a:srgbClr val="FFFFFF"/>
          </a:solidFill>
          <a:ln w="6350">
            <a:solidFill>
              <a:srgbClr val="E3E6EA"/>
            </a:solidFill>
            <a:prstDash val="solid"/>
          </a:ln>
        </p:spPr>
      </p:sp>
      <p:sp>
        <p:nvSpPr>
          <p:cNvPr id="5" name="Shape 3"/>
          <p:cNvSpPr/>
          <p:nvPr/>
        </p:nvSpPr>
        <p:spPr>
          <a:xfrm>
            <a:off x="844540" y="1493398"/>
            <a:ext cx="355610" cy="355610"/>
          </a:xfrm>
          <a:prstGeom prst="roundRect">
            <a:avLst>
              <a:gd name="adj" fmla="val 21419"/>
            </a:avLst>
          </a:prstGeom>
          <a:solidFill>
            <a:srgbClr val="DDE3EA"/>
          </a:solidFill>
          <a:ln/>
        </p:spPr>
      </p:sp>
      <p:sp>
        <p:nvSpPr>
          <p:cNvPr id="6" name="Text 4"/>
          <p:cNvSpPr txBox="1"/>
          <p:nvPr/>
        </p:nvSpPr>
        <p:spPr>
          <a:xfrm>
            <a:off x="934608" y="1562892"/>
            <a:ext cx="175290" cy="247620"/>
          </a:xfrm>
          <a:prstGeom prst="rect">
            <a:avLst/>
          </a:prstGeom>
          <a:noFill/>
          <a:ln/>
        </p:spPr>
        <p:txBody>
          <a:bodyPr wrap="square" lIns="0" tIns="0" rIns="0" bIns="0" rtlCol="0" anchor="ctr"/>
          <a:lstStyle/>
          <a:p>
            <a:pPr algn="ctr" indent="0" marL="0">
              <a:buNone/>
            </a:pPr>
            <a:r>
              <a:rPr lang="en-US" sz="1300" b="1" dirty="0">
                <a:solidFill>
                  <a:srgbClr val="111111"/>
                </a:solidFill>
                <a:latin typeface="Courier New" pitchFamily="34" charset="0"/>
                <a:ea typeface="Courier New" pitchFamily="34" charset="-122"/>
                <a:cs typeface="Courier New" pitchFamily="34" charset="-120"/>
              </a:rPr>
              <a:t>1</a:t>
            </a:r>
            <a:endParaRPr lang="en-US" sz="1300" dirty="0"/>
          </a:p>
        </p:txBody>
      </p:sp>
      <p:sp>
        <p:nvSpPr>
          <p:cNvPr id="7" name="Text 5"/>
          <p:cNvSpPr txBox="1"/>
          <p:nvPr/>
        </p:nvSpPr>
        <p:spPr>
          <a:xfrm>
            <a:off x="1377909" y="1583466"/>
            <a:ext cx="1020928" cy="209580"/>
          </a:xfrm>
          <a:prstGeom prst="rect">
            <a:avLst/>
          </a:prstGeom>
          <a:noFill/>
          <a:ln/>
        </p:spPr>
        <p:txBody>
          <a:bodyPr wrap="square" lIns="0" tIns="0" rIns="0" bIns="0" rtlCol="0" anchor="ctr"/>
          <a:lstStyle/>
          <a:p>
            <a:pPr algn="l" indent="0" marL="0">
              <a:buNone/>
            </a:pPr>
            <a:r>
              <a:rPr lang="en-US" sz="1100" b="1" dirty="0">
                <a:solidFill>
                  <a:srgbClr val="6B7280"/>
                </a:solidFill>
                <a:latin typeface="Arial" pitchFamily="34" charset="0"/>
                <a:ea typeface="Arial" pitchFamily="34" charset="-122"/>
                <a:cs typeface="Arial" pitchFamily="34" charset="-120"/>
              </a:rPr>
              <a:t>Web → Server</a:t>
            </a:r>
            <a:endParaRPr lang="en-US" sz="1100" dirty="0"/>
          </a:p>
        </p:txBody>
      </p:sp>
      <p:sp>
        <p:nvSpPr>
          <p:cNvPr id="8" name="Text 6"/>
          <p:cNvSpPr txBox="1"/>
          <p:nvPr/>
        </p:nvSpPr>
        <p:spPr>
          <a:xfrm>
            <a:off x="3397179" y="1557772"/>
            <a:ext cx="4718944" cy="257129"/>
          </a:xfrm>
          <a:prstGeom prst="rect">
            <a:avLst/>
          </a:prstGeom>
          <a:noFill/>
          <a:ln/>
        </p:spPr>
        <p:txBody>
          <a:bodyPr wrap="square" lIns="0" tIns="0" rIns="0" bIns="0" rtlCol="0" anchor="ctr"/>
          <a:lstStyle/>
          <a:p>
            <a:pPr algn="l" indent="0" marL="0">
              <a:buNone/>
            </a:pPr>
            <a:r>
              <a:rPr lang="en-US" sz="1350" dirty="0">
                <a:solidFill>
                  <a:srgbClr val="111111"/>
                </a:solidFill>
                <a:latin typeface="Courier New" pitchFamily="34" charset="0"/>
                <a:ea typeface="Courier New" pitchFamily="34" charset="-122"/>
                <a:cs typeface="Courier New" pitchFamily="34" charset="-120"/>
              </a:rPr>
              <a:t>POST /api/payments</a:t>
            </a:r>
            <a:pPr algn="l" indent="0" marL="0">
              <a:buNone/>
            </a:pPr>
            <a:r>
              <a:rPr lang="en-US" sz="1350" dirty="0">
                <a:solidFill>
                  <a:srgbClr val="111111"/>
                </a:solidFill>
                <a:latin typeface="Arial" pitchFamily="34" charset="0"/>
                <a:ea typeface="Arial" pitchFamily="34" charset="-122"/>
                <a:cs typeface="Arial" pitchFamily="34" charset="-120"/>
              </a:rPr>
              <a:t>: tạo đơn, ký rồi trả link thanh toán</a:t>
            </a:r>
            <a:endParaRPr lang="en-US" sz="1350" dirty="0"/>
          </a:p>
        </p:txBody>
      </p:sp>
      <p:sp>
        <p:nvSpPr>
          <p:cNvPr id="9" name="Shape 7"/>
          <p:cNvSpPr/>
          <p:nvPr/>
        </p:nvSpPr>
        <p:spPr>
          <a:xfrm>
            <a:off x="660380" y="2172797"/>
            <a:ext cx="10870936" cy="647670"/>
          </a:xfrm>
          <a:prstGeom prst="roundRect">
            <a:avLst>
              <a:gd name="adj" fmla="val 15685"/>
            </a:avLst>
          </a:prstGeom>
          <a:solidFill>
            <a:srgbClr val="ECF2FF"/>
          </a:solidFill>
          <a:ln w="6350">
            <a:solidFill>
              <a:srgbClr val="E3E6EA"/>
            </a:solidFill>
            <a:prstDash val="solid"/>
          </a:ln>
        </p:spPr>
      </p:sp>
      <p:sp>
        <p:nvSpPr>
          <p:cNvPr id="10" name="Shape 8"/>
          <p:cNvSpPr/>
          <p:nvPr/>
        </p:nvSpPr>
        <p:spPr>
          <a:xfrm>
            <a:off x="844540" y="2318918"/>
            <a:ext cx="355610" cy="355610"/>
          </a:xfrm>
          <a:prstGeom prst="roundRect">
            <a:avLst>
              <a:gd name="adj" fmla="val 21419"/>
            </a:avLst>
          </a:prstGeom>
          <a:solidFill>
            <a:srgbClr val="0066FF"/>
          </a:solidFill>
          <a:ln/>
        </p:spPr>
      </p:sp>
      <p:sp>
        <p:nvSpPr>
          <p:cNvPr id="11" name="Text 9"/>
          <p:cNvSpPr txBox="1"/>
          <p:nvPr/>
        </p:nvSpPr>
        <p:spPr>
          <a:xfrm>
            <a:off x="934608" y="2388321"/>
            <a:ext cx="175290" cy="24762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377909" y="2408895"/>
            <a:ext cx="1184148" cy="209580"/>
          </a:xfrm>
          <a:prstGeom prst="rect">
            <a:avLst/>
          </a:prstGeom>
          <a:noFill/>
          <a:ln/>
        </p:spPr>
        <p:txBody>
          <a:bodyPr wrap="square" lIns="0" tIns="0" rIns="0" bIns="0" rtlCol="0" anchor="ctr"/>
          <a:lstStyle/>
          <a:p>
            <a:pPr algn="l" indent="0" marL="0">
              <a:buNone/>
            </a:pPr>
            <a:r>
              <a:rPr lang="en-US" sz="1100" b="1" dirty="0">
                <a:solidFill>
                  <a:srgbClr val="6B7280"/>
                </a:solidFill>
                <a:latin typeface="Arial" pitchFamily="34" charset="0"/>
                <a:ea typeface="Arial" pitchFamily="34" charset="-122"/>
                <a:cs typeface="Arial" pitchFamily="34" charset="-120"/>
              </a:rPr>
              <a:t>VNPAY → Server</a:t>
            </a:r>
            <a:endParaRPr lang="en-US" sz="1100" dirty="0"/>
          </a:p>
        </p:txBody>
      </p:sp>
      <p:sp>
        <p:nvSpPr>
          <p:cNvPr id="13" name="Text 11"/>
          <p:cNvSpPr txBox="1"/>
          <p:nvPr/>
        </p:nvSpPr>
        <p:spPr>
          <a:xfrm>
            <a:off x="3397179" y="2383201"/>
            <a:ext cx="3214116" cy="257129"/>
          </a:xfrm>
          <a:prstGeom prst="rect">
            <a:avLst/>
          </a:prstGeom>
          <a:noFill/>
          <a:ln/>
        </p:spPr>
        <p:txBody>
          <a:bodyPr wrap="square" lIns="0" tIns="0" rIns="0" bIns="0" rtlCol="0" anchor="ctr"/>
          <a:lstStyle/>
          <a:p>
            <a:pPr algn="l" indent="0" marL="0">
              <a:buNone/>
            </a:pPr>
            <a:r>
              <a:rPr lang="en-US" sz="1350" dirty="0">
                <a:solidFill>
                  <a:srgbClr val="111111"/>
                </a:solidFill>
                <a:latin typeface="Courier New" pitchFamily="34" charset="0"/>
                <a:ea typeface="Courier New" pitchFamily="34" charset="-122"/>
                <a:cs typeface="Courier New" pitchFamily="34" charset="-120"/>
              </a:rPr>
              <a:t>GET /vnpay/ipn</a:t>
            </a:r>
            <a:pPr algn="l" indent="0" marL="0">
              <a:buNone/>
            </a:pPr>
            <a:r>
              <a:rPr lang="en-US" sz="1350" dirty="0">
                <a:solidFill>
                  <a:srgbClr val="111111"/>
                </a:solidFill>
                <a:latin typeface="Arial" pitchFamily="34" charset="0"/>
                <a:ea typeface="Arial" pitchFamily="34" charset="-122"/>
                <a:cs typeface="Arial" pitchFamily="34" charset="-120"/>
              </a:rPr>
              <a:t>: VNPAY báo kết quả</a:t>
            </a:r>
            <a:endParaRPr lang="en-US" sz="1350" dirty="0"/>
          </a:p>
        </p:txBody>
      </p:sp>
      <p:sp>
        <p:nvSpPr>
          <p:cNvPr id="14" name="Shape 12"/>
          <p:cNvSpPr/>
          <p:nvPr/>
        </p:nvSpPr>
        <p:spPr>
          <a:xfrm>
            <a:off x="10186690" y="2341138"/>
            <a:ext cx="1160465" cy="311170"/>
          </a:xfrm>
          <a:prstGeom prst="roundRect">
            <a:avLst>
              <a:gd name="adj" fmla="val 49985"/>
            </a:avLst>
          </a:prstGeom>
          <a:solidFill>
            <a:srgbClr val="DEF3E8"/>
          </a:solidFill>
          <a:ln/>
        </p:spPr>
      </p:sp>
      <p:sp>
        <p:nvSpPr>
          <p:cNvPr id="15" name="Text 13"/>
          <p:cNvSpPr txBox="1"/>
          <p:nvPr/>
        </p:nvSpPr>
        <p:spPr>
          <a:xfrm>
            <a:off x="10313700" y="2408895"/>
            <a:ext cx="982614" cy="209580"/>
          </a:xfrm>
          <a:prstGeom prst="rect">
            <a:avLst/>
          </a:prstGeom>
          <a:noFill/>
          <a:ln/>
        </p:spPr>
        <p:txBody>
          <a:bodyPr wrap="square" lIns="0" tIns="0" rIns="0" bIns="0" rtlCol="0" anchor="ctr"/>
          <a:lstStyle/>
          <a:p>
            <a:pPr algn="l" indent="0" marL="0">
              <a:buNone/>
            </a:pPr>
            <a:r>
              <a:rPr lang="en-US" sz="1100" b="1" dirty="0">
                <a:solidFill>
                  <a:srgbClr val="0B6B47"/>
                </a:solidFill>
                <a:latin typeface="Arial" pitchFamily="34" charset="0"/>
                <a:ea typeface="Arial" pitchFamily="34" charset="-122"/>
                <a:cs typeface="Arial" pitchFamily="34" charset="-120"/>
              </a:rPr>
              <a:t>Cập nhật đơn</a:t>
            </a:r>
            <a:endParaRPr lang="en-US" sz="1100" dirty="0"/>
          </a:p>
        </p:txBody>
      </p:sp>
      <p:sp>
        <p:nvSpPr>
          <p:cNvPr id="16" name="Shape 14"/>
          <p:cNvSpPr/>
          <p:nvPr/>
        </p:nvSpPr>
        <p:spPr>
          <a:xfrm>
            <a:off x="660380" y="2998318"/>
            <a:ext cx="10870936" cy="647670"/>
          </a:xfrm>
          <a:prstGeom prst="roundRect">
            <a:avLst>
              <a:gd name="adj" fmla="val 15685"/>
            </a:avLst>
          </a:prstGeom>
          <a:solidFill>
            <a:srgbClr val="FFFFFF"/>
          </a:solidFill>
          <a:ln w="6350">
            <a:solidFill>
              <a:srgbClr val="E3E6EA"/>
            </a:solidFill>
            <a:prstDash val="solid"/>
          </a:ln>
        </p:spPr>
      </p:sp>
      <p:sp>
        <p:nvSpPr>
          <p:cNvPr id="17" name="Shape 15"/>
          <p:cNvSpPr/>
          <p:nvPr/>
        </p:nvSpPr>
        <p:spPr>
          <a:xfrm>
            <a:off x="844540" y="3144347"/>
            <a:ext cx="355610" cy="355610"/>
          </a:xfrm>
          <a:prstGeom prst="roundRect">
            <a:avLst>
              <a:gd name="adj" fmla="val 21419"/>
            </a:avLst>
          </a:prstGeom>
          <a:solidFill>
            <a:srgbClr val="DDE3EA"/>
          </a:solidFill>
          <a:ln/>
        </p:spPr>
      </p:sp>
      <p:sp>
        <p:nvSpPr>
          <p:cNvPr id="18" name="Text 16"/>
          <p:cNvSpPr txBox="1"/>
          <p:nvPr/>
        </p:nvSpPr>
        <p:spPr>
          <a:xfrm>
            <a:off x="934608" y="3213842"/>
            <a:ext cx="175290" cy="247620"/>
          </a:xfrm>
          <a:prstGeom prst="rect">
            <a:avLst/>
          </a:prstGeom>
          <a:noFill/>
          <a:ln/>
        </p:spPr>
        <p:txBody>
          <a:bodyPr wrap="square" lIns="0" tIns="0" rIns="0" bIns="0" rtlCol="0" anchor="ctr"/>
          <a:lstStyle/>
          <a:p>
            <a:pPr algn="ctr" indent="0" marL="0">
              <a:buNone/>
            </a:pPr>
            <a:r>
              <a:rPr lang="en-US" sz="1300" b="1" dirty="0">
                <a:solidFill>
                  <a:srgbClr val="111111"/>
                </a:solidFill>
                <a:latin typeface="Courier New" pitchFamily="34" charset="0"/>
                <a:ea typeface="Courier New" pitchFamily="34" charset="-122"/>
                <a:cs typeface="Courier New" pitchFamily="34" charset="-120"/>
              </a:rPr>
              <a:t>3</a:t>
            </a:r>
            <a:endParaRPr lang="en-US" sz="1300" dirty="0"/>
          </a:p>
        </p:txBody>
      </p:sp>
      <p:sp>
        <p:nvSpPr>
          <p:cNvPr id="19" name="Text 17"/>
          <p:cNvSpPr txBox="1"/>
          <p:nvPr/>
        </p:nvSpPr>
        <p:spPr>
          <a:xfrm>
            <a:off x="1377909" y="3234416"/>
            <a:ext cx="1308141" cy="209580"/>
          </a:xfrm>
          <a:prstGeom prst="rect">
            <a:avLst/>
          </a:prstGeom>
          <a:noFill/>
          <a:ln/>
        </p:spPr>
        <p:txBody>
          <a:bodyPr wrap="square" lIns="0" tIns="0" rIns="0" bIns="0" rtlCol="0" anchor="ctr"/>
          <a:lstStyle/>
          <a:p>
            <a:pPr algn="l" indent="0" marL="0">
              <a:buNone/>
            </a:pPr>
            <a:r>
              <a:rPr lang="en-US" sz="1100" b="1" dirty="0">
                <a:solidFill>
                  <a:srgbClr val="6B7280"/>
                </a:solidFill>
                <a:latin typeface="Arial" pitchFamily="34" charset="0"/>
                <a:ea typeface="Arial" pitchFamily="34" charset="-122"/>
                <a:cs typeface="Arial" pitchFamily="34" charset="-120"/>
              </a:rPr>
              <a:t>VNPAY → Browser</a:t>
            </a:r>
            <a:endParaRPr lang="en-US" sz="1100" dirty="0"/>
          </a:p>
        </p:txBody>
      </p:sp>
      <p:sp>
        <p:nvSpPr>
          <p:cNvPr id="20" name="Text 18"/>
          <p:cNvSpPr txBox="1"/>
          <p:nvPr/>
        </p:nvSpPr>
        <p:spPr>
          <a:xfrm>
            <a:off x="3397179" y="3208721"/>
            <a:ext cx="3875044" cy="257129"/>
          </a:xfrm>
          <a:prstGeom prst="rect">
            <a:avLst/>
          </a:prstGeom>
          <a:noFill/>
          <a:ln/>
        </p:spPr>
        <p:txBody>
          <a:bodyPr wrap="square" lIns="0" tIns="0" rIns="0" bIns="0" rtlCol="0" anchor="ctr"/>
          <a:lstStyle/>
          <a:p>
            <a:pPr algn="l" indent="0" marL="0">
              <a:buNone/>
            </a:pPr>
            <a:r>
              <a:rPr lang="en-US" sz="1350" dirty="0">
                <a:solidFill>
                  <a:srgbClr val="111111"/>
                </a:solidFill>
                <a:latin typeface="Courier New" pitchFamily="34" charset="0"/>
                <a:ea typeface="Courier New" pitchFamily="34" charset="-122"/>
                <a:cs typeface="Courier New" pitchFamily="34" charset="-120"/>
              </a:rPr>
              <a:t>GET /vnpay/return</a:t>
            </a:r>
            <a:pPr algn="l" indent="0" marL="0">
              <a:buNone/>
            </a:pPr>
            <a:r>
              <a:rPr lang="en-US" sz="1350" dirty="0">
                <a:solidFill>
                  <a:srgbClr val="111111"/>
                </a:solidFill>
                <a:latin typeface="Arial" pitchFamily="34" charset="0"/>
                <a:ea typeface="Arial" pitchFamily="34" charset="-122"/>
                <a:cs typeface="Arial" pitchFamily="34" charset="-120"/>
              </a:rPr>
              <a:t>: đưa khách quay lại web</a:t>
            </a:r>
            <a:endParaRPr lang="en-US" sz="1350" dirty="0"/>
          </a:p>
        </p:txBody>
      </p:sp>
      <p:sp>
        <p:nvSpPr>
          <p:cNvPr id="21" name="Shape 19"/>
          <p:cNvSpPr/>
          <p:nvPr/>
        </p:nvSpPr>
        <p:spPr>
          <a:xfrm>
            <a:off x="10332720" y="3166567"/>
            <a:ext cx="1014527" cy="311170"/>
          </a:xfrm>
          <a:prstGeom prst="roundRect">
            <a:avLst>
              <a:gd name="adj" fmla="val 49985"/>
            </a:avLst>
          </a:prstGeom>
          <a:solidFill>
            <a:srgbClr val="FDE8E6"/>
          </a:solidFill>
          <a:ln/>
        </p:spPr>
      </p:sp>
      <p:sp>
        <p:nvSpPr>
          <p:cNvPr id="22" name="Text 20"/>
          <p:cNvSpPr txBox="1"/>
          <p:nvPr/>
        </p:nvSpPr>
        <p:spPr>
          <a:xfrm>
            <a:off x="10459639" y="3234416"/>
            <a:ext cx="836676" cy="209580"/>
          </a:xfrm>
          <a:prstGeom prst="rect">
            <a:avLst/>
          </a:prstGeom>
          <a:noFill/>
          <a:ln/>
        </p:spPr>
        <p:txBody>
          <a:bodyPr wrap="square" lIns="0" tIns="0" rIns="0" bIns="0" rtlCol="0" anchor="ctr"/>
          <a:lstStyle/>
          <a:p>
            <a:pPr algn="l" indent="0" marL="0">
              <a:buNone/>
            </a:pPr>
            <a:r>
              <a:rPr lang="en-US" sz="1100" b="1" dirty="0">
                <a:solidFill>
                  <a:srgbClr val="C42B22"/>
                </a:solidFill>
                <a:latin typeface="Arial" pitchFamily="34" charset="0"/>
                <a:ea typeface="Arial" pitchFamily="34" charset="-122"/>
                <a:cs typeface="Arial" pitchFamily="34" charset="-120"/>
              </a:rPr>
              <a:t>Chỉ hiển thị</a:t>
            </a:r>
            <a:endParaRPr lang="en-US" sz="1100" dirty="0"/>
          </a:p>
        </p:txBody>
      </p:sp>
      <p:sp>
        <p:nvSpPr>
          <p:cNvPr id="23" name="Shape 21"/>
          <p:cNvSpPr/>
          <p:nvPr/>
        </p:nvSpPr>
        <p:spPr>
          <a:xfrm>
            <a:off x="660380" y="3823838"/>
            <a:ext cx="10870936" cy="647670"/>
          </a:xfrm>
          <a:prstGeom prst="roundRect">
            <a:avLst>
              <a:gd name="adj" fmla="val 15685"/>
            </a:avLst>
          </a:prstGeom>
          <a:solidFill>
            <a:srgbClr val="ECF2FF"/>
          </a:solidFill>
          <a:ln w="6350">
            <a:solidFill>
              <a:srgbClr val="E3E6EA"/>
            </a:solidFill>
            <a:prstDash val="solid"/>
          </a:ln>
        </p:spPr>
      </p:sp>
      <p:sp>
        <p:nvSpPr>
          <p:cNvPr id="24" name="Shape 22"/>
          <p:cNvSpPr/>
          <p:nvPr/>
        </p:nvSpPr>
        <p:spPr>
          <a:xfrm>
            <a:off x="844540" y="3969868"/>
            <a:ext cx="355610" cy="355610"/>
          </a:xfrm>
          <a:prstGeom prst="roundRect">
            <a:avLst>
              <a:gd name="adj" fmla="val 21419"/>
            </a:avLst>
          </a:prstGeom>
          <a:solidFill>
            <a:srgbClr val="0066FF"/>
          </a:solidFill>
          <a:ln/>
        </p:spPr>
      </p:sp>
      <p:sp>
        <p:nvSpPr>
          <p:cNvPr id="25" name="Text 23"/>
          <p:cNvSpPr txBox="1"/>
          <p:nvPr/>
        </p:nvSpPr>
        <p:spPr>
          <a:xfrm>
            <a:off x="934608" y="4039271"/>
            <a:ext cx="175290" cy="24762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4</a:t>
            </a:r>
            <a:endParaRPr lang="en-US" sz="1300" dirty="0"/>
          </a:p>
        </p:txBody>
      </p:sp>
      <p:sp>
        <p:nvSpPr>
          <p:cNvPr id="26" name="Text 24"/>
          <p:cNvSpPr txBox="1"/>
          <p:nvPr/>
        </p:nvSpPr>
        <p:spPr>
          <a:xfrm>
            <a:off x="1377909" y="4059845"/>
            <a:ext cx="1186617" cy="209580"/>
          </a:xfrm>
          <a:prstGeom prst="rect">
            <a:avLst/>
          </a:prstGeom>
          <a:noFill/>
          <a:ln/>
        </p:spPr>
        <p:txBody>
          <a:bodyPr wrap="square" lIns="0" tIns="0" rIns="0" bIns="0" rtlCol="0" anchor="ctr"/>
          <a:lstStyle/>
          <a:p>
            <a:pPr algn="l" indent="0" marL="0">
              <a:buNone/>
            </a:pPr>
            <a:r>
              <a:rPr lang="en-US" sz="1100" b="1" dirty="0">
                <a:solidFill>
                  <a:srgbClr val="6B7280"/>
                </a:solidFill>
                <a:latin typeface="Arial" pitchFamily="34" charset="0"/>
                <a:ea typeface="Arial" pitchFamily="34" charset="-122"/>
                <a:cs typeface="Arial" pitchFamily="34" charset="-120"/>
              </a:rPr>
              <a:t>Server → VNPAY</a:t>
            </a:r>
            <a:endParaRPr lang="en-US" sz="1100" dirty="0"/>
          </a:p>
        </p:txBody>
      </p:sp>
      <p:sp>
        <p:nvSpPr>
          <p:cNvPr id="27" name="Text 25"/>
          <p:cNvSpPr txBox="1"/>
          <p:nvPr/>
        </p:nvSpPr>
        <p:spPr>
          <a:xfrm>
            <a:off x="3397179" y="4034150"/>
            <a:ext cx="2534260" cy="257129"/>
          </a:xfrm>
          <a:prstGeom prst="rect">
            <a:avLst/>
          </a:prstGeom>
          <a:noFill/>
          <a:ln/>
        </p:spPr>
        <p:txBody>
          <a:bodyPr wrap="square" lIns="0" tIns="0" rIns="0" bIns="0" rtlCol="0" anchor="ctr"/>
          <a:lstStyle/>
          <a:p>
            <a:pPr algn="l" indent="0" marL="0">
              <a:buNone/>
            </a:pPr>
            <a:r>
              <a:rPr lang="en-US" sz="1350" dirty="0">
                <a:solidFill>
                  <a:srgbClr val="111111"/>
                </a:solidFill>
                <a:latin typeface="Courier New" pitchFamily="34" charset="0"/>
                <a:ea typeface="Courier New" pitchFamily="34" charset="-122"/>
                <a:cs typeface="Courier New" pitchFamily="34" charset="-120"/>
              </a:rPr>
              <a:t>querydr</a:t>
            </a:r>
            <a:pPr algn="l" indent="0" marL="0">
              <a:buNone/>
            </a:pPr>
            <a:r>
              <a:rPr lang="en-US" sz="1350" dirty="0">
                <a:solidFill>
                  <a:srgbClr val="111111"/>
                </a:solidFill>
                <a:latin typeface="Arial" pitchFamily="34" charset="0"/>
                <a:ea typeface="Arial" pitchFamily="34" charset="-122"/>
                <a:cs typeface="Arial" pitchFamily="34" charset="-120"/>
              </a:rPr>
              <a:t>: server hỏi lại VNPAY</a:t>
            </a:r>
            <a:endParaRPr lang="en-US" sz="1350" dirty="0"/>
          </a:p>
        </p:txBody>
      </p:sp>
      <p:sp>
        <p:nvSpPr>
          <p:cNvPr id="28" name="Shape 26"/>
          <p:cNvSpPr/>
          <p:nvPr/>
        </p:nvSpPr>
        <p:spPr>
          <a:xfrm>
            <a:off x="10186690" y="3992088"/>
            <a:ext cx="1160465" cy="311170"/>
          </a:xfrm>
          <a:prstGeom prst="roundRect">
            <a:avLst>
              <a:gd name="adj" fmla="val 49985"/>
            </a:avLst>
          </a:prstGeom>
          <a:solidFill>
            <a:srgbClr val="DEF3E8"/>
          </a:solidFill>
          <a:ln/>
        </p:spPr>
      </p:sp>
      <p:sp>
        <p:nvSpPr>
          <p:cNvPr id="29" name="Text 27"/>
          <p:cNvSpPr txBox="1"/>
          <p:nvPr/>
        </p:nvSpPr>
        <p:spPr>
          <a:xfrm>
            <a:off x="10313700" y="4059845"/>
            <a:ext cx="982614" cy="209580"/>
          </a:xfrm>
          <a:prstGeom prst="rect">
            <a:avLst/>
          </a:prstGeom>
          <a:noFill/>
          <a:ln/>
        </p:spPr>
        <p:txBody>
          <a:bodyPr wrap="square" lIns="0" tIns="0" rIns="0" bIns="0" rtlCol="0" anchor="ctr"/>
          <a:lstStyle/>
          <a:p>
            <a:pPr algn="l" indent="0" marL="0">
              <a:buNone/>
            </a:pPr>
            <a:r>
              <a:rPr lang="en-US" sz="1100" b="1" dirty="0">
                <a:solidFill>
                  <a:srgbClr val="0B6B47"/>
                </a:solidFill>
                <a:latin typeface="Arial" pitchFamily="34" charset="0"/>
                <a:ea typeface="Arial" pitchFamily="34" charset="-122"/>
                <a:cs typeface="Arial" pitchFamily="34" charset="-120"/>
              </a:rPr>
              <a:t>Cập nhật đơn</a:t>
            </a:r>
            <a:endParaRPr lang="en-US" sz="1100" dirty="0"/>
          </a:p>
        </p:txBody>
      </p:sp>
      <p:sp>
        <p:nvSpPr>
          <p:cNvPr id="30" name="Text 28"/>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1" name="Text 29"/>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673821"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Chuẩn bị</a:t>
            </a:r>
            <a:endParaRPr lang="en-US" sz="1100" dirty="0"/>
          </a:p>
        </p:txBody>
      </p:sp>
      <p:sp>
        <p:nvSpPr>
          <p:cNvPr id="3" name="Text 1"/>
          <p:cNvSpPr txBox="1"/>
          <p:nvPr/>
        </p:nvSpPr>
        <p:spPr>
          <a:xfrm>
            <a:off x="660380" y="643829"/>
            <a:ext cx="4318894"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Chạy thử code ban đầu</a:t>
            </a:r>
            <a:endParaRPr lang="en-US" sz="3000" dirty="0"/>
          </a:p>
        </p:txBody>
      </p:sp>
      <p:sp>
        <p:nvSpPr>
          <p:cNvPr id="4" name="Text 2"/>
          <p:cNvSpPr txBox="1"/>
          <p:nvPr/>
        </p:nvSpPr>
        <p:spPr>
          <a:xfrm>
            <a:off x="660380" y="1358798"/>
            <a:ext cx="2342784"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Hai file để chung một thư mục</a:t>
            </a:r>
            <a:endParaRPr lang="en-US" sz="1000" dirty="0"/>
          </a:p>
        </p:txBody>
      </p:sp>
      <p:sp>
        <p:nvSpPr>
          <p:cNvPr id="5" name="Shape 3"/>
          <p:cNvSpPr/>
          <p:nvPr/>
        </p:nvSpPr>
        <p:spPr>
          <a:xfrm>
            <a:off x="660380" y="1601389"/>
            <a:ext cx="5460888" cy="1215969"/>
          </a:xfrm>
          <a:prstGeom prst="roundRect">
            <a:avLst>
              <a:gd name="adj" fmla="val 8355"/>
            </a:avLst>
          </a:prstGeom>
          <a:solidFill>
            <a:srgbClr val="0C131E"/>
          </a:solidFill>
          <a:ln/>
        </p:spPr>
      </p:sp>
      <p:sp>
        <p:nvSpPr>
          <p:cNvPr id="6" name="Text 4"/>
          <p:cNvSpPr txBox="1"/>
          <p:nvPr/>
        </p:nvSpPr>
        <p:spPr>
          <a:xfrm>
            <a:off x="907999" y="1793138"/>
            <a:ext cx="533461"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lab/</a:t>
            </a:r>
            <a:endParaRPr lang="en-US" sz="1500" dirty="0"/>
          </a:p>
        </p:txBody>
      </p:sp>
      <p:sp>
        <p:nvSpPr>
          <p:cNvPr id="7" name="Text 5"/>
          <p:cNvSpPr txBox="1"/>
          <p:nvPr/>
        </p:nvSpPr>
        <p:spPr>
          <a:xfrm>
            <a:off x="907999" y="2088398"/>
            <a:ext cx="5089368"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 index.html        giao diện, không sửa</a:t>
            </a:r>
            <a:endParaRPr lang="en-US" sz="1500" dirty="0"/>
          </a:p>
        </p:txBody>
      </p:sp>
      <p:sp>
        <p:nvSpPr>
          <p:cNvPr id="8" name="Text 6"/>
          <p:cNvSpPr txBox="1"/>
          <p:nvPr/>
        </p:nvSpPr>
        <p:spPr>
          <a:xfrm>
            <a:off x="907999" y="2383658"/>
            <a:ext cx="4241170"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 ShopStart.java    có 6 chỗ TODO</a:t>
            </a:r>
            <a:endParaRPr lang="en-US" sz="1500" dirty="0"/>
          </a:p>
        </p:txBody>
      </p:sp>
      <p:sp>
        <p:nvSpPr>
          <p:cNvPr id="9" name="Text 7"/>
          <p:cNvSpPr txBox="1"/>
          <p:nvPr/>
        </p:nvSpPr>
        <p:spPr>
          <a:xfrm>
            <a:off x="660380" y="2981127"/>
            <a:ext cx="1938802"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Mở terminal trong VSCode</a:t>
            </a:r>
            <a:endParaRPr lang="en-US" sz="1000" dirty="0"/>
          </a:p>
        </p:txBody>
      </p:sp>
      <p:sp>
        <p:nvSpPr>
          <p:cNvPr id="10" name="Shape 8"/>
          <p:cNvSpPr/>
          <p:nvPr/>
        </p:nvSpPr>
        <p:spPr>
          <a:xfrm>
            <a:off x="660380" y="3223717"/>
            <a:ext cx="5460888" cy="920709"/>
          </a:xfrm>
          <a:prstGeom prst="roundRect">
            <a:avLst>
              <a:gd name="adj" fmla="val 11034"/>
            </a:avLst>
          </a:prstGeom>
          <a:solidFill>
            <a:srgbClr val="0C131E"/>
          </a:solidFill>
          <a:ln/>
        </p:spPr>
      </p:sp>
      <p:sp>
        <p:nvSpPr>
          <p:cNvPr id="11" name="Text 9"/>
          <p:cNvSpPr txBox="1"/>
          <p:nvPr/>
        </p:nvSpPr>
        <p:spPr>
          <a:xfrm>
            <a:off x="907999" y="3415467"/>
            <a:ext cx="762152"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cd lab</a:t>
            </a:r>
            <a:endParaRPr lang="en-US" sz="1500" dirty="0"/>
          </a:p>
        </p:txBody>
      </p:sp>
      <p:sp>
        <p:nvSpPr>
          <p:cNvPr id="12" name="Text 10"/>
          <p:cNvSpPr txBox="1"/>
          <p:nvPr/>
        </p:nvSpPr>
        <p:spPr>
          <a:xfrm>
            <a:off x="907999" y="3710727"/>
            <a:ext cx="2302368"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java ShopStart.java</a:t>
            </a:r>
            <a:endParaRPr lang="en-US" sz="1500" dirty="0"/>
          </a:p>
        </p:txBody>
      </p:sp>
      <p:sp>
        <p:nvSpPr>
          <p:cNvPr id="13" name="Text 11"/>
          <p:cNvSpPr txBox="1"/>
          <p:nvPr/>
        </p:nvSpPr>
        <p:spPr>
          <a:xfrm>
            <a:off x="6324448" y="1358798"/>
            <a:ext cx="1295522"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Terminal sẽ hiện</a:t>
            </a:r>
            <a:endParaRPr lang="en-US" sz="1000" dirty="0"/>
          </a:p>
        </p:txBody>
      </p:sp>
      <p:sp>
        <p:nvSpPr>
          <p:cNvPr id="14" name="Shape 12"/>
          <p:cNvSpPr/>
          <p:nvPr/>
        </p:nvSpPr>
        <p:spPr>
          <a:xfrm>
            <a:off x="6324448" y="1715689"/>
            <a:ext cx="5206868" cy="743499"/>
          </a:xfrm>
          <a:prstGeom prst="roundRect">
            <a:avLst>
              <a:gd name="adj" fmla="val 13664"/>
            </a:avLst>
          </a:prstGeom>
          <a:solidFill>
            <a:srgbClr val="0C131E"/>
          </a:solidFill>
          <a:ln/>
        </p:spPr>
      </p:sp>
      <p:sp>
        <p:nvSpPr>
          <p:cNvPr id="15" name="Text 13"/>
          <p:cNvSpPr txBox="1"/>
          <p:nvPr/>
        </p:nvSpPr>
        <p:spPr>
          <a:xfrm>
            <a:off x="6572067" y="1898112"/>
            <a:ext cx="2714305"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[10:00:01] http://localhost:8080</a:t>
            </a:r>
            <a:endParaRPr lang="en-US" sz="1050" dirty="0"/>
          </a:p>
        </p:txBody>
      </p:sp>
      <p:sp>
        <p:nvSpPr>
          <p:cNvPr id="16" name="Text 14"/>
          <p:cNvSpPr txBox="1"/>
          <p:nvPr/>
        </p:nvSpPr>
        <p:spPr>
          <a:xfrm>
            <a:off x="6572067" y="2104766"/>
            <a:ext cx="4834981"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[10:00:01] Chưa điền TMN_CODE và HASH_SECRET, xem TODO 1.</a:t>
            </a:r>
            <a:endParaRPr lang="en-US" sz="1050" dirty="0"/>
          </a:p>
        </p:txBody>
      </p:sp>
      <p:sp>
        <p:nvSpPr>
          <p:cNvPr id="17" name="Shape 15"/>
          <p:cNvSpPr/>
          <p:nvPr/>
        </p:nvSpPr>
        <p:spPr>
          <a:xfrm>
            <a:off x="6362578" y="2684587"/>
            <a:ext cx="63459" cy="63459"/>
          </a:xfrm>
          <a:prstGeom prst="ellipse">
            <a:avLst/>
          </a:prstGeom>
          <a:solidFill>
            <a:srgbClr val="0066FF"/>
          </a:solidFill>
          <a:ln/>
        </p:spPr>
      </p:sp>
      <p:sp>
        <p:nvSpPr>
          <p:cNvPr id="18" name="Text 16"/>
          <p:cNvSpPr txBox="1"/>
          <p:nvPr/>
        </p:nvSpPr>
        <p:spPr>
          <a:xfrm>
            <a:off x="6540337" y="2589306"/>
            <a:ext cx="3715482"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Vào </a:t>
            </a:r>
            <a:pPr algn="l" indent="0" marL="0">
              <a:buNone/>
            </a:pPr>
            <a:r>
              <a:rPr lang="en-US" sz="1250" dirty="0">
                <a:solidFill>
                  <a:srgbClr val="3F454D"/>
                </a:solidFill>
                <a:latin typeface="Courier New" pitchFamily="34" charset="0"/>
                <a:ea typeface="Courier New" pitchFamily="34" charset="-122"/>
                <a:cs typeface="Courier New" pitchFamily="34" charset="-120"/>
              </a:rPr>
              <a:t>localhost:8080</a:t>
            </a:r>
            <a:pPr algn="l" indent="0" marL="0">
              <a:buNone/>
            </a:pPr>
            <a:r>
              <a:rPr lang="en-US" sz="1250" dirty="0">
                <a:solidFill>
                  <a:srgbClr val="3F454D"/>
                </a:solidFill>
                <a:latin typeface="Arial" pitchFamily="34" charset="0"/>
                <a:ea typeface="Arial" pitchFamily="34" charset="-122"/>
                <a:cs typeface="Arial" pitchFamily="34" charset="-120"/>
              </a:rPr>
              <a:t> thấy trang cửa hàng là ok</a:t>
            </a:r>
            <a:endParaRPr lang="en-US" sz="1250" dirty="0"/>
          </a:p>
        </p:txBody>
      </p:sp>
      <p:sp>
        <p:nvSpPr>
          <p:cNvPr id="19" name="Shape 17"/>
          <p:cNvSpPr/>
          <p:nvPr/>
        </p:nvSpPr>
        <p:spPr>
          <a:xfrm>
            <a:off x="6362578" y="3024287"/>
            <a:ext cx="63459" cy="63459"/>
          </a:xfrm>
          <a:prstGeom prst="ellipse">
            <a:avLst/>
          </a:prstGeom>
          <a:solidFill>
            <a:srgbClr val="0066FF"/>
          </a:solidFill>
          <a:ln/>
        </p:spPr>
      </p:sp>
      <p:sp>
        <p:nvSpPr>
          <p:cNvPr id="20" name="Text 18"/>
          <p:cNvSpPr txBox="1"/>
          <p:nvPr/>
        </p:nvSpPr>
        <p:spPr>
          <a:xfrm>
            <a:off x="6540337" y="2929098"/>
            <a:ext cx="5094397"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Bấm Thanh toán sẽ báo </a:t>
            </a:r>
            <a:pPr algn="l" indent="0" marL="0">
              <a:buNone/>
            </a:pPr>
            <a:r>
              <a:rPr lang="en-US" sz="1250" dirty="0">
                <a:solidFill>
                  <a:srgbClr val="3F454D"/>
                </a:solidFill>
                <a:latin typeface="Courier New" pitchFamily="34" charset="0"/>
                <a:ea typeface="Courier New" pitchFamily="34" charset="-122"/>
                <a:cs typeface="Courier New" pitchFamily="34" charset="-120"/>
              </a:rPr>
              <a:t>Chưa làm TODO 5</a:t>
            </a:r>
            <a:pPr algn="l" indent="0" marL="0">
              <a:buNone/>
            </a:pPr>
            <a:r>
              <a:rPr lang="en-US" sz="1250" dirty="0">
                <a:solidFill>
                  <a:srgbClr val="3F454D"/>
                </a:solidFill>
                <a:latin typeface="Arial" pitchFamily="34" charset="0"/>
                <a:ea typeface="Arial" pitchFamily="34" charset="-122"/>
                <a:cs typeface="Arial" pitchFamily="34" charset="-120"/>
              </a:rPr>
              <a:t>, chỗ này lát mình code</a:t>
            </a:r>
            <a:endParaRPr lang="en-US" sz="1250" dirty="0"/>
          </a:p>
        </p:txBody>
      </p:sp>
      <p:sp>
        <p:nvSpPr>
          <p:cNvPr id="21" name="Text 19"/>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2" name="Text 20"/>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17116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1 – Chữ ký</a:t>
            </a:r>
            <a:endParaRPr lang="en-US" sz="1100" dirty="0"/>
          </a:p>
        </p:txBody>
      </p:sp>
      <p:sp>
        <p:nvSpPr>
          <p:cNvPr id="3" name="Text 1"/>
          <p:cNvSpPr txBox="1"/>
          <p:nvPr/>
        </p:nvSpPr>
        <p:spPr>
          <a:xfrm>
            <a:off x="660380" y="643829"/>
            <a:ext cx="740792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TODO 1 – Điền TmnCode và HashSecret</a:t>
            </a:r>
            <a:endParaRPr lang="en-US" sz="3000" dirty="0"/>
          </a:p>
        </p:txBody>
      </p:sp>
      <p:sp>
        <p:nvSpPr>
          <p:cNvPr id="4" name="Text 2"/>
          <p:cNvSpPr txBox="1"/>
          <p:nvPr/>
        </p:nvSpPr>
        <p:spPr>
          <a:xfrm>
            <a:off x="660380" y="1358798"/>
            <a:ext cx="114318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ShopStart.java</a:t>
            </a:r>
            <a:endParaRPr lang="en-US" sz="1000" dirty="0"/>
          </a:p>
        </p:txBody>
      </p:sp>
      <p:sp>
        <p:nvSpPr>
          <p:cNvPr id="5" name="Shape 3"/>
          <p:cNvSpPr/>
          <p:nvPr/>
        </p:nvSpPr>
        <p:spPr>
          <a:xfrm>
            <a:off x="660380" y="1601389"/>
            <a:ext cx="10870936" cy="920709"/>
          </a:xfrm>
          <a:prstGeom prst="roundRect">
            <a:avLst>
              <a:gd name="adj" fmla="val 11034"/>
            </a:avLst>
          </a:prstGeom>
          <a:solidFill>
            <a:srgbClr val="0C131E"/>
          </a:solidFill>
          <a:ln/>
        </p:spPr>
      </p:sp>
      <p:sp>
        <p:nvSpPr>
          <p:cNvPr id="6" name="Shape 4"/>
          <p:cNvSpPr/>
          <p:nvPr/>
        </p:nvSpPr>
        <p:spPr>
          <a:xfrm>
            <a:off x="660380" y="1766438"/>
            <a:ext cx="10870936" cy="295260"/>
          </a:xfrm>
          <a:prstGeom prst="rect">
            <a:avLst/>
          </a:prstGeom>
          <a:solidFill>
            <a:srgbClr val="FFD479">
              <a:alpha val="13000"/>
            </a:srgbClr>
          </a:solidFill>
          <a:ln/>
        </p:spPr>
      </p:sp>
      <p:sp>
        <p:nvSpPr>
          <p:cNvPr id="7" name="Shape 5"/>
          <p:cNvSpPr/>
          <p:nvPr/>
        </p:nvSpPr>
        <p:spPr>
          <a:xfrm>
            <a:off x="660380" y="1766438"/>
            <a:ext cx="31730" cy="295260"/>
          </a:xfrm>
          <a:prstGeom prst="rect">
            <a:avLst/>
          </a:prstGeom>
          <a:solidFill>
            <a:srgbClr val="FFD479"/>
          </a:solidFill>
          <a:ln/>
        </p:spPr>
      </p:sp>
      <p:sp>
        <p:nvSpPr>
          <p:cNvPr id="8" name="Text 6"/>
          <p:cNvSpPr txBox="1"/>
          <p:nvPr/>
        </p:nvSpPr>
        <p:spPr>
          <a:xfrm>
            <a:off x="907999" y="1793138"/>
            <a:ext cx="6786402" cy="295260"/>
          </a:xfrm>
          <a:prstGeom prst="rect">
            <a:avLst/>
          </a:prstGeom>
          <a:noFill/>
          <a:ln/>
        </p:spPr>
        <p:txBody>
          <a:bodyPr wrap="none" lIns="0" tIns="0" rIns="0" bIns="0" rtlCol="0" anchor="ctr"/>
          <a:lstStyle/>
          <a:p>
            <a:pPr algn="l" indent="0" marL="0">
              <a:buNone/>
            </a:pPr>
            <a:r>
              <a:rPr lang="en-US" sz="1500" dirty="0">
                <a:solidFill>
                  <a:srgbClr val="7FC2FF"/>
                </a:solidFill>
                <a:latin typeface="Courier New" pitchFamily="34" charset="0"/>
                <a:ea typeface="Courier New" pitchFamily="34" charset="-122"/>
                <a:cs typeface="Courier New" pitchFamily="34" charset="-120"/>
              </a:rPr>
              <a:t>static</a:t>
            </a:r>
            <a:pPr algn="l" indent="0" marL="0">
              <a:buNone/>
            </a:pPr>
            <a:r>
              <a:rPr lang="en-US" sz="1500" dirty="0">
                <a:solidFill>
                  <a:srgbClr val="E6EDF7"/>
                </a:solidFill>
                <a:latin typeface="Courier New" pitchFamily="34" charset="0"/>
                <a:ea typeface="Courier New" pitchFamily="34" charset="-122"/>
                <a:cs typeface="Courier New" pitchFamily="34" charset="-120"/>
              </a:rPr>
              <a:t> </a:t>
            </a:r>
            <a:pPr algn="l" indent="0" marL="0">
              <a:buNone/>
            </a:pPr>
            <a:r>
              <a:rPr lang="en-US" sz="1500" dirty="0">
                <a:solidFill>
                  <a:srgbClr val="7FC2FF"/>
                </a:solidFill>
                <a:latin typeface="Courier New" pitchFamily="34" charset="0"/>
                <a:ea typeface="Courier New" pitchFamily="34" charset="-122"/>
                <a:cs typeface="Courier New" pitchFamily="34" charset="-120"/>
              </a:rPr>
              <a:t>final</a:t>
            </a:r>
            <a:pPr algn="l" indent="0" marL="0">
              <a:buNone/>
            </a:pPr>
            <a:r>
              <a:rPr lang="en-US" sz="1500" dirty="0">
                <a:solidFill>
                  <a:srgbClr val="E6EDF7"/>
                </a:solidFill>
                <a:latin typeface="Courier New" pitchFamily="34" charset="0"/>
                <a:ea typeface="Courier New" pitchFamily="34" charset="-122"/>
                <a:cs typeface="Courier New" pitchFamily="34" charset="-120"/>
              </a:rPr>
              <a:t> String TMN_CODE    = </a:t>
            </a:r>
            <a:pPr algn="l" indent="0" marL="0">
              <a:buNone/>
            </a:pPr>
            <a:r>
              <a:rPr lang="en-US" sz="1500" dirty="0">
                <a:solidFill>
                  <a:srgbClr val="9BE3B4"/>
                </a:solidFill>
                <a:latin typeface="Courier New" pitchFamily="34" charset="0"/>
                <a:ea typeface="Courier New" pitchFamily="34" charset="-122"/>
                <a:cs typeface="Courier New" pitchFamily="34" charset="-120"/>
              </a:rPr>
              <a:t>"</a:t>
            </a:r>
            <a:pPr algn="l" indent="0" marL="0">
              <a:buNone/>
            </a:pPr>
            <a:r>
              <a:rPr lang="en-US" sz="1500" dirty="0">
                <a:solidFill>
                  <a:srgbClr val="FFD479"/>
                </a:solidFill>
                <a:latin typeface="Courier New" pitchFamily="34" charset="0"/>
                <a:ea typeface="Courier New" pitchFamily="34" charset="-122"/>
                <a:cs typeface="Courier New" pitchFamily="34" charset="-120"/>
              </a:rPr>
              <a:t>8 ký tự trong email</a:t>
            </a:r>
            <a:pPr algn="l" indent="0" marL="0">
              <a:buNone/>
            </a:pPr>
            <a:r>
              <a:rPr lang="en-US" sz="1500" dirty="0">
                <a:solidFill>
                  <a:srgbClr val="9BE3B4"/>
                </a:solidFill>
                <a:latin typeface="Courier New" pitchFamily="34" charset="0"/>
                <a:ea typeface="Courier New" pitchFamily="34" charset="-122"/>
                <a:cs typeface="Courier New" pitchFamily="34" charset="-120"/>
              </a:rPr>
              <a:t>"</a:t>
            </a:r>
            <a:pPr algn="l" indent="0" marL="0">
              <a:buNone/>
            </a:pPr>
            <a:r>
              <a:rPr lang="en-US" sz="1500" dirty="0">
                <a:solidFill>
                  <a:srgbClr val="E6EDF7"/>
                </a:solidFill>
                <a:latin typeface="Courier New" pitchFamily="34" charset="0"/>
                <a:ea typeface="Courier New" pitchFamily="34" charset="-122"/>
                <a:cs typeface="Courier New" pitchFamily="34" charset="-120"/>
              </a:rPr>
              <a:t>;</a:t>
            </a:r>
            <a:endParaRPr lang="en-US" sz="1500" dirty="0"/>
          </a:p>
        </p:txBody>
      </p:sp>
      <p:sp>
        <p:nvSpPr>
          <p:cNvPr id="9" name="Shape 7"/>
          <p:cNvSpPr/>
          <p:nvPr/>
        </p:nvSpPr>
        <p:spPr>
          <a:xfrm>
            <a:off x="660380" y="2061698"/>
            <a:ext cx="10870936" cy="295260"/>
          </a:xfrm>
          <a:prstGeom prst="rect">
            <a:avLst/>
          </a:prstGeom>
          <a:solidFill>
            <a:srgbClr val="FFD479">
              <a:alpha val="13000"/>
            </a:srgbClr>
          </a:solidFill>
          <a:ln/>
        </p:spPr>
      </p:sp>
      <p:sp>
        <p:nvSpPr>
          <p:cNvPr id="10" name="Shape 8"/>
          <p:cNvSpPr/>
          <p:nvPr/>
        </p:nvSpPr>
        <p:spPr>
          <a:xfrm>
            <a:off x="660380" y="2061698"/>
            <a:ext cx="31730" cy="295260"/>
          </a:xfrm>
          <a:prstGeom prst="rect">
            <a:avLst/>
          </a:prstGeom>
          <a:solidFill>
            <a:srgbClr val="FFD479"/>
          </a:solidFill>
          <a:ln/>
        </p:spPr>
      </p:sp>
      <p:sp>
        <p:nvSpPr>
          <p:cNvPr id="11" name="Text 9"/>
          <p:cNvSpPr txBox="1"/>
          <p:nvPr/>
        </p:nvSpPr>
        <p:spPr>
          <a:xfrm>
            <a:off x="907999" y="2088398"/>
            <a:ext cx="6907560" cy="295260"/>
          </a:xfrm>
          <a:prstGeom prst="rect">
            <a:avLst/>
          </a:prstGeom>
          <a:noFill/>
          <a:ln/>
        </p:spPr>
        <p:txBody>
          <a:bodyPr wrap="none" lIns="0" tIns="0" rIns="0" bIns="0" rtlCol="0" anchor="ctr"/>
          <a:lstStyle/>
          <a:p>
            <a:pPr algn="l" indent="0" marL="0">
              <a:buNone/>
            </a:pPr>
            <a:r>
              <a:rPr lang="en-US" sz="1500" dirty="0">
                <a:solidFill>
                  <a:srgbClr val="7FC2FF"/>
                </a:solidFill>
                <a:latin typeface="Courier New" pitchFamily="34" charset="0"/>
                <a:ea typeface="Courier New" pitchFamily="34" charset="-122"/>
                <a:cs typeface="Courier New" pitchFamily="34" charset="-120"/>
              </a:rPr>
              <a:t>static</a:t>
            </a:r>
            <a:pPr algn="l" indent="0" marL="0">
              <a:buNone/>
            </a:pPr>
            <a:r>
              <a:rPr lang="en-US" sz="1500" dirty="0">
                <a:solidFill>
                  <a:srgbClr val="E6EDF7"/>
                </a:solidFill>
                <a:latin typeface="Courier New" pitchFamily="34" charset="0"/>
                <a:ea typeface="Courier New" pitchFamily="34" charset="-122"/>
                <a:cs typeface="Courier New" pitchFamily="34" charset="-120"/>
              </a:rPr>
              <a:t> </a:t>
            </a:r>
            <a:pPr algn="l" indent="0" marL="0">
              <a:buNone/>
            </a:pPr>
            <a:r>
              <a:rPr lang="en-US" sz="1500" dirty="0">
                <a:solidFill>
                  <a:srgbClr val="7FC2FF"/>
                </a:solidFill>
                <a:latin typeface="Courier New" pitchFamily="34" charset="0"/>
                <a:ea typeface="Courier New" pitchFamily="34" charset="-122"/>
                <a:cs typeface="Courier New" pitchFamily="34" charset="-120"/>
              </a:rPr>
              <a:t>final</a:t>
            </a:r>
            <a:pPr algn="l" indent="0" marL="0">
              <a:buNone/>
            </a:pPr>
            <a:r>
              <a:rPr lang="en-US" sz="1500" dirty="0">
                <a:solidFill>
                  <a:srgbClr val="E6EDF7"/>
                </a:solidFill>
                <a:latin typeface="Courier New" pitchFamily="34" charset="0"/>
                <a:ea typeface="Courier New" pitchFamily="34" charset="-122"/>
                <a:cs typeface="Courier New" pitchFamily="34" charset="-120"/>
              </a:rPr>
              <a:t> String HASH_SECRET = </a:t>
            </a:r>
            <a:pPr algn="l" indent="0" marL="0">
              <a:buNone/>
            </a:pPr>
            <a:r>
              <a:rPr lang="en-US" sz="1500" dirty="0">
                <a:solidFill>
                  <a:srgbClr val="9BE3B4"/>
                </a:solidFill>
                <a:latin typeface="Courier New" pitchFamily="34" charset="0"/>
                <a:ea typeface="Courier New" pitchFamily="34" charset="-122"/>
                <a:cs typeface="Courier New" pitchFamily="34" charset="-120"/>
              </a:rPr>
              <a:t>"</a:t>
            </a:r>
            <a:pPr algn="l" indent="0" marL="0">
              <a:buNone/>
            </a:pPr>
            <a:r>
              <a:rPr lang="en-US" sz="1500" dirty="0">
                <a:solidFill>
                  <a:srgbClr val="FFD479"/>
                </a:solidFill>
                <a:latin typeface="Courier New" pitchFamily="34" charset="0"/>
                <a:ea typeface="Courier New" pitchFamily="34" charset="-122"/>
                <a:cs typeface="Courier New" pitchFamily="34" charset="-120"/>
              </a:rPr>
              <a:t>32 ký tự trong email</a:t>
            </a:r>
            <a:pPr algn="l" indent="0" marL="0">
              <a:buNone/>
            </a:pPr>
            <a:r>
              <a:rPr lang="en-US" sz="1500" dirty="0">
                <a:solidFill>
                  <a:srgbClr val="9BE3B4"/>
                </a:solidFill>
                <a:latin typeface="Courier New" pitchFamily="34" charset="0"/>
                <a:ea typeface="Courier New" pitchFamily="34" charset="-122"/>
                <a:cs typeface="Courier New" pitchFamily="34" charset="-120"/>
              </a:rPr>
              <a:t>"</a:t>
            </a:r>
            <a:pPr algn="l" indent="0" marL="0">
              <a:buNone/>
            </a:pPr>
            <a:r>
              <a:rPr lang="en-US" sz="1500" dirty="0">
                <a:solidFill>
                  <a:srgbClr val="E6EDF7"/>
                </a:solidFill>
                <a:latin typeface="Courier New" pitchFamily="34" charset="0"/>
                <a:ea typeface="Courier New" pitchFamily="34" charset="-122"/>
                <a:cs typeface="Courier New" pitchFamily="34" charset="-120"/>
              </a:rPr>
              <a:t>;</a:t>
            </a:r>
            <a:endParaRPr lang="en-US" sz="1500" dirty="0"/>
          </a:p>
        </p:txBody>
      </p:sp>
      <p:sp>
        <p:nvSpPr>
          <p:cNvPr id="12" name="Shape 10"/>
          <p:cNvSpPr/>
          <p:nvPr/>
        </p:nvSpPr>
        <p:spPr>
          <a:xfrm>
            <a:off x="698510" y="2822844"/>
            <a:ext cx="63459" cy="63459"/>
          </a:xfrm>
          <a:prstGeom prst="ellipse">
            <a:avLst/>
          </a:prstGeom>
          <a:solidFill>
            <a:srgbClr val="0066FF"/>
          </a:solidFill>
          <a:ln/>
        </p:spPr>
      </p:sp>
      <p:sp>
        <p:nvSpPr>
          <p:cNvPr id="13" name="Text 11"/>
          <p:cNvSpPr txBox="1"/>
          <p:nvPr/>
        </p:nvSpPr>
        <p:spPr>
          <a:xfrm>
            <a:off x="876270" y="2720980"/>
            <a:ext cx="7168987"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Lấy trong email VNPAY gửi về sau khi đăng ký ở </a:t>
            </a:r>
            <a:pPr algn="l" indent="0" marL="0">
              <a:buNone/>
            </a:pPr>
            <a:r>
              <a:rPr lang="en-US" sz="1400" dirty="0">
                <a:solidFill>
                  <a:srgbClr val="3F454D"/>
                </a:solidFill>
                <a:latin typeface="Courier New" pitchFamily="34" charset="0"/>
                <a:ea typeface="Courier New" pitchFamily="34" charset="-122"/>
                <a:cs typeface="Courier New" pitchFamily="34" charset="-120"/>
              </a:rPr>
              <a:t>sandbox.vnpayment.vn/devreg</a:t>
            </a:r>
            <a:endParaRPr lang="en-US" sz="1400" dirty="0"/>
          </a:p>
        </p:txBody>
      </p:sp>
      <p:sp>
        <p:nvSpPr>
          <p:cNvPr id="14" name="Shape 12"/>
          <p:cNvSpPr/>
          <p:nvPr/>
        </p:nvSpPr>
        <p:spPr>
          <a:xfrm>
            <a:off x="698510" y="3191073"/>
            <a:ext cx="63459" cy="63459"/>
          </a:xfrm>
          <a:prstGeom prst="ellipse">
            <a:avLst/>
          </a:prstGeom>
          <a:solidFill>
            <a:srgbClr val="0066FF"/>
          </a:solidFill>
          <a:ln/>
        </p:spPr>
      </p:sp>
      <p:sp>
        <p:nvSpPr>
          <p:cNvPr id="15" name="Text 13"/>
          <p:cNvSpPr txBox="1"/>
          <p:nvPr/>
        </p:nvSpPr>
        <p:spPr>
          <a:xfrm>
            <a:off x="876270" y="3089209"/>
            <a:ext cx="3782324"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TmnCode có 8 ký tự, HashSecret có 32 ký tự</a:t>
            </a:r>
            <a:endParaRPr lang="en-US" sz="1400" dirty="0"/>
          </a:p>
        </p:txBody>
      </p:sp>
      <p:sp>
        <p:nvSpPr>
          <p:cNvPr id="16" name="Shape 14"/>
          <p:cNvSpPr/>
          <p:nvPr/>
        </p:nvSpPr>
        <p:spPr>
          <a:xfrm>
            <a:off x="698510" y="3546683"/>
            <a:ext cx="63459" cy="63459"/>
          </a:xfrm>
          <a:prstGeom prst="ellipse">
            <a:avLst/>
          </a:prstGeom>
          <a:solidFill>
            <a:srgbClr val="0066FF"/>
          </a:solidFill>
          <a:ln/>
        </p:spPr>
      </p:sp>
      <p:sp>
        <p:nvSpPr>
          <p:cNvPr id="17" name="Text 15"/>
          <p:cNvSpPr txBox="1"/>
          <p:nvPr/>
        </p:nvSpPr>
        <p:spPr>
          <a:xfrm>
            <a:off x="876270" y="3444819"/>
            <a:ext cx="4220505"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Copy đủ, không để dính dấu cách ở đầu hoặc cuối</a:t>
            </a:r>
            <a:endParaRPr lang="en-US" sz="1400" dirty="0"/>
          </a:p>
        </p:txBody>
      </p:sp>
      <p:sp>
        <p:nvSpPr>
          <p:cNvPr id="18" name="Text 16"/>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19" name="Text 17"/>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17116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1 – Chữ ký</a:t>
            </a:r>
            <a:endParaRPr lang="en-US" sz="1100" dirty="0"/>
          </a:p>
        </p:txBody>
      </p:sp>
      <p:sp>
        <p:nvSpPr>
          <p:cNvPr id="3" name="Text 1"/>
          <p:cNvSpPr txBox="1"/>
          <p:nvPr/>
        </p:nvSpPr>
        <p:spPr>
          <a:xfrm>
            <a:off x="660380" y="643829"/>
            <a:ext cx="440247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Cách VNPAY tạo chữ ký</a:t>
            </a:r>
            <a:endParaRPr lang="en-US" sz="3000" dirty="0"/>
          </a:p>
        </p:txBody>
      </p:sp>
      <p:sp>
        <p:nvSpPr>
          <p:cNvPr id="4" name="Text 2"/>
          <p:cNvSpPr txBox="1"/>
          <p:nvPr/>
        </p:nvSpPr>
        <p:spPr>
          <a:xfrm>
            <a:off x="660380" y="133667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1.</a:t>
            </a:r>
            <a:endParaRPr lang="en-US" sz="1400" dirty="0"/>
          </a:p>
        </p:txBody>
      </p:sp>
      <p:sp>
        <p:nvSpPr>
          <p:cNvPr id="5" name="Text 3"/>
          <p:cNvSpPr txBox="1"/>
          <p:nvPr/>
        </p:nvSpPr>
        <p:spPr>
          <a:xfrm>
            <a:off x="965149" y="1368400"/>
            <a:ext cx="5050688"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Sắp xếp tham số theo thứ tự alphabet, bỏ mấy tham số rỗng</a:t>
            </a:r>
            <a:endParaRPr lang="en-US" sz="1400" dirty="0"/>
          </a:p>
        </p:txBody>
      </p:sp>
      <p:sp>
        <p:nvSpPr>
          <p:cNvPr id="6" name="Text 4"/>
          <p:cNvSpPr txBox="1"/>
          <p:nvPr/>
        </p:nvSpPr>
        <p:spPr>
          <a:xfrm>
            <a:off x="660380" y="169228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2.</a:t>
            </a:r>
            <a:endParaRPr lang="en-US" sz="1400" dirty="0"/>
          </a:p>
        </p:txBody>
      </p:sp>
      <p:sp>
        <p:nvSpPr>
          <p:cNvPr id="7" name="Text 5"/>
          <p:cNvSpPr txBox="1"/>
          <p:nvPr/>
        </p:nvSpPr>
        <p:spPr>
          <a:xfrm>
            <a:off x="965149" y="1724010"/>
            <a:ext cx="4893777"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URL-encode giá trị, nối lại thành </a:t>
            </a:r>
            <a:pPr algn="l" indent="0" marL="0">
              <a:buNone/>
            </a:pPr>
            <a:r>
              <a:rPr lang="en-US" sz="1400" dirty="0">
                <a:solidFill>
                  <a:srgbClr val="3F454D"/>
                </a:solidFill>
                <a:latin typeface="Courier New" pitchFamily="34" charset="0"/>
                <a:ea typeface="Courier New" pitchFamily="34" charset="-122"/>
                <a:cs typeface="Courier New" pitchFamily="34" charset="-120"/>
              </a:rPr>
              <a:t>key=value&amp;key=value</a:t>
            </a:r>
            <a:endParaRPr lang="en-US" sz="1400" dirty="0"/>
          </a:p>
        </p:txBody>
      </p:sp>
      <p:sp>
        <p:nvSpPr>
          <p:cNvPr id="8" name="Text 6"/>
          <p:cNvSpPr txBox="1"/>
          <p:nvPr/>
        </p:nvSpPr>
        <p:spPr>
          <a:xfrm>
            <a:off x="660380" y="206060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3.</a:t>
            </a:r>
            <a:endParaRPr lang="en-US" sz="1400" dirty="0"/>
          </a:p>
        </p:txBody>
      </p:sp>
      <p:sp>
        <p:nvSpPr>
          <p:cNvPr id="9" name="Text 7"/>
          <p:cNvSpPr txBox="1"/>
          <p:nvPr/>
        </p:nvSpPr>
        <p:spPr>
          <a:xfrm>
            <a:off x="965149" y="2092330"/>
            <a:ext cx="5286512"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Băm HMAC-SHA512 với HashSecret, ra chuỗi hex chữ thường</a:t>
            </a:r>
            <a:endParaRPr lang="en-US" sz="1400" dirty="0"/>
          </a:p>
        </p:txBody>
      </p:sp>
      <p:sp>
        <p:nvSpPr>
          <p:cNvPr id="10" name="Shape 8"/>
          <p:cNvSpPr/>
          <p:nvPr/>
        </p:nvSpPr>
        <p:spPr>
          <a:xfrm>
            <a:off x="660380" y="2515697"/>
            <a:ext cx="10870936" cy="1983516"/>
          </a:xfrm>
          <a:prstGeom prst="roundRect">
            <a:avLst>
              <a:gd name="adj" fmla="val 5122"/>
            </a:avLst>
          </a:prstGeom>
          <a:solidFill>
            <a:srgbClr val="0C131E"/>
          </a:solidFill>
          <a:ln/>
        </p:spPr>
      </p:sp>
      <p:sp>
        <p:nvSpPr>
          <p:cNvPr id="11" name="Text 9"/>
          <p:cNvSpPr txBox="1"/>
          <p:nvPr/>
        </p:nvSpPr>
        <p:spPr>
          <a:xfrm>
            <a:off x="907999" y="2698212"/>
            <a:ext cx="1526865" cy="206654"/>
          </a:xfrm>
          <a:prstGeom prst="rect">
            <a:avLst/>
          </a:prstGeom>
          <a:noFill/>
          <a:ln/>
        </p:spPr>
        <p:txBody>
          <a:bodyPr wrap="none" lIns="0" tIns="0" rIns="0" bIns="0" rtlCol="0" anchor="ctr"/>
          <a:lstStyle/>
          <a:p>
            <a:pPr algn="l" indent="0" marL="0">
              <a:buNone/>
            </a:pPr>
            <a:r>
              <a:rPr lang="en-US" sz="1050" dirty="0">
                <a:solidFill>
                  <a:srgbClr val="7D8CA3"/>
                </a:solidFill>
                <a:latin typeface="Courier New" pitchFamily="34" charset="0"/>
                <a:ea typeface="Courier New" pitchFamily="34" charset="-122"/>
                <a:cs typeface="Courier New" pitchFamily="34" charset="-120"/>
              </a:rPr>
              <a:t>// dữ liệu ban đầu</a:t>
            </a:r>
            <a:endParaRPr lang="en-US" sz="1050" dirty="0"/>
          </a:p>
        </p:txBody>
      </p:sp>
      <p:sp>
        <p:nvSpPr>
          <p:cNvPr id="12" name="Text 10"/>
          <p:cNvSpPr txBox="1"/>
          <p:nvPr/>
        </p:nvSpPr>
        <p:spPr>
          <a:xfrm>
            <a:off x="907999" y="2904866"/>
            <a:ext cx="6192042"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{vnp_TxnRef=2026..., vnp_Amount=2500000, vnp_OrderInfo=Thanh toan Ca phe}</a:t>
            </a:r>
            <a:endParaRPr lang="en-US" sz="1050" dirty="0"/>
          </a:p>
        </p:txBody>
      </p:sp>
      <p:sp>
        <p:nvSpPr>
          <p:cNvPr id="13" name="Text 11"/>
          <p:cNvSpPr txBox="1"/>
          <p:nvPr/>
        </p:nvSpPr>
        <p:spPr>
          <a:xfrm>
            <a:off x="907999" y="3318266"/>
            <a:ext cx="1357244" cy="206654"/>
          </a:xfrm>
          <a:prstGeom prst="rect">
            <a:avLst/>
          </a:prstGeom>
          <a:noFill/>
          <a:ln/>
        </p:spPr>
        <p:txBody>
          <a:bodyPr wrap="none" lIns="0" tIns="0" rIns="0" bIns="0" rtlCol="0" anchor="ctr"/>
          <a:lstStyle/>
          <a:p>
            <a:pPr algn="l" indent="0" marL="0">
              <a:buNone/>
            </a:pPr>
            <a:r>
              <a:rPr lang="en-US" sz="1050" dirty="0">
                <a:solidFill>
                  <a:srgbClr val="7D8CA3"/>
                </a:solidFill>
                <a:latin typeface="Courier New" pitchFamily="34" charset="0"/>
                <a:ea typeface="Courier New" pitchFamily="34" charset="-122"/>
                <a:cs typeface="Courier New" pitchFamily="34" charset="-120"/>
              </a:rPr>
              <a:t>// sau bước 1, 2</a:t>
            </a:r>
            <a:endParaRPr lang="en-US" sz="1050" dirty="0"/>
          </a:p>
        </p:txBody>
      </p:sp>
      <p:sp>
        <p:nvSpPr>
          <p:cNvPr id="14" name="Shape 12"/>
          <p:cNvSpPr/>
          <p:nvPr/>
        </p:nvSpPr>
        <p:spPr>
          <a:xfrm>
            <a:off x="660380" y="3507456"/>
            <a:ext cx="10870936" cy="206654"/>
          </a:xfrm>
          <a:prstGeom prst="rect">
            <a:avLst/>
          </a:prstGeom>
          <a:solidFill>
            <a:srgbClr val="FFD479">
              <a:alpha val="13000"/>
            </a:srgbClr>
          </a:solidFill>
          <a:ln/>
        </p:spPr>
      </p:sp>
      <p:sp>
        <p:nvSpPr>
          <p:cNvPr id="15" name="Shape 13"/>
          <p:cNvSpPr/>
          <p:nvPr/>
        </p:nvSpPr>
        <p:spPr>
          <a:xfrm>
            <a:off x="660380" y="3507456"/>
            <a:ext cx="31730" cy="206654"/>
          </a:xfrm>
          <a:prstGeom prst="rect">
            <a:avLst/>
          </a:prstGeom>
          <a:solidFill>
            <a:srgbClr val="FFD479"/>
          </a:solidFill>
          <a:ln/>
        </p:spPr>
      </p:sp>
      <p:sp>
        <p:nvSpPr>
          <p:cNvPr id="16" name="Text 14"/>
          <p:cNvSpPr txBox="1"/>
          <p:nvPr/>
        </p:nvSpPr>
        <p:spPr>
          <a:xfrm>
            <a:off x="907999" y="3524921"/>
            <a:ext cx="5852800"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vnp_Amount=2500000&amp;vnp_OrderInfo=Thanh+toan+Ca+phe&amp;vnp_TxnRef=2026...</a:t>
            </a:r>
            <a:endParaRPr lang="en-US" sz="1050" dirty="0"/>
          </a:p>
        </p:txBody>
      </p:sp>
      <p:sp>
        <p:nvSpPr>
          <p:cNvPr id="17" name="Text 15"/>
          <p:cNvSpPr txBox="1"/>
          <p:nvPr/>
        </p:nvSpPr>
        <p:spPr>
          <a:xfrm>
            <a:off x="907999" y="3938229"/>
            <a:ext cx="1116482" cy="206654"/>
          </a:xfrm>
          <a:prstGeom prst="rect">
            <a:avLst/>
          </a:prstGeom>
          <a:noFill/>
          <a:ln/>
        </p:spPr>
        <p:txBody>
          <a:bodyPr wrap="none" lIns="0" tIns="0" rIns="0" bIns="0" rtlCol="0" anchor="ctr"/>
          <a:lstStyle/>
          <a:p>
            <a:pPr algn="l" indent="0" marL="0">
              <a:buNone/>
            </a:pPr>
            <a:r>
              <a:rPr lang="en-US" sz="1050" dirty="0">
                <a:solidFill>
                  <a:srgbClr val="7D8CA3"/>
                </a:solidFill>
                <a:latin typeface="Courier New" pitchFamily="34" charset="0"/>
                <a:ea typeface="Courier New" pitchFamily="34" charset="-122"/>
                <a:cs typeface="Courier New" pitchFamily="34" charset="-120"/>
              </a:rPr>
              <a:t>// sau bước 3</a:t>
            </a:r>
            <a:endParaRPr lang="en-US" sz="1050" dirty="0"/>
          </a:p>
        </p:txBody>
      </p:sp>
      <p:sp>
        <p:nvSpPr>
          <p:cNvPr id="18" name="Shape 16"/>
          <p:cNvSpPr/>
          <p:nvPr/>
        </p:nvSpPr>
        <p:spPr>
          <a:xfrm>
            <a:off x="660380" y="4127510"/>
            <a:ext cx="10870936" cy="206654"/>
          </a:xfrm>
          <a:prstGeom prst="rect">
            <a:avLst/>
          </a:prstGeom>
          <a:solidFill>
            <a:srgbClr val="FFD479">
              <a:alpha val="13000"/>
            </a:srgbClr>
          </a:solidFill>
          <a:ln/>
        </p:spPr>
      </p:sp>
      <p:sp>
        <p:nvSpPr>
          <p:cNvPr id="19" name="Shape 17"/>
          <p:cNvSpPr/>
          <p:nvPr/>
        </p:nvSpPr>
        <p:spPr>
          <a:xfrm>
            <a:off x="660380" y="4127510"/>
            <a:ext cx="31730" cy="206654"/>
          </a:xfrm>
          <a:prstGeom prst="rect">
            <a:avLst/>
          </a:prstGeom>
          <a:solidFill>
            <a:srgbClr val="FFD479"/>
          </a:solidFill>
          <a:ln/>
        </p:spPr>
      </p:sp>
      <p:sp>
        <p:nvSpPr>
          <p:cNvPr id="20" name="Text 18"/>
          <p:cNvSpPr txBox="1"/>
          <p:nvPr/>
        </p:nvSpPr>
        <p:spPr>
          <a:xfrm>
            <a:off x="907999" y="4144884"/>
            <a:ext cx="4156405"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98bbf7a165e10ad8527a34f48b43c45d...   (128 ký tự)</a:t>
            </a:r>
            <a:endParaRPr lang="en-US" sz="1050" dirty="0"/>
          </a:p>
        </p:txBody>
      </p:sp>
      <p:sp>
        <p:nvSpPr>
          <p:cNvPr id="21" name="Text 19"/>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2" name="Text 20"/>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17116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1 – Chữ ký</a:t>
            </a:r>
            <a:endParaRPr lang="en-US" sz="1100" dirty="0"/>
          </a:p>
        </p:txBody>
      </p:sp>
      <p:sp>
        <p:nvSpPr>
          <p:cNvPr id="3" name="Text 1"/>
          <p:cNvSpPr txBox="1"/>
          <p:nvPr/>
        </p:nvSpPr>
        <p:spPr>
          <a:xfrm>
            <a:off x="660380" y="643829"/>
            <a:ext cx="5328392"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TODO 2 – Hàm hmacSHA512</a:t>
            </a:r>
            <a:endParaRPr lang="en-US" sz="3000" dirty="0"/>
          </a:p>
        </p:txBody>
      </p:sp>
      <p:sp>
        <p:nvSpPr>
          <p:cNvPr id="4" name="Text 2"/>
          <p:cNvSpPr txBox="1"/>
          <p:nvPr/>
        </p:nvSpPr>
        <p:spPr>
          <a:xfrm>
            <a:off x="660380" y="1358798"/>
            <a:ext cx="114318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ShopStart.java</a:t>
            </a:r>
            <a:endParaRPr lang="en-US" sz="1000" dirty="0"/>
          </a:p>
        </p:txBody>
      </p:sp>
      <p:sp>
        <p:nvSpPr>
          <p:cNvPr id="5" name="Shape 3"/>
          <p:cNvSpPr/>
          <p:nvPr/>
        </p:nvSpPr>
        <p:spPr>
          <a:xfrm>
            <a:off x="660380" y="1601389"/>
            <a:ext cx="6956847" cy="3399922"/>
          </a:xfrm>
          <a:prstGeom prst="roundRect">
            <a:avLst>
              <a:gd name="adj" fmla="val 2988"/>
            </a:avLst>
          </a:prstGeom>
          <a:solidFill>
            <a:srgbClr val="0C131E"/>
          </a:solidFill>
          <a:ln/>
        </p:spPr>
      </p:sp>
      <p:sp>
        <p:nvSpPr>
          <p:cNvPr id="6" name="Text 4"/>
          <p:cNvSpPr txBox="1"/>
          <p:nvPr/>
        </p:nvSpPr>
        <p:spPr>
          <a:xfrm>
            <a:off x="907999" y="1789024"/>
            <a:ext cx="4943978" cy="236190"/>
          </a:xfrm>
          <a:prstGeom prst="rect">
            <a:avLst/>
          </a:prstGeom>
          <a:noFill/>
          <a:ln/>
        </p:spPr>
        <p:txBody>
          <a:bodyPr wrap="none" lIns="0" tIns="0" rIns="0" bIns="0" rtlCol="0" anchor="ctr"/>
          <a:lstStyle/>
          <a:p>
            <a:pPr algn="l" indent="0" marL="0">
              <a:buNone/>
            </a:pPr>
            <a:r>
              <a:rPr lang="en-US" sz="1200" dirty="0">
                <a:solidFill>
                  <a:srgbClr val="7FC2FF"/>
                </a:solidFill>
                <a:latin typeface="Courier New" pitchFamily="34" charset="0"/>
                <a:ea typeface="Courier New" pitchFamily="34" charset="-122"/>
                <a:cs typeface="Courier New" pitchFamily="34" charset="-120"/>
              </a:rPr>
              <a:t>static</a:t>
            </a:r>
            <a:pPr algn="l" indent="0" marL="0">
              <a:buNone/>
            </a:pPr>
            <a:r>
              <a:rPr lang="en-US" sz="1200" dirty="0">
                <a:solidFill>
                  <a:srgbClr val="E6EDF7"/>
                </a:solidFill>
                <a:latin typeface="Courier New" pitchFamily="34" charset="0"/>
                <a:ea typeface="Courier New" pitchFamily="34" charset="-122"/>
                <a:cs typeface="Courier New" pitchFamily="34" charset="-120"/>
              </a:rPr>
              <a:t> String hmacSHA512(String key, String data) {</a:t>
            </a:r>
            <a:endParaRPr lang="en-US" sz="1200" dirty="0"/>
          </a:p>
        </p:txBody>
      </p:sp>
      <p:sp>
        <p:nvSpPr>
          <p:cNvPr id="7" name="Text 5"/>
          <p:cNvSpPr txBox="1"/>
          <p:nvPr/>
        </p:nvSpPr>
        <p:spPr>
          <a:xfrm>
            <a:off x="907999" y="2025213"/>
            <a:ext cx="899404"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try</a:t>
            </a:r>
            <a:pPr algn="l" indent="0" marL="0">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p:txBody>
      </p:sp>
      <p:sp>
        <p:nvSpPr>
          <p:cNvPr id="8" name="Text 6"/>
          <p:cNvSpPr txBox="1"/>
          <p:nvPr/>
        </p:nvSpPr>
        <p:spPr>
          <a:xfrm>
            <a:off x="907999" y="2261311"/>
            <a:ext cx="4653199"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Mac mac = Mac.getInstance(</a:t>
            </a:r>
            <a:pPr algn="l" indent="0" marL="0">
              <a:buNone/>
            </a:pPr>
            <a:r>
              <a:rPr lang="en-US" sz="1200" dirty="0">
                <a:solidFill>
                  <a:srgbClr val="9BE3B4"/>
                </a:solidFill>
                <a:latin typeface="Courier New" pitchFamily="34" charset="0"/>
                <a:ea typeface="Courier New" pitchFamily="34" charset="-122"/>
                <a:cs typeface="Courier New" pitchFamily="34" charset="-120"/>
              </a:rPr>
              <a:t>"HmacSHA512"</a:t>
            </a:r>
            <a:pPr algn="l" indent="0" marL="0">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9" name="Text 7"/>
          <p:cNvSpPr txBox="1"/>
          <p:nvPr/>
        </p:nvSpPr>
        <p:spPr>
          <a:xfrm>
            <a:off x="907999" y="2497501"/>
            <a:ext cx="6882872"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mac.init(</a:t>
            </a:r>
            <a:pPr algn="l" indent="0" marL="0">
              <a:buNone/>
            </a:pPr>
            <a:r>
              <a:rPr lang="en-US" sz="1200" dirty="0">
                <a:solidFill>
                  <a:srgbClr val="7FC2FF"/>
                </a:solidFill>
                <a:latin typeface="Courier New" pitchFamily="34" charset="0"/>
                <a:ea typeface="Courier New" pitchFamily="34" charset="-122"/>
                <a:cs typeface="Courier New" pitchFamily="34" charset="-120"/>
              </a:rPr>
              <a:t>new</a:t>
            </a:r>
            <a:pPr algn="l" indent="0" marL="0">
              <a:buNone/>
            </a:pPr>
            <a:r>
              <a:rPr lang="en-US" sz="1200" dirty="0">
                <a:solidFill>
                  <a:srgbClr val="E6EDF7"/>
                </a:solidFill>
                <a:latin typeface="Courier New" pitchFamily="34" charset="0"/>
                <a:ea typeface="Courier New" pitchFamily="34" charset="-122"/>
                <a:cs typeface="Courier New" pitchFamily="34" charset="-120"/>
              </a:rPr>
              <a:t> SecretKeySpec(key.getBytes(UTF_8), </a:t>
            </a:r>
            <a:pPr algn="l" indent="0" marL="0">
              <a:buNone/>
            </a:pPr>
            <a:r>
              <a:rPr lang="en-US" sz="1200" dirty="0">
                <a:solidFill>
                  <a:srgbClr val="9BE3B4"/>
                </a:solidFill>
                <a:latin typeface="Courier New" pitchFamily="34" charset="0"/>
                <a:ea typeface="Courier New" pitchFamily="34" charset="-122"/>
                <a:cs typeface="Courier New" pitchFamily="34" charset="-120"/>
              </a:rPr>
              <a:t>"HmacSHA512"</a:t>
            </a:r>
            <a:pPr algn="l" indent="0" marL="0">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10" name="Text 8"/>
          <p:cNvSpPr txBox="1"/>
          <p:nvPr/>
        </p:nvSpPr>
        <p:spPr>
          <a:xfrm>
            <a:off x="907999" y="2733599"/>
            <a:ext cx="5525628"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byte</a:t>
            </a:r>
            <a:pPr algn="l" indent="0" marL="0">
              <a:buNone/>
            </a:pPr>
            <a:r>
              <a:rPr lang="en-US" sz="1200" dirty="0">
                <a:solidFill>
                  <a:srgbClr val="E6EDF7"/>
                </a:solidFill>
                <a:latin typeface="Courier New" pitchFamily="34" charset="0"/>
                <a:ea typeface="Courier New" pitchFamily="34" charset="-122"/>
                <a:cs typeface="Courier New" pitchFamily="34" charset="-120"/>
              </a:rPr>
              <a:t>[] bytes = mac.doFinal(data.getBytes(UTF_8));</a:t>
            </a:r>
            <a:endParaRPr lang="en-US" sz="1200" dirty="0"/>
          </a:p>
        </p:txBody>
      </p:sp>
      <p:sp>
        <p:nvSpPr>
          <p:cNvPr id="11" name="Text 9"/>
          <p:cNvSpPr txBox="1"/>
          <p:nvPr/>
        </p:nvSpPr>
        <p:spPr>
          <a:xfrm>
            <a:off x="907999" y="3205886"/>
            <a:ext cx="6204204"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StringBuilder hex = </a:t>
            </a:r>
            <a:pPr algn="l" indent="0" marL="0">
              <a:buNone/>
            </a:pPr>
            <a:r>
              <a:rPr lang="en-US" sz="1200" dirty="0">
                <a:solidFill>
                  <a:srgbClr val="7FC2FF"/>
                </a:solidFill>
                <a:latin typeface="Courier New" pitchFamily="34" charset="0"/>
                <a:ea typeface="Courier New" pitchFamily="34" charset="-122"/>
                <a:cs typeface="Courier New" pitchFamily="34" charset="-120"/>
              </a:rPr>
              <a:t>new</a:t>
            </a:r>
            <a:pPr algn="l" indent="0" marL="0">
              <a:buNone/>
            </a:pPr>
            <a:r>
              <a:rPr lang="en-US" sz="1200" dirty="0">
                <a:solidFill>
                  <a:srgbClr val="E6EDF7"/>
                </a:solidFill>
                <a:latin typeface="Courier New" pitchFamily="34" charset="0"/>
                <a:ea typeface="Courier New" pitchFamily="34" charset="-122"/>
                <a:cs typeface="Courier New" pitchFamily="34" charset="-120"/>
              </a:rPr>
              <a:t> StringBuilder(bytes.length * 2);</a:t>
            </a:r>
            <a:endParaRPr lang="en-US" sz="1200" dirty="0"/>
          </a:p>
        </p:txBody>
      </p:sp>
      <p:sp>
        <p:nvSpPr>
          <p:cNvPr id="12" name="Shape 10"/>
          <p:cNvSpPr/>
          <p:nvPr/>
        </p:nvSpPr>
        <p:spPr>
          <a:xfrm>
            <a:off x="660380" y="3419399"/>
            <a:ext cx="6956847" cy="236098"/>
          </a:xfrm>
          <a:prstGeom prst="rect">
            <a:avLst/>
          </a:prstGeom>
          <a:solidFill>
            <a:srgbClr val="FFD479">
              <a:alpha val="13000"/>
            </a:srgbClr>
          </a:solidFill>
          <a:ln/>
        </p:spPr>
      </p:sp>
      <p:sp>
        <p:nvSpPr>
          <p:cNvPr id="13" name="Shape 11"/>
          <p:cNvSpPr/>
          <p:nvPr/>
        </p:nvSpPr>
        <p:spPr>
          <a:xfrm>
            <a:off x="660380" y="3419399"/>
            <a:ext cx="31730" cy="236098"/>
          </a:xfrm>
          <a:prstGeom prst="rect">
            <a:avLst/>
          </a:prstGeom>
          <a:solidFill>
            <a:srgbClr val="FFD479"/>
          </a:solidFill>
          <a:ln/>
        </p:spPr>
      </p:sp>
      <p:sp>
        <p:nvSpPr>
          <p:cNvPr id="14" name="Text 12"/>
          <p:cNvSpPr txBox="1"/>
          <p:nvPr/>
        </p:nvSpPr>
        <p:spPr>
          <a:xfrm>
            <a:off x="907999" y="3441984"/>
            <a:ext cx="6398331"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for</a:t>
            </a:r>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byte</a:t>
            </a:r>
            <a:pPr algn="l" indent="0" marL="0">
              <a:buNone/>
            </a:pPr>
            <a:r>
              <a:rPr lang="en-US" sz="1200" dirty="0">
                <a:solidFill>
                  <a:srgbClr val="E6EDF7"/>
                </a:solidFill>
                <a:latin typeface="Courier New" pitchFamily="34" charset="0"/>
                <a:ea typeface="Courier New" pitchFamily="34" charset="-122"/>
                <a:cs typeface="Courier New" pitchFamily="34" charset="-120"/>
              </a:rPr>
              <a:t> b : bytes) hex.append(String.format(</a:t>
            </a:r>
            <a:pPr algn="l" indent="0" marL="0">
              <a:buNone/>
            </a:pPr>
            <a:r>
              <a:rPr lang="en-US" sz="1200" dirty="0">
                <a:solidFill>
                  <a:srgbClr val="9BE3B4"/>
                </a:solidFill>
                <a:latin typeface="Courier New" pitchFamily="34" charset="0"/>
                <a:ea typeface="Courier New" pitchFamily="34" charset="-122"/>
                <a:cs typeface="Courier New" pitchFamily="34" charset="-120"/>
              </a:rPr>
              <a:t>"%02x"</a:t>
            </a:r>
            <a:pPr algn="l" indent="0" marL="0">
              <a:buNone/>
            </a:pPr>
            <a:r>
              <a:rPr lang="en-US" sz="1200" dirty="0">
                <a:solidFill>
                  <a:srgbClr val="E6EDF7"/>
                </a:solidFill>
                <a:latin typeface="Courier New" pitchFamily="34" charset="0"/>
                <a:ea typeface="Courier New" pitchFamily="34" charset="-122"/>
                <a:cs typeface="Courier New" pitchFamily="34" charset="-120"/>
              </a:rPr>
              <a:t>, b));</a:t>
            </a:r>
            <a:endParaRPr lang="en-US" sz="1200" dirty="0"/>
          </a:p>
        </p:txBody>
      </p:sp>
      <p:sp>
        <p:nvSpPr>
          <p:cNvPr id="15" name="Text 13"/>
          <p:cNvSpPr txBox="1"/>
          <p:nvPr/>
        </p:nvSpPr>
        <p:spPr>
          <a:xfrm>
            <a:off x="907999" y="3678174"/>
            <a:ext cx="2908249"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return</a:t>
            </a:r>
            <a:pPr algn="l" indent="0" marL="0">
              <a:buNone/>
            </a:pPr>
            <a:r>
              <a:rPr lang="en-US" sz="1200" dirty="0">
                <a:solidFill>
                  <a:srgbClr val="E6EDF7"/>
                </a:solidFill>
                <a:latin typeface="Courier New" pitchFamily="34" charset="0"/>
                <a:ea typeface="Courier New" pitchFamily="34" charset="-122"/>
                <a:cs typeface="Courier New" pitchFamily="34" charset="-120"/>
              </a:rPr>
              <a:t> hex.toString();</a:t>
            </a:r>
            <a:endParaRPr lang="en-US" sz="1200" dirty="0"/>
          </a:p>
        </p:txBody>
      </p:sp>
      <p:sp>
        <p:nvSpPr>
          <p:cNvPr id="16" name="Text 14"/>
          <p:cNvSpPr txBox="1"/>
          <p:nvPr/>
        </p:nvSpPr>
        <p:spPr>
          <a:xfrm>
            <a:off x="907999" y="3914272"/>
            <a:ext cx="2617470"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 </a:t>
            </a:r>
            <a:pPr algn="l" indent="0" marL="0">
              <a:buNone/>
            </a:pPr>
            <a:r>
              <a:rPr lang="en-US" sz="1200" dirty="0">
                <a:solidFill>
                  <a:srgbClr val="7FC2FF"/>
                </a:solidFill>
                <a:latin typeface="Courier New" pitchFamily="34" charset="0"/>
                <a:ea typeface="Courier New" pitchFamily="34" charset="-122"/>
                <a:cs typeface="Courier New" pitchFamily="34" charset="-120"/>
              </a:rPr>
              <a:t>catch</a:t>
            </a:r>
            <a:pPr algn="l" indent="0" marL="0">
              <a:buNone/>
            </a:pPr>
            <a:r>
              <a:rPr lang="en-US" sz="1200" dirty="0">
                <a:solidFill>
                  <a:srgbClr val="E6EDF7"/>
                </a:solidFill>
                <a:latin typeface="Courier New" pitchFamily="34" charset="0"/>
                <a:ea typeface="Courier New" pitchFamily="34" charset="-122"/>
                <a:cs typeface="Courier New" pitchFamily="34" charset="-120"/>
              </a:rPr>
              <a:t> (Exception e) {</a:t>
            </a:r>
            <a:endParaRPr lang="en-US" sz="1200" dirty="0"/>
          </a:p>
        </p:txBody>
      </p:sp>
      <p:sp>
        <p:nvSpPr>
          <p:cNvPr id="17" name="Text 15"/>
          <p:cNvSpPr txBox="1"/>
          <p:nvPr/>
        </p:nvSpPr>
        <p:spPr>
          <a:xfrm>
            <a:off x="907999" y="4150370"/>
            <a:ext cx="5622737"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throw</a:t>
            </a:r>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new</a:t>
            </a:r>
            <a:pPr algn="l" indent="0" marL="0">
              <a:buNone/>
            </a:pPr>
            <a:r>
              <a:rPr lang="en-US" sz="1200" dirty="0">
                <a:solidFill>
                  <a:srgbClr val="E6EDF7"/>
                </a:solidFill>
                <a:latin typeface="Courier New" pitchFamily="34" charset="0"/>
                <a:ea typeface="Courier New" pitchFamily="34" charset="-122"/>
                <a:cs typeface="Courier New" pitchFamily="34" charset="-120"/>
              </a:rPr>
              <a:t> IllegalStateException(</a:t>
            </a:r>
            <a:pPr algn="l" indent="0" marL="0">
              <a:buNone/>
            </a:pPr>
            <a:r>
              <a:rPr lang="en-US" sz="1200" dirty="0">
                <a:solidFill>
                  <a:srgbClr val="9BE3B4"/>
                </a:solidFill>
                <a:latin typeface="Courier New" pitchFamily="34" charset="0"/>
                <a:ea typeface="Courier New" pitchFamily="34" charset="-122"/>
                <a:cs typeface="Courier New" pitchFamily="34" charset="-120"/>
              </a:rPr>
              <a:t>"HMAC-SHA512"</a:t>
            </a:r>
            <a:pPr algn="l" indent="0" marL="0">
              <a:buNone/>
            </a:pPr>
            <a:r>
              <a:rPr lang="en-US" sz="1200" dirty="0">
                <a:solidFill>
                  <a:srgbClr val="E6EDF7"/>
                </a:solidFill>
                <a:latin typeface="Courier New" pitchFamily="34" charset="0"/>
                <a:ea typeface="Courier New" pitchFamily="34" charset="-122"/>
                <a:cs typeface="Courier New" pitchFamily="34" charset="-120"/>
              </a:rPr>
              <a:t>, e);</a:t>
            </a:r>
            <a:endParaRPr lang="en-US" sz="1200" dirty="0"/>
          </a:p>
        </p:txBody>
      </p:sp>
      <p:sp>
        <p:nvSpPr>
          <p:cNvPr id="18" name="Text 16"/>
          <p:cNvSpPr txBox="1"/>
          <p:nvPr/>
        </p:nvSpPr>
        <p:spPr>
          <a:xfrm>
            <a:off x="907999" y="4386560"/>
            <a:ext cx="533461"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p:txBody>
      </p:sp>
      <p:sp>
        <p:nvSpPr>
          <p:cNvPr id="19" name="Text 17"/>
          <p:cNvSpPr txBox="1"/>
          <p:nvPr/>
        </p:nvSpPr>
        <p:spPr>
          <a:xfrm>
            <a:off x="907999" y="4622658"/>
            <a:ext cx="167701"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20" name="Shape 18"/>
          <p:cNvSpPr/>
          <p:nvPr/>
        </p:nvSpPr>
        <p:spPr>
          <a:xfrm>
            <a:off x="7820406" y="1347368"/>
            <a:ext cx="3710910" cy="2412919"/>
          </a:xfrm>
          <a:prstGeom prst="roundRect">
            <a:avLst>
              <a:gd name="adj" fmla="val 3683"/>
            </a:avLst>
          </a:prstGeom>
          <a:solidFill>
            <a:srgbClr val="FFFFFF"/>
          </a:solidFill>
          <a:ln w="6350">
            <a:solidFill>
              <a:srgbClr val="E3E6EA"/>
            </a:solidFill>
            <a:prstDash val="solid"/>
          </a:ln>
        </p:spPr>
      </p:sp>
      <p:sp>
        <p:nvSpPr>
          <p:cNvPr id="21" name="Text 19"/>
          <p:cNvSpPr txBox="1"/>
          <p:nvPr/>
        </p:nvSpPr>
        <p:spPr>
          <a:xfrm>
            <a:off x="7991856" y="1509674"/>
            <a:ext cx="499811" cy="228600"/>
          </a:xfrm>
          <a:prstGeom prst="rect">
            <a:avLst/>
          </a:prstGeom>
          <a:noFill/>
          <a:ln/>
        </p:spPr>
        <p:txBody>
          <a:bodyPr wrap="square" lIns="0" tIns="0" rIns="0" bIns="0" rtlCol="0" anchor="ctr"/>
          <a:lstStyle/>
          <a:p>
            <a:pPr algn="l" indent="0" marL="0">
              <a:buNone/>
            </a:pPr>
            <a:r>
              <a:rPr lang="en-US" sz="1200" b="1" dirty="0">
                <a:solidFill>
                  <a:srgbClr val="0066FF"/>
                </a:solidFill>
                <a:latin typeface="Arial" pitchFamily="34" charset="0"/>
                <a:ea typeface="Arial" pitchFamily="34" charset="-122"/>
                <a:cs typeface="Arial" pitchFamily="34" charset="-120"/>
              </a:rPr>
              <a:t>Lưu ý</a:t>
            </a:r>
            <a:endParaRPr lang="en-US" sz="1200" dirty="0"/>
          </a:p>
        </p:txBody>
      </p:sp>
      <p:sp>
        <p:nvSpPr>
          <p:cNvPr id="22" name="Shape 20"/>
          <p:cNvSpPr/>
          <p:nvPr/>
        </p:nvSpPr>
        <p:spPr>
          <a:xfrm>
            <a:off x="8029986" y="1892717"/>
            <a:ext cx="63459" cy="63459"/>
          </a:xfrm>
          <a:prstGeom prst="ellipse">
            <a:avLst/>
          </a:prstGeom>
          <a:solidFill>
            <a:srgbClr val="0066FF"/>
          </a:solidFill>
          <a:ln/>
        </p:spPr>
      </p:sp>
      <p:sp>
        <p:nvSpPr>
          <p:cNvPr id="23" name="Text 21"/>
          <p:cNvSpPr txBox="1"/>
          <p:nvPr/>
        </p:nvSpPr>
        <p:spPr>
          <a:xfrm>
            <a:off x="8207746" y="1784269"/>
            <a:ext cx="3246669" cy="527060"/>
          </a:xfrm>
          <a:prstGeom prst="rect">
            <a:avLst/>
          </a:prstGeom>
          <a:noFill/>
          <a:ln/>
        </p:spPr>
        <p:txBody>
          <a:bodyPr wrap="square" lIns="0" tIns="0" rIns="0" bIns="0" rtlCol="0" anchor="t"/>
          <a:lstStyle/>
          <a:p>
            <a:pPr algn="l" indent="0" marL="0">
              <a:lnSpc>
                <a:spcPts val="1800"/>
              </a:lnSpc>
              <a:buNone/>
            </a:pPr>
            <a:r>
              <a:rPr lang="en-US" sz="1200" dirty="0">
                <a:solidFill>
                  <a:srgbClr val="3F454D"/>
                </a:solidFill>
                <a:latin typeface="Arial" pitchFamily="34" charset="0"/>
                <a:ea typeface="Arial" pitchFamily="34" charset="-122"/>
                <a:cs typeface="Arial" pitchFamily="34" charset="-120"/>
              </a:rPr>
              <a:t>Xoá dòng </a:t>
            </a:r>
            <a:pPr algn="l" indent="0" marL="0">
              <a:lnSpc>
                <a:spcPts val="1800"/>
              </a:lnSpc>
              <a:buNone/>
            </a:pPr>
            <a:r>
              <a:rPr lang="en-US" sz="1200" dirty="0">
                <a:solidFill>
                  <a:srgbClr val="3F454D"/>
                </a:solidFill>
                <a:latin typeface="Courier New" pitchFamily="34" charset="0"/>
                <a:ea typeface="Courier New" pitchFamily="34" charset="-122"/>
                <a:cs typeface="Courier New" pitchFamily="34" charset="-120"/>
              </a:rPr>
              <a:t>return "";</a:t>
            </a:r>
            <a:pPr algn="l" indent="0" marL="0">
              <a:lnSpc>
                <a:spcPts val="1800"/>
              </a:lnSpc>
              <a:buNone/>
            </a:pPr>
            <a:r>
              <a:rPr lang="en-US" sz="1200" dirty="0">
                <a:solidFill>
                  <a:srgbClr val="3F454D"/>
                </a:solidFill>
                <a:latin typeface="Arial" pitchFamily="34" charset="0"/>
                <a:ea typeface="Arial" pitchFamily="34" charset="-122"/>
                <a:cs typeface="Arial" pitchFamily="34" charset="-120"/>
              </a:rPr>
              <a:t> có sẵn rồi gõ code vào</a:t>
            </a:r>
            <a:endParaRPr lang="en-US" sz="1200" dirty="0"/>
          </a:p>
        </p:txBody>
      </p:sp>
      <p:sp>
        <p:nvSpPr>
          <p:cNvPr id="24" name="Shape 22"/>
          <p:cNvSpPr/>
          <p:nvPr/>
        </p:nvSpPr>
        <p:spPr>
          <a:xfrm>
            <a:off x="8029986" y="2426086"/>
            <a:ext cx="63459" cy="63459"/>
          </a:xfrm>
          <a:prstGeom prst="ellipse">
            <a:avLst/>
          </a:prstGeom>
          <a:solidFill>
            <a:srgbClr val="0066FF"/>
          </a:solidFill>
          <a:ln/>
        </p:spPr>
      </p:sp>
      <p:sp>
        <p:nvSpPr>
          <p:cNvPr id="25" name="Text 23"/>
          <p:cNvSpPr txBox="1"/>
          <p:nvPr/>
        </p:nvSpPr>
        <p:spPr>
          <a:xfrm>
            <a:off x="8207746" y="2317638"/>
            <a:ext cx="3246669" cy="527060"/>
          </a:xfrm>
          <a:prstGeom prst="rect">
            <a:avLst/>
          </a:prstGeom>
          <a:noFill/>
          <a:ln/>
        </p:spPr>
        <p:txBody>
          <a:bodyPr wrap="square" lIns="0" tIns="0" rIns="0" bIns="0" rtlCol="0" anchor="t"/>
          <a:lstStyle/>
          <a:p>
            <a:pPr algn="l" indent="0" marL="0">
              <a:lnSpc>
                <a:spcPts val="1800"/>
              </a:lnSpc>
              <a:buNone/>
            </a:pPr>
            <a:r>
              <a:rPr lang="en-US" sz="1200" dirty="0">
                <a:solidFill>
                  <a:srgbClr val="3F454D"/>
                </a:solidFill>
                <a:latin typeface="Courier New" pitchFamily="34" charset="0"/>
                <a:ea typeface="Courier New" pitchFamily="34" charset="-122"/>
                <a:cs typeface="Courier New" pitchFamily="34" charset="-120"/>
              </a:rPr>
              <a:t>%02x</a:t>
            </a:r>
            <a:pPr algn="l" indent="0" marL="0">
              <a:lnSpc>
                <a:spcPts val="1800"/>
              </a:lnSpc>
              <a:buNone/>
            </a:pPr>
            <a:r>
              <a:rPr lang="en-US" sz="1200" dirty="0">
                <a:solidFill>
                  <a:srgbClr val="3F454D"/>
                </a:solidFill>
                <a:latin typeface="Arial" pitchFamily="34" charset="0"/>
                <a:ea typeface="Arial" pitchFamily="34" charset="-122"/>
                <a:cs typeface="Arial" pitchFamily="34" charset="-120"/>
              </a:rPr>
              <a:t> phải là x thường, viết </a:t>
            </a:r>
            <a:pPr algn="l" indent="0" marL="0">
              <a:lnSpc>
                <a:spcPts val="1800"/>
              </a:lnSpc>
              <a:buNone/>
            </a:pPr>
            <a:r>
              <a:rPr lang="en-US" sz="1200" dirty="0">
                <a:solidFill>
                  <a:srgbClr val="3F454D"/>
                </a:solidFill>
                <a:latin typeface="Courier New" pitchFamily="34" charset="0"/>
                <a:ea typeface="Courier New" pitchFamily="34" charset="-122"/>
                <a:cs typeface="Courier New" pitchFamily="34" charset="-120"/>
              </a:rPr>
              <a:t>%02X</a:t>
            </a:r>
            <a:pPr algn="l" indent="0" marL="0">
              <a:lnSpc>
                <a:spcPts val="1800"/>
              </a:lnSpc>
              <a:buNone/>
            </a:pPr>
            <a:r>
              <a:rPr lang="en-US" sz="1200" dirty="0">
                <a:solidFill>
                  <a:srgbClr val="3F454D"/>
                </a:solidFill>
                <a:latin typeface="Arial" pitchFamily="34" charset="0"/>
                <a:ea typeface="Arial" pitchFamily="34" charset="-122"/>
                <a:cs typeface="Arial" pitchFamily="34" charset="-120"/>
              </a:rPr>
              <a:t> là ra chữ hoa</a:t>
            </a:r>
            <a:endParaRPr lang="en-US" sz="1200" dirty="0"/>
          </a:p>
        </p:txBody>
      </p:sp>
      <p:sp>
        <p:nvSpPr>
          <p:cNvPr id="26" name="Shape 24"/>
          <p:cNvSpPr/>
          <p:nvPr/>
        </p:nvSpPr>
        <p:spPr>
          <a:xfrm>
            <a:off x="8029986" y="2959456"/>
            <a:ext cx="63459" cy="63459"/>
          </a:xfrm>
          <a:prstGeom prst="ellipse">
            <a:avLst/>
          </a:prstGeom>
          <a:solidFill>
            <a:srgbClr val="0066FF"/>
          </a:solidFill>
          <a:ln/>
        </p:spPr>
      </p:sp>
      <p:sp>
        <p:nvSpPr>
          <p:cNvPr id="27" name="Text 25"/>
          <p:cNvSpPr txBox="1"/>
          <p:nvPr/>
        </p:nvSpPr>
        <p:spPr>
          <a:xfrm>
            <a:off x="8207746" y="2851008"/>
            <a:ext cx="3246669" cy="527060"/>
          </a:xfrm>
          <a:prstGeom prst="rect">
            <a:avLst/>
          </a:prstGeom>
          <a:noFill/>
          <a:ln/>
        </p:spPr>
        <p:txBody>
          <a:bodyPr wrap="square" lIns="0" tIns="0" rIns="0" bIns="0" rtlCol="0" anchor="t"/>
          <a:lstStyle/>
          <a:p>
            <a:pPr algn="l" indent="0" marL="0">
              <a:lnSpc>
                <a:spcPts val="1800"/>
              </a:lnSpc>
              <a:buNone/>
            </a:pPr>
            <a:r>
              <a:rPr lang="en-US" sz="1200" dirty="0">
                <a:solidFill>
                  <a:srgbClr val="3F454D"/>
                </a:solidFill>
                <a:latin typeface="Arial" pitchFamily="34" charset="0"/>
                <a:ea typeface="Arial" pitchFamily="34" charset="-122"/>
                <a:cs typeface="Arial" pitchFamily="34" charset="-120"/>
              </a:rPr>
              <a:t>Số </a:t>
            </a:r>
            <a:pPr algn="l" indent="0" marL="0">
              <a:lnSpc>
                <a:spcPts val="1800"/>
              </a:lnSpc>
              <a:buNone/>
            </a:pPr>
            <a:r>
              <a:rPr lang="en-US" sz="1200" dirty="0">
                <a:solidFill>
                  <a:srgbClr val="3F454D"/>
                </a:solidFill>
                <a:latin typeface="Courier New" pitchFamily="34" charset="0"/>
                <a:ea typeface="Courier New" pitchFamily="34" charset="-122"/>
                <a:cs typeface="Courier New" pitchFamily="34" charset="-120"/>
              </a:rPr>
              <a:t>02</a:t>
            </a:r>
            <a:pPr algn="l" indent="0" marL="0">
              <a:lnSpc>
                <a:spcPts val="1800"/>
              </a:lnSpc>
              <a:buNone/>
            </a:pPr>
            <a:r>
              <a:rPr lang="en-US" sz="1200" dirty="0">
                <a:solidFill>
                  <a:srgbClr val="3F454D"/>
                </a:solidFill>
                <a:latin typeface="Arial" pitchFamily="34" charset="0"/>
                <a:ea typeface="Arial" pitchFamily="34" charset="-122"/>
                <a:cs typeface="Arial" pitchFamily="34" charset="-120"/>
              </a:rPr>
              <a:t> để in đủ 2 chữ số, thiếu là chuỗi bị ngắn</a:t>
            </a:r>
            <a:endParaRPr lang="en-US" sz="1200" dirty="0"/>
          </a:p>
        </p:txBody>
      </p:sp>
      <p:sp>
        <p:nvSpPr>
          <p:cNvPr id="28" name="Shape 26"/>
          <p:cNvSpPr/>
          <p:nvPr/>
        </p:nvSpPr>
        <p:spPr>
          <a:xfrm>
            <a:off x="8029986" y="3492825"/>
            <a:ext cx="63459" cy="63459"/>
          </a:xfrm>
          <a:prstGeom prst="ellipse">
            <a:avLst/>
          </a:prstGeom>
          <a:solidFill>
            <a:srgbClr val="0066FF"/>
          </a:solidFill>
          <a:ln/>
        </p:spPr>
      </p:sp>
      <p:sp>
        <p:nvSpPr>
          <p:cNvPr id="29" name="Text 27"/>
          <p:cNvSpPr txBox="1"/>
          <p:nvPr/>
        </p:nvSpPr>
        <p:spPr>
          <a:xfrm>
            <a:off x="8207746" y="3401934"/>
            <a:ext cx="1886407" cy="228600"/>
          </a:xfrm>
          <a:prstGeom prst="rect">
            <a:avLst/>
          </a:prstGeom>
          <a:noFill/>
          <a:ln/>
        </p:spPr>
        <p:txBody>
          <a:bodyPr wrap="square" lIns="0" tIns="0" rIns="0" bIns="0" rtlCol="0" anchor="ctr"/>
          <a:lstStyle/>
          <a:p>
            <a:pPr algn="l" indent="0" marL="0">
              <a:buNone/>
            </a:pPr>
            <a:r>
              <a:rPr lang="en-US" sz="1200" dirty="0">
                <a:solidFill>
                  <a:srgbClr val="3F454D"/>
                </a:solidFill>
                <a:latin typeface="Arial" pitchFamily="34" charset="0"/>
                <a:ea typeface="Arial" pitchFamily="34" charset="-122"/>
                <a:cs typeface="Arial" pitchFamily="34" charset="-120"/>
              </a:rPr>
              <a:t>Kết quả luôn dài 128 ký tự</a:t>
            </a:r>
            <a:endParaRPr lang="en-US" sz="1200" dirty="0"/>
          </a:p>
        </p:txBody>
      </p:sp>
      <p:sp>
        <p:nvSpPr>
          <p:cNvPr id="30" name="Text 28"/>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1" name="Text 29"/>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17116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1 – Chữ ký</a:t>
            </a:r>
            <a:endParaRPr lang="en-US" sz="1100" dirty="0"/>
          </a:p>
        </p:txBody>
      </p:sp>
      <p:sp>
        <p:nvSpPr>
          <p:cNvPr id="3" name="Text 1"/>
          <p:cNvSpPr txBox="1"/>
          <p:nvPr/>
        </p:nvSpPr>
        <p:spPr>
          <a:xfrm>
            <a:off x="660380" y="643829"/>
            <a:ext cx="5996727"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TODO 3 – Hàm buildQueryString</a:t>
            </a:r>
            <a:endParaRPr lang="en-US" sz="3000" dirty="0"/>
          </a:p>
        </p:txBody>
      </p:sp>
      <p:sp>
        <p:nvSpPr>
          <p:cNvPr id="4" name="Text 2"/>
          <p:cNvSpPr txBox="1"/>
          <p:nvPr/>
        </p:nvSpPr>
        <p:spPr>
          <a:xfrm>
            <a:off x="660380" y="1358798"/>
            <a:ext cx="114318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ShopStart.java</a:t>
            </a:r>
            <a:endParaRPr lang="en-US" sz="1000" dirty="0"/>
          </a:p>
        </p:txBody>
      </p:sp>
      <p:sp>
        <p:nvSpPr>
          <p:cNvPr id="5" name="Shape 3"/>
          <p:cNvSpPr/>
          <p:nvPr/>
        </p:nvSpPr>
        <p:spPr>
          <a:xfrm>
            <a:off x="660380" y="1601389"/>
            <a:ext cx="7231167" cy="2691536"/>
          </a:xfrm>
          <a:prstGeom prst="roundRect">
            <a:avLst>
              <a:gd name="adj" fmla="val 3774"/>
            </a:avLst>
          </a:prstGeom>
          <a:solidFill>
            <a:srgbClr val="0C131E"/>
          </a:solidFill>
          <a:ln/>
        </p:spPr>
      </p:sp>
      <p:sp>
        <p:nvSpPr>
          <p:cNvPr id="6" name="Text 4"/>
          <p:cNvSpPr txBox="1"/>
          <p:nvPr/>
        </p:nvSpPr>
        <p:spPr>
          <a:xfrm>
            <a:off x="907999" y="1789024"/>
            <a:ext cx="5816498" cy="236190"/>
          </a:xfrm>
          <a:prstGeom prst="rect">
            <a:avLst/>
          </a:prstGeom>
          <a:noFill/>
          <a:ln/>
        </p:spPr>
        <p:txBody>
          <a:bodyPr wrap="none" lIns="0" tIns="0" rIns="0" bIns="0" rtlCol="0" anchor="ctr"/>
          <a:lstStyle/>
          <a:p>
            <a:pPr algn="l" indent="0" marL="0">
              <a:buNone/>
            </a:pPr>
            <a:r>
              <a:rPr lang="en-US" sz="1200" dirty="0">
                <a:solidFill>
                  <a:srgbClr val="7FC2FF"/>
                </a:solidFill>
                <a:latin typeface="Courier New" pitchFamily="34" charset="0"/>
                <a:ea typeface="Courier New" pitchFamily="34" charset="-122"/>
                <a:cs typeface="Courier New" pitchFamily="34" charset="-120"/>
              </a:rPr>
              <a:t>static</a:t>
            </a:r>
            <a:pPr algn="l" indent="0" marL="0">
              <a:buNone/>
            </a:pPr>
            <a:r>
              <a:rPr lang="en-US" sz="1200" dirty="0">
                <a:solidFill>
                  <a:srgbClr val="E6EDF7"/>
                </a:solidFill>
                <a:latin typeface="Courier New" pitchFamily="34" charset="0"/>
                <a:ea typeface="Courier New" pitchFamily="34" charset="-122"/>
                <a:cs typeface="Courier New" pitchFamily="34" charset="-120"/>
              </a:rPr>
              <a:t> String buildQueryString(Map&lt;String, String&gt; params) {</a:t>
            </a:r>
            <a:endParaRPr lang="en-US" sz="1200" dirty="0"/>
          </a:p>
        </p:txBody>
      </p:sp>
      <p:sp>
        <p:nvSpPr>
          <p:cNvPr id="7" name="Text 5"/>
          <p:cNvSpPr txBox="1"/>
          <p:nvPr/>
        </p:nvSpPr>
        <p:spPr>
          <a:xfrm>
            <a:off x="907999" y="2025213"/>
            <a:ext cx="4168567"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StringBuilder sb = </a:t>
            </a:r>
            <a:pPr algn="l" indent="0" marL="0">
              <a:buNone/>
            </a:pPr>
            <a:r>
              <a:rPr lang="en-US" sz="1200" dirty="0">
                <a:solidFill>
                  <a:srgbClr val="7FC2FF"/>
                </a:solidFill>
                <a:latin typeface="Courier New" pitchFamily="34" charset="0"/>
                <a:ea typeface="Courier New" pitchFamily="34" charset="-122"/>
                <a:cs typeface="Courier New" pitchFamily="34" charset="-120"/>
              </a:rPr>
              <a:t>new</a:t>
            </a:r>
            <a:pPr algn="l" indent="0" marL="0">
              <a:buNone/>
            </a:pPr>
            <a:r>
              <a:rPr lang="en-US" sz="1200" dirty="0">
                <a:solidFill>
                  <a:srgbClr val="E6EDF7"/>
                </a:solidFill>
                <a:latin typeface="Courier New" pitchFamily="34" charset="0"/>
                <a:ea typeface="Courier New" pitchFamily="34" charset="-122"/>
                <a:cs typeface="Courier New" pitchFamily="34" charset="-120"/>
              </a:rPr>
              <a:t> StringBuilder();</a:t>
            </a:r>
            <a:endParaRPr lang="en-US" sz="1200" dirty="0"/>
          </a:p>
        </p:txBody>
      </p:sp>
      <p:sp>
        <p:nvSpPr>
          <p:cNvPr id="8" name="Shape 6"/>
          <p:cNvSpPr/>
          <p:nvPr/>
        </p:nvSpPr>
        <p:spPr>
          <a:xfrm>
            <a:off x="660380" y="2238726"/>
            <a:ext cx="7231167" cy="236098"/>
          </a:xfrm>
          <a:prstGeom prst="rect">
            <a:avLst/>
          </a:prstGeom>
          <a:solidFill>
            <a:srgbClr val="FFD479">
              <a:alpha val="13000"/>
            </a:srgbClr>
          </a:solidFill>
          <a:ln/>
        </p:spPr>
      </p:sp>
      <p:sp>
        <p:nvSpPr>
          <p:cNvPr id="9" name="Shape 7"/>
          <p:cNvSpPr/>
          <p:nvPr/>
        </p:nvSpPr>
        <p:spPr>
          <a:xfrm>
            <a:off x="660380" y="2238726"/>
            <a:ext cx="31730" cy="236098"/>
          </a:xfrm>
          <a:prstGeom prst="rect">
            <a:avLst/>
          </a:prstGeom>
          <a:solidFill>
            <a:srgbClr val="FFD479"/>
          </a:solidFill>
          <a:ln/>
        </p:spPr>
      </p:sp>
      <p:sp>
        <p:nvSpPr>
          <p:cNvPr id="10" name="Text 8"/>
          <p:cNvSpPr txBox="1"/>
          <p:nvPr/>
        </p:nvSpPr>
        <p:spPr>
          <a:xfrm>
            <a:off x="907999" y="2261311"/>
            <a:ext cx="7173742"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for</a:t>
            </a:r>
            <a:pPr algn="l" indent="0" marL="0">
              <a:buNone/>
            </a:pPr>
            <a:r>
              <a:rPr lang="en-US" sz="1200" dirty="0">
                <a:solidFill>
                  <a:srgbClr val="E6EDF7"/>
                </a:solidFill>
                <a:latin typeface="Courier New" pitchFamily="34" charset="0"/>
                <a:ea typeface="Courier New" pitchFamily="34" charset="-122"/>
                <a:cs typeface="Courier New" pitchFamily="34" charset="-120"/>
              </a:rPr>
              <a:t> (Map.Entry&lt;String, String&gt; e : </a:t>
            </a:r>
            <a:pPr algn="l" indent="0" marL="0">
              <a:buNone/>
            </a:pPr>
            <a:r>
              <a:rPr lang="en-US" sz="1200" dirty="0">
                <a:solidFill>
                  <a:srgbClr val="7FC2FF"/>
                </a:solidFill>
                <a:latin typeface="Courier New" pitchFamily="34" charset="0"/>
                <a:ea typeface="Courier New" pitchFamily="34" charset="-122"/>
                <a:cs typeface="Courier New" pitchFamily="34" charset="-120"/>
              </a:rPr>
              <a:t>new</a:t>
            </a:r>
            <a:pPr algn="l" indent="0" marL="0">
              <a:buNone/>
            </a:pPr>
            <a:r>
              <a:rPr lang="en-US" sz="1200" dirty="0">
                <a:solidFill>
                  <a:srgbClr val="E6EDF7"/>
                </a:solidFill>
                <a:latin typeface="Courier New" pitchFamily="34" charset="0"/>
                <a:ea typeface="Courier New" pitchFamily="34" charset="-122"/>
                <a:cs typeface="Courier New" pitchFamily="34" charset="-120"/>
              </a:rPr>
              <a:t> TreeMap&lt;&gt;(params).entrySet()) {</a:t>
            </a:r>
            <a:endParaRPr lang="en-US" sz="1200" dirty="0"/>
          </a:p>
        </p:txBody>
      </p:sp>
      <p:sp>
        <p:nvSpPr>
          <p:cNvPr id="11" name="Shape 9"/>
          <p:cNvSpPr/>
          <p:nvPr/>
        </p:nvSpPr>
        <p:spPr>
          <a:xfrm>
            <a:off x="660380" y="2474824"/>
            <a:ext cx="7231167" cy="236098"/>
          </a:xfrm>
          <a:prstGeom prst="rect">
            <a:avLst/>
          </a:prstGeom>
          <a:solidFill>
            <a:srgbClr val="FFD479">
              <a:alpha val="13000"/>
            </a:srgbClr>
          </a:solidFill>
          <a:ln/>
        </p:spPr>
      </p:sp>
      <p:sp>
        <p:nvSpPr>
          <p:cNvPr id="12" name="Shape 10"/>
          <p:cNvSpPr/>
          <p:nvPr/>
        </p:nvSpPr>
        <p:spPr>
          <a:xfrm>
            <a:off x="660380" y="2474824"/>
            <a:ext cx="31730" cy="236098"/>
          </a:xfrm>
          <a:prstGeom prst="rect">
            <a:avLst/>
          </a:prstGeom>
          <a:solidFill>
            <a:srgbClr val="FFD479"/>
          </a:solidFill>
          <a:ln/>
        </p:spPr>
      </p:sp>
      <p:sp>
        <p:nvSpPr>
          <p:cNvPr id="13" name="Text 11"/>
          <p:cNvSpPr txBox="1"/>
          <p:nvPr/>
        </p:nvSpPr>
        <p:spPr>
          <a:xfrm>
            <a:off x="907999" y="2497501"/>
            <a:ext cx="6689019"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if</a:t>
            </a:r>
            <a:pPr algn="l" indent="0" marL="0">
              <a:buNone/>
            </a:pPr>
            <a:r>
              <a:rPr lang="en-US" sz="1200" dirty="0">
                <a:solidFill>
                  <a:srgbClr val="E6EDF7"/>
                </a:solidFill>
                <a:latin typeface="Courier New" pitchFamily="34" charset="0"/>
                <a:ea typeface="Courier New" pitchFamily="34" charset="-122"/>
                <a:cs typeface="Courier New" pitchFamily="34" charset="-120"/>
              </a:rPr>
              <a:t> (e.getValue() == </a:t>
            </a:r>
            <a:pPr algn="l" indent="0" marL="0">
              <a:buNone/>
            </a:pPr>
            <a:r>
              <a:rPr lang="en-US" sz="1200" dirty="0">
                <a:solidFill>
                  <a:srgbClr val="7FC2FF"/>
                </a:solidFill>
                <a:latin typeface="Courier New" pitchFamily="34" charset="0"/>
                <a:ea typeface="Courier New" pitchFamily="34" charset="-122"/>
                <a:cs typeface="Courier New" pitchFamily="34" charset="-120"/>
              </a:rPr>
              <a:t>null</a:t>
            </a:r>
            <a:pPr algn="l" indent="0" marL="0">
              <a:buNone/>
            </a:pPr>
            <a:r>
              <a:rPr lang="en-US" sz="1200" dirty="0">
                <a:solidFill>
                  <a:srgbClr val="E6EDF7"/>
                </a:solidFill>
                <a:latin typeface="Courier New" pitchFamily="34" charset="0"/>
                <a:ea typeface="Courier New" pitchFamily="34" charset="-122"/>
                <a:cs typeface="Courier New" pitchFamily="34" charset="-120"/>
              </a:rPr>
              <a:t> || e.getValue().isEmpty()) </a:t>
            </a:r>
            <a:pPr algn="l" indent="0" marL="0">
              <a:buNone/>
            </a:pPr>
            <a:r>
              <a:rPr lang="en-US" sz="1200" dirty="0">
                <a:solidFill>
                  <a:srgbClr val="7FC2FF"/>
                </a:solidFill>
                <a:latin typeface="Courier New" pitchFamily="34" charset="0"/>
                <a:ea typeface="Courier New" pitchFamily="34" charset="-122"/>
                <a:cs typeface="Courier New" pitchFamily="34" charset="-120"/>
              </a:rPr>
              <a:t>continue</a:t>
            </a:r>
            <a:pPr algn="l" indent="0" marL="0">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14" name="Text 12"/>
          <p:cNvSpPr txBox="1"/>
          <p:nvPr/>
        </p:nvSpPr>
        <p:spPr>
          <a:xfrm>
            <a:off x="907999" y="2733599"/>
            <a:ext cx="4265585"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if</a:t>
            </a:r>
            <a:pPr algn="l" indent="0" marL="0">
              <a:buNone/>
            </a:pPr>
            <a:r>
              <a:rPr lang="en-US" sz="1200" dirty="0">
                <a:solidFill>
                  <a:srgbClr val="E6EDF7"/>
                </a:solidFill>
                <a:latin typeface="Courier New" pitchFamily="34" charset="0"/>
                <a:ea typeface="Courier New" pitchFamily="34" charset="-122"/>
                <a:cs typeface="Courier New" pitchFamily="34" charset="-120"/>
              </a:rPr>
              <a:t> (sb.length() &gt; 0) sb.append(</a:t>
            </a:r>
            <a:pPr algn="l" indent="0" marL="0">
              <a:buNone/>
            </a:pPr>
            <a:r>
              <a:rPr lang="en-US" sz="1200" dirty="0">
                <a:solidFill>
                  <a:srgbClr val="9BE3B4"/>
                </a:solidFill>
                <a:latin typeface="Courier New" pitchFamily="34" charset="0"/>
                <a:ea typeface="Courier New" pitchFamily="34" charset="-122"/>
                <a:cs typeface="Courier New" pitchFamily="34" charset="-120"/>
              </a:rPr>
              <a:t>'&amp;'</a:t>
            </a:r>
            <a:pPr algn="l" indent="0" marL="0">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15" name="Text 13"/>
          <p:cNvSpPr txBox="1"/>
          <p:nvPr/>
        </p:nvSpPr>
        <p:spPr>
          <a:xfrm>
            <a:off x="907999" y="2969697"/>
            <a:ext cx="6495166"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sb.append(URLEncoder.encode(e.getKey(), ASCII)).append(</a:t>
            </a:r>
            <a:pPr algn="l" indent="0" marL="0">
              <a:buNone/>
            </a:pPr>
            <a:r>
              <a:rPr lang="en-US" sz="1200" dirty="0">
                <a:solidFill>
                  <a:srgbClr val="9BE3B4"/>
                </a:solidFill>
                <a:latin typeface="Courier New" pitchFamily="34" charset="0"/>
                <a:ea typeface="Courier New" pitchFamily="34" charset="-122"/>
                <a:cs typeface="Courier New" pitchFamily="34" charset="-120"/>
              </a:rPr>
              <a:t>'='</a:t>
            </a:r>
            <a:pPr algn="l" indent="0" marL="0">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16" name="Shape 14"/>
          <p:cNvSpPr/>
          <p:nvPr/>
        </p:nvSpPr>
        <p:spPr>
          <a:xfrm>
            <a:off x="660380" y="3183209"/>
            <a:ext cx="7231167" cy="236098"/>
          </a:xfrm>
          <a:prstGeom prst="rect">
            <a:avLst/>
          </a:prstGeom>
          <a:solidFill>
            <a:srgbClr val="FFD479">
              <a:alpha val="13000"/>
            </a:srgbClr>
          </a:solidFill>
          <a:ln/>
        </p:spPr>
      </p:sp>
      <p:sp>
        <p:nvSpPr>
          <p:cNvPr id="17" name="Shape 15"/>
          <p:cNvSpPr/>
          <p:nvPr/>
        </p:nvSpPr>
        <p:spPr>
          <a:xfrm>
            <a:off x="660380" y="3183209"/>
            <a:ext cx="31730" cy="236098"/>
          </a:xfrm>
          <a:prstGeom prst="rect">
            <a:avLst/>
          </a:prstGeom>
          <a:solidFill>
            <a:srgbClr val="FFD479"/>
          </a:solidFill>
          <a:ln/>
        </p:spPr>
      </p:sp>
      <p:sp>
        <p:nvSpPr>
          <p:cNvPr id="18" name="Text 16"/>
          <p:cNvSpPr txBox="1"/>
          <p:nvPr/>
        </p:nvSpPr>
        <p:spPr>
          <a:xfrm>
            <a:off x="907999" y="3205886"/>
            <a:ext cx="5622554"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.append(URLEncoder.encode(e.getValue(), ASCII));</a:t>
            </a:r>
            <a:endParaRPr lang="en-US" sz="1200" dirty="0"/>
          </a:p>
        </p:txBody>
      </p:sp>
      <p:sp>
        <p:nvSpPr>
          <p:cNvPr id="19" name="Text 17"/>
          <p:cNvSpPr txBox="1"/>
          <p:nvPr/>
        </p:nvSpPr>
        <p:spPr>
          <a:xfrm>
            <a:off x="907999" y="3441984"/>
            <a:ext cx="533461"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endParaRPr lang="en-US" sz="1200" dirty="0"/>
          </a:p>
        </p:txBody>
      </p:sp>
      <p:sp>
        <p:nvSpPr>
          <p:cNvPr id="20" name="Text 18"/>
          <p:cNvSpPr txBox="1"/>
          <p:nvPr/>
        </p:nvSpPr>
        <p:spPr>
          <a:xfrm>
            <a:off x="907999" y="3678174"/>
            <a:ext cx="2423617"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return</a:t>
            </a:r>
            <a:pPr algn="l" indent="0" marL="0">
              <a:buNone/>
            </a:pPr>
            <a:r>
              <a:rPr lang="en-US" sz="1200" dirty="0">
                <a:solidFill>
                  <a:srgbClr val="E6EDF7"/>
                </a:solidFill>
                <a:latin typeface="Courier New" pitchFamily="34" charset="0"/>
                <a:ea typeface="Courier New" pitchFamily="34" charset="-122"/>
                <a:cs typeface="Courier New" pitchFamily="34" charset="-120"/>
              </a:rPr>
              <a:t> sb.toString();</a:t>
            </a:r>
            <a:endParaRPr lang="en-US" sz="1200" dirty="0"/>
          </a:p>
        </p:txBody>
      </p:sp>
      <p:sp>
        <p:nvSpPr>
          <p:cNvPr id="21" name="Text 19"/>
          <p:cNvSpPr txBox="1"/>
          <p:nvPr/>
        </p:nvSpPr>
        <p:spPr>
          <a:xfrm>
            <a:off x="907999" y="3914272"/>
            <a:ext cx="167701"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22" name="Shape 20"/>
          <p:cNvSpPr/>
          <p:nvPr/>
        </p:nvSpPr>
        <p:spPr>
          <a:xfrm>
            <a:off x="8094726" y="1347368"/>
            <a:ext cx="3436590" cy="1422349"/>
          </a:xfrm>
          <a:prstGeom prst="roundRect">
            <a:avLst>
              <a:gd name="adj" fmla="val 6249"/>
            </a:avLst>
          </a:prstGeom>
          <a:solidFill>
            <a:srgbClr val="FFFFFF"/>
          </a:solidFill>
          <a:ln w="6350">
            <a:solidFill>
              <a:srgbClr val="E3E6EA"/>
            </a:solidFill>
            <a:prstDash val="solid"/>
          </a:ln>
        </p:spPr>
      </p:sp>
      <p:sp>
        <p:nvSpPr>
          <p:cNvPr id="23" name="Text 21"/>
          <p:cNvSpPr txBox="1"/>
          <p:nvPr/>
        </p:nvSpPr>
        <p:spPr>
          <a:xfrm>
            <a:off x="8266176" y="1509674"/>
            <a:ext cx="499811" cy="228600"/>
          </a:xfrm>
          <a:prstGeom prst="rect">
            <a:avLst/>
          </a:prstGeom>
          <a:noFill/>
          <a:ln/>
        </p:spPr>
        <p:txBody>
          <a:bodyPr wrap="square" lIns="0" tIns="0" rIns="0" bIns="0" rtlCol="0" anchor="ctr"/>
          <a:lstStyle/>
          <a:p>
            <a:pPr algn="l" indent="0" marL="0">
              <a:buNone/>
            </a:pPr>
            <a:r>
              <a:rPr lang="en-US" sz="1200" b="1" dirty="0">
                <a:solidFill>
                  <a:srgbClr val="0066FF"/>
                </a:solidFill>
                <a:latin typeface="Arial" pitchFamily="34" charset="0"/>
                <a:ea typeface="Arial" pitchFamily="34" charset="-122"/>
                <a:cs typeface="Arial" pitchFamily="34" charset="-120"/>
              </a:rPr>
              <a:t>Lưu ý</a:t>
            </a:r>
            <a:endParaRPr lang="en-US" sz="1200" dirty="0"/>
          </a:p>
        </p:txBody>
      </p:sp>
      <p:sp>
        <p:nvSpPr>
          <p:cNvPr id="24" name="Shape 22"/>
          <p:cNvSpPr/>
          <p:nvPr/>
        </p:nvSpPr>
        <p:spPr>
          <a:xfrm>
            <a:off x="8304306" y="1892717"/>
            <a:ext cx="63459" cy="63459"/>
          </a:xfrm>
          <a:prstGeom prst="ellipse">
            <a:avLst/>
          </a:prstGeom>
          <a:solidFill>
            <a:srgbClr val="0066FF"/>
          </a:solidFill>
          <a:ln/>
        </p:spPr>
      </p:sp>
      <p:sp>
        <p:nvSpPr>
          <p:cNvPr id="25" name="Text 23"/>
          <p:cNvSpPr txBox="1"/>
          <p:nvPr/>
        </p:nvSpPr>
        <p:spPr>
          <a:xfrm>
            <a:off x="8482066" y="1801734"/>
            <a:ext cx="2807482"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TreeMap</a:t>
            </a:r>
            <a:pPr algn="l" indent="0" marL="0">
              <a:buNone/>
            </a:pPr>
            <a:r>
              <a:rPr lang="en-US" sz="1200" dirty="0">
                <a:solidFill>
                  <a:srgbClr val="3F454D"/>
                </a:solidFill>
                <a:latin typeface="Arial" pitchFamily="34" charset="0"/>
                <a:ea typeface="Arial" pitchFamily="34" charset="-122"/>
                <a:cs typeface="Arial" pitchFamily="34" charset="-120"/>
              </a:rPr>
              <a:t> tự sắp xếp key theo alphabet</a:t>
            </a:r>
            <a:endParaRPr lang="en-US" sz="1200" dirty="0"/>
          </a:p>
        </p:txBody>
      </p:sp>
      <p:sp>
        <p:nvSpPr>
          <p:cNvPr id="26" name="Shape 24"/>
          <p:cNvSpPr/>
          <p:nvPr/>
        </p:nvSpPr>
        <p:spPr>
          <a:xfrm>
            <a:off x="8304306" y="2197486"/>
            <a:ext cx="63459" cy="63459"/>
          </a:xfrm>
          <a:prstGeom prst="ellipse">
            <a:avLst/>
          </a:prstGeom>
          <a:solidFill>
            <a:srgbClr val="0066FF"/>
          </a:solidFill>
          <a:ln/>
        </p:spPr>
      </p:sp>
      <p:sp>
        <p:nvSpPr>
          <p:cNvPr id="27" name="Text 25"/>
          <p:cNvSpPr txBox="1"/>
          <p:nvPr/>
        </p:nvSpPr>
        <p:spPr>
          <a:xfrm>
            <a:off x="8482066" y="2106503"/>
            <a:ext cx="1562527" cy="228600"/>
          </a:xfrm>
          <a:prstGeom prst="rect">
            <a:avLst/>
          </a:prstGeom>
          <a:noFill/>
          <a:ln/>
        </p:spPr>
        <p:txBody>
          <a:bodyPr wrap="square" lIns="0" tIns="0" rIns="0" bIns="0" rtlCol="0" anchor="ctr"/>
          <a:lstStyle/>
          <a:p>
            <a:pPr algn="l" indent="0" marL="0">
              <a:buNone/>
            </a:pPr>
            <a:r>
              <a:rPr lang="en-US" sz="1200" dirty="0">
                <a:solidFill>
                  <a:srgbClr val="3F454D"/>
                </a:solidFill>
                <a:latin typeface="Arial" pitchFamily="34" charset="0"/>
                <a:ea typeface="Arial" pitchFamily="34" charset="-122"/>
                <a:cs typeface="Arial" pitchFamily="34" charset="-120"/>
              </a:rPr>
              <a:t>Giá trị rỗng thì bỏ qua</a:t>
            </a:r>
            <a:endParaRPr lang="en-US" sz="1200" dirty="0"/>
          </a:p>
        </p:txBody>
      </p:sp>
      <p:sp>
        <p:nvSpPr>
          <p:cNvPr id="28" name="Shape 26"/>
          <p:cNvSpPr/>
          <p:nvPr/>
        </p:nvSpPr>
        <p:spPr>
          <a:xfrm>
            <a:off x="8304306" y="2489545"/>
            <a:ext cx="63459" cy="63459"/>
          </a:xfrm>
          <a:prstGeom prst="ellipse">
            <a:avLst/>
          </a:prstGeom>
          <a:solidFill>
            <a:srgbClr val="0066FF"/>
          </a:solidFill>
          <a:ln/>
        </p:spPr>
      </p:sp>
      <p:sp>
        <p:nvSpPr>
          <p:cNvPr id="29" name="Text 27"/>
          <p:cNvSpPr txBox="1"/>
          <p:nvPr/>
        </p:nvSpPr>
        <p:spPr>
          <a:xfrm>
            <a:off x="8482066" y="2398654"/>
            <a:ext cx="2879080" cy="228600"/>
          </a:xfrm>
          <a:prstGeom prst="rect">
            <a:avLst/>
          </a:prstGeom>
          <a:noFill/>
          <a:ln/>
        </p:spPr>
        <p:txBody>
          <a:bodyPr wrap="square" lIns="0" tIns="0" rIns="0" bIns="0" rtlCol="0" anchor="ctr"/>
          <a:lstStyle/>
          <a:p>
            <a:pPr algn="l" indent="0" marL="0">
              <a:buNone/>
            </a:pPr>
            <a:r>
              <a:rPr lang="en-US" sz="1200" dirty="0">
                <a:solidFill>
                  <a:srgbClr val="3F454D"/>
                </a:solidFill>
                <a:latin typeface="Arial" pitchFamily="34" charset="0"/>
                <a:ea typeface="Arial" pitchFamily="34" charset="-122"/>
                <a:cs typeface="Arial" pitchFamily="34" charset="-120"/>
              </a:rPr>
              <a:t>Nhớ encode giá trị, dấu cách sẽ thành </a:t>
            </a:r>
            <a:pPr algn="l" indent="0" marL="0">
              <a:buNone/>
            </a:pPr>
            <a:r>
              <a:rPr lang="en-US" sz="1200" dirty="0">
                <a:solidFill>
                  <a:srgbClr val="3F454D"/>
                </a:solidFill>
                <a:latin typeface="Courier New" pitchFamily="34" charset="0"/>
                <a:ea typeface="Courier New" pitchFamily="34" charset="-122"/>
                <a:cs typeface="Courier New" pitchFamily="34" charset="-120"/>
              </a:rPr>
              <a:t>+</a:t>
            </a:r>
            <a:endParaRPr lang="en-US" sz="1200" dirty="0"/>
          </a:p>
        </p:txBody>
      </p:sp>
      <p:sp>
        <p:nvSpPr>
          <p:cNvPr id="30" name="Text 28"/>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1" name="Text 29"/>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171164"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1 – Chữ ký</a:t>
            </a:r>
            <a:endParaRPr lang="en-US" sz="1100" dirty="0"/>
          </a:p>
        </p:txBody>
      </p:sp>
      <p:sp>
        <p:nvSpPr>
          <p:cNvPr id="3" name="Text 1"/>
          <p:cNvSpPr txBox="1"/>
          <p:nvPr/>
        </p:nvSpPr>
        <p:spPr>
          <a:xfrm>
            <a:off x="660380" y="643829"/>
            <a:ext cx="5840547"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TODO 4 – Hàm isValidSignature</a:t>
            </a:r>
            <a:endParaRPr lang="en-US" sz="3000" dirty="0"/>
          </a:p>
        </p:txBody>
      </p:sp>
      <p:sp>
        <p:nvSpPr>
          <p:cNvPr id="4" name="Text 2"/>
          <p:cNvSpPr txBox="1"/>
          <p:nvPr/>
        </p:nvSpPr>
        <p:spPr>
          <a:xfrm>
            <a:off x="660380" y="1358798"/>
            <a:ext cx="114318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ShopStart.java</a:t>
            </a:r>
            <a:endParaRPr lang="en-US" sz="1000" dirty="0"/>
          </a:p>
        </p:txBody>
      </p:sp>
      <p:sp>
        <p:nvSpPr>
          <p:cNvPr id="5" name="Shape 3"/>
          <p:cNvSpPr/>
          <p:nvPr/>
        </p:nvSpPr>
        <p:spPr>
          <a:xfrm>
            <a:off x="660380" y="1601389"/>
            <a:ext cx="7425568" cy="2396825"/>
          </a:xfrm>
          <a:prstGeom prst="roundRect">
            <a:avLst>
              <a:gd name="adj" fmla="val 4239"/>
            </a:avLst>
          </a:prstGeom>
          <a:solidFill>
            <a:srgbClr val="0C131E"/>
          </a:solidFill>
          <a:ln/>
        </p:spPr>
      </p:sp>
      <p:sp>
        <p:nvSpPr>
          <p:cNvPr id="6" name="Text 4"/>
          <p:cNvSpPr txBox="1"/>
          <p:nvPr/>
        </p:nvSpPr>
        <p:spPr>
          <a:xfrm>
            <a:off x="907999" y="1783812"/>
            <a:ext cx="5174315" cy="206654"/>
          </a:xfrm>
          <a:prstGeom prst="rect">
            <a:avLst/>
          </a:prstGeom>
          <a:noFill/>
          <a:ln/>
        </p:spPr>
        <p:txBody>
          <a:bodyPr wrap="none" lIns="0" tIns="0" rIns="0" bIns="0" rtlCol="0" anchor="ctr"/>
          <a:lstStyle/>
          <a:p>
            <a:pPr algn="l" indent="0" marL="0">
              <a:buNone/>
            </a:pPr>
            <a:r>
              <a:rPr lang="en-US" sz="1050" dirty="0">
                <a:solidFill>
                  <a:srgbClr val="7FC2FF"/>
                </a:solidFill>
                <a:latin typeface="Courier New" pitchFamily="34" charset="0"/>
                <a:ea typeface="Courier New" pitchFamily="34" charset="-122"/>
                <a:cs typeface="Courier New" pitchFamily="34" charset="-120"/>
              </a:rPr>
              <a:t>static</a:t>
            </a:r>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7FC2FF"/>
                </a:solidFill>
                <a:latin typeface="Courier New" pitchFamily="34" charset="0"/>
                <a:ea typeface="Courier New" pitchFamily="34" charset="-122"/>
                <a:cs typeface="Courier New" pitchFamily="34" charset="-120"/>
              </a:rPr>
              <a:t>boolean</a:t>
            </a:r>
            <a:pPr algn="l" indent="0" marL="0">
              <a:buNone/>
            </a:pPr>
            <a:r>
              <a:rPr lang="en-US" sz="1050" dirty="0">
                <a:solidFill>
                  <a:srgbClr val="E6EDF7"/>
                </a:solidFill>
                <a:latin typeface="Courier New" pitchFamily="34" charset="0"/>
                <a:ea typeface="Courier New" pitchFamily="34" charset="-122"/>
                <a:cs typeface="Courier New" pitchFamily="34" charset="-120"/>
              </a:rPr>
              <a:t> isValidSignature(Map&lt;String, String&gt; params) {</a:t>
            </a:r>
            <a:endParaRPr lang="en-US" sz="1050" dirty="0"/>
          </a:p>
        </p:txBody>
      </p:sp>
      <p:sp>
        <p:nvSpPr>
          <p:cNvPr id="7" name="Text 5"/>
          <p:cNvSpPr txBox="1"/>
          <p:nvPr/>
        </p:nvSpPr>
        <p:spPr>
          <a:xfrm>
            <a:off x="907999" y="1990557"/>
            <a:ext cx="4326118"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String received = params.get(</a:t>
            </a:r>
            <a:pPr algn="l" indent="0" marL="0">
              <a:buNone/>
            </a:pPr>
            <a:r>
              <a:rPr lang="en-US" sz="1050" dirty="0">
                <a:solidFill>
                  <a:srgbClr val="9BE3B4"/>
                </a:solidFill>
                <a:latin typeface="Courier New" pitchFamily="34" charset="0"/>
                <a:ea typeface="Courier New" pitchFamily="34" charset="-122"/>
                <a:cs typeface="Courier New" pitchFamily="34" charset="-120"/>
              </a:rPr>
              <a:t>"vnp_SecureHash"</a:t>
            </a:r>
            <a:pPr algn="l" indent="0" marL="0">
              <a:buNone/>
            </a:pPr>
            <a:r>
              <a:rPr lang="en-US" sz="1050" dirty="0">
                <a:solidFill>
                  <a:srgbClr val="E6EDF7"/>
                </a:solidFill>
                <a:latin typeface="Courier New" pitchFamily="34" charset="0"/>
                <a:ea typeface="Courier New" pitchFamily="34" charset="-122"/>
                <a:cs typeface="Courier New" pitchFamily="34" charset="-120"/>
              </a:rPr>
              <a:t>);</a:t>
            </a:r>
            <a:endParaRPr lang="en-US" sz="1050" dirty="0"/>
          </a:p>
        </p:txBody>
      </p:sp>
      <p:sp>
        <p:nvSpPr>
          <p:cNvPr id="8" name="Text 6"/>
          <p:cNvSpPr txBox="1"/>
          <p:nvPr/>
        </p:nvSpPr>
        <p:spPr>
          <a:xfrm>
            <a:off x="907999" y="2197212"/>
            <a:ext cx="5174772"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7FC2FF"/>
                </a:solidFill>
                <a:latin typeface="Courier New" pitchFamily="34" charset="0"/>
                <a:ea typeface="Courier New" pitchFamily="34" charset="-122"/>
                <a:cs typeface="Courier New" pitchFamily="34" charset="-120"/>
              </a:rPr>
              <a:t>if</a:t>
            </a:r>
            <a:pPr algn="l" indent="0" marL="0">
              <a:buNone/>
            </a:pPr>
            <a:r>
              <a:rPr lang="en-US" sz="1050" dirty="0">
                <a:solidFill>
                  <a:srgbClr val="E6EDF7"/>
                </a:solidFill>
                <a:latin typeface="Courier New" pitchFamily="34" charset="0"/>
                <a:ea typeface="Courier New" pitchFamily="34" charset="-122"/>
                <a:cs typeface="Courier New" pitchFamily="34" charset="-120"/>
              </a:rPr>
              <a:t> (received == </a:t>
            </a:r>
            <a:pPr algn="l" indent="0" marL="0">
              <a:buNone/>
            </a:pPr>
            <a:r>
              <a:rPr lang="en-US" sz="1050" dirty="0">
                <a:solidFill>
                  <a:srgbClr val="7FC2FF"/>
                </a:solidFill>
                <a:latin typeface="Courier New" pitchFamily="34" charset="0"/>
                <a:ea typeface="Courier New" pitchFamily="34" charset="-122"/>
                <a:cs typeface="Courier New" pitchFamily="34" charset="-120"/>
              </a:rPr>
              <a:t>null</a:t>
            </a:r>
            <a:pPr algn="l" indent="0" marL="0">
              <a:buNone/>
            </a:pPr>
            <a:r>
              <a:rPr lang="en-US" sz="1050" dirty="0">
                <a:solidFill>
                  <a:srgbClr val="E6EDF7"/>
                </a:solidFill>
                <a:latin typeface="Courier New" pitchFamily="34" charset="0"/>
                <a:ea typeface="Courier New" pitchFamily="34" charset="-122"/>
                <a:cs typeface="Courier New" pitchFamily="34" charset="-120"/>
              </a:rPr>
              <a:t> || received.isBlank()) </a:t>
            </a:r>
            <a:pPr algn="l" indent="0" marL="0">
              <a:buNone/>
            </a:pPr>
            <a:r>
              <a:rPr lang="en-US" sz="1050" dirty="0">
                <a:solidFill>
                  <a:srgbClr val="7FC2FF"/>
                </a:solidFill>
                <a:latin typeface="Courier New" pitchFamily="34" charset="0"/>
                <a:ea typeface="Courier New" pitchFamily="34" charset="-122"/>
                <a:cs typeface="Courier New" pitchFamily="34" charset="-120"/>
              </a:rPr>
              <a:t>return</a:t>
            </a:r>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7FC2FF"/>
                </a:solidFill>
                <a:latin typeface="Courier New" pitchFamily="34" charset="0"/>
                <a:ea typeface="Courier New" pitchFamily="34" charset="-122"/>
                <a:cs typeface="Courier New" pitchFamily="34" charset="-120"/>
              </a:rPr>
              <a:t>false</a:t>
            </a:r>
            <a:pPr algn="l" indent="0" marL="0">
              <a:buNone/>
            </a:pPr>
            <a:r>
              <a:rPr lang="en-US" sz="1050" dirty="0">
                <a:solidFill>
                  <a:srgbClr val="E6EDF7"/>
                </a:solidFill>
                <a:latin typeface="Courier New" pitchFamily="34" charset="0"/>
                <a:ea typeface="Courier New" pitchFamily="34" charset="-122"/>
                <a:cs typeface="Courier New" pitchFamily="34" charset="-120"/>
              </a:rPr>
              <a:t>;</a:t>
            </a:r>
            <a:endParaRPr lang="en-US" sz="1050" dirty="0"/>
          </a:p>
        </p:txBody>
      </p:sp>
      <p:sp>
        <p:nvSpPr>
          <p:cNvPr id="9" name="Text 7"/>
          <p:cNvSpPr txBox="1"/>
          <p:nvPr/>
        </p:nvSpPr>
        <p:spPr>
          <a:xfrm>
            <a:off x="907999" y="2610521"/>
            <a:ext cx="4580504"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Map&lt;String, String&gt; clone = </a:t>
            </a:r>
            <a:pPr algn="l" indent="0" marL="0">
              <a:buNone/>
            </a:pPr>
            <a:r>
              <a:rPr lang="en-US" sz="1050" dirty="0">
                <a:solidFill>
                  <a:srgbClr val="7FC2FF"/>
                </a:solidFill>
                <a:latin typeface="Courier New" pitchFamily="34" charset="0"/>
                <a:ea typeface="Courier New" pitchFamily="34" charset="-122"/>
                <a:cs typeface="Courier New" pitchFamily="34" charset="-120"/>
              </a:rPr>
              <a:t>new</a:t>
            </a:r>
            <a:pPr algn="l" indent="0" marL="0">
              <a:buNone/>
            </a:pPr>
            <a:r>
              <a:rPr lang="en-US" sz="1050" dirty="0">
                <a:solidFill>
                  <a:srgbClr val="E6EDF7"/>
                </a:solidFill>
                <a:latin typeface="Courier New" pitchFamily="34" charset="0"/>
                <a:ea typeface="Courier New" pitchFamily="34" charset="-122"/>
                <a:cs typeface="Courier New" pitchFamily="34" charset="-120"/>
              </a:rPr>
              <a:t> TreeMap&lt;&gt;(params);</a:t>
            </a:r>
            <a:endParaRPr lang="en-US" sz="1050" dirty="0"/>
          </a:p>
        </p:txBody>
      </p:sp>
      <p:sp>
        <p:nvSpPr>
          <p:cNvPr id="10" name="Shape 8"/>
          <p:cNvSpPr/>
          <p:nvPr/>
        </p:nvSpPr>
        <p:spPr>
          <a:xfrm>
            <a:off x="660380" y="2799801"/>
            <a:ext cx="7425568" cy="206654"/>
          </a:xfrm>
          <a:prstGeom prst="rect">
            <a:avLst/>
          </a:prstGeom>
          <a:solidFill>
            <a:srgbClr val="FFD479">
              <a:alpha val="13000"/>
            </a:srgbClr>
          </a:solidFill>
          <a:ln/>
        </p:spPr>
      </p:sp>
      <p:sp>
        <p:nvSpPr>
          <p:cNvPr id="11" name="Shape 9"/>
          <p:cNvSpPr/>
          <p:nvPr/>
        </p:nvSpPr>
        <p:spPr>
          <a:xfrm>
            <a:off x="660380" y="2799801"/>
            <a:ext cx="31730" cy="206654"/>
          </a:xfrm>
          <a:prstGeom prst="rect">
            <a:avLst/>
          </a:prstGeom>
          <a:solidFill>
            <a:srgbClr val="FFD479"/>
          </a:solidFill>
          <a:ln/>
        </p:spPr>
      </p:sp>
      <p:sp>
        <p:nvSpPr>
          <p:cNvPr id="12" name="Text 10"/>
          <p:cNvSpPr txBox="1"/>
          <p:nvPr/>
        </p:nvSpPr>
        <p:spPr>
          <a:xfrm>
            <a:off x="907999" y="2817175"/>
            <a:ext cx="2969057"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clone.remove(</a:t>
            </a:r>
            <a:pPr algn="l" indent="0" marL="0">
              <a:buNone/>
            </a:pPr>
            <a:r>
              <a:rPr lang="en-US" sz="1050" dirty="0">
                <a:solidFill>
                  <a:srgbClr val="9BE3B4"/>
                </a:solidFill>
                <a:latin typeface="Courier New" pitchFamily="34" charset="0"/>
                <a:ea typeface="Courier New" pitchFamily="34" charset="-122"/>
                <a:cs typeface="Courier New" pitchFamily="34" charset="-120"/>
              </a:rPr>
              <a:t>"vnp_SecureHash"</a:t>
            </a:r>
            <a:pPr algn="l" indent="0" marL="0">
              <a:buNone/>
            </a:pPr>
            <a:r>
              <a:rPr lang="en-US" sz="1050" dirty="0">
                <a:solidFill>
                  <a:srgbClr val="E6EDF7"/>
                </a:solidFill>
                <a:latin typeface="Courier New" pitchFamily="34" charset="0"/>
                <a:ea typeface="Courier New" pitchFamily="34" charset="-122"/>
                <a:cs typeface="Courier New" pitchFamily="34" charset="-120"/>
              </a:rPr>
              <a:t>);</a:t>
            </a:r>
            <a:endParaRPr lang="en-US" sz="1050" dirty="0"/>
          </a:p>
        </p:txBody>
      </p:sp>
      <p:sp>
        <p:nvSpPr>
          <p:cNvPr id="13" name="Shape 11"/>
          <p:cNvSpPr/>
          <p:nvPr/>
        </p:nvSpPr>
        <p:spPr>
          <a:xfrm>
            <a:off x="660380" y="3006456"/>
            <a:ext cx="7425568" cy="206654"/>
          </a:xfrm>
          <a:prstGeom prst="rect">
            <a:avLst/>
          </a:prstGeom>
          <a:solidFill>
            <a:srgbClr val="FFD479">
              <a:alpha val="13000"/>
            </a:srgbClr>
          </a:solidFill>
          <a:ln/>
        </p:spPr>
      </p:sp>
      <p:sp>
        <p:nvSpPr>
          <p:cNvPr id="14" name="Shape 12"/>
          <p:cNvSpPr/>
          <p:nvPr/>
        </p:nvSpPr>
        <p:spPr>
          <a:xfrm>
            <a:off x="660380" y="3006456"/>
            <a:ext cx="31730" cy="206654"/>
          </a:xfrm>
          <a:prstGeom prst="rect">
            <a:avLst/>
          </a:prstGeom>
          <a:solidFill>
            <a:srgbClr val="FFD479"/>
          </a:solidFill>
          <a:ln/>
        </p:spPr>
      </p:sp>
      <p:sp>
        <p:nvSpPr>
          <p:cNvPr id="15" name="Text 13"/>
          <p:cNvSpPr txBox="1"/>
          <p:nvPr/>
        </p:nvSpPr>
        <p:spPr>
          <a:xfrm>
            <a:off x="907999" y="3023829"/>
            <a:ext cx="3308299"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clone.remove(</a:t>
            </a:r>
            <a:pPr algn="l" indent="0" marL="0">
              <a:buNone/>
            </a:pPr>
            <a:r>
              <a:rPr lang="en-US" sz="1050" dirty="0">
                <a:solidFill>
                  <a:srgbClr val="9BE3B4"/>
                </a:solidFill>
                <a:latin typeface="Courier New" pitchFamily="34" charset="0"/>
                <a:ea typeface="Courier New" pitchFamily="34" charset="-122"/>
                <a:cs typeface="Courier New" pitchFamily="34" charset="-120"/>
              </a:rPr>
              <a:t>"vnp_SecureHashType"</a:t>
            </a:r>
            <a:pPr algn="l" indent="0" marL="0">
              <a:buNone/>
            </a:pPr>
            <a:r>
              <a:rPr lang="en-US" sz="1050" dirty="0">
                <a:solidFill>
                  <a:srgbClr val="E6EDF7"/>
                </a:solidFill>
                <a:latin typeface="Courier New" pitchFamily="34" charset="0"/>
                <a:ea typeface="Courier New" pitchFamily="34" charset="-122"/>
                <a:cs typeface="Courier New" pitchFamily="34" charset="-120"/>
              </a:rPr>
              <a:t>);</a:t>
            </a:r>
            <a:endParaRPr lang="en-US" sz="1050" dirty="0"/>
          </a:p>
        </p:txBody>
      </p:sp>
      <p:sp>
        <p:nvSpPr>
          <p:cNvPr id="16" name="Text 14"/>
          <p:cNvSpPr txBox="1"/>
          <p:nvPr/>
        </p:nvSpPr>
        <p:spPr>
          <a:xfrm>
            <a:off x="907999" y="3437230"/>
            <a:ext cx="7379757"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    </a:t>
            </a:r>
            <a:pPr algn="l" indent="0" marL="0">
              <a:buNone/>
            </a:pPr>
            <a:r>
              <a:rPr lang="en-US" sz="1050" dirty="0">
                <a:solidFill>
                  <a:srgbClr val="7FC2FF"/>
                </a:solidFill>
                <a:latin typeface="Courier New" pitchFamily="34" charset="0"/>
                <a:ea typeface="Courier New" pitchFamily="34" charset="-122"/>
                <a:cs typeface="Courier New" pitchFamily="34" charset="-120"/>
              </a:rPr>
              <a:t>return</a:t>
            </a:r>
            <a:pPr algn="l" indent="0" marL="0">
              <a:buNone/>
            </a:pPr>
            <a:r>
              <a:rPr lang="en-US" sz="1050" dirty="0">
                <a:solidFill>
                  <a:srgbClr val="E6EDF7"/>
                </a:solidFill>
                <a:latin typeface="Courier New" pitchFamily="34" charset="0"/>
                <a:ea typeface="Courier New" pitchFamily="34" charset="-122"/>
                <a:cs typeface="Courier New" pitchFamily="34" charset="-120"/>
              </a:rPr>
              <a:t> hmacSHA512(HASH_SECRET, buildQueryString(clone)).equalsIgnoreCase(received);</a:t>
            </a:r>
            <a:endParaRPr lang="en-US" sz="1050" dirty="0"/>
          </a:p>
        </p:txBody>
      </p:sp>
      <p:sp>
        <p:nvSpPr>
          <p:cNvPr id="17" name="Text 15"/>
          <p:cNvSpPr txBox="1"/>
          <p:nvPr/>
        </p:nvSpPr>
        <p:spPr>
          <a:xfrm>
            <a:off x="907999" y="3643884"/>
            <a:ext cx="156271"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a:t>
            </a:r>
            <a:endParaRPr lang="en-US" sz="1050" dirty="0"/>
          </a:p>
        </p:txBody>
      </p:sp>
      <p:sp>
        <p:nvSpPr>
          <p:cNvPr id="18" name="Shape 16"/>
          <p:cNvSpPr/>
          <p:nvPr/>
        </p:nvSpPr>
        <p:spPr>
          <a:xfrm>
            <a:off x="8289127" y="1347368"/>
            <a:ext cx="3242188" cy="1600200"/>
          </a:xfrm>
          <a:prstGeom prst="roundRect">
            <a:avLst>
              <a:gd name="adj" fmla="val 5554"/>
            </a:avLst>
          </a:prstGeom>
          <a:solidFill>
            <a:srgbClr val="FFFFFF"/>
          </a:solidFill>
          <a:ln w="6350">
            <a:solidFill>
              <a:srgbClr val="E3E6EA"/>
            </a:solidFill>
            <a:prstDash val="solid"/>
          </a:ln>
        </p:spPr>
      </p:sp>
      <p:sp>
        <p:nvSpPr>
          <p:cNvPr id="19" name="Text 17"/>
          <p:cNvSpPr txBox="1"/>
          <p:nvPr/>
        </p:nvSpPr>
        <p:spPr>
          <a:xfrm>
            <a:off x="8460577" y="1509674"/>
            <a:ext cx="499811" cy="228600"/>
          </a:xfrm>
          <a:prstGeom prst="rect">
            <a:avLst/>
          </a:prstGeom>
          <a:noFill/>
          <a:ln/>
        </p:spPr>
        <p:txBody>
          <a:bodyPr wrap="square" lIns="0" tIns="0" rIns="0" bIns="0" rtlCol="0" anchor="ctr"/>
          <a:lstStyle/>
          <a:p>
            <a:pPr algn="l" indent="0" marL="0">
              <a:buNone/>
            </a:pPr>
            <a:r>
              <a:rPr lang="en-US" sz="1200" b="1" dirty="0">
                <a:solidFill>
                  <a:srgbClr val="0066FF"/>
                </a:solidFill>
                <a:latin typeface="Arial" pitchFamily="34" charset="0"/>
                <a:ea typeface="Arial" pitchFamily="34" charset="-122"/>
                <a:cs typeface="Arial" pitchFamily="34" charset="-120"/>
              </a:rPr>
              <a:t>Lưu ý</a:t>
            </a:r>
            <a:endParaRPr lang="en-US" sz="1200" dirty="0"/>
          </a:p>
        </p:txBody>
      </p:sp>
      <p:sp>
        <p:nvSpPr>
          <p:cNvPr id="20" name="Shape 18"/>
          <p:cNvSpPr/>
          <p:nvPr/>
        </p:nvSpPr>
        <p:spPr>
          <a:xfrm>
            <a:off x="8498708" y="1892717"/>
            <a:ext cx="63459" cy="63459"/>
          </a:xfrm>
          <a:prstGeom prst="ellipse">
            <a:avLst/>
          </a:prstGeom>
          <a:solidFill>
            <a:srgbClr val="0066FF"/>
          </a:solidFill>
          <a:ln/>
        </p:spPr>
      </p:sp>
      <p:sp>
        <p:nvSpPr>
          <p:cNvPr id="21" name="Text 19"/>
          <p:cNvSpPr txBox="1"/>
          <p:nvPr/>
        </p:nvSpPr>
        <p:spPr>
          <a:xfrm>
            <a:off x="8676467" y="1784269"/>
            <a:ext cx="2763865" cy="527060"/>
          </a:xfrm>
          <a:prstGeom prst="rect">
            <a:avLst/>
          </a:prstGeom>
          <a:noFill/>
          <a:ln/>
        </p:spPr>
        <p:txBody>
          <a:bodyPr wrap="square" lIns="0" tIns="0" rIns="0" bIns="0" rtlCol="0" anchor="t"/>
          <a:lstStyle/>
          <a:p>
            <a:pPr algn="l" indent="0" marL="0">
              <a:lnSpc>
                <a:spcPts val="1800"/>
              </a:lnSpc>
              <a:buNone/>
            </a:pPr>
            <a:r>
              <a:rPr lang="en-US" sz="1200" dirty="0">
                <a:solidFill>
                  <a:srgbClr val="3F454D"/>
                </a:solidFill>
                <a:latin typeface="Arial" pitchFamily="34" charset="0"/>
                <a:ea typeface="Arial" pitchFamily="34" charset="-122"/>
                <a:cs typeface="Arial" pitchFamily="34" charset="-120"/>
              </a:rPr>
              <a:t>Phải bỏ </a:t>
            </a:r>
            <a:pPr algn="l" indent="0" marL="0">
              <a:lnSpc>
                <a:spcPts val="1800"/>
              </a:lnSpc>
              <a:buNone/>
            </a:pPr>
            <a:r>
              <a:rPr lang="en-US" sz="1200" dirty="0">
                <a:solidFill>
                  <a:srgbClr val="3F454D"/>
                </a:solidFill>
                <a:latin typeface="Courier New" pitchFamily="34" charset="0"/>
                <a:ea typeface="Courier New" pitchFamily="34" charset="-122"/>
                <a:cs typeface="Courier New" pitchFamily="34" charset="-120"/>
              </a:rPr>
              <a:t>vnp_SecureHash</a:t>
            </a:r>
            <a:pPr algn="l" indent="0" marL="0">
              <a:lnSpc>
                <a:spcPts val="1800"/>
              </a:lnSpc>
              <a:buNone/>
            </a:pPr>
            <a:r>
              <a:rPr lang="en-US" sz="1200" dirty="0">
                <a:solidFill>
                  <a:srgbClr val="3F454D"/>
                </a:solidFill>
                <a:latin typeface="Arial" pitchFamily="34" charset="0"/>
                <a:ea typeface="Arial" pitchFamily="34" charset="-122"/>
                <a:cs typeface="Arial" pitchFamily="34" charset="-120"/>
              </a:rPr>
              <a:t> ra rồi mới ký lại</a:t>
            </a:r>
            <a:endParaRPr lang="en-US" sz="1200" dirty="0"/>
          </a:p>
        </p:txBody>
      </p:sp>
      <p:sp>
        <p:nvSpPr>
          <p:cNvPr id="22" name="Shape 20"/>
          <p:cNvSpPr/>
          <p:nvPr/>
        </p:nvSpPr>
        <p:spPr>
          <a:xfrm>
            <a:off x="8498708" y="2426086"/>
            <a:ext cx="63459" cy="63459"/>
          </a:xfrm>
          <a:prstGeom prst="ellipse">
            <a:avLst/>
          </a:prstGeom>
          <a:solidFill>
            <a:srgbClr val="0066FF"/>
          </a:solidFill>
          <a:ln/>
        </p:spPr>
      </p:sp>
      <p:sp>
        <p:nvSpPr>
          <p:cNvPr id="23" name="Text 21"/>
          <p:cNvSpPr txBox="1"/>
          <p:nvPr/>
        </p:nvSpPr>
        <p:spPr>
          <a:xfrm>
            <a:off x="8676467" y="2317638"/>
            <a:ext cx="2763865" cy="539770"/>
          </a:xfrm>
          <a:prstGeom prst="rect">
            <a:avLst/>
          </a:prstGeom>
          <a:noFill/>
          <a:ln/>
        </p:spPr>
        <p:txBody>
          <a:bodyPr wrap="square" lIns="0" tIns="0" rIns="0" bIns="0" rtlCol="0" anchor="t"/>
          <a:lstStyle/>
          <a:p>
            <a:pPr algn="l" indent="0" marL="0">
              <a:lnSpc>
                <a:spcPts val="1800"/>
              </a:lnSpc>
              <a:buNone/>
            </a:pPr>
            <a:r>
              <a:rPr lang="en-US" sz="1200" dirty="0">
                <a:solidFill>
                  <a:srgbClr val="3F454D"/>
                </a:solidFill>
                <a:latin typeface="Arial" pitchFamily="34" charset="0"/>
                <a:ea typeface="Arial" pitchFamily="34" charset="-122"/>
                <a:cs typeface="Arial" pitchFamily="34" charset="-120"/>
              </a:rPr>
              <a:t>Dùng ở cả </a:t>
            </a:r>
            <a:pPr algn="l" indent="0" marL="0">
              <a:lnSpc>
                <a:spcPts val="1800"/>
              </a:lnSpc>
              <a:buNone/>
            </a:pPr>
            <a:r>
              <a:rPr lang="en-US" sz="1200" dirty="0">
                <a:solidFill>
                  <a:srgbClr val="3F454D"/>
                </a:solidFill>
                <a:latin typeface="Courier New" pitchFamily="34" charset="0"/>
                <a:ea typeface="Courier New" pitchFamily="34" charset="-122"/>
                <a:cs typeface="Courier New" pitchFamily="34" charset="-120"/>
              </a:rPr>
              <a:t>/vnpay/ipn</a:t>
            </a:r>
            <a:pPr algn="l" indent="0" marL="0">
              <a:lnSpc>
                <a:spcPts val="1800"/>
              </a:lnSpc>
              <a:buNone/>
            </a:pPr>
            <a:r>
              <a:rPr lang="en-US" sz="1200" dirty="0">
                <a:solidFill>
                  <a:srgbClr val="3F454D"/>
                </a:solidFill>
                <a:latin typeface="Arial" pitchFamily="34" charset="0"/>
                <a:ea typeface="Arial" pitchFamily="34" charset="-122"/>
                <a:cs typeface="Arial" pitchFamily="34" charset="-120"/>
              </a:rPr>
              <a:t> và </a:t>
            </a:r>
            <a:pPr algn="l" indent="0" marL="0">
              <a:lnSpc>
                <a:spcPts val="1800"/>
              </a:lnSpc>
              <a:buNone/>
            </a:pPr>
            <a:r>
              <a:rPr lang="en-US" sz="1200" dirty="0">
                <a:solidFill>
                  <a:srgbClr val="3F454D"/>
                </a:solidFill>
                <a:latin typeface="Courier New" pitchFamily="34" charset="0"/>
                <a:ea typeface="Courier New" pitchFamily="34" charset="-122"/>
                <a:cs typeface="Courier New" pitchFamily="34" charset="-120"/>
              </a:rPr>
              <a:t>/vnpay/return</a:t>
            </a:r>
            <a:endParaRPr lang="en-US" sz="1200" dirty="0"/>
          </a:p>
        </p:txBody>
      </p:sp>
      <p:sp>
        <p:nvSpPr>
          <p:cNvPr id="24" name="Text 22"/>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5" name="Text 23"/>
          <p:cNvSpPr txBox="1"/>
          <p:nvPr/>
        </p:nvSpPr>
        <p:spPr>
          <a:xfrm>
            <a:off x="11464107" y="6472763"/>
            <a:ext cx="143378"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2007565"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2 – Tạo link thanh toán</a:t>
            </a:r>
            <a:endParaRPr lang="en-US" sz="1100" dirty="0"/>
          </a:p>
        </p:txBody>
      </p:sp>
      <p:sp>
        <p:nvSpPr>
          <p:cNvPr id="3" name="Text 1"/>
          <p:cNvSpPr txBox="1"/>
          <p:nvPr/>
        </p:nvSpPr>
        <p:spPr>
          <a:xfrm>
            <a:off x="660380" y="643829"/>
            <a:ext cx="649032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TODO 5 – Hàm createPayment (1/2)</a:t>
            </a:r>
            <a:endParaRPr lang="en-US" sz="3000" dirty="0"/>
          </a:p>
        </p:txBody>
      </p:sp>
      <p:sp>
        <p:nvSpPr>
          <p:cNvPr id="4" name="Text 2"/>
          <p:cNvSpPr txBox="1"/>
          <p:nvPr/>
        </p:nvSpPr>
        <p:spPr>
          <a:xfrm>
            <a:off x="660380" y="1358798"/>
            <a:ext cx="114318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ShopStart.java</a:t>
            </a:r>
            <a:endParaRPr lang="en-US" sz="1000" dirty="0"/>
          </a:p>
        </p:txBody>
      </p:sp>
      <p:sp>
        <p:nvSpPr>
          <p:cNvPr id="5" name="Shape 3"/>
          <p:cNvSpPr/>
          <p:nvPr/>
        </p:nvSpPr>
        <p:spPr>
          <a:xfrm>
            <a:off x="660380" y="1601389"/>
            <a:ext cx="6482456" cy="4359768"/>
          </a:xfrm>
          <a:prstGeom prst="roundRect">
            <a:avLst>
              <a:gd name="adj" fmla="val 2330"/>
            </a:avLst>
          </a:prstGeom>
          <a:solidFill>
            <a:srgbClr val="0C131E"/>
          </a:solidFill>
          <a:ln/>
        </p:spPr>
      </p:sp>
      <p:sp>
        <p:nvSpPr>
          <p:cNvPr id="6" name="Text 4"/>
          <p:cNvSpPr txBox="1"/>
          <p:nvPr/>
        </p:nvSpPr>
        <p:spPr>
          <a:xfrm>
            <a:off x="907999" y="1784452"/>
            <a:ext cx="6065032" cy="191933"/>
          </a:xfrm>
          <a:prstGeom prst="rect">
            <a:avLst/>
          </a:prstGeom>
          <a:noFill/>
          <a:ln/>
        </p:spPr>
        <p:txBody>
          <a:bodyPr wrap="none" lIns="0" tIns="0" rIns="0" bIns="0" rtlCol="0" anchor="ctr"/>
          <a:lstStyle/>
          <a:p>
            <a:pPr algn="l" indent="0" marL="0">
              <a:buNone/>
            </a:pPr>
            <a:r>
              <a:rPr lang="en-US" sz="980" dirty="0">
                <a:solidFill>
                  <a:srgbClr val="7FC2FF"/>
                </a:solidFill>
                <a:latin typeface="Courier New" pitchFamily="34" charset="0"/>
                <a:ea typeface="Courier New" pitchFamily="34" charset="-122"/>
                <a:cs typeface="Courier New" pitchFamily="34" charset="-120"/>
              </a:rPr>
              <a:t>static</a:t>
            </a:r>
            <a:pPr algn="l" indent="0" marL="0">
              <a:buNone/>
            </a:pPr>
            <a:r>
              <a:rPr lang="en-US" sz="980" dirty="0">
                <a:solidFill>
                  <a:srgbClr val="E6EDF7"/>
                </a:solidFill>
                <a:latin typeface="Courier New" pitchFamily="34" charset="0"/>
                <a:ea typeface="Courier New" pitchFamily="34" charset="-122"/>
                <a:cs typeface="Courier New" pitchFamily="34" charset="-120"/>
              </a:rPr>
              <a:t> String createPayment(</a:t>
            </a:r>
            <a:pPr algn="l" indent="0" marL="0">
              <a:buNone/>
            </a:pPr>
            <a:r>
              <a:rPr lang="en-US" sz="980" dirty="0">
                <a:solidFill>
                  <a:srgbClr val="7FC2FF"/>
                </a:solidFill>
                <a:latin typeface="Courier New" pitchFamily="34" charset="0"/>
                <a:ea typeface="Courier New" pitchFamily="34" charset="-122"/>
                <a:cs typeface="Courier New" pitchFamily="34" charset="-120"/>
              </a:rPr>
              <a:t>long</a:t>
            </a:r>
            <a:pPr algn="l" indent="0" marL="0">
              <a:buNone/>
            </a:pPr>
            <a:r>
              <a:rPr lang="en-US" sz="980" dirty="0">
                <a:solidFill>
                  <a:srgbClr val="E6EDF7"/>
                </a:solidFill>
                <a:latin typeface="Courier New" pitchFamily="34" charset="0"/>
                <a:ea typeface="Courier New" pitchFamily="34" charset="-122"/>
                <a:cs typeface="Courier New" pitchFamily="34" charset="-120"/>
              </a:rPr>
              <a:t> amount, String orderInfo, String bankCode) {</a:t>
            </a:r>
            <a:endParaRPr lang="en-US" sz="980" dirty="0"/>
          </a:p>
        </p:txBody>
      </p:sp>
      <p:sp>
        <p:nvSpPr>
          <p:cNvPr id="7" name="Text 5"/>
          <p:cNvSpPr txBox="1"/>
          <p:nvPr/>
        </p:nvSpPr>
        <p:spPr>
          <a:xfrm>
            <a:off x="907999" y="1976293"/>
            <a:ext cx="3623219"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LocalDateTime now = LocalDateTime.now(VN);</a:t>
            </a:r>
            <a:endParaRPr lang="en-US" sz="980" dirty="0"/>
          </a:p>
        </p:txBody>
      </p:sp>
      <p:sp>
        <p:nvSpPr>
          <p:cNvPr id="8" name="Text 6"/>
          <p:cNvSpPr txBox="1"/>
          <p:nvPr/>
        </p:nvSpPr>
        <p:spPr>
          <a:xfrm>
            <a:off x="907999" y="2168225"/>
            <a:ext cx="3229295"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String createDate = now.format(TIME);</a:t>
            </a:r>
            <a:endParaRPr lang="en-US" sz="980" dirty="0"/>
          </a:p>
        </p:txBody>
      </p:sp>
      <p:sp>
        <p:nvSpPr>
          <p:cNvPr id="9" name="Text 7"/>
          <p:cNvSpPr txBox="1"/>
          <p:nvPr/>
        </p:nvSpPr>
        <p:spPr>
          <a:xfrm>
            <a:off x="907999" y="2360066"/>
            <a:ext cx="330811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String txnRef = newTxnRef(createDate);</a:t>
            </a:r>
            <a:endParaRPr lang="en-US" sz="980" dirty="0"/>
          </a:p>
        </p:txBody>
      </p:sp>
      <p:sp>
        <p:nvSpPr>
          <p:cNvPr id="10" name="Shape 8"/>
          <p:cNvSpPr/>
          <p:nvPr/>
        </p:nvSpPr>
        <p:spPr>
          <a:xfrm>
            <a:off x="660380" y="2533985"/>
            <a:ext cx="6482456" cy="191841"/>
          </a:xfrm>
          <a:prstGeom prst="rect">
            <a:avLst/>
          </a:prstGeom>
          <a:solidFill>
            <a:srgbClr val="FFD479">
              <a:alpha val="13000"/>
            </a:srgbClr>
          </a:solidFill>
          <a:ln/>
        </p:spPr>
      </p:sp>
      <p:sp>
        <p:nvSpPr>
          <p:cNvPr id="11" name="Shape 9"/>
          <p:cNvSpPr/>
          <p:nvPr/>
        </p:nvSpPr>
        <p:spPr>
          <a:xfrm>
            <a:off x="660380" y="2533985"/>
            <a:ext cx="31730" cy="191841"/>
          </a:xfrm>
          <a:prstGeom prst="rect">
            <a:avLst/>
          </a:prstGeom>
          <a:solidFill>
            <a:srgbClr val="FFD479"/>
          </a:solidFill>
          <a:ln/>
        </p:spPr>
      </p:sp>
      <p:sp>
        <p:nvSpPr>
          <p:cNvPr id="12" name="Text 10"/>
          <p:cNvSpPr txBox="1"/>
          <p:nvPr/>
        </p:nvSpPr>
        <p:spPr>
          <a:xfrm>
            <a:off x="907999" y="2551999"/>
            <a:ext cx="574993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ORDERS.put(txnRef, </a:t>
            </a:r>
            <a:pPr algn="l" indent="0" marL="0">
              <a:buNone/>
            </a:pPr>
            <a:r>
              <a:rPr lang="en-US" sz="980" dirty="0">
                <a:solidFill>
                  <a:srgbClr val="7FC2FF"/>
                </a:solidFill>
                <a:latin typeface="Courier New" pitchFamily="34" charset="0"/>
                <a:ea typeface="Courier New" pitchFamily="34" charset="-122"/>
                <a:cs typeface="Courier New" pitchFamily="34" charset="-120"/>
              </a:rPr>
              <a:t>new</a:t>
            </a:r>
            <a:pPr algn="l" indent="0" marL="0">
              <a:buNone/>
            </a:pPr>
            <a:r>
              <a:rPr lang="en-US" sz="980" dirty="0">
                <a:solidFill>
                  <a:srgbClr val="E6EDF7"/>
                </a:solidFill>
                <a:latin typeface="Courier New" pitchFamily="34" charset="0"/>
                <a:ea typeface="Courier New" pitchFamily="34" charset="-122"/>
                <a:cs typeface="Courier New" pitchFamily="34" charset="-120"/>
              </a:rPr>
              <a:t> Order(txnRef, amount, orderInfo, createDate));</a:t>
            </a:r>
            <a:endParaRPr lang="en-US" sz="980" dirty="0"/>
          </a:p>
        </p:txBody>
      </p:sp>
      <p:sp>
        <p:nvSpPr>
          <p:cNvPr id="13" name="Text 11"/>
          <p:cNvSpPr txBox="1"/>
          <p:nvPr/>
        </p:nvSpPr>
        <p:spPr>
          <a:xfrm>
            <a:off x="907999" y="2935681"/>
            <a:ext cx="3465667"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Map&lt;String, String&gt; p = </a:t>
            </a:r>
            <a:pPr algn="l" indent="0" marL="0">
              <a:buNone/>
            </a:pPr>
            <a:r>
              <a:rPr lang="en-US" sz="980" dirty="0">
                <a:solidFill>
                  <a:srgbClr val="7FC2FF"/>
                </a:solidFill>
                <a:latin typeface="Courier New" pitchFamily="34" charset="0"/>
                <a:ea typeface="Courier New" pitchFamily="34" charset="-122"/>
                <a:cs typeface="Courier New" pitchFamily="34" charset="-120"/>
              </a:rPr>
              <a:t>new</a:t>
            </a:r>
            <a:pPr algn="l" indent="0" marL="0">
              <a:buNone/>
            </a:pPr>
            <a:r>
              <a:rPr lang="en-US" sz="980" dirty="0">
                <a:solidFill>
                  <a:srgbClr val="E6EDF7"/>
                </a:solidFill>
                <a:latin typeface="Courier New" pitchFamily="34" charset="0"/>
                <a:ea typeface="Courier New" pitchFamily="34" charset="-122"/>
                <a:cs typeface="Courier New" pitchFamily="34" charset="-120"/>
              </a:rPr>
              <a:t> HashMap&lt;&gt;();</a:t>
            </a:r>
            <a:endParaRPr lang="en-US" sz="980" dirty="0"/>
          </a:p>
        </p:txBody>
      </p:sp>
      <p:sp>
        <p:nvSpPr>
          <p:cNvPr id="14" name="Text 12"/>
          <p:cNvSpPr txBox="1"/>
          <p:nvPr/>
        </p:nvSpPr>
        <p:spPr>
          <a:xfrm>
            <a:off x="907999" y="3127614"/>
            <a:ext cx="2678095"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"vnp_Version"</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"2.1.0"</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5" name="Text 13"/>
          <p:cNvSpPr txBox="1"/>
          <p:nvPr/>
        </p:nvSpPr>
        <p:spPr>
          <a:xfrm>
            <a:off x="907999" y="3319455"/>
            <a:ext cx="2520635"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"vnp_Command"</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"pay"</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6" name="Text 14"/>
          <p:cNvSpPr txBox="1"/>
          <p:nvPr/>
        </p:nvSpPr>
        <p:spPr>
          <a:xfrm>
            <a:off x="907999" y="3511387"/>
            <a:ext cx="275691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"vnp_TmnCode"</a:t>
            </a:r>
            <a:pPr algn="l" indent="0" marL="0">
              <a:buNone/>
            </a:pPr>
            <a:r>
              <a:rPr lang="en-US" sz="980" dirty="0">
                <a:solidFill>
                  <a:srgbClr val="E6EDF7"/>
                </a:solidFill>
                <a:latin typeface="Courier New" pitchFamily="34" charset="0"/>
                <a:ea typeface="Courier New" pitchFamily="34" charset="-122"/>
                <a:cs typeface="Courier New" pitchFamily="34" charset="-120"/>
              </a:rPr>
              <a:t>, TMN_CODE);</a:t>
            </a:r>
            <a:endParaRPr lang="en-US" sz="980" dirty="0"/>
          </a:p>
        </p:txBody>
      </p:sp>
      <p:sp>
        <p:nvSpPr>
          <p:cNvPr id="17" name="Shape 15"/>
          <p:cNvSpPr/>
          <p:nvPr/>
        </p:nvSpPr>
        <p:spPr>
          <a:xfrm>
            <a:off x="660380" y="3685306"/>
            <a:ext cx="6482456" cy="191841"/>
          </a:xfrm>
          <a:prstGeom prst="rect">
            <a:avLst/>
          </a:prstGeom>
          <a:solidFill>
            <a:srgbClr val="FFD479">
              <a:alpha val="13000"/>
            </a:srgbClr>
          </a:solidFill>
          <a:ln/>
        </p:spPr>
      </p:sp>
      <p:sp>
        <p:nvSpPr>
          <p:cNvPr id="18" name="Shape 16"/>
          <p:cNvSpPr/>
          <p:nvPr/>
        </p:nvSpPr>
        <p:spPr>
          <a:xfrm>
            <a:off x="660380" y="3685306"/>
            <a:ext cx="31730" cy="191841"/>
          </a:xfrm>
          <a:prstGeom prst="rect">
            <a:avLst/>
          </a:prstGeom>
          <a:solidFill>
            <a:srgbClr val="FFD479"/>
          </a:solidFill>
          <a:ln/>
        </p:spPr>
      </p:sp>
      <p:sp>
        <p:nvSpPr>
          <p:cNvPr id="19" name="Text 17"/>
          <p:cNvSpPr txBox="1"/>
          <p:nvPr/>
        </p:nvSpPr>
        <p:spPr>
          <a:xfrm>
            <a:off x="907999" y="3703229"/>
            <a:ext cx="4253423"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"vnp_Amount"</a:t>
            </a:r>
            <a:pPr algn="l" indent="0" marL="0">
              <a:buNone/>
            </a:pPr>
            <a:r>
              <a:rPr lang="en-US" sz="980" dirty="0">
                <a:solidFill>
                  <a:srgbClr val="E6EDF7"/>
                </a:solidFill>
                <a:latin typeface="Courier New" pitchFamily="34" charset="0"/>
                <a:ea typeface="Courier New" pitchFamily="34" charset="-122"/>
                <a:cs typeface="Courier New" pitchFamily="34" charset="-120"/>
              </a:rPr>
              <a:t>, String.valueOf(amount * 100));</a:t>
            </a:r>
            <a:endParaRPr lang="en-US" sz="980" dirty="0"/>
          </a:p>
        </p:txBody>
      </p:sp>
      <p:sp>
        <p:nvSpPr>
          <p:cNvPr id="20" name="Text 18"/>
          <p:cNvSpPr txBox="1"/>
          <p:nvPr/>
        </p:nvSpPr>
        <p:spPr>
          <a:xfrm>
            <a:off x="907999" y="3895161"/>
            <a:ext cx="2599365"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"vnp_CurrCode"</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"VND"</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1" name="Shape 19"/>
          <p:cNvSpPr/>
          <p:nvPr/>
        </p:nvSpPr>
        <p:spPr>
          <a:xfrm>
            <a:off x="660380" y="4069080"/>
            <a:ext cx="6482456" cy="191841"/>
          </a:xfrm>
          <a:prstGeom prst="rect">
            <a:avLst/>
          </a:prstGeom>
          <a:solidFill>
            <a:srgbClr val="FFD479">
              <a:alpha val="13000"/>
            </a:srgbClr>
          </a:solidFill>
          <a:ln/>
        </p:spPr>
      </p:sp>
      <p:sp>
        <p:nvSpPr>
          <p:cNvPr id="22" name="Shape 20"/>
          <p:cNvSpPr/>
          <p:nvPr/>
        </p:nvSpPr>
        <p:spPr>
          <a:xfrm>
            <a:off x="660380" y="4069080"/>
            <a:ext cx="31730" cy="191841"/>
          </a:xfrm>
          <a:prstGeom prst="rect">
            <a:avLst/>
          </a:prstGeom>
          <a:solidFill>
            <a:srgbClr val="FFD479"/>
          </a:solidFill>
          <a:ln/>
        </p:spPr>
      </p:sp>
      <p:sp>
        <p:nvSpPr>
          <p:cNvPr id="23" name="Text 21"/>
          <p:cNvSpPr txBox="1"/>
          <p:nvPr/>
        </p:nvSpPr>
        <p:spPr>
          <a:xfrm>
            <a:off x="907999" y="4087002"/>
            <a:ext cx="252072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"vnp_TxnRef"</a:t>
            </a:r>
            <a:pPr algn="l" indent="0" marL="0">
              <a:buNone/>
            </a:pPr>
            <a:r>
              <a:rPr lang="en-US" sz="980" dirty="0">
                <a:solidFill>
                  <a:srgbClr val="E6EDF7"/>
                </a:solidFill>
                <a:latin typeface="Courier New" pitchFamily="34" charset="0"/>
                <a:ea typeface="Courier New" pitchFamily="34" charset="-122"/>
                <a:cs typeface="Courier New" pitchFamily="34" charset="-120"/>
              </a:rPr>
              <a:t>, txnRef);</a:t>
            </a:r>
            <a:endParaRPr lang="en-US" sz="980" dirty="0"/>
          </a:p>
        </p:txBody>
      </p:sp>
      <p:sp>
        <p:nvSpPr>
          <p:cNvPr id="24" name="Text 22"/>
          <p:cNvSpPr txBox="1"/>
          <p:nvPr/>
        </p:nvSpPr>
        <p:spPr>
          <a:xfrm>
            <a:off x="907999" y="4278935"/>
            <a:ext cx="299310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"vnp_OrderInfo"</a:t>
            </a:r>
            <a:pPr algn="l" indent="0" marL="0">
              <a:buNone/>
            </a:pPr>
            <a:r>
              <a:rPr lang="en-US" sz="980" dirty="0">
                <a:solidFill>
                  <a:srgbClr val="E6EDF7"/>
                </a:solidFill>
                <a:latin typeface="Courier New" pitchFamily="34" charset="0"/>
                <a:ea typeface="Courier New" pitchFamily="34" charset="-122"/>
                <a:cs typeface="Courier New" pitchFamily="34" charset="-120"/>
              </a:rPr>
              <a:t>, orderInfo);</a:t>
            </a:r>
            <a:endParaRPr lang="en-US" sz="980" dirty="0"/>
          </a:p>
        </p:txBody>
      </p:sp>
      <p:sp>
        <p:nvSpPr>
          <p:cNvPr id="25" name="Text 23"/>
          <p:cNvSpPr txBox="1"/>
          <p:nvPr/>
        </p:nvSpPr>
        <p:spPr>
          <a:xfrm>
            <a:off x="907999" y="4470776"/>
            <a:ext cx="283564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"vnp_OrderType"</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"other"</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6" name="Text 24"/>
          <p:cNvSpPr txBox="1"/>
          <p:nvPr/>
        </p:nvSpPr>
        <p:spPr>
          <a:xfrm>
            <a:off x="907999" y="4662708"/>
            <a:ext cx="2363175"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"vnp_Locale"</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"vn"</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7" name="Shape 25"/>
          <p:cNvSpPr/>
          <p:nvPr/>
        </p:nvSpPr>
        <p:spPr>
          <a:xfrm>
            <a:off x="660380" y="4836627"/>
            <a:ext cx="6482456" cy="191841"/>
          </a:xfrm>
          <a:prstGeom prst="rect">
            <a:avLst/>
          </a:prstGeom>
          <a:solidFill>
            <a:srgbClr val="FFD479">
              <a:alpha val="13000"/>
            </a:srgbClr>
          </a:solidFill>
          <a:ln/>
        </p:spPr>
      </p:sp>
      <p:sp>
        <p:nvSpPr>
          <p:cNvPr id="28" name="Shape 26"/>
          <p:cNvSpPr/>
          <p:nvPr/>
        </p:nvSpPr>
        <p:spPr>
          <a:xfrm>
            <a:off x="660380" y="4836627"/>
            <a:ext cx="31730" cy="191841"/>
          </a:xfrm>
          <a:prstGeom prst="rect">
            <a:avLst/>
          </a:prstGeom>
          <a:solidFill>
            <a:srgbClr val="FFD479"/>
          </a:solidFill>
          <a:ln/>
        </p:spPr>
      </p:sp>
      <p:sp>
        <p:nvSpPr>
          <p:cNvPr id="29" name="Text 27"/>
          <p:cNvSpPr txBox="1"/>
          <p:nvPr/>
        </p:nvSpPr>
        <p:spPr>
          <a:xfrm>
            <a:off x="907999" y="4854550"/>
            <a:ext cx="3071927"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"vnp_ReturnUrl"</a:t>
            </a:r>
            <a:pPr algn="l" indent="0" marL="0">
              <a:buNone/>
            </a:pPr>
            <a:r>
              <a:rPr lang="en-US" sz="980" dirty="0">
                <a:solidFill>
                  <a:srgbClr val="E6EDF7"/>
                </a:solidFill>
                <a:latin typeface="Courier New" pitchFamily="34" charset="0"/>
                <a:ea typeface="Courier New" pitchFamily="34" charset="-122"/>
                <a:cs typeface="Courier New" pitchFamily="34" charset="-120"/>
              </a:rPr>
              <a:t>, RETURN_URL);</a:t>
            </a:r>
            <a:endParaRPr lang="en-US" sz="980" dirty="0"/>
          </a:p>
        </p:txBody>
      </p:sp>
      <p:sp>
        <p:nvSpPr>
          <p:cNvPr id="30" name="Text 28"/>
          <p:cNvSpPr txBox="1"/>
          <p:nvPr/>
        </p:nvSpPr>
        <p:spPr>
          <a:xfrm>
            <a:off x="907999" y="5046482"/>
            <a:ext cx="2914559"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"vnp_IpAddr"</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"127.0.0.1"</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31" name="Text 29"/>
          <p:cNvSpPr txBox="1"/>
          <p:nvPr/>
        </p:nvSpPr>
        <p:spPr>
          <a:xfrm>
            <a:off x="907999" y="5238323"/>
            <a:ext cx="3150657"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"vnp_CreateDate"</a:t>
            </a:r>
            <a:pPr algn="l" indent="0" marL="0">
              <a:buNone/>
            </a:pPr>
            <a:r>
              <a:rPr lang="en-US" sz="980" dirty="0">
                <a:solidFill>
                  <a:srgbClr val="E6EDF7"/>
                </a:solidFill>
                <a:latin typeface="Courier New" pitchFamily="34" charset="0"/>
                <a:ea typeface="Courier New" pitchFamily="34" charset="-122"/>
                <a:cs typeface="Courier New" pitchFamily="34" charset="-120"/>
              </a:rPr>
              <a:t>, createDate);</a:t>
            </a:r>
            <a:endParaRPr lang="en-US" sz="980" dirty="0"/>
          </a:p>
        </p:txBody>
      </p:sp>
      <p:sp>
        <p:nvSpPr>
          <p:cNvPr id="32" name="Shape 30"/>
          <p:cNvSpPr/>
          <p:nvPr/>
        </p:nvSpPr>
        <p:spPr>
          <a:xfrm>
            <a:off x="660380" y="5412242"/>
            <a:ext cx="6482456" cy="191841"/>
          </a:xfrm>
          <a:prstGeom prst="rect">
            <a:avLst/>
          </a:prstGeom>
          <a:solidFill>
            <a:srgbClr val="FFD479">
              <a:alpha val="13000"/>
            </a:srgbClr>
          </a:solidFill>
          <a:ln/>
        </p:spPr>
      </p:sp>
      <p:sp>
        <p:nvSpPr>
          <p:cNvPr id="33" name="Shape 31"/>
          <p:cNvSpPr/>
          <p:nvPr/>
        </p:nvSpPr>
        <p:spPr>
          <a:xfrm>
            <a:off x="660380" y="5412242"/>
            <a:ext cx="31730" cy="191841"/>
          </a:xfrm>
          <a:prstGeom prst="rect">
            <a:avLst/>
          </a:prstGeom>
          <a:solidFill>
            <a:srgbClr val="FFD479"/>
          </a:solidFill>
          <a:ln/>
        </p:spPr>
      </p:sp>
      <p:sp>
        <p:nvSpPr>
          <p:cNvPr id="34" name="Text 32"/>
          <p:cNvSpPr txBox="1"/>
          <p:nvPr/>
        </p:nvSpPr>
        <p:spPr>
          <a:xfrm>
            <a:off x="907999" y="5430256"/>
            <a:ext cx="488353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p.put(</a:t>
            </a:r>
            <a:pPr algn="l" indent="0" marL="0">
              <a:buNone/>
            </a:pPr>
            <a:r>
              <a:rPr lang="en-US" sz="980" dirty="0">
                <a:solidFill>
                  <a:srgbClr val="9BE3B4"/>
                </a:solidFill>
                <a:latin typeface="Courier New" pitchFamily="34" charset="0"/>
                <a:ea typeface="Courier New" pitchFamily="34" charset="-122"/>
                <a:cs typeface="Courier New" pitchFamily="34" charset="-120"/>
              </a:rPr>
              <a:t>"vnp_ExpireDate"</a:t>
            </a:r>
            <a:pPr algn="l" indent="0" marL="0">
              <a:buNone/>
            </a:pPr>
            <a:r>
              <a:rPr lang="en-US" sz="980" dirty="0">
                <a:solidFill>
                  <a:srgbClr val="E6EDF7"/>
                </a:solidFill>
                <a:latin typeface="Courier New" pitchFamily="34" charset="0"/>
                <a:ea typeface="Courier New" pitchFamily="34" charset="-122"/>
                <a:cs typeface="Courier New" pitchFamily="34" charset="-120"/>
              </a:rPr>
              <a:t>, now.plusMinutes(15).format(TIME));</a:t>
            </a:r>
            <a:endParaRPr lang="en-US" sz="980" dirty="0"/>
          </a:p>
        </p:txBody>
      </p:sp>
      <p:sp>
        <p:nvSpPr>
          <p:cNvPr id="35" name="Text 33"/>
          <p:cNvSpPr txBox="1"/>
          <p:nvPr/>
        </p:nvSpPr>
        <p:spPr>
          <a:xfrm>
            <a:off x="907999" y="5622097"/>
            <a:ext cx="6380135"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if</a:t>
            </a:r>
            <a:pPr algn="l" indent="0" marL="0">
              <a:buNone/>
            </a:pPr>
            <a:r>
              <a:rPr lang="en-US" sz="980" dirty="0">
                <a:solidFill>
                  <a:srgbClr val="E6EDF7"/>
                </a:solidFill>
                <a:latin typeface="Courier New" pitchFamily="34" charset="0"/>
                <a:ea typeface="Courier New" pitchFamily="34" charset="-122"/>
                <a:cs typeface="Courier New" pitchFamily="34" charset="-120"/>
              </a:rPr>
              <a:t> (bankCode != </a:t>
            </a:r>
            <a:pPr algn="l" indent="0" marL="0">
              <a:buNone/>
            </a:pPr>
            <a:r>
              <a:rPr lang="en-US" sz="980" dirty="0">
                <a:solidFill>
                  <a:srgbClr val="7FC2FF"/>
                </a:solidFill>
                <a:latin typeface="Courier New" pitchFamily="34" charset="0"/>
                <a:ea typeface="Courier New" pitchFamily="34" charset="-122"/>
                <a:cs typeface="Courier New" pitchFamily="34" charset="-120"/>
              </a:rPr>
              <a:t>null</a:t>
            </a:r>
            <a:pPr algn="l" indent="0" marL="0">
              <a:buNone/>
            </a:pPr>
            <a:r>
              <a:rPr lang="en-US" sz="980" dirty="0">
                <a:solidFill>
                  <a:srgbClr val="E6EDF7"/>
                </a:solidFill>
                <a:latin typeface="Courier New" pitchFamily="34" charset="0"/>
                <a:ea typeface="Courier New" pitchFamily="34" charset="-122"/>
                <a:cs typeface="Courier New" pitchFamily="34" charset="-120"/>
              </a:rPr>
              <a:t> &amp;&amp; !bankCode.isBlank()) p.put(</a:t>
            </a:r>
            <a:pPr algn="l" indent="0" marL="0">
              <a:buNone/>
            </a:pPr>
            <a:r>
              <a:rPr lang="en-US" sz="980" dirty="0">
                <a:solidFill>
                  <a:srgbClr val="9BE3B4"/>
                </a:solidFill>
                <a:latin typeface="Courier New" pitchFamily="34" charset="0"/>
                <a:ea typeface="Courier New" pitchFamily="34" charset="-122"/>
                <a:cs typeface="Courier New" pitchFamily="34" charset="-120"/>
              </a:rPr>
              <a:t>"vnp_BankCode"</a:t>
            </a:r>
            <a:pPr algn="l" indent="0" marL="0">
              <a:buNone/>
            </a:pPr>
            <a:r>
              <a:rPr lang="en-US" sz="980" dirty="0">
                <a:solidFill>
                  <a:srgbClr val="E6EDF7"/>
                </a:solidFill>
                <a:latin typeface="Courier New" pitchFamily="34" charset="0"/>
                <a:ea typeface="Courier New" pitchFamily="34" charset="-122"/>
                <a:cs typeface="Courier New" pitchFamily="34" charset="-120"/>
              </a:rPr>
              <a:t>, bankCode);</a:t>
            </a:r>
            <a:endParaRPr lang="en-US" sz="980" dirty="0"/>
          </a:p>
        </p:txBody>
      </p:sp>
      <p:sp>
        <p:nvSpPr>
          <p:cNvPr id="36" name="Shape 34"/>
          <p:cNvSpPr/>
          <p:nvPr/>
        </p:nvSpPr>
        <p:spPr>
          <a:xfrm>
            <a:off x="7346107" y="1347368"/>
            <a:ext cx="4185209" cy="2019270"/>
          </a:xfrm>
          <a:prstGeom prst="roundRect">
            <a:avLst>
              <a:gd name="adj" fmla="val 4402"/>
            </a:avLst>
          </a:prstGeom>
          <a:solidFill>
            <a:srgbClr val="FFFFFF"/>
          </a:solidFill>
          <a:ln w="6350">
            <a:solidFill>
              <a:srgbClr val="E3E6EA"/>
            </a:solidFill>
            <a:prstDash val="solid"/>
          </a:ln>
        </p:spPr>
      </p:sp>
      <p:sp>
        <p:nvSpPr>
          <p:cNvPr id="37" name="Text 35"/>
          <p:cNvSpPr txBox="1"/>
          <p:nvPr/>
        </p:nvSpPr>
        <p:spPr>
          <a:xfrm>
            <a:off x="7517557" y="1509674"/>
            <a:ext cx="499811" cy="228600"/>
          </a:xfrm>
          <a:prstGeom prst="rect">
            <a:avLst/>
          </a:prstGeom>
          <a:noFill/>
          <a:ln/>
        </p:spPr>
        <p:txBody>
          <a:bodyPr wrap="square" lIns="0" tIns="0" rIns="0" bIns="0" rtlCol="0" anchor="ctr"/>
          <a:lstStyle/>
          <a:p>
            <a:pPr algn="l" indent="0" marL="0">
              <a:buNone/>
            </a:pPr>
            <a:r>
              <a:rPr lang="en-US" sz="1200" b="1" dirty="0">
                <a:solidFill>
                  <a:srgbClr val="0066FF"/>
                </a:solidFill>
                <a:latin typeface="Arial" pitchFamily="34" charset="0"/>
                <a:ea typeface="Arial" pitchFamily="34" charset="-122"/>
                <a:cs typeface="Arial" pitchFamily="34" charset="-120"/>
              </a:rPr>
              <a:t>Lưu ý</a:t>
            </a:r>
            <a:endParaRPr lang="en-US" sz="1200" dirty="0"/>
          </a:p>
        </p:txBody>
      </p:sp>
      <p:sp>
        <p:nvSpPr>
          <p:cNvPr id="38" name="Shape 36"/>
          <p:cNvSpPr/>
          <p:nvPr/>
        </p:nvSpPr>
        <p:spPr>
          <a:xfrm>
            <a:off x="7555596" y="1892717"/>
            <a:ext cx="63459" cy="63459"/>
          </a:xfrm>
          <a:prstGeom prst="ellipse">
            <a:avLst/>
          </a:prstGeom>
          <a:solidFill>
            <a:srgbClr val="0066FF"/>
          </a:solidFill>
          <a:ln/>
        </p:spPr>
      </p:sp>
      <p:sp>
        <p:nvSpPr>
          <p:cNvPr id="39" name="Text 37"/>
          <p:cNvSpPr txBox="1"/>
          <p:nvPr/>
        </p:nvSpPr>
        <p:spPr>
          <a:xfrm>
            <a:off x="7733447" y="1801734"/>
            <a:ext cx="3013862" cy="228600"/>
          </a:xfrm>
          <a:prstGeom prst="rect">
            <a:avLst/>
          </a:prstGeom>
          <a:noFill/>
          <a:ln/>
        </p:spPr>
        <p:txBody>
          <a:bodyPr wrap="square" lIns="0" tIns="0" rIns="0" bIns="0" rtlCol="0" anchor="ctr"/>
          <a:lstStyle/>
          <a:p>
            <a:pPr algn="l" indent="0" marL="0">
              <a:buNone/>
            </a:pPr>
            <a:r>
              <a:rPr lang="en-US" sz="1200" dirty="0">
                <a:solidFill>
                  <a:srgbClr val="3F454D"/>
                </a:solidFill>
                <a:latin typeface="Arial" pitchFamily="34" charset="0"/>
                <a:ea typeface="Arial" pitchFamily="34" charset="-122"/>
                <a:cs typeface="Arial" pitchFamily="34" charset="-120"/>
              </a:rPr>
              <a:t>Lưu đơn trạng thái PENDING trước khi ký</a:t>
            </a:r>
            <a:endParaRPr lang="en-US" sz="1200" dirty="0"/>
          </a:p>
        </p:txBody>
      </p:sp>
      <p:sp>
        <p:nvSpPr>
          <p:cNvPr id="40" name="Shape 38"/>
          <p:cNvSpPr/>
          <p:nvPr/>
        </p:nvSpPr>
        <p:spPr>
          <a:xfrm>
            <a:off x="7555596" y="2184776"/>
            <a:ext cx="63459" cy="63459"/>
          </a:xfrm>
          <a:prstGeom prst="ellipse">
            <a:avLst/>
          </a:prstGeom>
          <a:solidFill>
            <a:srgbClr val="0066FF"/>
          </a:solidFill>
          <a:ln/>
        </p:spPr>
      </p:sp>
      <p:sp>
        <p:nvSpPr>
          <p:cNvPr id="41" name="Text 39"/>
          <p:cNvSpPr txBox="1"/>
          <p:nvPr/>
        </p:nvSpPr>
        <p:spPr>
          <a:xfrm>
            <a:off x="7733447" y="2093885"/>
            <a:ext cx="3589111" cy="228600"/>
          </a:xfrm>
          <a:prstGeom prst="rect">
            <a:avLst/>
          </a:prstGeom>
          <a:noFill/>
          <a:ln/>
        </p:spPr>
        <p:txBody>
          <a:bodyPr wrap="square" lIns="0" tIns="0" rIns="0" bIns="0" rtlCol="0" anchor="ctr"/>
          <a:lstStyle/>
          <a:p>
            <a:pPr algn="l" indent="0" marL="0">
              <a:buNone/>
            </a:pPr>
            <a:r>
              <a:rPr lang="en-US" sz="1200" dirty="0">
                <a:solidFill>
                  <a:srgbClr val="3F454D"/>
                </a:solidFill>
                <a:latin typeface="Arial" pitchFamily="34" charset="0"/>
                <a:ea typeface="Arial" pitchFamily="34" charset="-122"/>
                <a:cs typeface="Arial" pitchFamily="34" charset="-120"/>
              </a:rPr>
              <a:t>Số tiền phải nhân 100: 25.000đ gửi đi là </a:t>
            </a:r>
            <a:pPr algn="l" indent="0" marL="0">
              <a:buNone/>
            </a:pPr>
            <a:r>
              <a:rPr lang="en-US" sz="1200" dirty="0">
                <a:solidFill>
                  <a:srgbClr val="3F454D"/>
                </a:solidFill>
                <a:latin typeface="Courier New" pitchFamily="34" charset="0"/>
                <a:ea typeface="Courier New" pitchFamily="34" charset="-122"/>
                <a:cs typeface="Courier New" pitchFamily="34" charset="-120"/>
              </a:rPr>
              <a:t>2500000</a:t>
            </a:r>
            <a:endParaRPr lang="en-US" sz="1200" dirty="0"/>
          </a:p>
        </p:txBody>
      </p:sp>
      <p:sp>
        <p:nvSpPr>
          <p:cNvPr id="42" name="Shape 40"/>
          <p:cNvSpPr/>
          <p:nvPr/>
        </p:nvSpPr>
        <p:spPr>
          <a:xfrm>
            <a:off x="7555596" y="2489545"/>
            <a:ext cx="63459" cy="63459"/>
          </a:xfrm>
          <a:prstGeom prst="ellipse">
            <a:avLst/>
          </a:prstGeom>
          <a:solidFill>
            <a:srgbClr val="0066FF"/>
          </a:solidFill>
          <a:ln/>
        </p:spPr>
      </p:sp>
      <p:sp>
        <p:nvSpPr>
          <p:cNvPr id="43" name="Text 41"/>
          <p:cNvSpPr txBox="1"/>
          <p:nvPr/>
        </p:nvSpPr>
        <p:spPr>
          <a:xfrm>
            <a:off x="7733447" y="2398654"/>
            <a:ext cx="3024652"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vnp_TxnRef</a:t>
            </a:r>
            <a:pPr algn="l" indent="0" marL="0">
              <a:buNone/>
            </a:pPr>
            <a:r>
              <a:rPr lang="en-US" sz="1200" dirty="0">
                <a:solidFill>
                  <a:srgbClr val="3F454D"/>
                </a:solidFill>
                <a:latin typeface="Arial" pitchFamily="34" charset="0"/>
                <a:ea typeface="Arial" pitchFamily="34" charset="-122"/>
                <a:cs typeface="Arial" pitchFamily="34" charset="-120"/>
              </a:rPr>
              <a:t> không được trùng trong 24h</a:t>
            </a:r>
            <a:endParaRPr lang="en-US" sz="1200" dirty="0"/>
          </a:p>
        </p:txBody>
      </p:sp>
      <p:sp>
        <p:nvSpPr>
          <p:cNvPr id="44" name="Shape 42"/>
          <p:cNvSpPr/>
          <p:nvPr/>
        </p:nvSpPr>
        <p:spPr>
          <a:xfrm>
            <a:off x="7555596" y="2794315"/>
            <a:ext cx="63459" cy="63459"/>
          </a:xfrm>
          <a:prstGeom prst="ellipse">
            <a:avLst/>
          </a:prstGeom>
          <a:solidFill>
            <a:srgbClr val="0066FF"/>
          </a:solidFill>
          <a:ln/>
        </p:spPr>
      </p:sp>
      <p:sp>
        <p:nvSpPr>
          <p:cNvPr id="45" name="Text 43"/>
          <p:cNvSpPr txBox="1"/>
          <p:nvPr/>
        </p:nvSpPr>
        <p:spPr>
          <a:xfrm>
            <a:off x="7733447" y="2703424"/>
            <a:ext cx="2576871"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RETURN_URL</a:t>
            </a:r>
            <a:pPr algn="l" indent="0" marL="0">
              <a:buNone/>
            </a:pPr>
            <a:r>
              <a:rPr lang="en-US" sz="1200" dirty="0">
                <a:solidFill>
                  <a:srgbClr val="3F454D"/>
                </a:solidFill>
                <a:latin typeface="Arial" pitchFamily="34" charset="0"/>
                <a:ea typeface="Arial" pitchFamily="34" charset="-122"/>
                <a:cs typeface="Arial" pitchFamily="34" charset="-120"/>
              </a:rPr>
              <a:t> lát đổi sang link ngrok</a:t>
            </a:r>
            <a:endParaRPr lang="en-US" sz="1200" dirty="0"/>
          </a:p>
        </p:txBody>
      </p:sp>
      <p:sp>
        <p:nvSpPr>
          <p:cNvPr id="46" name="Shape 44"/>
          <p:cNvSpPr/>
          <p:nvPr/>
        </p:nvSpPr>
        <p:spPr>
          <a:xfrm>
            <a:off x="7555596" y="3099176"/>
            <a:ext cx="63459" cy="63459"/>
          </a:xfrm>
          <a:prstGeom prst="ellipse">
            <a:avLst/>
          </a:prstGeom>
          <a:solidFill>
            <a:srgbClr val="0066FF"/>
          </a:solidFill>
          <a:ln/>
        </p:spPr>
      </p:sp>
      <p:sp>
        <p:nvSpPr>
          <p:cNvPr id="47" name="Text 45"/>
          <p:cNvSpPr txBox="1"/>
          <p:nvPr/>
        </p:nvSpPr>
        <p:spPr>
          <a:xfrm>
            <a:off x="7733447" y="3008193"/>
            <a:ext cx="2577785" cy="228600"/>
          </a:xfrm>
          <a:prstGeom prst="rect">
            <a:avLst/>
          </a:prstGeom>
          <a:noFill/>
          <a:ln/>
        </p:spPr>
        <p:txBody>
          <a:bodyPr wrap="square" lIns="0" tIns="0" rIns="0" bIns="0" rtlCol="0" anchor="ctr"/>
          <a:lstStyle/>
          <a:p>
            <a:pPr algn="l" indent="0" marL="0">
              <a:buNone/>
            </a:pPr>
            <a:r>
              <a:rPr lang="en-US" sz="1200" dirty="0">
                <a:solidFill>
                  <a:srgbClr val="3F454D"/>
                </a:solidFill>
                <a:latin typeface="Arial" pitchFamily="34" charset="0"/>
                <a:ea typeface="Arial" pitchFamily="34" charset="-122"/>
                <a:cs typeface="Arial" pitchFamily="34" charset="-120"/>
              </a:rPr>
              <a:t>Link thanh toán hết hạn sau 15 phút</a:t>
            </a:r>
            <a:endParaRPr lang="en-US" sz="1200" dirty="0"/>
          </a:p>
        </p:txBody>
      </p:sp>
      <p:sp>
        <p:nvSpPr>
          <p:cNvPr id="48" name="Text 46"/>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49" name="Text 47"/>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2007565"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2 – Tạo link thanh toán</a:t>
            </a:r>
            <a:endParaRPr lang="en-US" sz="1100" dirty="0"/>
          </a:p>
        </p:txBody>
      </p:sp>
      <p:sp>
        <p:nvSpPr>
          <p:cNvPr id="3" name="Text 1"/>
          <p:cNvSpPr txBox="1"/>
          <p:nvPr/>
        </p:nvSpPr>
        <p:spPr>
          <a:xfrm>
            <a:off x="660380" y="643829"/>
            <a:ext cx="649032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TODO 5 – Hàm createPayment (2/2)</a:t>
            </a:r>
            <a:endParaRPr lang="en-US" sz="3000" dirty="0"/>
          </a:p>
        </p:txBody>
      </p:sp>
      <p:sp>
        <p:nvSpPr>
          <p:cNvPr id="4" name="Text 2"/>
          <p:cNvSpPr txBox="1"/>
          <p:nvPr/>
        </p:nvSpPr>
        <p:spPr>
          <a:xfrm>
            <a:off x="660380" y="1358798"/>
            <a:ext cx="2908249"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ShopStart.java (viết tiếp phần trên)</a:t>
            </a:r>
            <a:endParaRPr lang="en-US" sz="1000" dirty="0"/>
          </a:p>
        </p:txBody>
      </p:sp>
      <p:sp>
        <p:nvSpPr>
          <p:cNvPr id="5" name="Shape 3"/>
          <p:cNvSpPr/>
          <p:nvPr/>
        </p:nvSpPr>
        <p:spPr>
          <a:xfrm>
            <a:off x="660380" y="1601389"/>
            <a:ext cx="10870936" cy="1274765"/>
          </a:xfrm>
          <a:prstGeom prst="roundRect">
            <a:avLst>
              <a:gd name="adj" fmla="val 7969"/>
            </a:avLst>
          </a:prstGeom>
          <a:solidFill>
            <a:srgbClr val="0C131E"/>
          </a:solidFill>
          <a:ln/>
        </p:spPr>
      </p:sp>
      <p:sp>
        <p:nvSpPr>
          <p:cNvPr id="6" name="Shape 4"/>
          <p:cNvSpPr/>
          <p:nvPr/>
        </p:nvSpPr>
        <p:spPr>
          <a:xfrm>
            <a:off x="660380" y="1766438"/>
            <a:ext cx="10870936" cy="236098"/>
          </a:xfrm>
          <a:prstGeom prst="rect">
            <a:avLst/>
          </a:prstGeom>
          <a:solidFill>
            <a:srgbClr val="FFD479">
              <a:alpha val="13000"/>
            </a:srgbClr>
          </a:solidFill>
          <a:ln/>
        </p:spPr>
      </p:sp>
      <p:sp>
        <p:nvSpPr>
          <p:cNvPr id="7" name="Shape 5"/>
          <p:cNvSpPr/>
          <p:nvPr/>
        </p:nvSpPr>
        <p:spPr>
          <a:xfrm>
            <a:off x="660380" y="1766438"/>
            <a:ext cx="31730" cy="236098"/>
          </a:xfrm>
          <a:prstGeom prst="rect">
            <a:avLst/>
          </a:prstGeom>
          <a:solidFill>
            <a:srgbClr val="FFD479"/>
          </a:solidFill>
          <a:ln/>
        </p:spPr>
      </p:sp>
      <p:sp>
        <p:nvSpPr>
          <p:cNvPr id="8" name="Text 6"/>
          <p:cNvSpPr txBox="1"/>
          <p:nvPr/>
        </p:nvSpPr>
        <p:spPr>
          <a:xfrm>
            <a:off x="907999" y="1789024"/>
            <a:ext cx="3780770"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String query = buildQueryString(p);</a:t>
            </a:r>
            <a:endParaRPr lang="en-US" sz="1200" dirty="0"/>
          </a:p>
        </p:txBody>
      </p:sp>
      <p:sp>
        <p:nvSpPr>
          <p:cNvPr id="9" name="Shape 7"/>
          <p:cNvSpPr/>
          <p:nvPr/>
        </p:nvSpPr>
        <p:spPr>
          <a:xfrm>
            <a:off x="660380" y="2002536"/>
            <a:ext cx="10870936" cy="236098"/>
          </a:xfrm>
          <a:prstGeom prst="rect">
            <a:avLst/>
          </a:prstGeom>
          <a:solidFill>
            <a:srgbClr val="FFD479">
              <a:alpha val="13000"/>
            </a:srgbClr>
          </a:solidFill>
          <a:ln/>
        </p:spPr>
      </p:sp>
      <p:sp>
        <p:nvSpPr>
          <p:cNvPr id="10" name="Shape 8"/>
          <p:cNvSpPr/>
          <p:nvPr/>
        </p:nvSpPr>
        <p:spPr>
          <a:xfrm>
            <a:off x="660380" y="2002536"/>
            <a:ext cx="31730" cy="236098"/>
          </a:xfrm>
          <a:prstGeom prst="rect">
            <a:avLst/>
          </a:prstGeom>
          <a:solidFill>
            <a:srgbClr val="FFD479"/>
          </a:solidFill>
          <a:ln/>
        </p:spPr>
      </p:sp>
      <p:sp>
        <p:nvSpPr>
          <p:cNvPr id="11" name="Text 9"/>
          <p:cNvSpPr txBox="1"/>
          <p:nvPr/>
        </p:nvSpPr>
        <p:spPr>
          <a:xfrm>
            <a:off x="907999" y="2025213"/>
            <a:ext cx="9015710"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String url = PAY_URL + </a:t>
            </a:r>
            <a:pPr algn="l" indent="0" marL="0">
              <a:buNone/>
            </a:pPr>
            <a:r>
              <a:rPr lang="en-US" sz="1200" dirty="0">
                <a:solidFill>
                  <a:srgbClr val="9BE3B4"/>
                </a:solidFill>
                <a:latin typeface="Courier New" pitchFamily="34" charset="0"/>
                <a:ea typeface="Courier New" pitchFamily="34" charset="-122"/>
                <a:cs typeface="Courier New" pitchFamily="34" charset="-120"/>
              </a:rPr>
              <a:t>"?"</a:t>
            </a:r>
            <a:pPr algn="l" indent="0" marL="0">
              <a:buNone/>
            </a:pPr>
            <a:r>
              <a:rPr lang="en-US" sz="1200" dirty="0">
                <a:solidFill>
                  <a:srgbClr val="E6EDF7"/>
                </a:solidFill>
                <a:latin typeface="Courier New" pitchFamily="34" charset="0"/>
                <a:ea typeface="Courier New" pitchFamily="34" charset="-122"/>
                <a:cs typeface="Courier New" pitchFamily="34" charset="-120"/>
              </a:rPr>
              <a:t> + query + </a:t>
            </a:r>
            <a:pPr algn="l" indent="0" marL="0">
              <a:buNone/>
            </a:pPr>
            <a:r>
              <a:rPr lang="en-US" sz="1200" dirty="0">
                <a:solidFill>
                  <a:srgbClr val="9BE3B4"/>
                </a:solidFill>
                <a:latin typeface="Courier New" pitchFamily="34" charset="0"/>
                <a:ea typeface="Courier New" pitchFamily="34" charset="-122"/>
                <a:cs typeface="Courier New" pitchFamily="34" charset="-120"/>
              </a:rPr>
              <a:t>"&amp;vnp_SecureHash="</a:t>
            </a:r>
            <a:pPr algn="l" indent="0" marL="0">
              <a:buNone/>
            </a:pPr>
            <a:r>
              <a:rPr lang="en-US" sz="1200" dirty="0">
                <a:solidFill>
                  <a:srgbClr val="E6EDF7"/>
                </a:solidFill>
                <a:latin typeface="Courier New" pitchFamily="34" charset="0"/>
                <a:ea typeface="Courier New" pitchFamily="34" charset="-122"/>
                <a:cs typeface="Courier New" pitchFamily="34" charset="-120"/>
              </a:rPr>
              <a:t> + hmacSHA512(HASH_SECRET, query);</a:t>
            </a:r>
            <a:endParaRPr lang="en-US" sz="1200" dirty="0"/>
          </a:p>
        </p:txBody>
      </p:sp>
      <p:sp>
        <p:nvSpPr>
          <p:cNvPr id="12" name="Text 10"/>
          <p:cNvSpPr txBox="1"/>
          <p:nvPr/>
        </p:nvSpPr>
        <p:spPr>
          <a:xfrm>
            <a:off x="907999" y="2261311"/>
            <a:ext cx="7367595"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7FC2FF"/>
                </a:solidFill>
                <a:latin typeface="Courier New" pitchFamily="34" charset="0"/>
                <a:ea typeface="Courier New" pitchFamily="34" charset="-122"/>
                <a:cs typeface="Courier New" pitchFamily="34" charset="-120"/>
              </a:rPr>
              <a:t>return</a:t>
            </a:r>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9BE3B4"/>
                </a:solidFill>
                <a:latin typeface="Courier New" pitchFamily="34" charset="0"/>
                <a:ea typeface="Courier New" pitchFamily="34" charset="-122"/>
                <a:cs typeface="Courier New" pitchFamily="34" charset="-120"/>
              </a:rPr>
              <a:t>"{\"txnRef\":\""</a:t>
            </a:r>
            <a:pPr algn="l" indent="0" marL="0">
              <a:buNone/>
            </a:pPr>
            <a:r>
              <a:rPr lang="en-US" sz="1200" dirty="0">
                <a:solidFill>
                  <a:srgbClr val="E6EDF7"/>
                </a:solidFill>
                <a:latin typeface="Courier New" pitchFamily="34" charset="0"/>
                <a:ea typeface="Courier New" pitchFamily="34" charset="-122"/>
                <a:cs typeface="Courier New" pitchFamily="34" charset="-120"/>
              </a:rPr>
              <a:t> + txnRef + </a:t>
            </a:r>
            <a:pPr algn="l" indent="0" marL="0">
              <a:buNone/>
            </a:pPr>
            <a:r>
              <a:rPr lang="en-US" sz="1200" dirty="0">
                <a:solidFill>
                  <a:srgbClr val="9BE3B4"/>
                </a:solidFill>
                <a:latin typeface="Courier New" pitchFamily="34" charset="0"/>
                <a:ea typeface="Courier New" pitchFamily="34" charset="-122"/>
                <a:cs typeface="Courier New" pitchFamily="34" charset="-120"/>
              </a:rPr>
              <a:t>"\",\"paymentUrl\":\""</a:t>
            </a:r>
            <a:pPr algn="l" indent="0" marL="0">
              <a:buNone/>
            </a:pPr>
            <a:r>
              <a:rPr lang="en-US" sz="1200" dirty="0">
                <a:solidFill>
                  <a:srgbClr val="E6EDF7"/>
                </a:solidFill>
                <a:latin typeface="Courier New" pitchFamily="34" charset="0"/>
                <a:ea typeface="Courier New" pitchFamily="34" charset="-122"/>
                <a:cs typeface="Courier New" pitchFamily="34" charset="-120"/>
              </a:rPr>
              <a:t> + url + </a:t>
            </a:r>
            <a:pPr algn="l" indent="0" marL="0">
              <a:buNone/>
            </a:pPr>
            <a:r>
              <a:rPr lang="en-US" sz="1200" dirty="0">
                <a:solidFill>
                  <a:srgbClr val="9BE3B4"/>
                </a:solidFill>
                <a:latin typeface="Courier New" pitchFamily="34" charset="0"/>
                <a:ea typeface="Courier New" pitchFamily="34" charset="-122"/>
                <a:cs typeface="Courier New" pitchFamily="34" charset="-120"/>
              </a:rPr>
              <a:t>"\"}"</a:t>
            </a:r>
            <a:pPr algn="l" indent="0" marL="0">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13" name="Text 11"/>
          <p:cNvSpPr txBox="1"/>
          <p:nvPr/>
        </p:nvSpPr>
        <p:spPr>
          <a:xfrm>
            <a:off x="907999" y="2497501"/>
            <a:ext cx="167701"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a:t>
            </a:r>
            <a:endParaRPr lang="en-US" sz="1200" dirty="0"/>
          </a:p>
        </p:txBody>
      </p:sp>
      <p:sp>
        <p:nvSpPr>
          <p:cNvPr id="14" name="Text 12"/>
          <p:cNvSpPr txBox="1"/>
          <p:nvPr/>
        </p:nvSpPr>
        <p:spPr>
          <a:xfrm>
            <a:off x="660380" y="3065343"/>
            <a:ext cx="2100468"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Link thanh toán sẽ có dạng</a:t>
            </a:r>
            <a:endParaRPr lang="en-US" sz="1000" dirty="0"/>
          </a:p>
        </p:txBody>
      </p:sp>
      <p:sp>
        <p:nvSpPr>
          <p:cNvPr id="15" name="Shape 13"/>
          <p:cNvSpPr/>
          <p:nvPr/>
        </p:nvSpPr>
        <p:spPr>
          <a:xfrm>
            <a:off x="660380" y="3307842"/>
            <a:ext cx="10870936" cy="1038576"/>
          </a:xfrm>
          <a:prstGeom prst="roundRect">
            <a:avLst>
              <a:gd name="adj" fmla="val 9782"/>
            </a:avLst>
          </a:prstGeom>
          <a:solidFill>
            <a:srgbClr val="0C131E"/>
          </a:solidFill>
          <a:ln/>
        </p:spPr>
      </p:sp>
      <p:sp>
        <p:nvSpPr>
          <p:cNvPr id="16" name="Text 14"/>
          <p:cNvSpPr txBox="1"/>
          <p:nvPr/>
        </p:nvSpPr>
        <p:spPr>
          <a:xfrm>
            <a:off x="907999" y="3495568"/>
            <a:ext cx="4847052"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https://sandbox.vnpayment.vn/paymentv2/vpcpay.html</a:t>
            </a:r>
            <a:endParaRPr lang="en-US" sz="1200" dirty="0"/>
          </a:p>
        </p:txBody>
      </p:sp>
      <p:sp>
        <p:nvSpPr>
          <p:cNvPr id="17" name="Text 15"/>
          <p:cNvSpPr txBox="1"/>
          <p:nvPr/>
        </p:nvSpPr>
        <p:spPr>
          <a:xfrm>
            <a:off x="907999" y="3731666"/>
            <a:ext cx="7076633"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?vnp_Amount=2500000&amp;vnp_Command=pay&amp;...&amp;vnp_TxnRef=20261005101433482913</a:t>
            </a:r>
            <a:endParaRPr lang="en-US" sz="1200" dirty="0"/>
          </a:p>
        </p:txBody>
      </p:sp>
      <p:sp>
        <p:nvSpPr>
          <p:cNvPr id="18" name="Text 16"/>
          <p:cNvSpPr txBox="1"/>
          <p:nvPr/>
        </p:nvSpPr>
        <p:spPr>
          <a:xfrm>
            <a:off x="907999" y="3967856"/>
            <a:ext cx="5137831" cy="236190"/>
          </a:xfrm>
          <a:prstGeom prst="rect">
            <a:avLst/>
          </a:prstGeom>
          <a:noFill/>
          <a:ln/>
        </p:spPr>
        <p:txBody>
          <a:bodyPr wrap="none" lIns="0" tIns="0" rIns="0" bIns="0" rtlCol="0" anchor="ctr"/>
          <a:lstStyle/>
          <a:p>
            <a:pPr algn="l" indent="0" marL="0">
              <a:buNone/>
            </a:pPr>
            <a:r>
              <a:rPr lang="en-US" sz="1200" dirty="0">
                <a:solidFill>
                  <a:srgbClr val="FFD479"/>
                </a:solidFill>
                <a:latin typeface="Courier New" pitchFamily="34" charset="0"/>
                <a:ea typeface="Courier New" pitchFamily="34" charset="-122"/>
                <a:cs typeface="Courier New" pitchFamily="34" charset="-120"/>
              </a:rPr>
              <a:t>  &amp;vnp_SecureHash=98bbf7a165e10ad8527a34f48b43c45d...</a:t>
            </a:r>
            <a:endParaRPr lang="en-US" sz="1200" dirty="0"/>
          </a:p>
        </p:txBody>
      </p:sp>
      <p:sp>
        <p:nvSpPr>
          <p:cNvPr id="19" name="Shape 17"/>
          <p:cNvSpPr/>
          <p:nvPr/>
        </p:nvSpPr>
        <p:spPr>
          <a:xfrm>
            <a:off x="698510" y="4647164"/>
            <a:ext cx="63459" cy="63459"/>
          </a:xfrm>
          <a:prstGeom prst="ellipse">
            <a:avLst/>
          </a:prstGeom>
          <a:solidFill>
            <a:srgbClr val="0066FF"/>
          </a:solidFill>
          <a:ln/>
        </p:spPr>
      </p:sp>
      <p:sp>
        <p:nvSpPr>
          <p:cNvPr id="20" name="Text 18"/>
          <p:cNvSpPr txBox="1"/>
          <p:nvPr/>
        </p:nvSpPr>
        <p:spPr>
          <a:xfrm>
            <a:off x="876270" y="4545300"/>
            <a:ext cx="4764756"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Chữ ký gắn ở cuối link, không nằm trong chuỗi đem đi ký</a:t>
            </a:r>
            <a:endParaRPr lang="en-US" sz="1400" dirty="0"/>
          </a:p>
        </p:txBody>
      </p:sp>
      <p:sp>
        <p:nvSpPr>
          <p:cNvPr id="21" name="Shape 19"/>
          <p:cNvSpPr/>
          <p:nvPr/>
        </p:nvSpPr>
        <p:spPr>
          <a:xfrm>
            <a:off x="698510" y="5002774"/>
            <a:ext cx="63459" cy="63459"/>
          </a:xfrm>
          <a:prstGeom prst="ellipse">
            <a:avLst/>
          </a:prstGeom>
          <a:solidFill>
            <a:srgbClr val="0066FF"/>
          </a:solidFill>
          <a:ln/>
        </p:spPr>
      </p:sp>
      <p:sp>
        <p:nvSpPr>
          <p:cNvPr id="22" name="Text 20"/>
          <p:cNvSpPr txBox="1"/>
          <p:nvPr/>
        </p:nvSpPr>
        <p:spPr>
          <a:xfrm>
            <a:off x="876270" y="4900910"/>
            <a:ext cx="4722419"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Việc ký làm ở server, trang HTML không giữ HashSecret</a:t>
            </a:r>
            <a:endParaRPr lang="en-US" sz="1400" dirty="0"/>
          </a:p>
        </p:txBody>
      </p:sp>
      <p:sp>
        <p:nvSpPr>
          <p:cNvPr id="23" name="Text 21"/>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4" name="Text 22"/>
          <p:cNvSpPr txBox="1"/>
          <p:nvPr/>
        </p:nvSpPr>
        <p:spPr>
          <a:xfrm>
            <a:off x="11406043" y="6472763"/>
            <a:ext cx="201534"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2007565"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2 – Tạo link thanh toán</a:t>
            </a:r>
            <a:endParaRPr lang="en-US" sz="1100" dirty="0"/>
          </a:p>
        </p:txBody>
      </p:sp>
      <p:sp>
        <p:nvSpPr>
          <p:cNvPr id="3" name="Text 1"/>
          <p:cNvSpPr txBox="1"/>
          <p:nvPr/>
        </p:nvSpPr>
        <p:spPr>
          <a:xfrm>
            <a:off x="660380" y="643829"/>
            <a:ext cx="687327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Test lần 1: chuyển được sang VNPAY</a:t>
            </a:r>
            <a:endParaRPr lang="en-US" sz="3000" dirty="0"/>
          </a:p>
        </p:txBody>
      </p:sp>
      <p:sp>
        <p:nvSpPr>
          <p:cNvPr id="4" name="Shape 2"/>
          <p:cNvSpPr/>
          <p:nvPr/>
        </p:nvSpPr>
        <p:spPr>
          <a:xfrm>
            <a:off x="660380" y="1347368"/>
            <a:ext cx="4063868" cy="920709"/>
          </a:xfrm>
          <a:prstGeom prst="roundRect">
            <a:avLst>
              <a:gd name="adj" fmla="val 11034"/>
            </a:avLst>
          </a:prstGeom>
          <a:solidFill>
            <a:srgbClr val="0C131E"/>
          </a:solidFill>
          <a:ln/>
        </p:spPr>
      </p:sp>
      <p:sp>
        <p:nvSpPr>
          <p:cNvPr id="5" name="Text 3"/>
          <p:cNvSpPr txBox="1"/>
          <p:nvPr/>
        </p:nvSpPr>
        <p:spPr>
          <a:xfrm>
            <a:off x="907999" y="1539118"/>
            <a:ext cx="2544684" cy="295260"/>
          </a:xfrm>
          <a:prstGeom prst="rect">
            <a:avLst/>
          </a:prstGeom>
          <a:noFill/>
          <a:ln/>
        </p:spPr>
        <p:txBody>
          <a:bodyPr wrap="none" lIns="0" tIns="0" rIns="0" bIns="0" rtlCol="0" anchor="ctr"/>
          <a:lstStyle/>
          <a:p>
            <a:pPr algn="l" indent="0" marL="0">
              <a:buNone/>
            </a:pPr>
            <a:r>
              <a:rPr lang="en-US" sz="1500" dirty="0">
                <a:solidFill>
                  <a:srgbClr val="7D8CA3"/>
                </a:solidFill>
                <a:latin typeface="Courier New" pitchFamily="34" charset="0"/>
                <a:ea typeface="Courier New" pitchFamily="34" charset="-122"/>
                <a:cs typeface="Courier New" pitchFamily="34" charset="-120"/>
              </a:rPr>
              <a:t># Ctrl+C rồi chạy lại</a:t>
            </a:r>
            <a:endParaRPr lang="en-US" sz="1500" dirty="0"/>
          </a:p>
        </p:txBody>
      </p:sp>
      <p:sp>
        <p:nvSpPr>
          <p:cNvPr id="6" name="Text 4"/>
          <p:cNvSpPr txBox="1"/>
          <p:nvPr/>
        </p:nvSpPr>
        <p:spPr>
          <a:xfrm>
            <a:off x="907999" y="1834378"/>
            <a:ext cx="2302368"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java ShopStart.java</a:t>
            </a:r>
            <a:endParaRPr lang="en-US" sz="1500" dirty="0"/>
          </a:p>
        </p:txBody>
      </p:sp>
      <p:sp>
        <p:nvSpPr>
          <p:cNvPr id="7" name="Shape 5"/>
          <p:cNvSpPr/>
          <p:nvPr/>
        </p:nvSpPr>
        <p:spPr>
          <a:xfrm>
            <a:off x="698510" y="2543404"/>
            <a:ext cx="63459" cy="63459"/>
          </a:xfrm>
          <a:prstGeom prst="ellipse">
            <a:avLst/>
          </a:prstGeom>
          <a:solidFill>
            <a:srgbClr val="0066FF"/>
          </a:solidFill>
          <a:ln/>
        </p:spPr>
      </p:sp>
      <p:sp>
        <p:nvSpPr>
          <p:cNvPr id="8" name="Text 6"/>
          <p:cNvSpPr txBox="1"/>
          <p:nvPr/>
        </p:nvSpPr>
        <p:spPr>
          <a:xfrm>
            <a:off x="876270" y="2441539"/>
            <a:ext cx="1389979"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Bấm Thanh toán</a:t>
            </a:r>
            <a:endParaRPr lang="en-US" sz="1400" dirty="0"/>
          </a:p>
        </p:txBody>
      </p:sp>
      <p:sp>
        <p:nvSpPr>
          <p:cNvPr id="9" name="Shape 7"/>
          <p:cNvSpPr/>
          <p:nvPr/>
        </p:nvSpPr>
        <p:spPr>
          <a:xfrm>
            <a:off x="698510" y="2899014"/>
            <a:ext cx="63459" cy="63459"/>
          </a:xfrm>
          <a:prstGeom prst="ellipse">
            <a:avLst/>
          </a:prstGeom>
          <a:solidFill>
            <a:srgbClr val="0066FF"/>
          </a:solidFill>
          <a:ln/>
        </p:spPr>
      </p:sp>
      <p:sp>
        <p:nvSpPr>
          <p:cNvPr id="10" name="Text 8"/>
          <p:cNvSpPr txBox="1"/>
          <p:nvPr/>
        </p:nvSpPr>
        <p:spPr>
          <a:xfrm>
            <a:off x="876270" y="2797150"/>
            <a:ext cx="4034790"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Trang VNPAY hiện đúng số tiền và mã đơn là ok</a:t>
            </a:r>
            <a:endParaRPr lang="en-US" sz="1400" dirty="0"/>
          </a:p>
        </p:txBody>
      </p:sp>
      <p:sp>
        <p:nvSpPr>
          <p:cNvPr id="11" name="Text 9"/>
          <p:cNvSpPr txBox="1"/>
          <p:nvPr/>
        </p:nvSpPr>
        <p:spPr>
          <a:xfrm>
            <a:off x="4927519" y="1358798"/>
            <a:ext cx="83841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Nếu bị lỗi</a:t>
            </a:r>
            <a:endParaRPr lang="en-US" sz="1000" dirty="0"/>
          </a:p>
        </p:txBody>
      </p:sp>
      <p:sp>
        <p:nvSpPr>
          <p:cNvPr id="12" name="Shape 10"/>
          <p:cNvSpPr/>
          <p:nvPr/>
        </p:nvSpPr>
        <p:spPr>
          <a:xfrm>
            <a:off x="4927519" y="1715689"/>
            <a:ext cx="6603797" cy="2308128"/>
          </a:xfrm>
          <a:prstGeom prst="roundRect">
            <a:avLst>
              <a:gd name="adj" fmla="val 4401"/>
            </a:avLst>
          </a:prstGeom>
          <a:solidFill>
            <a:srgbClr val="FFFFFF"/>
          </a:solidFill>
          <a:ln/>
        </p:spPr>
      </p:sp>
      <p:sp>
        <p:nvSpPr>
          <p:cNvPr id="13" name="Shape 11"/>
          <p:cNvSpPr/>
          <p:nvPr/>
        </p:nvSpPr>
        <p:spPr>
          <a:xfrm>
            <a:off x="4927519" y="1715689"/>
            <a:ext cx="2905689" cy="422270"/>
          </a:xfrm>
          <a:prstGeom prst="rect">
            <a:avLst/>
          </a:prstGeom>
          <a:solidFill>
            <a:srgbClr val="ECF2FF"/>
          </a:solidFill>
          <a:ln/>
        </p:spPr>
      </p:sp>
      <p:sp>
        <p:nvSpPr>
          <p:cNvPr id="14" name="Text 12"/>
          <p:cNvSpPr txBox="1"/>
          <p:nvPr/>
        </p:nvSpPr>
        <p:spPr>
          <a:xfrm>
            <a:off x="5092568" y="1847728"/>
            <a:ext cx="306964"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LỖI</a:t>
            </a:r>
            <a:endParaRPr lang="en-US" sz="1000" dirty="0"/>
          </a:p>
        </p:txBody>
      </p:sp>
      <p:sp>
        <p:nvSpPr>
          <p:cNvPr id="15" name="Shape 13"/>
          <p:cNvSpPr/>
          <p:nvPr/>
        </p:nvSpPr>
        <p:spPr>
          <a:xfrm>
            <a:off x="7833116" y="1715689"/>
            <a:ext cx="3698199" cy="422270"/>
          </a:xfrm>
          <a:prstGeom prst="rect">
            <a:avLst/>
          </a:prstGeom>
          <a:solidFill>
            <a:srgbClr val="ECF2FF"/>
          </a:solidFill>
          <a:ln/>
        </p:spPr>
      </p:sp>
      <p:sp>
        <p:nvSpPr>
          <p:cNvPr id="16" name="Text 14"/>
          <p:cNvSpPr txBox="1"/>
          <p:nvPr/>
        </p:nvSpPr>
        <p:spPr>
          <a:xfrm>
            <a:off x="7998257" y="1847728"/>
            <a:ext cx="1001359"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KIỂM TRA LẠI</a:t>
            </a:r>
            <a:endParaRPr lang="en-US" sz="1000" dirty="0"/>
          </a:p>
        </p:txBody>
      </p:sp>
      <p:sp>
        <p:nvSpPr>
          <p:cNvPr id="17" name="Shape 15"/>
          <p:cNvSpPr/>
          <p:nvPr/>
        </p:nvSpPr>
        <p:spPr>
          <a:xfrm>
            <a:off x="4927519" y="2137867"/>
            <a:ext cx="2905689" cy="6309"/>
          </a:xfrm>
          <a:prstGeom prst="rect">
            <a:avLst/>
          </a:prstGeom>
          <a:solidFill>
            <a:srgbClr val="E3E6EA"/>
          </a:solidFill>
          <a:ln/>
        </p:spPr>
      </p:sp>
      <p:sp>
        <p:nvSpPr>
          <p:cNvPr id="18" name="Text 16"/>
          <p:cNvSpPr txBox="1"/>
          <p:nvPr/>
        </p:nvSpPr>
        <p:spPr>
          <a:xfrm>
            <a:off x="5067148" y="2233879"/>
            <a:ext cx="1686245"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unreachable statement</a:t>
            </a:r>
            <a:endParaRPr lang="en-US" sz="1150" dirty="0"/>
          </a:p>
        </p:txBody>
      </p:sp>
      <p:sp>
        <p:nvSpPr>
          <p:cNvPr id="19" name="Shape 17"/>
          <p:cNvSpPr/>
          <p:nvPr/>
        </p:nvSpPr>
        <p:spPr>
          <a:xfrm>
            <a:off x="7833116" y="2137867"/>
            <a:ext cx="3698199" cy="6309"/>
          </a:xfrm>
          <a:prstGeom prst="rect">
            <a:avLst/>
          </a:prstGeom>
          <a:solidFill>
            <a:srgbClr val="E3E6EA"/>
          </a:solidFill>
          <a:ln/>
        </p:spPr>
      </p:sp>
      <p:sp>
        <p:nvSpPr>
          <p:cNvPr id="20" name="Text 18"/>
          <p:cNvSpPr txBox="1"/>
          <p:nvPr/>
        </p:nvSpPr>
        <p:spPr>
          <a:xfrm>
            <a:off x="7972836" y="2233879"/>
            <a:ext cx="201424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Chưa xoá dòng return có sẵn</a:t>
            </a:r>
            <a:endParaRPr lang="en-US" sz="1150" dirty="0"/>
          </a:p>
        </p:txBody>
      </p:sp>
      <p:sp>
        <p:nvSpPr>
          <p:cNvPr id="21" name="Shape 19"/>
          <p:cNvSpPr/>
          <p:nvPr/>
        </p:nvSpPr>
        <p:spPr>
          <a:xfrm>
            <a:off x="4927519" y="2515697"/>
            <a:ext cx="2905689" cy="6309"/>
          </a:xfrm>
          <a:prstGeom prst="rect">
            <a:avLst/>
          </a:prstGeom>
          <a:solidFill>
            <a:srgbClr val="E3E6EA"/>
          </a:solidFill>
          <a:ln/>
        </p:spPr>
      </p:sp>
      <p:sp>
        <p:nvSpPr>
          <p:cNvPr id="22" name="Text 20"/>
          <p:cNvSpPr txBox="1"/>
          <p:nvPr/>
        </p:nvSpPr>
        <p:spPr>
          <a:xfrm>
            <a:off x="5067148" y="2611709"/>
            <a:ext cx="815279"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Sai chữ ký</a:t>
            </a:r>
            <a:endParaRPr lang="en-US" sz="1150" dirty="0"/>
          </a:p>
        </p:txBody>
      </p:sp>
      <p:sp>
        <p:nvSpPr>
          <p:cNvPr id="23" name="Shape 21"/>
          <p:cNvSpPr/>
          <p:nvPr/>
        </p:nvSpPr>
        <p:spPr>
          <a:xfrm>
            <a:off x="7833116" y="2515697"/>
            <a:ext cx="3698199" cy="6309"/>
          </a:xfrm>
          <a:prstGeom prst="rect">
            <a:avLst/>
          </a:prstGeom>
          <a:solidFill>
            <a:srgbClr val="E3E6EA"/>
          </a:solidFill>
          <a:ln/>
        </p:spPr>
      </p:sp>
      <p:sp>
        <p:nvSpPr>
          <p:cNvPr id="24" name="Text 22"/>
          <p:cNvSpPr txBox="1"/>
          <p:nvPr/>
        </p:nvSpPr>
        <p:spPr>
          <a:xfrm>
            <a:off x="7972836" y="2611709"/>
            <a:ext cx="292717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HashSecret, hoặc quên encode ở TODO 3</a:t>
            </a:r>
            <a:endParaRPr lang="en-US" sz="1150" dirty="0"/>
          </a:p>
        </p:txBody>
      </p:sp>
      <p:sp>
        <p:nvSpPr>
          <p:cNvPr id="25" name="Shape 23"/>
          <p:cNvSpPr/>
          <p:nvPr/>
        </p:nvSpPr>
        <p:spPr>
          <a:xfrm>
            <a:off x="4927519" y="2893527"/>
            <a:ext cx="2905689" cy="6309"/>
          </a:xfrm>
          <a:prstGeom prst="rect">
            <a:avLst/>
          </a:prstGeom>
          <a:solidFill>
            <a:srgbClr val="E3E6EA"/>
          </a:solidFill>
          <a:ln/>
        </p:spPr>
      </p:sp>
      <p:sp>
        <p:nvSpPr>
          <p:cNvPr id="26" name="Text 24"/>
          <p:cNvSpPr txBox="1"/>
          <p:nvPr/>
        </p:nvSpPr>
        <p:spPr>
          <a:xfrm>
            <a:off x="5067148" y="2989539"/>
            <a:ext cx="1605504"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Website không tồn tại</a:t>
            </a:r>
            <a:endParaRPr lang="en-US" sz="1150" dirty="0"/>
          </a:p>
        </p:txBody>
      </p:sp>
      <p:sp>
        <p:nvSpPr>
          <p:cNvPr id="27" name="Shape 25"/>
          <p:cNvSpPr/>
          <p:nvPr/>
        </p:nvSpPr>
        <p:spPr>
          <a:xfrm>
            <a:off x="7833116" y="2893527"/>
            <a:ext cx="3698199" cy="6309"/>
          </a:xfrm>
          <a:prstGeom prst="rect">
            <a:avLst/>
          </a:prstGeom>
          <a:solidFill>
            <a:srgbClr val="E3E6EA"/>
          </a:solidFill>
          <a:ln/>
        </p:spPr>
      </p:sp>
      <p:sp>
        <p:nvSpPr>
          <p:cNvPr id="28" name="Text 26"/>
          <p:cNvSpPr txBox="1"/>
          <p:nvPr/>
        </p:nvSpPr>
        <p:spPr>
          <a:xfrm>
            <a:off x="7972836" y="2989539"/>
            <a:ext cx="71743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TmnCode</a:t>
            </a:r>
            <a:endParaRPr lang="en-US" sz="1150" dirty="0"/>
          </a:p>
        </p:txBody>
      </p:sp>
      <p:sp>
        <p:nvSpPr>
          <p:cNvPr id="29" name="Shape 27"/>
          <p:cNvSpPr/>
          <p:nvPr/>
        </p:nvSpPr>
        <p:spPr>
          <a:xfrm>
            <a:off x="4927519" y="3271357"/>
            <a:ext cx="2905689" cy="6309"/>
          </a:xfrm>
          <a:prstGeom prst="rect">
            <a:avLst/>
          </a:prstGeom>
          <a:solidFill>
            <a:srgbClr val="E3E6EA"/>
          </a:solidFill>
          <a:ln/>
        </p:spPr>
      </p:sp>
      <p:sp>
        <p:nvSpPr>
          <p:cNvPr id="30" name="Text 28"/>
          <p:cNvSpPr txBox="1"/>
          <p:nvPr/>
        </p:nvSpPr>
        <p:spPr>
          <a:xfrm>
            <a:off x="5067148" y="3367369"/>
            <a:ext cx="1537746"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Số tiền không hợp lệ</a:t>
            </a:r>
            <a:endParaRPr lang="en-US" sz="1150" dirty="0"/>
          </a:p>
        </p:txBody>
      </p:sp>
      <p:sp>
        <p:nvSpPr>
          <p:cNvPr id="31" name="Shape 29"/>
          <p:cNvSpPr/>
          <p:nvPr/>
        </p:nvSpPr>
        <p:spPr>
          <a:xfrm>
            <a:off x="7833116" y="3271357"/>
            <a:ext cx="3698199" cy="6309"/>
          </a:xfrm>
          <a:prstGeom prst="rect">
            <a:avLst/>
          </a:prstGeom>
          <a:solidFill>
            <a:srgbClr val="E3E6EA"/>
          </a:solidFill>
          <a:ln/>
        </p:spPr>
      </p:sp>
      <p:sp>
        <p:nvSpPr>
          <p:cNvPr id="32" name="Text 30"/>
          <p:cNvSpPr txBox="1"/>
          <p:nvPr/>
        </p:nvSpPr>
        <p:spPr>
          <a:xfrm>
            <a:off x="7972836" y="3367369"/>
            <a:ext cx="1083198"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Quên nhân 100</a:t>
            </a:r>
            <a:endParaRPr lang="en-US" sz="1150" dirty="0"/>
          </a:p>
        </p:txBody>
      </p:sp>
      <p:sp>
        <p:nvSpPr>
          <p:cNvPr id="33" name="Shape 31"/>
          <p:cNvSpPr/>
          <p:nvPr/>
        </p:nvSpPr>
        <p:spPr>
          <a:xfrm>
            <a:off x="4927519" y="3649188"/>
            <a:ext cx="2905689" cy="6309"/>
          </a:xfrm>
          <a:prstGeom prst="rect">
            <a:avLst/>
          </a:prstGeom>
          <a:solidFill>
            <a:srgbClr val="E3E6EA"/>
          </a:solidFill>
          <a:ln/>
        </p:spPr>
      </p:sp>
      <p:sp>
        <p:nvSpPr>
          <p:cNvPr id="34" name="Text 32"/>
          <p:cNvSpPr txBox="1"/>
          <p:nvPr/>
        </p:nvSpPr>
        <p:spPr>
          <a:xfrm>
            <a:off x="5067148" y="3745200"/>
            <a:ext cx="1301557"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Giao dịch hết hạn</a:t>
            </a:r>
            <a:endParaRPr lang="en-US" sz="1150" dirty="0"/>
          </a:p>
        </p:txBody>
      </p:sp>
      <p:sp>
        <p:nvSpPr>
          <p:cNvPr id="35" name="Shape 33"/>
          <p:cNvSpPr/>
          <p:nvPr/>
        </p:nvSpPr>
        <p:spPr>
          <a:xfrm>
            <a:off x="7833116" y="3649188"/>
            <a:ext cx="3698199" cy="6309"/>
          </a:xfrm>
          <a:prstGeom prst="rect">
            <a:avLst/>
          </a:prstGeom>
          <a:solidFill>
            <a:srgbClr val="E3E6EA"/>
          </a:solidFill>
          <a:ln/>
        </p:spPr>
      </p:sp>
      <p:sp>
        <p:nvSpPr>
          <p:cNvPr id="36" name="Text 34"/>
          <p:cNvSpPr txBox="1"/>
          <p:nvPr/>
        </p:nvSpPr>
        <p:spPr>
          <a:xfrm>
            <a:off x="7972836" y="3745200"/>
            <a:ext cx="145810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Giờ trên máy, ZoneId</a:t>
            </a:r>
            <a:endParaRPr lang="en-US" sz="1150" dirty="0"/>
          </a:p>
        </p:txBody>
      </p:sp>
      <p:sp>
        <p:nvSpPr>
          <p:cNvPr id="37" name="Text 35"/>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8" name="Text 36"/>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2007565"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2 – Tạo link thanh toán</a:t>
            </a:r>
            <a:endParaRPr lang="en-US" sz="1100" dirty="0"/>
          </a:p>
        </p:txBody>
      </p:sp>
      <p:sp>
        <p:nvSpPr>
          <p:cNvPr id="3" name="Text 1"/>
          <p:cNvSpPr txBox="1"/>
          <p:nvPr/>
        </p:nvSpPr>
        <p:spPr>
          <a:xfrm>
            <a:off x="660380" y="643829"/>
            <a:ext cx="4607479"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Thanh toán bằng thẻ test</a:t>
            </a:r>
            <a:endParaRPr lang="en-US" sz="3000" dirty="0"/>
          </a:p>
        </p:txBody>
      </p:sp>
      <p:sp>
        <p:nvSpPr>
          <p:cNvPr id="4" name="Shape 2"/>
          <p:cNvSpPr/>
          <p:nvPr/>
        </p:nvSpPr>
        <p:spPr>
          <a:xfrm>
            <a:off x="660380" y="1347368"/>
            <a:ext cx="4825837" cy="2705070"/>
          </a:xfrm>
          <a:prstGeom prst="roundRect">
            <a:avLst>
              <a:gd name="adj" fmla="val 3756"/>
            </a:avLst>
          </a:prstGeom>
          <a:solidFill>
            <a:srgbClr val="FFFFFF"/>
          </a:solidFill>
          <a:ln/>
        </p:spPr>
      </p:sp>
      <p:sp>
        <p:nvSpPr>
          <p:cNvPr id="5" name="Shape 3"/>
          <p:cNvSpPr/>
          <p:nvPr/>
        </p:nvSpPr>
        <p:spPr>
          <a:xfrm>
            <a:off x="660380" y="1347368"/>
            <a:ext cx="2123328" cy="422270"/>
          </a:xfrm>
          <a:prstGeom prst="rect">
            <a:avLst/>
          </a:prstGeom>
          <a:solidFill>
            <a:srgbClr val="ECF2FF"/>
          </a:solidFill>
          <a:ln/>
        </p:spPr>
      </p:sp>
      <p:sp>
        <p:nvSpPr>
          <p:cNvPr id="6" name="Text 4"/>
          <p:cNvSpPr txBox="1"/>
          <p:nvPr/>
        </p:nvSpPr>
        <p:spPr>
          <a:xfrm>
            <a:off x="825520" y="1479408"/>
            <a:ext cx="831830"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THÔNG TIN</a:t>
            </a:r>
            <a:endParaRPr lang="en-US" sz="1000" dirty="0"/>
          </a:p>
        </p:txBody>
      </p:sp>
      <p:sp>
        <p:nvSpPr>
          <p:cNvPr id="7" name="Shape 5"/>
          <p:cNvSpPr/>
          <p:nvPr/>
        </p:nvSpPr>
        <p:spPr>
          <a:xfrm>
            <a:off x="2783708" y="1347368"/>
            <a:ext cx="2702509" cy="422270"/>
          </a:xfrm>
          <a:prstGeom prst="rect">
            <a:avLst/>
          </a:prstGeom>
          <a:solidFill>
            <a:srgbClr val="ECF2FF"/>
          </a:solidFill>
          <a:ln/>
        </p:spPr>
      </p:sp>
      <p:sp>
        <p:nvSpPr>
          <p:cNvPr id="8" name="Text 6"/>
          <p:cNvSpPr txBox="1"/>
          <p:nvPr/>
        </p:nvSpPr>
        <p:spPr>
          <a:xfrm>
            <a:off x="2948849" y="1479408"/>
            <a:ext cx="461498"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NHẬP</a:t>
            </a:r>
            <a:endParaRPr lang="en-US" sz="1000" dirty="0"/>
          </a:p>
        </p:txBody>
      </p:sp>
      <p:sp>
        <p:nvSpPr>
          <p:cNvPr id="9" name="Shape 7"/>
          <p:cNvSpPr/>
          <p:nvPr/>
        </p:nvSpPr>
        <p:spPr>
          <a:xfrm>
            <a:off x="660380" y="1769638"/>
            <a:ext cx="2123328" cy="6309"/>
          </a:xfrm>
          <a:prstGeom prst="rect">
            <a:avLst/>
          </a:prstGeom>
          <a:solidFill>
            <a:srgbClr val="E3E6EA"/>
          </a:solidFill>
          <a:ln/>
        </p:spPr>
      </p:sp>
      <p:sp>
        <p:nvSpPr>
          <p:cNvPr id="10" name="Text 8"/>
          <p:cNvSpPr txBox="1"/>
          <p:nvPr/>
        </p:nvSpPr>
        <p:spPr>
          <a:xfrm>
            <a:off x="825520" y="1889882"/>
            <a:ext cx="929305"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Ngân hàng</a:t>
            </a:r>
            <a:endParaRPr lang="en-US" sz="1300" dirty="0"/>
          </a:p>
        </p:txBody>
      </p:sp>
      <p:sp>
        <p:nvSpPr>
          <p:cNvPr id="11" name="Shape 9"/>
          <p:cNvSpPr/>
          <p:nvPr/>
        </p:nvSpPr>
        <p:spPr>
          <a:xfrm>
            <a:off x="2783708" y="1769638"/>
            <a:ext cx="2702509" cy="6309"/>
          </a:xfrm>
          <a:prstGeom prst="rect">
            <a:avLst/>
          </a:prstGeom>
          <a:solidFill>
            <a:srgbClr val="E3E6EA"/>
          </a:solidFill>
          <a:ln/>
        </p:spPr>
      </p:sp>
      <p:sp>
        <p:nvSpPr>
          <p:cNvPr id="12" name="Text 10"/>
          <p:cNvSpPr txBox="1"/>
          <p:nvPr/>
        </p:nvSpPr>
        <p:spPr>
          <a:xfrm>
            <a:off x="2948849" y="1900215"/>
            <a:ext cx="350672"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NCB</a:t>
            </a:r>
            <a:endParaRPr lang="en-US" sz="1200" dirty="0"/>
          </a:p>
        </p:txBody>
      </p:sp>
      <p:sp>
        <p:nvSpPr>
          <p:cNvPr id="13" name="Shape 11"/>
          <p:cNvSpPr/>
          <p:nvPr/>
        </p:nvSpPr>
        <p:spPr>
          <a:xfrm>
            <a:off x="660380" y="2226838"/>
            <a:ext cx="2123328" cy="6309"/>
          </a:xfrm>
          <a:prstGeom prst="rect">
            <a:avLst/>
          </a:prstGeom>
          <a:solidFill>
            <a:srgbClr val="E3E6EA"/>
          </a:solidFill>
          <a:ln/>
        </p:spPr>
      </p:sp>
      <p:sp>
        <p:nvSpPr>
          <p:cNvPr id="14" name="Text 12"/>
          <p:cNvSpPr txBox="1"/>
          <p:nvPr/>
        </p:nvSpPr>
        <p:spPr>
          <a:xfrm>
            <a:off x="825520" y="2347082"/>
            <a:ext cx="580735"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Số thẻ</a:t>
            </a:r>
            <a:endParaRPr lang="en-US" sz="1300" dirty="0"/>
          </a:p>
        </p:txBody>
      </p:sp>
      <p:sp>
        <p:nvSpPr>
          <p:cNvPr id="15" name="Shape 13"/>
          <p:cNvSpPr/>
          <p:nvPr/>
        </p:nvSpPr>
        <p:spPr>
          <a:xfrm>
            <a:off x="2783708" y="2226838"/>
            <a:ext cx="2702509" cy="6309"/>
          </a:xfrm>
          <a:prstGeom prst="rect">
            <a:avLst/>
          </a:prstGeom>
          <a:solidFill>
            <a:srgbClr val="E3E6EA"/>
          </a:solidFill>
          <a:ln/>
        </p:spPr>
      </p:sp>
      <p:sp>
        <p:nvSpPr>
          <p:cNvPr id="16" name="Text 14"/>
          <p:cNvSpPr txBox="1"/>
          <p:nvPr/>
        </p:nvSpPr>
        <p:spPr>
          <a:xfrm>
            <a:off x="2948849" y="2357323"/>
            <a:ext cx="1841967"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9704198526191432198</a:t>
            </a:r>
            <a:endParaRPr lang="en-US" sz="1200" dirty="0"/>
          </a:p>
        </p:txBody>
      </p:sp>
      <p:sp>
        <p:nvSpPr>
          <p:cNvPr id="17" name="Shape 15"/>
          <p:cNvSpPr/>
          <p:nvPr/>
        </p:nvSpPr>
        <p:spPr>
          <a:xfrm>
            <a:off x="660380" y="2684038"/>
            <a:ext cx="2123328" cy="6309"/>
          </a:xfrm>
          <a:prstGeom prst="rect">
            <a:avLst/>
          </a:prstGeom>
          <a:solidFill>
            <a:srgbClr val="E3E6EA"/>
          </a:solidFill>
          <a:ln/>
        </p:spPr>
      </p:sp>
      <p:sp>
        <p:nvSpPr>
          <p:cNvPr id="18" name="Text 16"/>
          <p:cNvSpPr txBox="1"/>
          <p:nvPr/>
        </p:nvSpPr>
        <p:spPr>
          <a:xfrm>
            <a:off x="825520" y="2804282"/>
            <a:ext cx="1002640"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Tên chủ thẻ</a:t>
            </a:r>
            <a:endParaRPr lang="en-US" sz="1300" dirty="0"/>
          </a:p>
        </p:txBody>
      </p:sp>
      <p:sp>
        <p:nvSpPr>
          <p:cNvPr id="19" name="Shape 17"/>
          <p:cNvSpPr/>
          <p:nvPr/>
        </p:nvSpPr>
        <p:spPr>
          <a:xfrm>
            <a:off x="2783708" y="2684038"/>
            <a:ext cx="2702509" cy="6309"/>
          </a:xfrm>
          <a:prstGeom prst="rect">
            <a:avLst/>
          </a:prstGeom>
          <a:solidFill>
            <a:srgbClr val="E3E6EA"/>
          </a:solidFill>
          <a:ln/>
        </p:spPr>
      </p:sp>
      <p:sp>
        <p:nvSpPr>
          <p:cNvPr id="20" name="Text 18"/>
          <p:cNvSpPr txBox="1"/>
          <p:nvPr/>
        </p:nvSpPr>
        <p:spPr>
          <a:xfrm>
            <a:off x="2948849" y="2814523"/>
            <a:ext cx="1173632"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NGUYEN VAN A</a:t>
            </a:r>
            <a:endParaRPr lang="en-US" sz="1200" dirty="0"/>
          </a:p>
        </p:txBody>
      </p:sp>
      <p:sp>
        <p:nvSpPr>
          <p:cNvPr id="21" name="Shape 19"/>
          <p:cNvSpPr/>
          <p:nvPr/>
        </p:nvSpPr>
        <p:spPr>
          <a:xfrm>
            <a:off x="660380" y="3141147"/>
            <a:ext cx="2123328" cy="6309"/>
          </a:xfrm>
          <a:prstGeom prst="rect">
            <a:avLst/>
          </a:prstGeom>
          <a:solidFill>
            <a:srgbClr val="E3E6EA"/>
          </a:solidFill>
          <a:ln/>
        </p:spPr>
      </p:sp>
      <p:sp>
        <p:nvSpPr>
          <p:cNvPr id="22" name="Text 20"/>
          <p:cNvSpPr txBox="1"/>
          <p:nvPr/>
        </p:nvSpPr>
        <p:spPr>
          <a:xfrm>
            <a:off x="825520" y="3261482"/>
            <a:ext cx="1314541"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Ngày phát hành</a:t>
            </a:r>
            <a:endParaRPr lang="en-US" sz="1300" dirty="0"/>
          </a:p>
        </p:txBody>
      </p:sp>
      <p:sp>
        <p:nvSpPr>
          <p:cNvPr id="23" name="Shape 21"/>
          <p:cNvSpPr/>
          <p:nvPr/>
        </p:nvSpPr>
        <p:spPr>
          <a:xfrm>
            <a:off x="2783708" y="3141147"/>
            <a:ext cx="2702509" cy="6309"/>
          </a:xfrm>
          <a:prstGeom prst="rect">
            <a:avLst/>
          </a:prstGeom>
          <a:solidFill>
            <a:srgbClr val="E3E6EA"/>
          </a:solidFill>
          <a:ln/>
        </p:spPr>
      </p:sp>
      <p:sp>
        <p:nvSpPr>
          <p:cNvPr id="24" name="Text 22"/>
          <p:cNvSpPr txBox="1"/>
          <p:nvPr/>
        </p:nvSpPr>
        <p:spPr>
          <a:xfrm>
            <a:off x="2948849" y="3271723"/>
            <a:ext cx="533461"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07/15</a:t>
            </a:r>
            <a:endParaRPr lang="en-US" sz="1200" dirty="0"/>
          </a:p>
        </p:txBody>
      </p:sp>
      <p:sp>
        <p:nvSpPr>
          <p:cNvPr id="25" name="Shape 23"/>
          <p:cNvSpPr/>
          <p:nvPr/>
        </p:nvSpPr>
        <p:spPr>
          <a:xfrm>
            <a:off x="660380" y="3598347"/>
            <a:ext cx="2123328" cy="6309"/>
          </a:xfrm>
          <a:prstGeom prst="rect">
            <a:avLst/>
          </a:prstGeom>
          <a:solidFill>
            <a:srgbClr val="E3E6EA"/>
          </a:solidFill>
          <a:ln/>
        </p:spPr>
      </p:sp>
      <p:sp>
        <p:nvSpPr>
          <p:cNvPr id="26" name="Text 24"/>
          <p:cNvSpPr txBox="1"/>
          <p:nvPr/>
        </p:nvSpPr>
        <p:spPr>
          <a:xfrm>
            <a:off x="825520" y="3718682"/>
            <a:ext cx="415595"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OTP</a:t>
            </a:r>
            <a:endParaRPr lang="en-US" sz="1300" dirty="0"/>
          </a:p>
        </p:txBody>
      </p:sp>
      <p:sp>
        <p:nvSpPr>
          <p:cNvPr id="27" name="Shape 25"/>
          <p:cNvSpPr/>
          <p:nvPr/>
        </p:nvSpPr>
        <p:spPr>
          <a:xfrm>
            <a:off x="2783708" y="3598347"/>
            <a:ext cx="2702509" cy="6309"/>
          </a:xfrm>
          <a:prstGeom prst="rect">
            <a:avLst/>
          </a:prstGeom>
          <a:solidFill>
            <a:srgbClr val="E3E6EA"/>
          </a:solidFill>
          <a:ln/>
        </p:spPr>
      </p:sp>
      <p:sp>
        <p:nvSpPr>
          <p:cNvPr id="28" name="Text 26"/>
          <p:cNvSpPr txBox="1"/>
          <p:nvPr/>
        </p:nvSpPr>
        <p:spPr>
          <a:xfrm>
            <a:off x="2948849" y="3728923"/>
            <a:ext cx="624992"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123456</a:t>
            </a:r>
            <a:endParaRPr lang="en-US" sz="1200" dirty="0"/>
          </a:p>
        </p:txBody>
      </p:sp>
      <p:sp>
        <p:nvSpPr>
          <p:cNvPr id="29" name="Text 27"/>
          <p:cNvSpPr txBox="1"/>
          <p:nvPr/>
        </p:nvSpPr>
        <p:spPr>
          <a:xfrm>
            <a:off x="5689488" y="1358798"/>
            <a:ext cx="1295522"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Terminal sẽ hiện</a:t>
            </a:r>
            <a:endParaRPr lang="en-US" sz="1000" dirty="0"/>
          </a:p>
        </p:txBody>
      </p:sp>
      <p:sp>
        <p:nvSpPr>
          <p:cNvPr id="30" name="Shape 28"/>
          <p:cNvSpPr/>
          <p:nvPr/>
        </p:nvSpPr>
        <p:spPr>
          <a:xfrm>
            <a:off x="5689488" y="1715689"/>
            <a:ext cx="5841827" cy="802477"/>
          </a:xfrm>
          <a:prstGeom prst="roundRect">
            <a:avLst>
              <a:gd name="adj" fmla="val 12660"/>
            </a:avLst>
          </a:prstGeom>
          <a:solidFill>
            <a:srgbClr val="0C131E"/>
          </a:solidFill>
          <a:ln/>
        </p:spPr>
      </p:sp>
      <p:sp>
        <p:nvSpPr>
          <p:cNvPr id="31" name="Text 29"/>
          <p:cNvSpPr txBox="1"/>
          <p:nvPr/>
        </p:nvSpPr>
        <p:spPr>
          <a:xfrm>
            <a:off x="5937108" y="1903324"/>
            <a:ext cx="3780770"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[10:15:02] querydr 20261005101433482913</a:t>
            </a:r>
            <a:endParaRPr lang="en-US" sz="1200" dirty="0"/>
          </a:p>
        </p:txBody>
      </p:sp>
      <p:sp>
        <p:nvSpPr>
          <p:cNvPr id="32" name="Text 30"/>
          <p:cNvSpPr txBox="1"/>
          <p:nvPr/>
        </p:nvSpPr>
        <p:spPr>
          <a:xfrm>
            <a:off x="5937108" y="2139513"/>
            <a:ext cx="2617470" cy="236190"/>
          </a:xfrm>
          <a:prstGeom prst="rect">
            <a:avLst/>
          </a:prstGeom>
          <a:noFill/>
          <a:ln/>
        </p:spPr>
        <p:txBody>
          <a:bodyPr wrap="none" lIns="0" tIns="0" rIns="0" bIns="0" rtlCol="0" anchor="ctr"/>
          <a:lstStyle/>
          <a:p>
            <a:pPr algn="l" indent="0" marL="0">
              <a:buNone/>
            </a:pPr>
            <a:r>
              <a:rPr lang="en-US" sz="1200" dirty="0">
                <a:solidFill>
                  <a:srgbClr val="FFD479"/>
                </a:solidFill>
                <a:latin typeface="Courier New" pitchFamily="34" charset="0"/>
                <a:ea typeface="Courier New" pitchFamily="34" charset="-122"/>
                <a:cs typeface="Courier New" pitchFamily="34" charset="-120"/>
              </a:rPr>
              <a:t>           -&gt; PAID 15900122</a:t>
            </a:r>
            <a:endParaRPr lang="en-US" sz="1200" dirty="0"/>
          </a:p>
        </p:txBody>
      </p:sp>
      <p:sp>
        <p:nvSpPr>
          <p:cNvPr id="33" name="Shape 31"/>
          <p:cNvSpPr/>
          <p:nvPr/>
        </p:nvSpPr>
        <p:spPr>
          <a:xfrm>
            <a:off x="5727527" y="2743566"/>
            <a:ext cx="63459" cy="63459"/>
          </a:xfrm>
          <a:prstGeom prst="ellipse">
            <a:avLst/>
          </a:prstGeom>
          <a:solidFill>
            <a:srgbClr val="0066FF"/>
          </a:solidFill>
          <a:ln/>
        </p:spPr>
      </p:sp>
      <p:sp>
        <p:nvSpPr>
          <p:cNvPr id="34" name="Text 32"/>
          <p:cNvSpPr txBox="1"/>
          <p:nvPr/>
        </p:nvSpPr>
        <p:spPr>
          <a:xfrm>
            <a:off x="5905378" y="2648285"/>
            <a:ext cx="2706258"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Đơn đã PAID, nhưng là nhờ querydr</a:t>
            </a:r>
            <a:endParaRPr lang="en-US" sz="1250" dirty="0"/>
          </a:p>
        </p:txBody>
      </p:sp>
      <p:sp>
        <p:nvSpPr>
          <p:cNvPr id="35" name="Shape 33"/>
          <p:cNvSpPr/>
          <p:nvPr/>
        </p:nvSpPr>
        <p:spPr>
          <a:xfrm>
            <a:off x="5727527" y="3070555"/>
            <a:ext cx="63459" cy="63459"/>
          </a:xfrm>
          <a:prstGeom prst="ellipse">
            <a:avLst/>
          </a:prstGeom>
          <a:solidFill>
            <a:srgbClr val="0066FF"/>
          </a:solidFill>
          <a:ln/>
        </p:spPr>
      </p:sp>
      <p:sp>
        <p:nvSpPr>
          <p:cNvPr id="36" name="Text 34"/>
          <p:cNvSpPr txBox="1"/>
          <p:nvPr/>
        </p:nvSpPr>
        <p:spPr>
          <a:xfrm>
            <a:off x="5905378" y="2975275"/>
            <a:ext cx="4479828"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Chưa thấy dòng IPN vì VNPAY chưa gọi được vào localhost</a:t>
            </a:r>
            <a:endParaRPr lang="en-US" sz="1250" dirty="0"/>
          </a:p>
        </p:txBody>
      </p:sp>
      <p:sp>
        <p:nvSpPr>
          <p:cNvPr id="37" name="Text 35"/>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8" name="Text 36"/>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077712"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3 – ngrok</a:t>
            </a:r>
            <a:endParaRPr lang="en-US" sz="1100" dirty="0"/>
          </a:p>
        </p:txBody>
      </p:sp>
      <p:sp>
        <p:nvSpPr>
          <p:cNvPr id="3" name="Text 1"/>
          <p:cNvSpPr txBox="1"/>
          <p:nvPr/>
        </p:nvSpPr>
        <p:spPr>
          <a:xfrm>
            <a:off x="660380" y="643829"/>
            <a:ext cx="3535070"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Tại sao cần ngrok?</a:t>
            </a:r>
            <a:endParaRPr lang="en-US" sz="3000" dirty="0"/>
          </a:p>
        </p:txBody>
      </p:sp>
      <p:sp>
        <p:nvSpPr>
          <p:cNvPr id="4" name="Shape 2"/>
          <p:cNvSpPr/>
          <p:nvPr/>
        </p:nvSpPr>
        <p:spPr>
          <a:xfrm>
            <a:off x="698510" y="1470264"/>
            <a:ext cx="63459" cy="63459"/>
          </a:xfrm>
          <a:prstGeom prst="ellipse">
            <a:avLst/>
          </a:prstGeom>
          <a:solidFill>
            <a:srgbClr val="0066FF"/>
          </a:solidFill>
          <a:ln/>
        </p:spPr>
      </p:sp>
      <p:sp>
        <p:nvSpPr>
          <p:cNvPr id="5" name="Text 3"/>
          <p:cNvSpPr txBox="1"/>
          <p:nvPr/>
        </p:nvSpPr>
        <p:spPr>
          <a:xfrm>
            <a:off x="876270" y="1368400"/>
            <a:ext cx="6930512"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querydr chỉ chạy khi khách mở trang kết quả. Khách tắt tab là đơn bị kẹt PENDING</a:t>
            </a:r>
            <a:endParaRPr lang="en-US" sz="1400" dirty="0"/>
          </a:p>
        </p:txBody>
      </p:sp>
      <p:sp>
        <p:nvSpPr>
          <p:cNvPr id="6" name="Shape 4"/>
          <p:cNvSpPr/>
          <p:nvPr/>
        </p:nvSpPr>
        <p:spPr>
          <a:xfrm>
            <a:off x="698510" y="1825874"/>
            <a:ext cx="63459" cy="63459"/>
          </a:xfrm>
          <a:prstGeom prst="ellipse">
            <a:avLst/>
          </a:prstGeom>
          <a:solidFill>
            <a:srgbClr val="0066FF"/>
          </a:solidFill>
          <a:ln/>
        </p:spPr>
      </p:sp>
      <p:sp>
        <p:nvSpPr>
          <p:cNvPr id="7" name="Text 5"/>
          <p:cNvSpPr txBox="1"/>
          <p:nvPr/>
        </p:nvSpPr>
        <p:spPr>
          <a:xfrm>
            <a:off x="876270" y="1724010"/>
            <a:ext cx="6139556"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Nên cần IPN: thanh toán xong là VNPAY tự gọi về server, gọi lỗi thì gọi lại</a:t>
            </a:r>
            <a:endParaRPr lang="en-US" sz="1400" dirty="0"/>
          </a:p>
        </p:txBody>
      </p:sp>
      <p:sp>
        <p:nvSpPr>
          <p:cNvPr id="8" name="Shape 6"/>
          <p:cNvSpPr/>
          <p:nvPr/>
        </p:nvSpPr>
        <p:spPr>
          <a:xfrm>
            <a:off x="698510" y="2181484"/>
            <a:ext cx="63459" cy="63459"/>
          </a:xfrm>
          <a:prstGeom prst="ellipse">
            <a:avLst/>
          </a:prstGeom>
          <a:solidFill>
            <a:srgbClr val="0066FF"/>
          </a:solidFill>
          <a:ln/>
        </p:spPr>
      </p:sp>
      <p:sp>
        <p:nvSpPr>
          <p:cNvPr id="9" name="Text 7"/>
          <p:cNvSpPr txBox="1"/>
          <p:nvPr/>
        </p:nvSpPr>
        <p:spPr>
          <a:xfrm>
            <a:off x="876270" y="2079620"/>
            <a:ext cx="8297448"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Nhưng VNPAY không gọi vào </a:t>
            </a:r>
            <a:pPr algn="l" indent="0" marL="0">
              <a:buNone/>
            </a:pPr>
            <a:r>
              <a:rPr lang="en-US" sz="1400" dirty="0">
                <a:solidFill>
                  <a:srgbClr val="3F454D"/>
                </a:solidFill>
                <a:latin typeface="Courier New" pitchFamily="34" charset="0"/>
                <a:ea typeface="Courier New" pitchFamily="34" charset="-122"/>
                <a:cs typeface="Courier New" pitchFamily="34" charset="-120"/>
              </a:rPr>
              <a:t>localhost</a:t>
            </a:r>
            <a:pPr algn="l" indent="0" marL="0">
              <a:buNone/>
            </a:pPr>
            <a:r>
              <a:rPr lang="en-US" sz="1400" dirty="0">
                <a:solidFill>
                  <a:srgbClr val="3F454D"/>
                </a:solidFill>
                <a:latin typeface="Arial" pitchFamily="34" charset="0"/>
                <a:ea typeface="Arial" pitchFamily="34" charset="-122"/>
                <a:cs typeface="Arial" pitchFamily="34" charset="-120"/>
              </a:rPr>
              <a:t> được, nên cần ngrok tạo một link public trỏ về máy mình</a:t>
            </a:r>
            <a:endParaRPr lang="en-US" sz="1400" dirty="0"/>
          </a:p>
        </p:txBody>
      </p:sp>
      <p:sp>
        <p:nvSpPr>
          <p:cNvPr id="10" name="Shape 8"/>
          <p:cNvSpPr/>
          <p:nvPr/>
        </p:nvSpPr>
        <p:spPr>
          <a:xfrm>
            <a:off x="660380" y="2515697"/>
            <a:ext cx="10870936" cy="1215969"/>
          </a:xfrm>
          <a:prstGeom prst="roundRect">
            <a:avLst>
              <a:gd name="adj" fmla="val 8355"/>
            </a:avLst>
          </a:prstGeom>
          <a:solidFill>
            <a:srgbClr val="0C131E"/>
          </a:solidFill>
          <a:ln/>
        </p:spPr>
      </p:sp>
      <p:sp>
        <p:nvSpPr>
          <p:cNvPr id="11" name="Text 9"/>
          <p:cNvSpPr txBox="1"/>
          <p:nvPr/>
        </p:nvSpPr>
        <p:spPr>
          <a:xfrm>
            <a:off x="907999" y="2707538"/>
            <a:ext cx="4604736"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Server VNPAY  ---X---&gt;  localhost:8080</a:t>
            </a:r>
            <a:endParaRPr lang="en-US" sz="1500" dirty="0"/>
          </a:p>
        </p:txBody>
      </p:sp>
      <p:sp>
        <p:nvSpPr>
          <p:cNvPr id="12" name="Shape 10"/>
          <p:cNvSpPr/>
          <p:nvPr/>
        </p:nvSpPr>
        <p:spPr>
          <a:xfrm>
            <a:off x="660380" y="3271357"/>
            <a:ext cx="10870936" cy="295260"/>
          </a:xfrm>
          <a:prstGeom prst="rect">
            <a:avLst/>
          </a:prstGeom>
          <a:solidFill>
            <a:srgbClr val="FFD479">
              <a:alpha val="13000"/>
            </a:srgbClr>
          </a:solidFill>
          <a:ln/>
        </p:spPr>
      </p:sp>
      <p:sp>
        <p:nvSpPr>
          <p:cNvPr id="13" name="Shape 11"/>
          <p:cNvSpPr/>
          <p:nvPr/>
        </p:nvSpPr>
        <p:spPr>
          <a:xfrm>
            <a:off x="660380" y="3271357"/>
            <a:ext cx="31730" cy="295260"/>
          </a:xfrm>
          <a:prstGeom prst="rect">
            <a:avLst/>
          </a:prstGeom>
          <a:solidFill>
            <a:srgbClr val="FFD479"/>
          </a:solidFill>
          <a:ln/>
        </p:spPr>
      </p:sp>
      <p:sp>
        <p:nvSpPr>
          <p:cNvPr id="14" name="Text 12"/>
          <p:cNvSpPr txBox="1"/>
          <p:nvPr/>
        </p:nvSpPr>
        <p:spPr>
          <a:xfrm>
            <a:off x="907999" y="3298058"/>
            <a:ext cx="9088222"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Server VNPAY  ------&gt;  https://a1b2.ngrok-free.app  ------&gt;  localhost:8080</a:t>
            </a:r>
            <a:endParaRPr lang="en-US" sz="1500" dirty="0"/>
          </a:p>
        </p:txBody>
      </p:sp>
      <p:sp>
        <p:nvSpPr>
          <p:cNvPr id="15" name="Text 13"/>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16" name="Text 14"/>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077712"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3 – ngrok</a:t>
            </a:r>
            <a:endParaRPr lang="en-US" sz="1100" dirty="0"/>
          </a:p>
        </p:txBody>
      </p:sp>
      <p:sp>
        <p:nvSpPr>
          <p:cNvPr id="3" name="Text 1"/>
          <p:cNvSpPr txBox="1"/>
          <p:nvPr/>
        </p:nvSpPr>
        <p:spPr>
          <a:xfrm>
            <a:off x="660380" y="643829"/>
            <a:ext cx="5298216"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Bước 1: Tạo tài khoản ngrok</a:t>
            </a:r>
            <a:endParaRPr lang="en-US" sz="3000" dirty="0"/>
          </a:p>
        </p:txBody>
      </p:sp>
      <p:sp>
        <p:nvSpPr>
          <p:cNvPr id="4" name="Text 2"/>
          <p:cNvSpPr txBox="1"/>
          <p:nvPr/>
        </p:nvSpPr>
        <p:spPr>
          <a:xfrm>
            <a:off x="660380" y="133667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1.</a:t>
            </a:r>
            <a:endParaRPr lang="en-US" sz="1400" dirty="0"/>
          </a:p>
        </p:txBody>
      </p:sp>
      <p:sp>
        <p:nvSpPr>
          <p:cNvPr id="5" name="Text 3"/>
          <p:cNvSpPr txBox="1"/>
          <p:nvPr/>
        </p:nvSpPr>
        <p:spPr>
          <a:xfrm>
            <a:off x="965149" y="1368400"/>
            <a:ext cx="3328325"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Vào </a:t>
            </a:r>
            <a:pPr algn="l" indent="0" marL="0">
              <a:buNone/>
            </a:pPr>
            <a:r>
              <a:rPr lang="en-US" sz="1400" dirty="0">
                <a:solidFill>
                  <a:srgbClr val="3F454D"/>
                </a:solidFill>
                <a:latin typeface="Courier New" pitchFamily="34" charset="0"/>
                <a:ea typeface="Courier New" pitchFamily="34" charset="-122"/>
                <a:cs typeface="Courier New" pitchFamily="34" charset="-120"/>
              </a:rPr>
              <a:t>dashboard.ngrok.com/signup</a:t>
            </a:r>
            <a:endParaRPr lang="en-US" sz="1400" dirty="0"/>
          </a:p>
        </p:txBody>
      </p:sp>
      <p:sp>
        <p:nvSpPr>
          <p:cNvPr id="6" name="Text 4"/>
          <p:cNvSpPr txBox="1"/>
          <p:nvPr/>
        </p:nvSpPr>
        <p:spPr>
          <a:xfrm>
            <a:off x="660380" y="170499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2.</a:t>
            </a:r>
            <a:endParaRPr lang="en-US" sz="1400" dirty="0"/>
          </a:p>
        </p:txBody>
      </p:sp>
      <p:sp>
        <p:nvSpPr>
          <p:cNvPr id="7" name="Text 5"/>
          <p:cNvSpPr txBox="1"/>
          <p:nvPr/>
        </p:nvSpPr>
        <p:spPr>
          <a:xfrm>
            <a:off x="965149" y="1736720"/>
            <a:ext cx="2986613"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Đăng nhập bằng Google cho nhanh</a:t>
            </a:r>
            <a:endParaRPr lang="en-US" sz="1400" dirty="0"/>
          </a:p>
        </p:txBody>
      </p:sp>
      <p:sp>
        <p:nvSpPr>
          <p:cNvPr id="8" name="Text 6"/>
          <p:cNvSpPr txBox="1"/>
          <p:nvPr/>
        </p:nvSpPr>
        <p:spPr>
          <a:xfrm>
            <a:off x="660380" y="206060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3.</a:t>
            </a:r>
            <a:endParaRPr lang="en-US" sz="1400" dirty="0"/>
          </a:p>
        </p:txBody>
      </p:sp>
      <p:sp>
        <p:nvSpPr>
          <p:cNvPr id="9" name="Text 7"/>
          <p:cNvSpPr txBox="1"/>
          <p:nvPr/>
        </p:nvSpPr>
        <p:spPr>
          <a:xfrm>
            <a:off x="965149" y="2092330"/>
            <a:ext cx="4619915"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Nếu đăng ký bằng email thì vào mail bấm link kích hoạt</a:t>
            </a:r>
            <a:endParaRPr lang="en-US" sz="1400" dirty="0"/>
          </a:p>
        </p:txBody>
      </p:sp>
      <p:sp>
        <p:nvSpPr>
          <p:cNvPr id="10" name="Shape 8"/>
          <p:cNvSpPr/>
          <p:nvPr/>
        </p:nvSpPr>
        <p:spPr>
          <a:xfrm>
            <a:off x="660380" y="2515697"/>
            <a:ext cx="10870936" cy="812810"/>
          </a:xfrm>
          <a:prstGeom prst="roundRect">
            <a:avLst>
              <a:gd name="adj" fmla="val 10935"/>
            </a:avLst>
          </a:prstGeom>
          <a:solidFill>
            <a:srgbClr val="FFFFFF"/>
          </a:solidFill>
          <a:ln w="6350">
            <a:solidFill>
              <a:srgbClr val="E3E6EA"/>
            </a:solidFill>
            <a:prstDash val="solid"/>
          </a:ln>
        </p:spPr>
      </p:sp>
      <p:sp>
        <p:nvSpPr>
          <p:cNvPr id="11" name="Text 9"/>
          <p:cNvSpPr txBox="1"/>
          <p:nvPr/>
        </p:nvSpPr>
        <p:spPr>
          <a:xfrm>
            <a:off x="831830" y="2678003"/>
            <a:ext cx="499811" cy="228600"/>
          </a:xfrm>
          <a:prstGeom prst="rect">
            <a:avLst/>
          </a:prstGeom>
          <a:noFill/>
          <a:ln/>
        </p:spPr>
        <p:txBody>
          <a:bodyPr wrap="square" lIns="0" tIns="0" rIns="0" bIns="0" rtlCol="0" anchor="ctr"/>
          <a:lstStyle/>
          <a:p>
            <a:pPr algn="l" indent="0" marL="0">
              <a:buNone/>
            </a:pPr>
            <a:r>
              <a:rPr lang="en-US" sz="1200" b="1" dirty="0">
                <a:solidFill>
                  <a:srgbClr val="0066FF"/>
                </a:solidFill>
                <a:latin typeface="Arial" pitchFamily="34" charset="0"/>
                <a:ea typeface="Arial" pitchFamily="34" charset="-122"/>
                <a:cs typeface="Arial" pitchFamily="34" charset="-120"/>
              </a:rPr>
              <a:t>Lưu ý</a:t>
            </a:r>
            <a:endParaRPr lang="en-US" sz="1200" dirty="0"/>
          </a:p>
        </p:txBody>
      </p:sp>
      <p:sp>
        <p:nvSpPr>
          <p:cNvPr id="12" name="Shape 10"/>
          <p:cNvSpPr/>
          <p:nvPr/>
        </p:nvSpPr>
        <p:spPr>
          <a:xfrm>
            <a:off x="869960" y="3061045"/>
            <a:ext cx="63459" cy="63459"/>
          </a:xfrm>
          <a:prstGeom prst="ellipse">
            <a:avLst/>
          </a:prstGeom>
          <a:solidFill>
            <a:srgbClr val="0066FF"/>
          </a:solidFill>
          <a:ln/>
        </p:spPr>
      </p:sp>
      <p:sp>
        <p:nvSpPr>
          <p:cNvPr id="13" name="Text 11"/>
          <p:cNvSpPr txBox="1"/>
          <p:nvPr/>
        </p:nvSpPr>
        <p:spPr>
          <a:xfrm>
            <a:off x="1047720" y="2970154"/>
            <a:ext cx="7530450" cy="228600"/>
          </a:xfrm>
          <a:prstGeom prst="rect">
            <a:avLst/>
          </a:prstGeom>
          <a:noFill/>
          <a:ln/>
        </p:spPr>
        <p:txBody>
          <a:bodyPr wrap="square" lIns="0" tIns="0" rIns="0" bIns="0" rtlCol="0" anchor="ctr"/>
          <a:lstStyle/>
          <a:p>
            <a:pPr algn="l" indent="0" marL="0">
              <a:buNone/>
            </a:pPr>
            <a:r>
              <a:rPr lang="en-US" sz="1200" dirty="0">
                <a:solidFill>
                  <a:srgbClr val="3F454D"/>
                </a:solidFill>
                <a:latin typeface="Arial" pitchFamily="34" charset="0"/>
                <a:ea typeface="Arial" pitchFamily="34" charset="-122"/>
                <a:cs typeface="Arial" pitchFamily="34" charset="-120"/>
              </a:rPr>
              <a:t>Mỗi người tự tạo một tài khoản, bản free chỉ chạy được một tunnel cùng lúc nên không dùng chung được</a:t>
            </a:r>
            <a:endParaRPr lang="en-US" sz="1200" dirty="0"/>
          </a:p>
        </p:txBody>
      </p:sp>
      <p:sp>
        <p:nvSpPr>
          <p:cNvPr id="14" name="Text 12"/>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15" name="Text 13"/>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077712"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3 – ngrok</a:t>
            </a:r>
            <a:endParaRPr lang="en-US" sz="1100" dirty="0"/>
          </a:p>
        </p:txBody>
      </p:sp>
      <p:sp>
        <p:nvSpPr>
          <p:cNvPr id="3" name="Text 1"/>
          <p:cNvSpPr txBox="1"/>
          <p:nvPr/>
        </p:nvSpPr>
        <p:spPr>
          <a:xfrm>
            <a:off x="660380" y="643829"/>
            <a:ext cx="3404494"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Bước 2: Cài ngrok</a:t>
            </a:r>
            <a:endParaRPr lang="en-US" sz="3000" dirty="0"/>
          </a:p>
        </p:txBody>
      </p:sp>
      <p:sp>
        <p:nvSpPr>
          <p:cNvPr id="4" name="Text 2"/>
          <p:cNvSpPr txBox="1"/>
          <p:nvPr/>
        </p:nvSpPr>
        <p:spPr>
          <a:xfrm>
            <a:off x="660380" y="1358798"/>
            <a:ext cx="457291"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macOS</a:t>
            </a:r>
            <a:endParaRPr lang="en-US" sz="1000" dirty="0"/>
          </a:p>
        </p:txBody>
      </p:sp>
      <p:sp>
        <p:nvSpPr>
          <p:cNvPr id="5" name="Shape 3"/>
          <p:cNvSpPr/>
          <p:nvPr/>
        </p:nvSpPr>
        <p:spPr>
          <a:xfrm>
            <a:off x="660380" y="1601389"/>
            <a:ext cx="5206868" cy="625450"/>
          </a:xfrm>
          <a:prstGeom prst="roundRect">
            <a:avLst>
              <a:gd name="adj" fmla="val 16243"/>
            </a:avLst>
          </a:prstGeom>
          <a:solidFill>
            <a:srgbClr val="0C131E"/>
          </a:solidFill>
          <a:ln/>
        </p:spPr>
      </p:sp>
      <p:sp>
        <p:nvSpPr>
          <p:cNvPr id="6" name="Text 4"/>
          <p:cNvSpPr txBox="1"/>
          <p:nvPr/>
        </p:nvSpPr>
        <p:spPr>
          <a:xfrm>
            <a:off x="907999" y="1793138"/>
            <a:ext cx="3029407"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brew install --cask ngrok</a:t>
            </a:r>
            <a:endParaRPr lang="en-US" sz="1500" dirty="0"/>
          </a:p>
        </p:txBody>
      </p:sp>
      <p:sp>
        <p:nvSpPr>
          <p:cNvPr id="7" name="Text 5"/>
          <p:cNvSpPr txBox="1"/>
          <p:nvPr/>
        </p:nvSpPr>
        <p:spPr>
          <a:xfrm>
            <a:off x="660380" y="2377897"/>
            <a:ext cx="457291"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Linux</a:t>
            </a:r>
            <a:endParaRPr lang="en-US" sz="1000" dirty="0"/>
          </a:p>
        </p:txBody>
      </p:sp>
      <p:sp>
        <p:nvSpPr>
          <p:cNvPr id="8" name="Shape 6"/>
          <p:cNvSpPr/>
          <p:nvPr/>
        </p:nvSpPr>
        <p:spPr>
          <a:xfrm>
            <a:off x="660380" y="2620488"/>
            <a:ext cx="5206868" cy="625450"/>
          </a:xfrm>
          <a:prstGeom prst="roundRect">
            <a:avLst>
              <a:gd name="adj" fmla="val 16243"/>
            </a:avLst>
          </a:prstGeom>
          <a:solidFill>
            <a:srgbClr val="0C131E"/>
          </a:solidFill>
          <a:ln/>
        </p:spPr>
      </p:sp>
      <p:sp>
        <p:nvSpPr>
          <p:cNvPr id="9" name="Text 7"/>
          <p:cNvSpPr txBox="1"/>
          <p:nvPr/>
        </p:nvSpPr>
        <p:spPr>
          <a:xfrm>
            <a:off x="907999" y="2812237"/>
            <a:ext cx="2787091"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sudo snap install ngrok</a:t>
            </a:r>
            <a:endParaRPr lang="en-US" sz="1500" dirty="0"/>
          </a:p>
        </p:txBody>
      </p:sp>
      <p:sp>
        <p:nvSpPr>
          <p:cNvPr id="10" name="Text 8"/>
          <p:cNvSpPr txBox="1"/>
          <p:nvPr/>
        </p:nvSpPr>
        <p:spPr>
          <a:xfrm>
            <a:off x="660380" y="3397087"/>
            <a:ext cx="685891"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Kiểm tra</a:t>
            </a:r>
            <a:endParaRPr lang="en-US" sz="1000" dirty="0"/>
          </a:p>
        </p:txBody>
      </p:sp>
      <p:sp>
        <p:nvSpPr>
          <p:cNvPr id="11" name="Shape 9"/>
          <p:cNvSpPr/>
          <p:nvPr/>
        </p:nvSpPr>
        <p:spPr>
          <a:xfrm>
            <a:off x="660380" y="3639678"/>
            <a:ext cx="5206868" cy="920709"/>
          </a:xfrm>
          <a:prstGeom prst="roundRect">
            <a:avLst>
              <a:gd name="adj" fmla="val 11034"/>
            </a:avLst>
          </a:prstGeom>
          <a:solidFill>
            <a:srgbClr val="0C131E"/>
          </a:solidFill>
          <a:ln/>
        </p:spPr>
      </p:sp>
      <p:sp>
        <p:nvSpPr>
          <p:cNvPr id="12" name="Text 10"/>
          <p:cNvSpPr txBox="1"/>
          <p:nvPr/>
        </p:nvSpPr>
        <p:spPr>
          <a:xfrm>
            <a:off x="907999" y="3831427"/>
            <a:ext cx="1575328"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ngrok version</a:t>
            </a:r>
            <a:endParaRPr lang="en-US" sz="1500" dirty="0"/>
          </a:p>
        </p:txBody>
      </p:sp>
      <p:sp>
        <p:nvSpPr>
          <p:cNvPr id="13" name="Text 11"/>
          <p:cNvSpPr txBox="1"/>
          <p:nvPr/>
        </p:nvSpPr>
        <p:spPr>
          <a:xfrm>
            <a:off x="907999" y="4126687"/>
            <a:ext cx="2302368" cy="295260"/>
          </a:xfrm>
          <a:prstGeom prst="rect">
            <a:avLst/>
          </a:prstGeom>
          <a:noFill/>
          <a:ln/>
        </p:spPr>
        <p:txBody>
          <a:bodyPr wrap="none" lIns="0" tIns="0" rIns="0" bIns="0" rtlCol="0" anchor="ctr"/>
          <a:lstStyle/>
          <a:p>
            <a:pPr algn="l" indent="0" marL="0">
              <a:buNone/>
            </a:pPr>
            <a:r>
              <a:rPr lang="en-US" sz="1500" dirty="0">
                <a:solidFill>
                  <a:srgbClr val="FFD479"/>
                </a:solidFill>
                <a:latin typeface="Courier New" pitchFamily="34" charset="0"/>
                <a:ea typeface="Courier New" pitchFamily="34" charset="-122"/>
                <a:cs typeface="Courier New" pitchFamily="34" charset="-120"/>
              </a:rPr>
              <a:t>ngrok version 3.x.x</a:t>
            </a:r>
            <a:endParaRPr lang="en-US" sz="1500" dirty="0"/>
          </a:p>
        </p:txBody>
      </p:sp>
      <p:sp>
        <p:nvSpPr>
          <p:cNvPr id="14" name="Text 12"/>
          <p:cNvSpPr txBox="1"/>
          <p:nvPr/>
        </p:nvSpPr>
        <p:spPr>
          <a:xfrm>
            <a:off x="6070427" y="1358798"/>
            <a:ext cx="609722"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Windows</a:t>
            </a:r>
            <a:endParaRPr lang="en-US" sz="1000" dirty="0"/>
          </a:p>
        </p:txBody>
      </p:sp>
      <p:sp>
        <p:nvSpPr>
          <p:cNvPr id="15" name="Text 13"/>
          <p:cNvSpPr txBox="1"/>
          <p:nvPr/>
        </p:nvSpPr>
        <p:spPr>
          <a:xfrm>
            <a:off x="6070427" y="1706088"/>
            <a:ext cx="368320" cy="238110"/>
          </a:xfrm>
          <a:prstGeom prst="rect">
            <a:avLst/>
          </a:prstGeom>
          <a:noFill/>
          <a:ln/>
        </p:spPr>
        <p:txBody>
          <a:bodyPr wrap="square" lIns="0" tIns="0" rIns="0" bIns="0" rtlCol="0" anchor="ctr"/>
          <a:lstStyle/>
          <a:p>
            <a:pPr algn="l" indent="0" marL="0">
              <a:buNone/>
            </a:pPr>
            <a:r>
              <a:rPr lang="en-US" sz="1250" b="1" dirty="0">
                <a:solidFill>
                  <a:srgbClr val="0066FF"/>
                </a:solidFill>
                <a:latin typeface="Arial" pitchFamily="34" charset="0"/>
                <a:ea typeface="Arial" pitchFamily="34" charset="-122"/>
                <a:cs typeface="Arial" pitchFamily="34" charset="-120"/>
              </a:rPr>
              <a:t>1.</a:t>
            </a:r>
            <a:endParaRPr lang="en-US" sz="1250" dirty="0"/>
          </a:p>
        </p:txBody>
      </p:sp>
      <p:sp>
        <p:nvSpPr>
          <p:cNvPr id="16" name="Text 14"/>
          <p:cNvSpPr txBox="1"/>
          <p:nvPr/>
        </p:nvSpPr>
        <p:spPr>
          <a:xfrm>
            <a:off x="6375197" y="1731508"/>
            <a:ext cx="2778953"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Tải file zip ở </a:t>
            </a:r>
            <a:pPr algn="l" indent="0" marL="0">
              <a:buNone/>
            </a:pPr>
            <a:r>
              <a:rPr lang="en-US" sz="1250" dirty="0">
                <a:solidFill>
                  <a:srgbClr val="3F454D"/>
                </a:solidFill>
                <a:latin typeface="Courier New" pitchFamily="34" charset="0"/>
                <a:ea typeface="Courier New" pitchFamily="34" charset="-122"/>
                <a:cs typeface="Courier New" pitchFamily="34" charset="-120"/>
              </a:rPr>
              <a:t>ngrok.com/download</a:t>
            </a:r>
            <a:endParaRPr lang="en-US" sz="1250" dirty="0"/>
          </a:p>
        </p:txBody>
      </p:sp>
      <p:sp>
        <p:nvSpPr>
          <p:cNvPr id="17" name="Text 15"/>
          <p:cNvSpPr txBox="1"/>
          <p:nvPr/>
        </p:nvSpPr>
        <p:spPr>
          <a:xfrm>
            <a:off x="6070427" y="2045879"/>
            <a:ext cx="368320" cy="238110"/>
          </a:xfrm>
          <a:prstGeom prst="rect">
            <a:avLst/>
          </a:prstGeom>
          <a:noFill/>
          <a:ln/>
        </p:spPr>
        <p:txBody>
          <a:bodyPr wrap="square" lIns="0" tIns="0" rIns="0" bIns="0" rtlCol="0" anchor="ctr"/>
          <a:lstStyle/>
          <a:p>
            <a:pPr algn="l" indent="0" marL="0">
              <a:buNone/>
            </a:pPr>
            <a:r>
              <a:rPr lang="en-US" sz="1250" b="1" dirty="0">
                <a:solidFill>
                  <a:srgbClr val="0066FF"/>
                </a:solidFill>
                <a:latin typeface="Arial" pitchFamily="34" charset="0"/>
                <a:ea typeface="Arial" pitchFamily="34" charset="-122"/>
                <a:cs typeface="Arial" pitchFamily="34" charset="-120"/>
              </a:rPr>
              <a:t>2.</a:t>
            </a:r>
            <a:endParaRPr lang="en-US" sz="1250" dirty="0"/>
          </a:p>
        </p:txBody>
      </p:sp>
      <p:sp>
        <p:nvSpPr>
          <p:cNvPr id="18" name="Text 16"/>
          <p:cNvSpPr txBox="1"/>
          <p:nvPr/>
        </p:nvSpPr>
        <p:spPr>
          <a:xfrm>
            <a:off x="6375197" y="2071207"/>
            <a:ext cx="2040575"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Giải nén ra file </a:t>
            </a:r>
            <a:pPr algn="l" indent="0" marL="0">
              <a:buNone/>
            </a:pPr>
            <a:r>
              <a:rPr lang="en-US" sz="1250" dirty="0">
                <a:solidFill>
                  <a:srgbClr val="3F454D"/>
                </a:solidFill>
                <a:latin typeface="Courier New" pitchFamily="34" charset="0"/>
                <a:ea typeface="Courier New" pitchFamily="34" charset="-122"/>
                <a:cs typeface="Courier New" pitchFamily="34" charset="-120"/>
              </a:rPr>
              <a:t>ngrok.exe</a:t>
            </a:r>
            <a:endParaRPr lang="en-US" sz="1250" dirty="0"/>
          </a:p>
        </p:txBody>
      </p:sp>
      <p:sp>
        <p:nvSpPr>
          <p:cNvPr id="19" name="Text 17"/>
          <p:cNvSpPr txBox="1"/>
          <p:nvPr/>
        </p:nvSpPr>
        <p:spPr>
          <a:xfrm>
            <a:off x="6070427" y="2385578"/>
            <a:ext cx="368320" cy="238110"/>
          </a:xfrm>
          <a:prstGeom prst="rect">
            <a:avLst/>
          </a:prstGeom>
          <a:noFill/>
          <a:ln/>
        </p:spPr>
        <p:txBody>
          <a:bodyPr wrap="square" lIns="0" tIns="0" rIns="0" bIns="0" rtlCol="0" anchor="ctr"/>
          <a:lstStyle/>
          <a:p>
            <a:pPr algn="l" indent="0" marL="0">
              <a:buNone/>
            </a:pPr>
            <a:r>
              <a:rPr lang="en-US" sz="1250" b="1" dirty="0">
                <a:solidFill>
                  <a:srgbClr val="0066FF"/>
                </a:solidFill>
                <a:latin typeface="Arial" pitchFamily="34" charset="0"/>
                <a:ea typeface="Arial" pitchFamily="34" charset="-122"/>
                <a:cs typeface="Arial" pitchFamily="34" charset="-120"/>
              </a:rPr>
              <a:t>3.</a:t>
            </a:r>
            <a:endParaRPr lang="en-US" sz="1250" dirty="0"/>
          </a:p>
        </p:txBody>
      </p:sp>
      <p:sp>
        <p:nvSpPr>
          <p:cNvPr id="20" name="Text 18"/>
          <p:cNvSpPr txBox="1"/>
          <p:nvPr/>
        </p:nvSpPr>
        <p:spPr>
          <a:xfrm>
            <a:off x="6375197" y="2410998"/>
            <a:ext cx="3432749" cy="238110"/>
          </a:xfrm>
          <a:prstGeom prst="rect">
            <a:avLst/>
          </a:prstGeom>
          <a:noFill/>
          <a:ln/>
        </p:spPr>
        <p:txBody>
          <a:bodyPr wrap="square" lIns="0" tIns="0" rIns="0" bIns="0" rtlCol="0" anchor="ctr"/>
          <a:lstStyle/>
          <a:p>
            <a:pPr algn="l" indent="0" marL="0">
              <a:buNone/>
            </a:pPr>
            <a:r>
              <a:rPr lang="en-US" sz="1250" dirty="0">
                <a:solidFill>
                  <a:srgbClr val="3F454D"/>
                </a:solidFill>
                <a:latin typeface="Arial" pitchFamily="34" charset="0"/>
                <a:ea typeface="Arial" pitchFamily="34" charset="-122"/>
                <a:cs typeface="Arial" pitchFamily="34" charset="-120"/>
              </a:rPr>
              <a:t>Bỏ vào chung thư mục với </a:t>
            </a:r>
            <a:pPr algn="l" indent="0" marL="0">
              <a:buNone/>
            </a:pPr>
            <a:r>
              <a:rPr lang="en-US" sz="1250" dirty="0">
                <a:solidFill>
                  <a:srgbClr val="3F454D"/>
                </a:solidFill>
                <a:latin typeface="Courier New" pitchFamily="34" charset="0"/>
                <a:ea typeface="Courier New" pitchFamily="34" charset="-122"/>
                <a:cs typeface="Courier New" pitchFamily="34" charset="-120"/>
              </a:rPr>
              <a:t>ShopStart.java</a:t>
            </a:r>
            <a:endParaRPr lang="en-US" sz="1250" dirty="0"/>
          </a:p>
        </p:txBody>
      </p:sp>
      <p:sp>
        <p:nvSpPr>
          <p:cNvPr id="21" name="Shape 19"/>
          <p:cNvSpPr/>
          <p:nvPr/>
        </p:nvSpPr>
        <p:spPr>
          <a:xfrm>
            <a:off x="6070427" y="2760208"/>
            <a:ext cx="5460888" cy="625450"/>
          </a:xfrm>
          <a:prstGeom prst="roundRect">
            <a:avLst>
              <a:gd name="adj" fmla="val 16243"/>
            </a:avLst>
          </a:prstGeom>
          <a:solidFill>
            <a:srgbClr val="0C131E"/>
          </a:solidFill>
          <a:ln/>
        </p:spPr>
      </p:sp>
      <p:sp>
        <p:nvSpPr>
          <p:cNvPr id="22" name="Text 20"/>
          <p:cNvSpPr txBox="1"/>
          <p:nvPr/>
        </p:nvSpPr>
        <p:spPr>
          <a:xfrm>
            <a:off x="6318047" y="2951958"/>
            <a:ext cx="2302368"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.\ngrok.exe version</a:t>
            </a:r>
            <a:endParaRPr lang="en-US" sz="1500" dirty="0"/>
          </a:p>
        </p:txBody>
      </p:sp>
      <p:sp>
        <p:nvSpPr>
          <p:cNvPr id="23" name="Text 21"/>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4" name="Text 22"/>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16</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077712"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3 – ngrok</a:t>
            </a:r>
            <a:endParaRPr lang="en-US" sz="1100" dirty="0"/>
          </a:p>
        </p:txBody>
      </p:sp>
      <p:sp>
        <p:nvSpPr>
          <p:cNvPr id="3" name="Text 1"/>
          <p:cNvSpPr txBox="1"/>
          <p:nvPr/>
        </p:nvSpPr>
        <p:spPr>
          <a:xfrm>
            <a:off x="660380" y="643829"/>
            <a:ext cx="4620372"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Bước 3: Thêm authtoken</a:t>
            </a:r>
            <a:endParaRPr lang="en-US" sz="3000" dirty="0"/>
          </a:p>
        </p:txBody>
      </p:sp>
      <p:sp>
        <p:nvSpPr>
          <p:cNvPr id="4" name="Text 2"/>
          <p:cNvSpPr txBox="1"/>
          <p:nvPr/>
        </p:nvSpPr>
        <p:spPr>
          <a:xfrm>
            <a:off x="660380" y="133667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1.</a:t>
            </a:r>
            <a:endParaRPr lang="en-US" sz="1400" dirty="0"/>
          </a:p>
        </p:txBody>
      </p:sp>
      <p:sp>
        <p:nvSpPr>
          <p:cNvPr id="5" name="Text 3"/>
          <p:cNvSpPr txBox="1"/>
          <p:nvPr/>
        </p:nvSpPr>
        <p:spPr>
          <a:xfrm>
            <a:off x="965149" y="1368400"/>
            <a:ext cx="5590276"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Vào </a:t>
            </a:r>
            <a:pPr algn="l" indent="0" marL="0">
              <a:buNone/>
            </a:pPr>
            <a:r>
              <a:rPr lang="en-US" sz="1400" dirty="0">
                <a:solidFill>
                  <a:srgbClr val="3F454D"/>
                </a:solidFill>
                <a:latin typeface="Courier New" pitchFamily="34" charset="0"/>
                <a:ea typeface="Courier New" pitchFamily="34" charset="-122"/>
                <a:cs typeface="Courier New" pitchFamily="34" charset="-120"/>
              </a:rPr>
              <a:t>dashboard.ngrok.com/get-started/your-authtoken</a:t>
            </a:r>
            <a:endParaRPr lang="en-US" sz="1400" dirty="0"/>
          </a:p>
        </p:txBody>
      </p:sp>
      <p:sp>
        <p:nvSpPr>
          <p:cNvPr id="6" name="Text 4"/>
          <p:cNvSpPr txBox="1"/>
          <p:nvPr/>
        </p:nvSpPr>
        <p:spPr>
          <a:xfrm>
            <a:off x="660380" y="170499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2.</a:t>
            </a:r>
            <a:endParaRPr lang="en-US" sz="1400" dirty="0"/>
          </a:p>
        </p:txBody>
      </p:sp>
      <p:sp>
        <p:nvSpPr>
          <p:cNvPr id="7" name="Text 5"/>
          <p:cNvSpPr txBox="1"/>
          <p:nvPr/>
        </p:nvSpPr>
        <p:spPr>
          <a:xfrm>
            <a:off x="965149" y="1736720"/>
            <a:ext cx="5147706"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Ở mục Command line, bấm nút copy (có sẵn token của mình)</a:t>
            </a:r>
            <a:endParaRPr lang="en-US" sz="1400" dirty="0"/>
          </a:p>
        </p:txBody>
      </p:sp>
      <p:sp>
        <p:nvSpPr>
          <p:cNvPr id="8" name="Text 6"/>
          <p:cNvSpPr txBox="1"/>
          <p:nvPr/>
        </p:nvSpPr>
        <p:spPr>
          <a:xfrm>
            <a:off x="660380" y="2060600"/>
            <a:ext cx="368320" cy="266730"/>
          </a:xfrm>
          <a:prstGeom prst="rect">
            <a:avLst/>
          </a:prstGeom>
          <a:noFill/>
          <a:ln/>
        </p:spPr>
        <p:txBody>
          <a:bodyPr wrap="square" lIns="0" tIns="0" rIns="0" bIns="0" rtlCol="0" anchor="ctr"/>
          <a:lstStyle/>
          <a:p>
            <a:pPr algn="l" indent="0" marL="0">
              <a:buNone/>
            </a:pPr>
            <a:r>
              <a:rPr lang="en-US" sz="1400" b="1" dirty="0">
                <a:solidFill>
                  <a:srgbClr val="0066FF"/>
                </a:solidFill>
                <a:latin typeface="Arial" pitchFamily="34" charset="0"/>
                <a:ea typeface="Arial" pitchFamily="34" charset="-122"/>
                <a:cs typeface="Arial" pitchFamily="34" charset="-120"/>
              </a:rPr>
              <a:t>3.</a:t>
            </a:r>
            <a:endParaRPr lang="en-US" sz="1400" dirty="0"/>
          </a:p>
        </p:txBody>
      </p:sp>
      <p:sp>
        <p:nvSpPr>
          <p:cNvPr id="9" name="Text 7"/>
          <p:cNvSpPr txBox="1"/>
          <p:nvPr/>
        </p:nvSpPr>
        <p:spPr>
          <a:xfrm>
            <a:off x="965149" y="2092330"/>
            <a:ext cx="2189348"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Dán vào terminal rồi Enter</a:t>
            </a:r>
            <a:endParaRPr lang="en-US" sz="1400" dirty="0"/>
          </a:p>
        </p:txBody>
      </p:sp>
      <p:sp>
        <p:nvSpPr>
          <p:cNvPr id="10" name="Shape 8"/>
          <p:cNvSpPr/>
          <p:nvPr/>
        </p:nvSpPr>
        <p:spPr>
          <a:xfrm>
            <a:off x="660380" y="2515697"/>
            <a:ext cx="10870936" cy="1510863"/>
          </a:xfrm>
          <a:prstGeom prst="roundRect">
            <a:avLst>
              <a:gd name="adj" fmla="val 6724"/>
            </a:avLst>
          </a:prstGeom>
          <a:solidFill>
            <a:srgbClr val="0C131E"/>
          </a:solidFill>
          <a:ln/>
        </p:spPr>
      </p:sp>
      <p:sp>
        <p:nvSpPr>
          <p:cNvPr id="11" name="Text 9"/>
          <p:cNvSpPr txBox="1"/>
          <p:nvPr/>
        </p:nvSpPr>
        <p:spPr>
          <a:xfrm>
            <a:off x="907999" y="2703424"/>
            <a:ext cx="3586825"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ngrok config add-authtoken 2abc...XyZ</a:t>
            </a:r>
            <a:endParaRPr lang="en-US" sz="1200" dirty="0"/>
          </a:p>
        </p:txBody>
      </p:sp>
      <p:sp>
        <p:nvSpPr>
          <p:cNvPr id="12" name="Text 10"/>
          <p:cNvSpPr txBox="1"/>
          <p:nvPr/>
        </p:nvSpPr>
        <p:spPr>
          <a:xfrm>
            <a:off x="907999" y="3175711"/>
            <a:ext cx="1357244" cy="236190"/>
          </a:xfrm>
          <a:prstGeom prst="rect">
            <a:avLst/>
          </a:prstGeom>
          <a:noFill/>
          <a:ln/>
        </p:spPr>
        <p:txBody>
          <a:bodyPr wrap="none" lIns="0" tIns="0" rIns="0" bIns="0" rtlCol="0" anchor="ctr"/>
          <a:lstStyle/>
          <a:p>
            <a:pPr algn="l" indent="0" marL="0">
              <a:buNone/>
            </a:pPr>
            <a:r>
              <a:rPr lang="en-US" sz="1200" dirty="0">
                <a:solidFill>
                  <a:srgbClr val="7D8CA3"/>
                </a:solidFill>
                <a:latin typeface="Courier New" pitchFamily="34" charset="0"/>
                <a:ea typeface="Courier New" pitchFamily="34" charset="-122"/>
                <a:cs typeface="Courier New" pitchFamily="34" charset="-120"/>
              </a:rPr>
              <a:t># kiểm tra lại</a:t>
            </a:r>
            <a:endParaRPr lang="en-US" sz="1200" dirty="0"/>
          </a:p>
        </p:txBody>
      </p:sp>
      <p:sp>
        <p:nvSpPr>
          <p:cNvPr id="13" name="Text 11"/>
          <p:cNvSpPr txBox="1"/>
          <p:nvPr/>
        </p:nvSpPr>
        <p:spPr>
          <a:xfrm>
            <a:off x="907999" y="3411809"/>
            <a:ext cx="1744950"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ngrok config check</a:t>
            </a:r>
            <a:endParaRPr lang="en-US" sz="1200" dirty="0"/>
          </a:p>
        </p:txBody>
      </p:sp>
      <p:sp>
        <p:nvSpPr>
          <p:cNvPr id="14" name="Text 12"/>
          <p:cNvSpPr txBox="1"/>
          <p:nvPr/>
        </p:nvSpPr>
        <p:spPr>
          <a:xfrm>
            <a:off x="907999" y="3647999"/>
            <a:ext cx="3974531" cy="236190"/>
          </a:xfrm>
          <a:prstGeom prst="rect">
            <a:avLst/>
          </a:prstGeom>
          <a:noFill/>
          <a:ln/>
        </p:spPr>
        <p:txBody>
          <a:bodyPr wrap="none" lIns="0" tIns="0" rIns="0" bIns="0" rtlCol="0" anchor="ctr"/>
          <a:lstStyle/>
          <a:p>
            <a:pPr algn="l" indent="0" marL="0">
              <a:buNone/>
            </a:pPr>
            <a:r>
              <a:rPr lang="en-US" sz="1200" dirty="0">
                <a:solidFill>
                  <a:srgbClr val="FFD479"/>
                </a:solidFill>
                <a:latin typeface="Courier New" pitchFamily="34" charset="0"/>
                <a:ea typeface="Courier New" pitchFamily="34" charset="-122"/>
                <a:cs typeface="Courier New" pitchFamily="34" charset="-120"/>
              </a:rPr>
              <a:t>Valid configuration file at .../ngrok.yml</a:t>
            </a:r>
            <a:endParaRPr lang="en-US" sz="1200" dirty="0"/>
          </a:p>
        </p:txBody>
      </p:sp>
      <p:sp>
        <p:nvSpPr>
          <p:cNvPr id="15" name="Text 13"/>
          <p:cNvSpPr txBox="1"/>
          <p:nvPr/>
        </p:nvSpPr>
        <p:spPr>
          <a:xfrm>
            <a:off x="660380" y="4231020"/>
            <a:ext cx="5502951" cy="285750"/>
          </a:xfrm>
          <a:prstGeom prst="rect">
            <a:avLst/>
          </a:prstGeom>
          <a:noFill/>
          <a:ln/>
        </p:spPr>
        <p:txBody>
          <a:bodyPr wrap="square" lIns="0" tIns="0" rIns="0" bIns="0" rtlCol="0" anchor="ctr"/>
          <a:lstStyle/>
          <a:p>
            <a:pPr algn="l" indent="0" marL="0">
              <a:buNone/>
            </a:pPr>
            <a:r>
              <a:rPr lang="en-US" sz="1500" dirty="0">
                <a:solidFill>
                  <a:srgbClr val="3F454D"/>
                </a:solidFill>
                <a:latin typeface="Arial" pitchFamily="34" charset="0"/>
                <a:ea typeface="Arial" pitchFamily="34" charset="-122"/>
                <a:cs typeface="Arial" pitchFamily="34" charset="-120"/>
              </a:rPr>
              <a:t>Nếu báo </a:t>
            </a:r>
            <a:pPr algn="l" indent="0" marL="0">
              <a:buNone/>
            </a:pPr>
            <a:r>
              <a:rPr lang="en-US" sz="1500" dirty="0">
                <a:solidFill>
                  <a:srgbClr val="3F454D"/>
                </a:solidFill>
                <a:latin typeface="Courier New" pitchFamily="34" charset="0"/>
                <a:ea typeface="Courier New" pitchFamily="34" charset="-122"/>
                <a:cs typeface="Courier New" pitchFamily="34" charset="-120"/>
              </a:rPr>
              <a:t>no such file</a:t>
            </a:r>
            <a:pPr algn="l" indent="0" marL="0">
              <a:buNone/>
            </a:pPr>
            <a:r>
              <a:rPr lang="en-US" sz="1500" dirty="0">
                <a:solidFill>
                  <a:srgbClr val="3F454D"/>
                </a:solidFill>
                <a:latin typeface="Arial" pitchFamily="34" charset="0"/>
                <a:ea typeface="Arial" pitchFamily="34" charset="-122"/>
                <a:cs typeface="Arial" pitchFamily="34" charset="-120"/>
              </a:rPr>
              <a:t> là chưa thêm được, làm lại bước 2.</a:t>
            </a:r>
            <a:endParaRPr lang="en-US" sz="1500" dirty="0"/>
          </a:p>
        </p:txBody>
      </p:sp>
      <p:sp>
        <p:nvSpPr>
          <p:cNvPr id="16" name="Text 14"/>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17" name="Text 15"/>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17</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077712"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3 – ngrok</a:t>
            </a:r>
            <a:endParaRPr lang="en-US" sz="1100" dirty="0"/>
          </a:p>
        </p:txBody>
      </p:sp>
      <p:sp>
        <p:nvSpPr>
          <p:cNvPr id="3" name="Text 1"/>
          <p:cNvSpPr txBox="1"/>
          <p:nvPr/>
        </p:nvSpPr>
        <p:spPr>
          <a:xfrm>
            <a:off x="660380" y="643829"/>
            <a:ext cx="3755532"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Bước 4: Chạy ngrok</a:t>
            </a:r>
            <a:endParaRPr lang="en-US" sz="3000" dirty="0"/>
          </a:p>
        </p:txBody>
      </p:sp>
      <p:sp>
        <p:nvSpPr>
          <p:cNvPr id="4" name="Shape 2"/>
          <p:cNvSpPr/>
          <p:nvPr/>
        </p:nvSpPr>
        <p:spPr>
          <a:xfrm>
            <a:off x="660380" y="1347368"/>
            <a:ext cx="10870936" cy="625450"/>
          </a:xfrm>
          <a:prstGeom prst="roundRect">
            <a:avLst>
              <a:gd name="adj" fmla="val 16243"/>
            </a:avLst>
          </a:prstGeom>
          <a:solidFill>
            <a:srgbClr val="0C131E"/>
          </a:solidFill>
          <a:ln/>
        </p:spPr>
      </p:sp>
      <p:sp>
        <p:nvSpPr>
          <p:cNvPr id="5" name="Text 3"/>
          <p:cNvSpPr txBox="1"/>
          <p:nvPr/>
        </p:nvSpPr>
        <p:spPr>
          <a:xfrm>
            <a:off x="907999" y="1539118"/>
            <a:ext cx="6907012" cy="295260"/>
          </a:xfrm>
          <a:prstGeom prst="rect">
            <a:avLst/>
          </a:prstGeom>
          <a:noFill/>
          <a:ln/>
        </p:spPr>
        <p:txBody>
          <a:bodyPr wrap="none" lIns="0" tIns="0" rIns="0" bIns="0" rtlCol="0" anchor="ctr"/>
          <a:lstStyle/>
          <a:p>
            <a:pPr algn="l" indent="0" marL="0">
              <a:buNone/>
            </a:pPr>
            <a:r>
              <a:rPr lang="en-US" sz="1500" dirty="0">
                <a:solidFill>
                  <a:srgbClr val="E6EDF7"/>
                </a:solidFill>
                <a:latin typeface="Courier New" pitchFamily="34" charset="0"/>
                <a:ea typeface="Courier New" pitchFamily="34" charset="-122"/>
                <a:cs typeface="Courier New" pitchFamily="34" charset="-120"/>
              </a:rPr>
              <a:t>ngrok http 8080          </a:t>
            </a:r>
            <a:pPr algn="l" indent="0" marL="0">
              <a:buNone/>
            </a:pPr>
            <a:r>
              <a:rPr lang="en-US" sz="1500" dirty="0">
                <a:solidFill>
                  <a:srgbClr val="7D8CA3"/>
                </a:solidFill>
                <a:latin typeface="Courier New" pitchFamily="34" charset="0"/>
                <a:ea typeface="Courier New" pitchFamily="34" charset="-122"/>
                <a:cs typeface="Courier New" pitchFamily="34" charset="-120"/>
              </a:rPr>
              <a:t># Windows: .\ngrok.exe http 8080</a:t>
            </a:r>
            <a:endParaRPr lang="en-US" sz="1500" dirty="0"/>
          </a:p>
        </p:txBody>
      </p:sp>
      <p:sp>
        <p:nvSpPr>
          <p:cNvPr id="6" name="Shape 4"/>
          <p:cNvSpPr/>
          <p:nvPr/>
        </p:nvSpPr>
        <p:spPr>
          <a:xfrm>
            <a:off x="660380" y="2150577"/>
            <a:ext cx="10870936" cy="802477"/>
          </a:xfrm>
          <a:prstGeom prst="roundRect">
            <a:avLst>
              <a:gd name="adj" fmla="val 12660"/>
            </a:avLst>
          </a:prstGeom>
          <a:solidFill>
            <a:srgbClr val="0C131E"/>
          </a:solidFill>
          <a:ln/>
        </p:spPr>
      </p:sp>
      <p:sp>
        <p:nvSpPr>
          <p:cNvPr id="7" name="Text 5"/>
          <p:cNvSpPr txBox="1"/>
          <p:nvPr/>
        </p:nvSpPr>
        <p:spPr>
          <a:xfrm>
            <a:off x="907999" y="2338304"/>
            <a:ext cx="2326599"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Session Status    online</a:t>
            </a:r>
            <a:endParaRPr lang="en-US" sz="1200" dirty="0"/>
          </a:p>
        </p:txBody>
      </p:sp>
      <p:sp>
        <p:nvSpPr>
          <p:cNvPr id="8" name="Shape 6"/>
          <p:cNvSpPr/>
          <p:nvPr/>
        </p:nvSpPr>
        <p:spPr>
          <a:xfrm>
            <a:off x="660380" y="2551816"/>
            <a:ext cx="10870936" cy="236098"/>
          </a:xfrm>
          <a:prstGeom prst="rect">
            <a:avLst/>
          </a:prstGeom>
          <a:solidFill>
            <a:srgbClr val="FFD479">
              <a:alpha val="13000"/>
            </a:srgbClr>
          </a:solidFill>
          <a:ln/>
        </p:spPr>
      </p:sp>
      <p:sp>
        <p:nvSpPr>
          <p:cNvPr id="9" name="Shape 7"/>
          <p:cNvSpPr/>
          <p:nvPr/>
        </p:nvSpPr>
        <p:spPr>
          <a:xfrm>
            <a:off x="660380" y="2551816"/>
            <a:ext cx="31730" cy="236098"/>
          </a:xfrm>
          <a:prstGeom prst="rect">
            <a:avLst/>
          </a:prstGeom>
          <a:solidFill>
            <a:srgbClr val="FFD479"/>
          </a:solidFill>
          <a:ln/>
        </p:spPr>
      </p:sp>
      <p:sp>
        <p:nvSpPr>
          <p:cNvPr id="10" name="Text 8"/>
          <p:cNvSpPr txBox="1"/>
          <p:nvPr/>
        </p:nvSpPr>
        <p:spPr>
          <a:xfrm>
            <a:off x="907999" y="2574493"/>
            <a:ext cx="8239933"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Forwarding        https://a1b2-42-115-242-109.ngrok-free.app -&gt; http://localhost:8080</a:t>
            </a:r>
            <a:endParaRPr lang="en-US" sz="1200" dirty="0"/>
          </a:p>
        </p:txBody>
      </p:sp>
      <p:sp>
        <p:nvSpPr>
          <p:cNvPr id="11" name="Shape 9"/>
          <p:cNvSpPr/>
          <p:nvPr/>
        </p:nvSpPr>
        <p:spPr>
          <a:xfrm>
            <a:off x="698510" y="3253801"/>
            <a:ext cx="63459" cy="63459"/>
          </a:xfrm>
          <a:prstGeom prst="ellipse">
            <a:avLst/>
          </a:prstGeom>
          <a:solidFill>
            <a:srgbClr val="0066FF"/>
          </a:solidFill>
          <a:ln/>
        </p:spPr>
      </p:sp>
      <p:sp>
        <p:nvSpPr>
          <p:cNvPr id="12" name="Text 10"/>
          <p:cNvSpPr txBox="1"/>
          <p:nvPr/>
        </p:nvSpPr>
        <p:spPr>
          <a:xfrm>
            <a:off x="876270" y="3151937"/>
            <a:ext cx="4984303"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Copy link https ở dòng Forwarding, chạy lại ngrok là link đổi</a:t>
            </a:r>
            <a:endParaRPr lang="en-US" sz="1400" dirty="0"/>
          </a:p>
        </p:txBody>
      </p:sp>
      <p:sp>
        <p:nvSpPr>
          <p:cNvPr id="13" name="Shape 11"/>
          <p:cNvSpPr/>
          <p:nvPr/>
        </p:nvSpPr>
        <p:spPr>
          <a:xfrm>
            <a:off x="698510" y="3609411"/>
            <a:ext cx="63459" cy="63459"/>
          </a:xfrm>
          <a:prstGeom prst="ellipse">
            <a:avLst/>
          </a:prstGeom>
          <a:solidFill>
            <a:srgbClr val="0066FF"/>
          </a:solidFill>
          <a:ln/>
        </p:spPr>
      </p:sp>
      <p:sp>
        <p:nvSpPr>
          <p:cNvPr id="14" name="Text 12"/>
          <p:cNvSpPr txBox="1"/>
          <p:nvPr/>
        </p:nvSpPr>
        <p:spPr>
          <a:xfrm>
            <a:off x="876270" y="3507547"/>
            <a:ext cx="4942606"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Để yên cửa sổ ngrok, mở thêm terminal khác để chạy Java</a:t>
            </a:r>
            <a:endParaRPr lang="en-US" sz="1400" dirty="0"/>
          </a:p>
        </p:txBody>
      </p:sp>
      <p:sp>
        <p:nvSpPr>
          <p:cNvPr id="15" name="Shape 13"/>
          <p:cNvSpPr/>
          <p:nvPr/>
        </p:nvSpPr>
        <p:spPr>
          <a:xfrm>
            <a:off x="698510" y="3965021"/>
            <a:ext cx="63459" cy="63459"/>
          </a:xfrm>
          <a:prstGeom prst="ellipse">
            <a:avLst/>
          </a:prstGeom>
          <a:solidFill>
            <a:srgbClr val="0066FF"/>
          </a:solidFill>
          <a:ln/>
        </p:spPr>
      </p:sp>
      <p:sp>
        <p:nvSpPr>
          <p:cNvPr id="16" name="Text 14"/>
          <p:cNvSpPr txBox="1"/>
          <p:nvPr/>
        </p:nvSpPr>
        <p:spPr>
          <a:xfrm>
            <a:off x="876270" y="3863157"/>
            <a:ext cx="5766938"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Mở link bằng trình duyệt lần đầu sẽ có trang cảnh báo, bấm Visit Site</a:t>
            </a:r>
            <a:endParaRPr lang="en-US" sz="1400" dirty="0"/>
          </a:p>
        </p:txBody>
      </p:sp>
      <p:sp>
        <p:nvSpPr>
          <p:cNvPr id="17" name="Text 15"/>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18" name="Text 16"/>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18</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077712"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3 – ngrok</a:t>
            </a:r>
            <a:endParaRPr lang="en-US" sz="1100" dirty="0"/>
          </a:p>
        </p:txBody>
      </p:sp>
      <p:sp>
        <p:nvSpPr>
          <p:cNvPr id="3" name="Text 1"/>
          <p:cNvSpPr txBox="1"/>
          <p:nvPr/>
        </p:nvSpPr>
        <p:spPr>
          <a:xfrm>
            <a:off x="660380" y="643829"/>
            <a:ext cx="7634051"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Bước 5: Khai URL trên VNPAY và chạy lại</a:t>
            </a:r>
            <a:endParaRPr lang="en-US" sz="3000" dirty="0"/>
          </a:p>
        </p:txBody>
      </p:sp>
      <p:sp>
        <p:nvSpPr>
          <p:cNvPr id="4" name="Text 2"/>
          <p:cNvSpPr txBox="1"/>
          <p:nvPr/>
        </p:nvSpPr>
        <p:spPr>
          <a:xfrm>
            <a:off x="660380" y="1374069"/>
            <a:ext cx="7198705" cy="285750"/>
          </a:xfrm>
          <a:prstGeom prst="rect">
            <a:avLst/>
          </a:prstGeom>
          <a:noFill/>
          <a:ln/>
        </p:spPr>
        <p:txBody>
          <a:bodyPr wrap="square" lIns="0" tIns="0" rIns="0" bIns="0" rtlCol="0" anchor="ctr"/>
          <a:lstStyle/>
          <a:p>
            <a:pPr algn="l" indent="0" marL="0">
              <a:buNone/>
            </a:pPr>
            <a:r>
              <a:rPr lang="en-US" sz="1500" dirty="0">
                <a:solidFill>
                  <a:srgbClr val="3F454D"/>
                </a:solidFill>
                <a:latin typeface="Arial" pitchFamily="34" charset="0"/>
                <a:ea typeface="Arial" pitchFamily="34" charset="-122"/>
                <a:cs typeface="Arial" pitchFamily="34" charset="-120"/>
              </a:rPr>
              <a:t>Vào </a:t>
            </a:r>
            <a:pPr algn="l" indent="0" marL="0">
              <a:buNone/>
            </a:pPr>
            <a:r>
              <a:rPr lang="en-US" sz="1500" dirty="0">
                <a:solidFill>
                  <a:srgbClr val="3F454D"/>
                </a:solidFill>
                <a:latin typeface="Courier New" pitchFamily="34" charset="0"/>
                <a:ea typeface="Courier New" pitchFamily="34" charset="-122"/>
                <a:cs typeface="Courier New" pitchFamily="34" charset="-120"/>
              </a:rPr>
              <a:t>sandbox.vnpayment.vn/merchantv2</a:t>
            </a:r>
            <a:pPr algn="l" indent="0" marL="0">
              <a:buNone/>
            </a:pPr>
            <a:r>
              <a:rPr lang="en-US" sz="1500" dirty="0">
                <a:solidFill>
                  <a:srgbClr val="3F454D"/>
                </a:solidFill>
                <a:latin typeface="Arial" pitchFamily="34" charset="0"/>
                <a:ea typeface="Arial" pitchFamily="34" charset="-122"/>
                <a:cs typeface="Arial" pitchFamily="34" charset="-120"/>
              </a:rPr>
              <a:t> → Cấu hình → Thông tin website</a:t>
            </a:r>
            <a:endParaRPr lang="en-US" sz="1500" dirty="0"/>
          </a:p>
        </p:txBody>
      </p:sp>
      <p:sp>
        <p:nvSpPr>
          <p:cNvPr id="5" name="Shape 3"/>
          <p:cNvSpPr/>
          <p:nvPr/>
        </p:nvSpPr>
        <p:spPr>
          <a:xfrm>
            <a:off x="660380" y="1829989"/>
            <a:ext cx="10870936" cy="1193749"/>
          </a:xfrm>
          <a:prstGeom prst="roundRect">
            <a:avLst>
              <a:gd name="adj" fmla="val 8510"/>
            </a:avLst>
          </a:prstGeom>
          <a:solidFill>
            <a:srgbClr val="FFFFFF"/>
          </a:solidFill>
          <a:ln/>
        </p:spPr>
      </p:sp>
      <p:sp>
        <p:nvSpPr>
          <p:cNvPr id="6" name="Shape 4"/>
          <p:cNvSpPr/>
          <p:nvPr/>
        </p:nvSpPr>
        <p:spPr>
          <a:xfrm>
            <a:off x="660380" y="1829989"/>
            <a:ext cx="3261208" cy="422270"/>
          </a:xfrm>
          <a:prstGeom prst="rect">
            <a:avLst/>
          </a:prstGeom>
          <a:solidFill>
            <a:srgbClr val="ECF2FF"/>
          </a:solidFill>
          <a:ln/>
        </p:spPr>
      </p:sp>
      <p:sp>
        <p:nvSpPr>
          <p:cNvPr id="7" name="Text 5"/>
          <p:cNvSpPr txBox="1"/>
          <p:nvPr/>
        </p:nvSpPr>
        <p:spPr>
          <a:xfrm>
            <a:off x="825520" y="1962028"/>
            <a:ext cx="384505"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MỤC</a:t>
            </a:r>
            <a:endParaRPr lang="en-US" sz="1000" dirty="0"/>
          </a:p>
        </p:txBody>
      </p:sp>
      <p:sp>
        <p:nvSpPr>
          <p:cNvPr id="8" name="Shape 6"/>
          <p:cNvSpPr/>
          <p:nvPr/>
        </p:nvSpPr>
        <p:spPr>
          <a:xfrm>
            <a:off x="3921587" y="1829989"/>
            <a:ext cx="7609728" cy="422270"/>
          </a:xfrm>
          <a:prstGeom prst="rect">
            <a:avLst/>
          </a:prstGeom>
          <a:solidFill>
            <a:srgbClr val="ECF2FF"/>
          </a:solidFill>
          <a:ln/>
        </p:spPr>
      </p:sp>
      <p:sp>
        <p:nvSpPr>
          <p:cNvPr id="9" name="Text 7"/>
          <p:cNvSpPr txBox="1"/>
          <p:nvPr/>
        </p:nvSpPr>
        <p:spPr>
          <a:xfrm>
            <a:off x="4086728" y="1962028"/>
            <a:ext cx="405079"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ĐIỀN</a:t>
            </a:r>
            <a:endParaRPr lang="en-US" sz="1000" dirty="0"/>
          </a:p>
        </p:txBody>
      </p:sp>
      <p:sp>
        <p:nvSpPr>
          <p:cNvPr id="10" name="Shape 8"/>
          <p:cNvSpPr/>
          <p:nvPr/>
        </p:nvSpPr>
        <p:spPr>
          <a:xfrm>
            <a:off x="660380" y="2252167"/>
            <a:ext cx="3261208" cy="6309"/>
          </a:xfrm>
          <a:prstGeom prst="rect">
            <a:avLst/>
          </a:prstGeom>
          <a:solidFill>
            <a:srgbClr val="E3E6EA"/>
          </a:solidFill>
          <a:ln/>
        </p:spPr>
      </p:sp>
      <p:sp>
        <p:nvSpPr>
          <p:cNvPr id="11" name="Text 9"/>
          <p:cNvSpPr txBox="1"/>
          <p:nvPr/>
        </p:nvSpPr>
        <p:spPr>
          <a:xfrm>
            <a:off x="800100" y="2353026"/>
            <a:ext cx="804032"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URL trả về</a:t>
            </a:r>
            <a:endParaRPr lang="en-US" sz="1150" dirty="0"/>
          </a:p>
        </p:txBody>
      </p:sp>
      <p:sp>
        <p:nvSpPr>
          <p:cNvPr id="12" name="Shape 10"/>
          <p:cNvSpPr/>
          <p:nvPr/>
        </p:nvSpPr>
        <p:spPr>
          <a:xfrm>
            <a:off x="3921587" y="2252167"/>
            <a:ext cx="7609728" cy="6309"/>
          </a:xfrm>
          <a:prstGeom prst="rect">
            <a:avLst/>
          </a:prstGeom>
          <a:solidFill>
            <a:srgbClr val="E3E6EA"/>
          </a:solidFill>
          <a:ln/>
        </p:spPr>
      </p:sp>
      <p:sp>
        <p:nvSpPr>
          <p:cNvPr id="13" name="Text 11"/>
          <p:cNvSpPr txBox="1"/>
          <p:nvPr/>
        </p:nvSpPr>
        <p:spPr>
          <a:xfrm>
            <a:off x="4061308" y="2347813"/>
            <a:ext cx="3877605"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https://&lt;id&gt;.ngrok-free.app/vnpay/return</a:t>
            </a:r>
            <a:endParaRPr lang="en-US" sz="1200" dirty="0"/>
          </a:p>
        </p:txBody>
      </p:sp>
      <p:sp>
        <p:nvSpPr>
          <p:cNvPr id="14" name="Shape 12"/>
          <p:cNvSpPr/>
          <p:nvPr/>
        </p:nvSpPr>
        <p:spPr>
          <a:xfrm>
            <a:off x="660380" y="2639507"/>
            <a:ext cx="3261208" cy="6309"/>
          </a:xfrm>
          <a:prstGeom prst="rect">
            <a:avLst/>
          </a:prstGeom>
          <a:solidFill>
            <a:srgbClr val="E3E6EA"/>
          </a:solidFill>
          <a:ln/>
        </p:spPr>
      </p:sp>
      <p:sp>
        <p:nvSpPr>
          <p:cNvPr id="15" name="Text 13"/>
          <p:cNvSpPr txBox="1"/>
          <p:nvPr/>
        </p:nvSpPr>
        <p:spPr>
          <a:xfrm>
            <a:off x="800100" y="2740365"/>
            <a:ext cx="1614282" cy="219090"/>
          </a:xfrm>
          <a:prstGeom prst="rect">
            <a:avLst/>
          </a:prstGeom>
          <a:noFill/>
          <a:ln/>
        </p:spPr>
        <p:txBody>
          <a:bodyPr wrap="square" lIns="0" tIns="0" rIns="0" bIns="0" rtlCol="0" anchor="ctr"/>
          <a:lstStyle/>
          <a:p>
            <a:pPr algn="l" indent="0" marL="0">
              <a:buNone/>
            </a:pPr>
            <a:r>
              <a:rPr lang="en-US" sz="1150" b="1" dirty="0">
                <a:solidFill>
                  <a:srgbClr val="111111"/>
                </a:solidFill>
                <a:latin typeface="Arial" pitchFamily="34" charset="0"/>
                <a:ea typeface="Arial" pitchFamily="34" charset="-122"/>
                <a:cs typeface="Arial" pitchFamily="34" charset="-120"/>
              </a:rPr>
              <a:t>URL nhận kết quả IPN</a:t>
            </a:r>
            <a:endParaRPr lang="en-US" sz="1150" dirty="0"/>
          </a:p>
        </p:txBody>
      </p:sp>
      <p:sp>
        <p:nvSpPr>
          <p:cNvPr id="16" name="Shape 14"/>
          <p:cNvSpPr/>
          <p:nvPr/>
        </p:nvSpPr>
        <p:spPr>
          <a:xfrm>
            <a:off x="3921587" y="2639507"/>
            <a:ext cx="7609728" cy="6309"/>
          </a:xfrm>
          <a:prstGeom prst="rect">
            <a:avLst/>
          </a:prstGeom>
          <a:solidFill>
            <a:srgbClr val="E3E6EA"/>
          </a:solidFill>
          <a:ln/>
        </p:spPr>
      </p:sp>
      <p:sp>
        <p:nvSpPr>
          <p:cNvPr id="17" name="Text 15"/>
          <p:cNvSpPr txBox="1"/>
          <p:nvPr/>
        </p:nvSpPr>
        <p:spPr>
          <a:xfrm>
            <a:off x="4061308" y="2735153"/>
            <a:ext cx="3586825"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https://&lt;id&gt;.ngrok-free.app/vnpay/ipn</a:t>
            </a:r>
            <a:endParaRPr lang="en-US" sz="1200" dirty="0"/>
          </a:p>
        </p:txBody>
      </p:sp>
      <p:sp>
        <p:nvSpPr>
          <p:cNvPr id="18" name="Text 16"/>
          <p:cNvSpPr txBox="1"/>
          <p:nvPr/>
        </p:nvSpPr>
        <p:spPr>
          <a:xfrm>
            <a:off x="660380" y="3212927"/>
            <a:ext cx="990752"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macOS, Linux</a:t>
            </a:r>
            <a:endParaRPr lang="en-US" sz="1000" dirty="0"/>
          </a:p>
        </p:txBody>
      </p:sp>
      <p:sp>
        <p:nvSpPr>
          <p:cNvPr id="19" name="Shape 17"/>
          <p:cNvSpPr/>
          <p:nvPr/>
        </p:nvSpPr>
        <p:spPr>
          <a:xfrm>
            <a:off x="660380" y="3455518"/>
            <a:ext cx="10870936" cy="743499"/>
          </a:xfrm>
          <a:prstGeom prst="roundRect">
            <a:avLst>
              <a:gd name="adj" fmla="val 13664"/>
            </a:avLst>
          </a:prstGeom>
          <a:solidFill>
            <a:srgbClr val="0C131E"/>
          </a:solidFill>
          <a:ln/>
        </p:spPr>
      </p:sp>
      <p:sp>
        <p:nvSpPr>
          <p:cNvPr id="20" name="Shape 18"/>
          <p:cNvSpPr/>
          <p:nvPr/>
        </p:nvSpPr>
        <p:spPr>
          <a:xfrm>
            <a:off x="660380" y="3620567"/>
            <a:ext cx="10870936" cy="206654"/>
          </a:xfrm>
          <a:prstGeom prst="rect">
            <a:avLst/>
          </a:prstGeom>
          <a:solidFill>
            <a:srgbClr val="FFD479">
              <a:alpha val="13000"/>
            </a:srgbClr>
          </a:solidFill>
          <a:ln/>
        </p:spPr>
      </p:sp>
      <p:sp>
        <p:nvSpPr>
          <p:cNvPr id="21" name="Shape 19"/>
          <p:cNvSpPr/>
          <p:nvPr/>
        </p:nvSpPr>
        <p:spPr>
          <a:xfrm>
            <a:off x="660380" y="3620567"/>
            <a:ext cx="31730" cy="206654"/>
          </a:xfrm>
          <a:prstGeom prst="rect">
            <a:avLst/>
          </a:prstGeom>
          <a:solidFill>
            <a:srgbClr val="FFD479"/>
          </a:solidFill>
          <a:ln/>
        </p:spPr>
      </p:sp>
      <p:sp>
        <p:nvSpPr>
          <p:cNvPr id="22" name="Text 20"/>
          <p:cNvSpPr txBox="1"/>
          <p:nvPr/>
        </p:nvSpPr>
        <p:spPr>
          <a:xfrm>
            <a:off x="907999" y="3638032"/>
            <a:ext cx="5428610"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export VNPAY_RETURN_URL=https://&lt;id&gt;.ngrok-free.app/vnpay/return</a:t>
            </a:r>
            <a:endParaRPr lang="en-US" sz="1050" dirty="0"/>
          </a:p>
        </p:txBody>
      </p:sp>
      <p:sp>
        <p:nvSpPr>
          <p:cNvPr id="23" name="Text 21"/>
          <p:cNvSpPr txBox="1"/>
          <p:nvPr/>
        </p:nvSpPr>
        <p:spPr>
          <a:xfrm>
            <a:off x="907999" y="3844686"/>
            <a:ext cx="1611721"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java ShopStart.java</a:t>
            </a:r>
            <a:endParaRPr lang="en-US" sz="1050" dirty="0"/>
          </a:p>
        </p:txBody>
      </p:sp>
      <p:sp>
        <p:nvSpPr>
          <p:cNvPr id="24" name="Text 22"/>
          <p:cNvSpPr txBox="1"/>
          <p:nvPr/>
        </p:nvSpPr>
        <p:spPr>
          <a:xfrm>
            <a:off x="660380" y="4388297"/>
            <a:ext cx="1615745"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Windows (PowerShell)</a:t>
            </a:r>
            <a:endParaRPr lang="en-US" sz="1000" dirty="0"/>
          </a:p>
        </p:txBody>
      </p:sp>
      <p:sp>
        <p:nvSpPr>
          <p:cNvPr id="25" name="Shape 23"/>
          <p:cNvSpPr/>
          <p:nvPr/>
        </p:nvSpPr>
        <p:spPr>
          <a:xfrm>
            <a:off x="660380" y="4630796"/>
            <a:ext cx="10870936" cy="743499"/>
          </a:xfrm>
          <a:prstGeom prst="roundRect">
            <a:avLst>
              <a:gd name="adj" fmla="val 13664"/>
            </a:avLst>
          </a:prstGeom>
          <a:solidFill>
            <a:srgbClr val="0C131E"/>
          </a:solidFill>
          <a:ln/>
        </p:spPr>
      </p:sp>
      <p:sp>
        <p:nvSpPr>
          <p:cNvPr id="26" name="Shape 24"/>
          <p:cNvSpPr/>
          <p:nvPr/>
        </p:nvSpPr>
        <p:spPr>
          <a:xfrm>
            <a:off x="660380" y="4795937"/>
            <a:ext cx="10870936" cy="206654"/>
          </a:xfrm>
          <a:prstGeom prst="rect">
            <a:avLst/>
          </a:prstGeom>
          <a:solidFill>
            <a:srgbClr val="FFD479">
              <a:alpha val="13000"/>
            </a:srgbClr>
          </a:solidFill>
          <a:ln/>
        </p:spPr>
      </p:sp>
      <p:sp>
        <p:nvSpPr>
          <p:cNvPr id="27" name="Shape 25"/>
          <p:cNvSpPr/>
          <p:nvPr/>
        </p:nvSpPr>
        <p:spPr>
          <a:xfrm>
            <a:off x="660380" y="4795937"/>
            <a:ext cx="31730" cy="206654"/>
          </a:xfrm>
          <a:prstGeom prst="rect">
            <a:avLst/>
          </a:prstGeom>
          <a:solidFill>
            <a:srgbClr val="FFD479"/>
          </a:solidFill>
          <a:ln/>
        </p:spPr>
      </p:sp>
      <p:sp>
        <p:nvSpPr>
          <p:cNvPr id="28" name="Text 26"/>
          <p:cNvSpPr txBox="1"/>
          <p:nvPr/>
        </p:nvSpPr>
        <p:spPr>
          <a:xfrm>
            <a:off x="907999" y="4813310"/>
            <a:ext cx="5428610"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$env:VNPAY_RETURN_URL="https://&lt;id&gt;.ngrok-free.app/vnpay/return"</a:t>
            </a:r>
            <a:endParaRPr lang="en-US" sz="1050" dirty="0"/>
          </a:p>
        </p:txBody>
      </p:sp>
      <p:sp>
        <p:nvSpPr>
          <p:cNvPr id="29" name="Text 27"/>
          <p:cNvSpPr txBox="1"/>
          <p:nvPr/>
        </p:nvSpPr>
        <p:spPr>
          <a:xfrm>
            <a:off x="907999" y="5019965"/>
            <a:ext cx="1611721" cy="206654"/>
          </a:xfrm>
          <a:prstGeom prst="rect">
            <a:avLst/>
          </a:prstGeom>
          <a:noFill/>
          <a:ln/>
        </p:spPr>
        <p:txBody>
          <a:bodyPr wrap="none" lIns="0" tIns="0" rIns="0" bIns="0" rtlCol="0" anchor="ctr"/>
          <a:lstStyle/>
          <a:p>
            <a:pPr algn="l" indent="0" marL="0">
              <a:buNone/>
            </a:pPr>
            <a:r>
              <a:rPr lang="en-US" sz="1050" dirty="0">
                <a:solidFill>
                  <a:srgbClr val="E6EDF7"/>
                </a:solidFill>
                <a:latin typeface="Courier New" pitchFamily="34" charset="0"/>
                <a:ea typeface="Courier New" pitchFamily="34" charset="-122"/>
                <a:cs typeface="Courier New" pitchFamily="34" charset="-120"/>
              </a:rPr>
              <a:t>java ShopStart.java</a:t>
            </a:r>
            <a:endParaRPr lang="en-US" sz="1050" dirty="0"/>
          </a:p>
        </p:txBody>
      </p:sp>
      <p:sp>
        <p:nvSpPr>
          <p:cNvPr id="30" name="Text 28"/>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1" name="Text 29"/>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19</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922538"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4 – IPN</a:t>
            </a:r>
            <a:endParaRPr lang="en-US" sz="1100" dirty="0"/>
          </a:p>
        </p:txBody>
      </p:sp>
      <p:sp>
        <p:nvSpPr>
          <p:cNvPr id="3" name="Text 1"/>
          <p:cNvSpPr txBox="1"/>
          <p:nvPr/>
        </p:nvSpPr>
        <p:spPr>
          <a:xfrm>
            <a:off x="660380" y="643829"/>
            <a:ext cx="4662068"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TODO 6 – Hàm handleIpn</a:t>
            </a:r>
            <a:endParaRPr lang="en-US" sz="3000" dirty="0"/>
          </a:p>
        </p:txBody>
      </p:sp>
      <p:sp>
        <p:nvSpPr>
          <p:cNvPr id="4" name="Text 2"/>
          <p:cNvSpPr txBox="1"/>
          <p:nvPr/>
        </p:nvSpPr>
        <p:spPr>
          <a:xfrm>
            <a:off x="660380" y="1358798"/>
            <a:ext cx="1143183"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ShopStart.java</a:t>
            </a:r>
            <a:endParaRPr lang="en-US" sz="1000" dirty="0"/>
          </a:p>
        </p:txBody>
      </p:sp>
      <p:sp>
        <p:nvSpPr>
          <p:cNvPr id="5" name="Shape 3"/>
          <p:cNvSpPr/>
          <p:nvPr/>
        </p:nvSpPr>
        <p:spPr>
          <a:xfrm>
            <a:off x="660380" y="1601389"/>
            <a:ext cx="7077182" cy="4359768"/>
          </a:xfrm>
          <a:prstGeom prst="roundRect">
            <a:avLst>
              <a:gd name="adj" fmla="val 2330"/>
            </a:avLst>
          </a:prstGeom>
          <a:solidFill>
            <a:srgbClr val="0C131E"/>
          </a:solidFill>
          <a:ln/>
        </p:spPr>
      </p:sp>
      <p:sp>
        <p:nvSpPr>
          <p:cNvPr id="6" name="Text 4"/>
          <p:cNvSpPr txBox="1"/>
          <p:nvPr/>
        </p:nvSpPr>
        <p:spPr>
          <a:xfrm>
            <a:off x="907999" y="1784452"/>
            <a:ext cx="4174602" cy="191933"/>
          </a:xfrm>
          <a:prstGeom prst="rect">
            <a:avLst/>
          </a:prstGeom>
          <a:noFill/>
          <a:ln/>
        </p:spPr>
        <p:txBody>
          <a:bodyPr wrap="none" lIns="0" tIns="0" rIns="0" bIns="0" rtlCol="0" anchor="ctr"/>
          <a:lstStyle/>
          <a:p>
            <a:pPr algn="l" indent="0" marL="0">
              <a:buNone/>
            </a:pPr>
            <a:r>
              <a:rPr lang="en-US" sz="980" dirty="0">
                <a:solidFill>
                  <a:srgbClr val="7FC2FF"/>
                </a:solidFill>
                <a:latin typeface="Courier New" pitchFamily="34" charset="0"/>
                <a:ea typeface="Courier New" pitchFamily="34" charset="-122"/>
                <a:cs typeface="Courier New" pitchFamily="34" charset="-120"/>
              </a:rPr>
              <a:t>static</a:t>
            </a:r>
            <a:pPr algn="l" indent="0" marL="0">
              <a:buNone/>
            </a:pPr>
            <a:r>
              <a:rPr lang="en-US" sz="980" dirty="0">
                <a:solidFill>
                  <a:srgbClr val="E6EDF7"/>
                </a:solidFill>
                <a:latin typeface="Courier New" pitchFamily="34" charset="0"/>
                <a:ea typeface="Courier New" pitchFamily="34" charset="-122"/>
                <a:cs typeface="Courier New" pitchFamily="34" charset="-120"/>
              </a:rPr>
              <a:t> String handleIpn(Map&lt;String, String&gt; params) {</a:t>
            </a:r>
            <a:endParaRPr lang="en-US" sz="980" dirty="0"/>
          </a:p>
        </p:txBody>
      </p:sp>
      <p:sp>
        <p:nvSpPr>
          <p:cNvPr id="7" name="Shape 5"/>
          <p:cNvSpPr/>
          <p:nvPr/>
        </p:nvSpPr>
        <p:spPr>
          <a:xfrm>
            <a:off x="660380" y="1958370"/>
            <a:ext cx="7077182" cy="191841"/>
          </a:xfrm>
          <a:prstGeom prst="rect">
            <a:avLst/>
          </a:prstGeom>
          <a:solidFill>
            <a:srgbClr val="FFD479">
              <a:alpha val="13000"/>
            </a:srgbClr>
          </a:solidFill>
          <a:ln/>
        </p:spPr>
      </p:sp>
      <p:sp>
        <p:nvSpPr>
          <p:cNvPr id="8" name="Shape 6"/>
          <p:cNvSpPr/>
          <p:nvPr/>
        </p:nvSpPr>
        <p:spPr>
          <a:xfrm>
            <a:off x="660380" y="1958370"/>
            <a:ext cx="31730" cy="191841"/>
          </a:xfrm>
          <a:prstGeom prst="rect">
            <a:avLst/>
          </a:prstGeom>
          <a:solidFill>
            <a:srgbClr val="FFD479"/>
          </a:solidFill>
          <a:ln/>
        </p:spPr>
      </p:sp>
      <p:sp>
        <p:nvSpPr>
          <p:cNvPr id="9" name="Text 7"/>
          <p:cNvSpPr txBox="1"/>
          <p:nvPr/>
        </p:nvSpPr>
        <p:spPr>
          <a:xfrm>
            <a:off x="907999" y="1976293"/>
            <a:ext cx="567129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if</a:t>
            </a:r>
            <a:pPr algn="l" indent="0" marL="0">
              <a:buNone/>
            </a:pPr>
            <a:r>
              <a:rPr lang="en-US" sz="980" dirty="0">
                <a:solidFill>
                  <a:srgbClr val="E6EDF7"/>
                </a:solidFill>
                <a:latin typeface="Courier New" pitchFamily="34" charset="0"/>
                <a:ea typeface="Courier New" pitchFamily="34" charset="-122"/>
                <a:cs typeface="Courier New" pitchFamily="34" charset="-120"/>
              </a:rPr>
              <a:t> (!isValidSignature(params))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rsp(</a:t>
            </a:r>
            <a:pPr algn="l" indent="0" marL="0">
              <a:buNone/>
            </a:pPr>
            <a:r>
              <a:rPr lang="en-US" sz="980" dirty="0">
                <a:solidFill>
                  <a:srgbClr val="9BE3B4"/>
                </a:solidFill>
                <a:latin typeface="Courier New" pitchFamily="34" charset="0"/>
                <a:ea typeface="Courier New" pitchFamily="34" charset="-122"/>
                <a:cs typeface="Courier New" pitchFamily="34" charset="-120"/>
              </a:rPr>
              <a:t>"97"</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"Invalid Checksum"</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0" name="Text 8"/>
          <p:cNvSpPr txBox="1"/>
          <p:nvPr/>
        </p:nvSpPr>
        <p:spPr>
          <a:xfrm>
            <a:off x="907999" y="2360066"/>
            <a:ext cx="4332153"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Order order = ORDERS.get(params.get(</a:t>
            </a:r>
            <a:pPr algn="l" indent="0" marL="0">
              <a:buNone/>
            </a:pPr>
            <a:r>
              <a:rPr lang="en-US" sz="980" dirty="0">
                <a:solidFill>
                  <a:srgbClr val="9BE3B4"/>
                </a:solidFill>
                <a:latin typeface="Courier New" pitchFamily="34" charset="0"/>
                <a:ea typeface="Courier New" pitchFamily="34" charset="-122"/>
                <a:cs typeface="Courier New" pitchFamily="34" charset="-120"/>
              </a:rPr>
              <a:t>"vnp_TxnRef"</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1" name="Shape 9"/>
          <p:cNvSpPr/>
          <p:nvPr/>
        </p:nvSpPr>
        <p:spPr>
          <a:xfrm>
            <a:off x="660380" y="2533985"/>
            <a:ext cx="7077182" cy="191841"/>
          </a:xfrm>
          <a:prstGeom prst="rect">
            <a:avLst/>
          </a:prstGeom>
          <a:solidFill>
            <a:srgbClr val="FFD479">
              <a:alpha val="13000"/>
            </a:srgbClr>
          </a:solidFill>
          <a:ln/>
        </p:spPr>
      </p:sp>
      <p:sp>
        <p:nvSpPr>
          <p:cNvPr id="12" name="Shape 10"/>
          <p:cNvSpPr/>
          <p:nvPr/>
        </p:nvSpPr>
        <p:spPr>
          <a:xfrm>
            <a:off x="660380" y="2533985"/>
            <a:ext cx="31730" cy="191841"/>
          </a:xfrm>
          <a:prstGeom prst="rect">
            <a:avLst/>
          </a:prstGeom>
          <a:solidFill>
            <a:srgbClr val="FFD479"/>
          </a:solidFill>
          <a:ln/>
        </p:spPr>
      </p:sp>
      <p:sp>
        <p:nvSpPr>
          <p:cNvPr id="13" name="Text 11"/>
          <p:cNvSpPr txBox="1"/>
          <p:nvPr/>
        </p:nvSpPr>
        <p:spPr>
          <a:xfrm>
            <a:off x="907999" y="2551999"/>
            <a:ext cx="4647438"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if</a:t>
            </a:r>
            <a:pPr algn="l" indent="0" marL="0">
              <a:buNone/>
            </a:pPr>
            <a:r>
              <a:rPr lang="en-US" sz="980" dirty="0">
                <a:solidFill>
                  <a:srgbClr val="E6EDF7"/>
                </a:solidFill>
                <a:latin typeface="Courier New" pitchFamily="34" charset="0"/>
                <a:ea typeface="Courier New" pitchFamily="34" charset="-122"/>
                <a:cs typeface="Courier New" pitchFamily="34" charset="-120"/>
              </a:rPr>
              <a:t> (order == </a:t>
            </a:r>
            <a:pPr algn="l" indent="0" marL="0">
              <a:buNone/>
            </a:pPr>
            <a:r>
              <a:rPr lang="en-US" sz="980" dirty="0">
                <a:solidFill>
                  <a:srgbClr val="7FC2FF"/>
                </a:solidFill>
                <a:latin typeface="Courier New" pitchFamily="34" charset="0"/>
                <a:ea typeface="Courier New" pitchFamily="34" charset="-122"/>
                <a:cs typeface="Courier New" pitchFamily="34" charset="-120"/>
              </a:rPr>
              <a:t>null</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rsp(</a:t>
            </a:r>
            <a:pPr algn="l" indent="0" marL="0">
              <a:buNone/>
            </a:pPr>
            <a:r>
              <a:rPr lang="en-US" sz="980" dirty="0">
                <a:solidFill>
                  <a:srgbClr val="9BE3B4"/>
                </a:solidFill>
                <a:latin typeface="Courier New" pitchFamily="34" charset="0"/>
                <a:ea typeface="Courier New" pitchFamily="34" charset="-122"/>
                <a:cs typeface="Courier New" pitchFamily="34" charset="-120"/>
              </a:rPr>
              <a:t>"01"</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"Order not Found"</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4" name="Text 12"/>
          <p:cNvSpPr txBox="1"/>
          <p:nvPr/>
        </p:nvSpPr>
        <p:spPr>
          <a:xfrm>
            <a:off x="907999" y="2935681"/>
            <a:ext cx="6774058"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if</a:t>
            </a:r>
            <a:pPr algn="l" indent="0" marL="0">
              <a:buNone/>
            </a:pPr>
            <a:r>
              <a:rPr lang="en-US" sz="980" dirty="0">
                <a:solidFill>
                  <a:srgbClr val="E6EDF7"/>
                </a:solidFill>
                <a:latin typeface="Courier New" pitchFamily="34" charset="0"/>
                <a:ea typeface="Courier New" pitchFamily="34" charset="-122"/>
                <a:cs typeface="Courier New" pitchFamily="34" charset="-120"/>
              </a:rPr>
              <a:t> (Long.parseLong(params.getOrDefault(</a:t>
            </a:r>
            <a:pPr algn="l" indent="0" marL="0">
              <a:buNone/>
            </a:pPr>
            <a:r>
              <a:rPr lang="en-US" sz="980" dirty="0">
                <a:solidFill>
                  <a:srgbClr val="9BE3B4"/>
                </a:solidFill>
                <a:latin typeface="Courier New" pitchFamily="34" charset="0"/>
                <a:ea typeface="Courier New" pitchFamily="34" charset="-122"/>
                <a:cs typeface="Courier New" pitchFamily="34" charset="-120"/>
              </a:rPr>
              <a:t>"vnp_Amount"</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"-1"</a:t>
            </a:r>
            <a:pPr algn="l" indent="0" marL="0">
              <a:buNone/>
            </a:pPr>
            <a:r>
              <a:rPr lang="en-US" sz="980" dirty="0">
                <a:solidFill>
                  <a:srgbClr val="E6EDF7"/>
                </a:solidFill>
                <a:latin typeface="Courier New" pitchFamily="34" charset="0"/>
                <a:ea typeface="Courier New" pitchFamily="34" charset="-122"/>
                <a:cs typeface="Courier New" pitchFamily="34" charset="-120"/>
              </a:rPr>
              <a:t>)) != order.amount * 100)</a:t>
            </a:r>
            <a:endParaRPr lang="en-US" sz="980" dirty="0"/>
          </a:p>
        </p:txBody>
      </p:sp>
      <p:sp>
        <p:nvSpPr>
          <p:cNvPr id="15" name="Shape 13"/>
          <p:cNvSpPr/>
          <p:nvPr/>
        </p:nvSpPr>
        <p:spPr>
          <a:xfrm>
            <a:off x="660380" y="3109600"/>
            <a:ext cx="7077182" cy="191841"/>
          </a:xfrm>
          <a:prstGeom prst="rect">
            <a:avLst/>
          </a:prstGeom>
          <a:solidFill>
            <a:srgbClr val="FFD479">
              <a:alpha val="13000"/>
            </a:srgbClr>
          </a:solidFill>
          <a:ln/>
        </p:spPr>
      </p:sp>
      <p:sp>
        <p:nvSpPr>
          <p:cNvPr id="16" name="Shape 14"/>
          <p:cNvSpPr/>
          <p:nvPr/>
        </p:nvSpPr>
        <p:spPr>
          <a:xfrm>
            <a:off x="660380" y="3109600"/>
            <a:ext cx="31730" cy="191841"/>
          </a:xfrm>
          <a:prstGeom prst="rect">
            <a:avLst/>
          </a:prstGeom>
          <a:solidFill>
            <a:srgbClr val="FFD479"/>
          </a:solidFill>
          <a:ln/>
        </p:spPr>
      </p:sp>
      <p:sp>
        <p:nvSpPr>
          <p:cNvPr id="17" name="Text 15"/>
          <p:cNvSpPr txBox="1"/>
          <p:nvPr/>
        </p:nvSpPr>
        <p:spPr>
          <a:xfrm>
            <a:off x="907999" y="3127614"/>
            <a:ext cx="338712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rsp(</a:t>
            </a:r>
            <a:pPr algn="l" indent="0" marL="0">
              <a:buNone/>
            </a:pPr>
            <a:r>
              <a:rPr lang="en-US" sz="980" dirty="0">
                <a:solidFill>
                  <a:srgbClr val="9BE3B4"/>
                </a:solidFill>
                <a:latin typeface="Courier New" pitchFamily="34" charset="0"/>
                <a:ea typeface="Courier New" pitchFamily="34" charset="-122"/>
                <a:cs typeface="Courier New" pitchFamily="34" charset="-120"/>
              </a:rPr>
              <a:t>"04"</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"Invalid Amount"</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18" name="Text 16"/>
          <p:cNvSpPr txBox="1"/>
          <p:nvPr/>
        </p:nvSpPr>
        <p:spPr>
          <a:xfrm>
            <a:off x="907999" y="3511387"/>
            <a:ext cx="2048073"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synchronized</a:t>
            </a:r>
            <a:pPr algn="l" indent="0" marL="0">
              <a:buNone/>
            </a:pPr>
            <a:r>
              <a:rPr lang="en-US" sz="980" dirty="0">
                <a:solidFill>
                  <a:srgbClr val="E6EDF7"/>
                </a:solidFill>
                <a:latin typeface="Courier New" pitchFamily="34" charset="0"/>
                <a:ea typeface="Courier New" pitchFamily="34" charset="-122"/>
                <a:cs typeface="Courier New" pitchFamily="34" charset="-120"/>
              </a:rPr>
              <a:t> (order) {</a:t>
            </a:r>
            <a:endParaRPr lang="en-US" sz="980" dirty="0"/>
          </a:p>
        </p:txBody>
      </p:sp>
      <p:sp>
        <p:nvSpPr>
          <p:cNvPr id="19" name="Shape 17"/>
          <p:cNvSpPr/>
          <p:nvPr/>
        </p:nvSpPr>
        <p:spPr>
          <a:xfrm>
            <a:off x="660380" y="3685306"/>
            <a:ext cx="7077182" cy="191841"/>
          </a:xfrm>
          <a:prstGeom prst="rect">
            <a:avLst/>
          </a:prstGeom>
          <a:solidFill>
            <a:srgbClr val="FFD479">
              <a:alpha val="13000"/>
            </a:srgbClr>
          </a:solidFill>
          <a:ln/>
        </p:spPr>
      </p:sp>
      <p:sp>
        <p:nvSpPr>
          <p:cNvPr id="20" name="Shape 18"/>
          <p:cNvSpPr/>
          <p:nvPr/>
        </p:nvSpPr>
        <p:spPr>
          <a:xfrm>
            <a:off x="660380" y="3685306"/>
            <a:ext cx="31730" cy="191841"/>
          </a:xfrm>
          <a:prstGeom prst="rect">
            <a:avLst/>
          </a:prstGeom>
          <a:solidFill>
            <a:srgbClr val="FFD479"/>
          </a:solidFill>
          <a:ln/>
        </p:spPr>
      </p:sp>
      <p:sp>
        <p:nvSpPr>
          <p:cNvPr id="21" name="Text 19"/>
          <p:cNvSpPr txBox="1"/>
          <p:nvPr/>
        </p:nvSpPr>
        <p:spPr>
          <a:xfrm>
            <a:off x="907999" y="3703229"/>
            <a:ext cx="701052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if</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"PENDING"</a:t>
            </a:r>
            <a:pPr algn="l" indent="0" marL="0">
              <a:buNone/>
            </a:pPr>
            <a:r>
              <a:rPr lang="en-US" sz="980" dirty="0">
                <a:solidFill>
                  <a:srgbClr val="E6EDF7"/>
                </a:solidFill>
                <a:latin typeface="Courier New" pitchFamily="34" charset="0"/>
                <a:ea typeface="Courier New" pitchFamily="34" charset="-122"/>
                <a:cs typeface="Courier New" pitchFamily="34" charset="-120"/>
              </a:rPr>
              <a:t>.equals(order.status))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rsp(</a:t>
            </a:r>
            <a:pPr algn="l" indent="0" marL="0">
              <a:buNone/>
            </a:pPr>
            <a:r>
              <a:rPr lang="en-US" sz="980" dirty="0">
                <a:solidFill>
                  <a:srgbClr val="9BE3B4"/>
                </a:solidFill>
                <a:latin typeface="Courier New" pitchFamily="34" charset="0"/>
                <a:ea typeface="Courier New" pitchFamily="34" charset="-122"/>
                <a:cs typeface="Courier New" pitchFamily="34" charset="-120"/>
              </a:rPr>
              <a:t>"02"</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"Order already confirmed"</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2" name="Text 20"/>
          <p:cNvSpPr txBox="1"/>
          <p:nvPr/>
        </p:nvSpPr>
        <p:spPr>
          <a:xfrm>
            <a:off x="907999" y="4087002"/>
            <a:ext cx="519873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boolean</a:t>
            </a:r>
            <a:pPr algn="l" indent="0" marL="0">
              <a:buNone/>
            </a:pPr>
            <a:r>
              <a:rPr lang="en-US" sz="980" dirty="0">
                <a:solidFill>
                  <a:srgbClr val="E6EDF7"/>
                </a:solidFill>
                <a:latin typeface="Courier New" pitchFamily="34" charset="0"/>
                <a:ea typeface="Courier New" pitchFamily="34" charset="-122"/>
                <a:cs typeface="Courier New" pitchFamily="34" charset="-120"/>
              </a:rPr>
              <a:t> paid = </a:t>
            </a:r>
            <a:pPr algn="l" indent="0" marL="0">
              <a:buNone/>
            </a:pPr>
            <a:r>
              <a:rPr lang="en-US" sz="980" dirty="0">
                <a:solidFill>
                  <a:srgbClr val="9BE3B4"/>
                </a:solidFill>
                <a:latin typeface="Courier New" pitchFamily="34" charset="0"/>
                <a:ea typeface="Courier New" pitchFamily="34" charset="-122"/>
                <a:cs typeface="Courier New" pitchFamily="34" charset="-120"/>
              </a:rPr>
              <a:t>"00"</a:t>
            </a:r>
            <a:pPr algn="l" indent="0" marL="0">
              <a:buNone/>
            </a:pPr>
            <a:r>
              <a:rPr lang="en-US" sz="980" dirty="0">
                <a:solidFill>
                  <a:srgbClr val="E6EDF7"/>
                </a:solidFill>
                <a:latin typeface="Courier New" pitchFamily="34" charset="0"/>
                <a:ea typeface="Courier New" pitchFamily="34" charset="-122"/>
                <a:cs typeface="Courier New" pitchFamily="34" charset="-120"/>
              </a:rPr>
              <a:t>.equals(params.get(</a:t>
            </a:r>
            <a:pPr algn="l" indent="0" marL="0">
              <a:buNone/>
            </a:pPr>
            <a:r>
              <a:rPr lang="en-US" sz="980" dirty="0">
                <a:solidFill>
                  <a:srgbClr val="9BE3B4"/>
                </a:solidFill>
                <a:latin typeface="Courier New" pitchFamily="34" charset="0"/>
                <a:ea typeface="Courier New" pitchFamily="34" charset="-122"/>
                <a:cs typeface="Courier New" pitchFamily="34" charset="-120"/>
              </a:rPr>
              <a:t>"vnp_ResponseCode"</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3" name="Text 21"/>
          <p:cNvSpPr txBox="1"/>
          <p:nvPr/>
        </p:nvSpPr>
        <p:spPr>
          <a:xfrm>
            <a:off x="907999" y="4278935"/>
            <a:ext cx="567129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&amp;&amp; </a:t>
            </a:r>
            <a:pPr algn="l" indent="0" marL="0">
              <a:buNone/>
            </a:pPr>
            <a:r>
              <a:rPr lang="en-US" sz="980" dirty="0">
                <a:solidFill>
                  <a:srgbClr val="9BE3B4"/>
                </a:solidFill>
                <a:latin typeface="Courier New" pitchFamily="34" charset="0"/>
                <a:ea typeface="Courier New" pitchFamily="34" charset="-122"/>
                <a:cs typeface="Courier New" pitchFamily="34" charset="-120"/>
              </a:rPr>
              <a:t>"00"</a:t>
            </a:r>
            <a:pPr algn="l" indent="0" marL="0">
              <a:buNone/>
            </a:pPr>
            <a:r>
              <a:rPr lang="en-US" sz="980" dirty="0">
                <a:solidFill>
                  <a:srgbClr val="E6EDF7"/>
                </a:solidFill>
                <a:latin typeface="Courier New" pitchFamily="34" charset="0"/>
                <a:ea typeface="Courier New" pitchFamily="34" charset="-122"/>
                <a:cs typeface="Courier New" pitchFamily="34" charset="-120"/>
              </a:rPr>
              <a:t>.equals(params.get(</a:t>
            </a:r>
            <a:pPr algn="l" indent="0" marL="0">
              <a:buNone/>
            </a:pPr>
            <a:r>
              <a:rPr lang="en-US" sz="980" dirty="0">
                <a:solidFill>
                  <a:srgbClr val="9BE3B4"/>
                </a:solidFill>
                <a:latin typeface="Courier New" pitchFamily="34" charset="0"/>
                <a:ea typeface="Courier New" pitchFamily="34" charset="-122"/>
                <a:cs typeface="Courier New" pitchFamily="34" charset="-120"/>
              </a:rPr>
              <a:t>"vnp_TransactionStatus"</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4" name="Text 22"/>
          <p:cNvSpPr txBox="1"/>
          <p:nvPr/>
        </p:nvSpPr>
        <p:spPr>
          <a:xfrm>
            <a:off x="907999" y="4470776"/>
            <a:ext cx="3780861"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order.status = paid ? </a:t>
            </a:r>
            <a:pPr algn="l" indent="0" marL="0">
              <a:buNone/>
            </a:pPr>
            <a:r>
              <a:rPr lang="en-US" sz="980" dirty="0">
                <a:solidFill>
                  <a:srgbClr val="9BE3B4"/>
                </a:solidFill>
                <a:latin typeface="Courier New" pitchFamily="34" charset="0"/>
                <a:ea typeface="Courier New" pitchFamily="34" charset="-122"/>
                <a:cs typeface="Courier New" pitchFamily="34" charset="-120"/>
              </a:rPr>
              <a:t>"PAID"</a:t>
            </a:r>
            <a:pPr algn="l" indent="0" marL="0">
              <a:buNone/>
            </a:pPr>
            <a:r>
              <a:rPr lang="en-US" sz="980" dirty="0">
                <a:solidFill>
                  <a:srgbClr val="E6EDF7"/>
                </a:solidFill>
                <a:latin typeface="Courier New" pitchFamily="34" charset="0"/>
                <a:ea typeface="Courier New" pitchFamily="34" charset="-122"/>
                <a:cs typeface="Courier New" pitchFamily="34" charset="-120"/>
              </a:rPr>
              <a:t> : </a:t>
            </a:r>
            <a:pPr algn="l" indent="0" marL="0">
              <a:buNone/>
            </a:pPr>
            <a:r>
              <a:rPr lang="en-US" sz="980" dirty="0">
                <a:solidFill>
                  <a:srgbClr val="9BE3B4"/>
                </a:solidFill>
                <a:latin typeface="Courier New" pitchFamily="34" charset="0"/>
                <a:ea typeface="Courier New" pitchFamily="34" charset="-122"/>
                <a:cs typeface="Courier New" pitchFamily="34" charset="-120"/>
              </a:rPr>
              <a:t>"FAILED"</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5" name="Text 23"/>
          <p:cNvSpPr txBox="1"/>
          <p:nvPr/>
        </p:nvSpPr>
        <p:spPr>
          <a:xfrm>
            <a:off x="907999" y="4662708"/>
            <a:ext cx="5907481"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order.transactionNo = params.getOrDefault(</a:t>
            </a:r>
            <a:pPr algn="l" indent="0" marL="0">
              <a:buNone/>
            </a:pPr>
            <a:r>
              <a:rPr lang="en-US" sz="980" dirty="0">
                <a:solidFill>
                  <a:srgbClr val="9BE3B4"/>
                </a:solidFill>
                <a:latin typeface="Courier New" pitchFamily="34" charset="0"/>
                <a:ea typeface="Courier New" pitchFamily="34" charset="-122"/>
                <a:cs typeface="Courier New" pitchFamily="34" charset="-120"/>
              </a:rPr>
              <a:t>"vnp_TransactionNo"</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6" name="Text 24"/>
          <p:cNvSpPr txBox="1"/>
          <p:nvPr/>
        </p:nvSpPr>
        <p:spPr>
          <a:xfrm>
            <a:off x="907999" y="4854550"/>
            <a:ext cx="5119726"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order.bankCode = params.getOrDefault(</a:t>
            </a:r>
            <a:pPr algn="l" indent="0" marL="0">
              <a:buNone/>
            </a:pPr>
            <a:r>
              <a:rPr lang="en-US" sz="980" dirty="0">
                <a:solidFill>
                  <a:srgbClr val="9BE3B4"/>
                </a:solidFill>
                <a:latin typeface="Courier New" pitchFamily="34" charset="0"/>
                <a:ea typeface="Courier New" pitchFamily="34" charset="-122"/>
                <a:cs typeface="Courier New" pitchFamily="34" charset="-120"/>
              </a:rPr>
              <a:t>"vnp_BankCode"</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27" name="Text 25"/>
          <p:cNvSpPr txBox="1"/>
          <p:nvPr/>
        </p:nvSpPr>
        <p:spPr>
          <a:xfrm>
            <a:off x="907999" y="5046482"/>
            <a:ext cx="6852788"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log(</a:t>
            </a:r>
            <a:pPr algn="l" indent="0" marL="0">
              <a:buNone/>
            </a:pPr>
            <a:r>
              <a:rPr lang="en-US" sz="980" dirty="0">
                <a:solidFill>
                  <a:srgbClr val="9BE3B4"/>
                </a:solidFill>
                <a:latin typeface="Courier New" pitchFamily="34" charset="0"/>
                <a:ea typeface="Courier New" pitchFamily="34" charset="-122"/>
                <a:cs typeface="Courier New" pitchFamily="34" charset="-120"/>
              </a:rPr>
              <a:t>"IPN "</a:t>
            </a:r>
            <a:pPr algn="l" indent="0" marL="0">
              <a:buNone/>
            </a:pPr>
            <a:r>
              <a:rPr lang="en-US" sz="980" dirty="0">
                <a:solidFill>
                  <a:srgbClr val="E6EDF7"/>
                </a:solidFill>
                <a:latin typeface="Courier New" pitchFamily="34" charset="0"/>
                <a:ea typeface="Courier New" pitchFamily="34" charset="-122"/>
                <a:cs typeface="Courier New" pitchFamily="34" charset="-120"/>
              </a:rPr>
              <a:t> + order.txnRef + </a:t>
            </a:r>
            <a:pPr algn="l" indent="0" marL="0">
              <a:buNone/>
            </a:pPr>
            <a:r>
              <a:rPr lang="en-US" sz="980" dirty="0">
                <a:solidFill>
                  <a:srgbClr val="9BE3B4"/>
                </a:solidFill>
                <a:latin typeface="Courier New" pitchFamily="34" charset="0"/>
                <a:ea typeface="Courier New" pitchFamily="34" charset="-122"/>
                <a:cs typeface="Courier New" pitchFamily="34" charset="-120"/>
              </a:rPr>
              <a:t>" -&gt; "</a:t>
            </a:r>
            <a:pPr algn="l" indent="0" marL="0">
              <a:buNone/>
            </a:pPr>
            <a:r>
              <a:rPr lang="en-US" sz="980" dirty="0">
                <a:solidFill>
                  <a:srgbClr val="E6EDF7"/>
                </a:solidFill>
                <a:latin typeface="Courier New" pitchFamily="34" charset="0"/>
                <a:ea typeface="Courier New" pitchFamily="34" charset="-122"/>
                <a:cs typeface="Courier New" pitchFamily="34" charset="-120"/>
              </a:rPr>
              <a:t> + order.status + </a:t>
            </a:r>
            <a:pPr algn="l" indent="0" marL="0">
              <a:buNone/>
            </a:pPr>
            <a:r>
              <a:rPr lang="en-US" sz="980" dirty="0">
                <a:solidFill>
                  <a:srgbClr val="9BE3B4"/>
                </a:solidFill>
                <a:latin typeface="Courier New" pitchFamily="34" charset="0"/>
                <a:ea typeface="Courier New" pitchFamily="34" charset="-122"/>
                <a:cs typeface="Courier New" pitchFamily="34" charset="-120"/>
              </a:rPr>
              <a:t>" "</a:t>
            </a:r>
            <a:pPr algn="l" indent="0" marL="0">
              <a:buNone/>
            </a:pPr>
            <a:r>
              <a:rPr lang="en-US" sz="980" dirty="0">
                <a:solidFill>
                  <a:srgbClr val="E6EDF7"/>
                </a:solidFill>
                <a:latin typeface="Courier New" pitchFamily="34" charset="0"/>
                <a:ea typeface="Courier New" pitchFamily="34" charset="-122"/>
                <a:cs typeface="Courier New" pitchFamily="34" charset="-120"/>
              </a:rPr>
              <a:t> + order.transactionNo);</a:t>
            </a:r>
            <a:endParaRPr lang="en-US" sz="980" dirty="0"/>
          </a:p>
        </p:txBody>
      </p:sp>
      <p:sp>
        <p:nvSpPr>
          <p:cNvPr id="28" name="Text 26"/>
          <p:cNvSpPr txBox="1"/>
          <p:nvPr/>
        </p:nvSpPr>
        <p:spPr>
          <a:xfrm>
            <a:off x="907999" y="5238323"/>
            <a:ext cx="447782"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endParaRPr lang="en-US" sz="980" dirty="0"/>
          </a:p>
        </p:txBody>
      </p:sp>
      <p:sp>
        <p:nvSpPr>
          <p:cNvPr id="29" name="Shape 27"/>
          <p:cNvSpPr/>
          <p:nvPr/>
        </p:nvSpPr>
        <p:spPr>
          <a:xfrm>
            <a:off x="660380" y="5412242"/>
            <a:ext cx="7077182" cy="191841"/>
          </a:xfrm>
          <a:prstGeom prst="rect">
            <a:avLst/>
          </a:prstGeom>
          <a:solidFill>
            <a:srgbClr val="FFD479">
              <a:alpha val="13000"/>
            </a:srgbClr>
          </a:solidFill>
          <a:ln/>
        </p:spPr>
      </p:sp>
      <p:sp>
        <p:nvSpPr>
          <p:cNvPr id="30" name="Shape 28"/>
          <p:cNvSpPr/>
          <p:nvPr/>
        </p:nvSpPr>
        <p:spPr>
          <a:xfrm>
            <a:off x="660380" y="5412242"/>
            <a:ext cx="31730" cy="191841"/>
          </a:xfrm>
          <a:prstGeom prst="rect">
            <a:avLst/>
          </a:prstGeom>
          <a:solidFill>
            <a:srgbClr val="FFD479"/>
          </a:solidFill>
          <a:ln/>
        </p:spPr>
      </p:sp>
      <p:sp>
        <p:nvSpPr>
          <p:cNvPr id="31" name="Text 29"/>
          <p:cNvSpPr txBox="1"/>
          <p:nvPr/>
        </p:nvSpPr>
        <p:spPr>
          <a:xfrm>
            <a:off x="907999" y="5430256"/>
            <a:ext cx="3150748"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7FC2FF"/>
                </a:solidFill>
                <a:latin typeface="Courier New" pitchFamily="34" charset="0"/>
                <a:ea typeface="Courier New" pitchFamily="34" charset="-122"/>
                <a:cs typeface="Courier New" pitchFamily="34" charset="-120"/>
              </a:rPr>
              <a:t>return</a:t>
            </a:r>
            <a:pPr algn="l" indent="0" marL="0">
              <a:buNone/>
            </a:pPr>
            <a:r>
              <a:rPr lang="en-US" sz="980" dirty="0">
                <a:solidFill>
                  <a:srgbClr val="E6EDF7"/>
                </a:solidFill>
                <a:latin typeface="Courier New" pitchFamily="34" charset="0"/>
                <a:ea typeface="Courier New" pitchFamily="34" charset="-122"/>
                <a:cs typeface="Courier New" pitchFamily="34" charset="-120"/>
              </a:rPr>
              <a:t> rsp(</a:t>
            </a:r>
            <a:pPr algn="l" indent="0" marL="0">
              <a:buNone/>
            </a:pPr>
            <a:r>
              <a:rPr lang="en-US" sz="980" dirty="0">
                <a:solidFill>
                  <a:srgbClr val="9BE3B4"/>
                </a:solidFill>
                <a:latin typeface="Courier New" pitchFamily="34" charset="0"/>
                <a:ea typeface="Courier New" pitchFamily="34" charset="-122"/>
                <a:cs typeface="Courier New" pitchFamily="34" charset="-120"/>
              </a:rPr>
              <a:t>"00"</a:t>
            </a:r>
            <a:pPr algn="l" indent="0" marL="0">
              <a:buNone/>
            </a:pPr>
            <a:r>
              <a:rPr lang="en-US" sz="980" dirty="0">
                <a:solidFill>
                  <a:srgbClr val="E6EDF7"/>
                </a:solidFill>
                <a:latin typeface="Courier New" pitchFamily="34" charset="0"/>
                <a:ea typeface="Courier New" pitchFamily="34" charset="-122"/>
                <a:cs typeface="Courier New" pitchFamily="34" charset="-120"/>
              </a:rPr>
              <a:t>, </a:t>
            </a:r>
            <a:pPr algn="l" indent="0" marL="0">
              <a:buNone/>
            </a:pPr>
            <a:r>
              <a:rPr lang="en-US" sz="980" dirty="0">
                <a:solidFill>
                  <a:srgbClr val="9BE3B4"/>
                </a:solidFill>
                <a:latin typeface="Courier New" pitchFamily="34" charset="0"/>
                <a:ea typeface="Courier New" pitchFamily="34" charset="-122"/>
                <a:cs typeface="Courier New" pitchFamily="34" charset="-120"/>
              </a:rPr>
              <a:t>"Confirm Success"</a:t>
            </a:r>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32" name="Text 30"/>
          <p:cNvSpPr txBox="1"/>
          <p:nvPr/>
        </p:nvSpPr>
        <p:spPr>
          <a:xfrm>
            <a:off x="907999" y="5622097"/>
            <a:ext cx="150510" cy="191933"/>
          </a:xfrm>
          <a:prstGeom prst="rect">
            <a:avLst/>
          </a:prstGeom>
          <a:noFill/>
          <a:ln/>
        </p:spPr>
        <p:txBody>
          <a:bodyPr wrap="none" lIns="0" tIns="0" rIns="0" bIns="0" rtlCol="0" anchor="ctr"/>
          <a:lstStyle/>
          <a:p>
            <a:pPr algn="l" indent="0" marL="0">
              <a:buNone/>
            </a:pPr>
            <a:r>
              <a:rPr lang="en-US" sz="980" dirty="0">
                <a:solidFill>
                  <a:srgbClr val="E6EDF7"/>
                </a:solidFill>
                <a:latin typeface="Courier New" pitchFamily="34" charset="0"/>
                <a:ea typeface="Courier New" pitchFamily="34" charset="-122"/>
                <a:cs typeface="Courier New" pitchFamily="34" charset="-120"/>
              </a:rPr>
              <a:t>}</a:t>
            </a:r>
            <a:endParaRPr lang="en-US" sz="980" dirty="0"/>
          </a:p>
        </p:txBody>
      </p:sp>
      <p:sp>
        <p:nvSpPr>
          <p:cNvPr id="33" name="Shape 31"/>
          <p:cNvSpPr/>
          <p:nvPr/>
        </p:nvSpPr>
        <p:spPr>
          <a:xfrm>
            <a:off x="7940741" y="1347368"/>
            <a:ext cx="3590574" cy="2355769"/>
          </a:xfrm>
          <a:prstGeom prst="roundRect">
            <a:avLst>
              <a:gd name="adj" fmla="val 4312"/>
            </a:avLst>
          </a:prstGeom>
          <a:solidFill>
            <a:srgbClr val="FFFFFF"/>
          </a:solidFill>
          <a:ln/>
        </p:spPr>
      </p:sp>
      <p:sp>
        <p:nvSpPr>
          <p:cNvPr id="34" name="Shape 32"/>
          <p:cNvSpPr/>
          <p:nvPr/>
        </p:nvSpPr>
        <p:spPr>
          <a:xfrm>
            <a:off x="7940741" y="1347368"/>
            <a:ext cx="1220724" cy="422270"/>
          </a:xfrm>
          <a:prstGeom prst="rect">
            <a:avLst/>
          </a:prstGeom>
          <a:solidFill>
            <a:srgbClr val="ECF2FF"/>
          </a:solidFill>
          <a:ln/>
        </p:spPr>
      </p:sp>
      <p:sp>
        <p:nvSpPr>
          <p:cNvPr id="35" name="Text 33"/>
          <p:cNvSpPr txBox="1"/>
          <p:nvPr/>
        </p:nvSpPr>
        <p:spPr>
          <a:xfrm>
            <a:off x="8105882" y="1479408"/>
            <a:ext cx="286482"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MÃ</a:t>
            </a:r>
            <a:endParaRPr lang="en-US" sz="1000" dirty="0"/>
          </a:p>
        </p:txBody>
      </p:sp>
      <p:sp>
        <p:nvSpPr>
          <p:cNvPr id="36" name="Shape 34"/>
          <p:cNvSpPr/>
          <p:nvPr/>
        </p:nvSpPr>
        <p:spPr>
          <a:xfrm>
            <a:off x="9161556" y="1347368"/>
            <a:ext cx="2369759" cy="422270"/>
          </a:xfrm>
          <a:prstGeom prst="rect">
            <a:avLst/>
          </a:prstGeom>
          <a:solidFill>
            <a:srgbClr val="ECF2FF"/>
          </a:solidFill>
          <a:ln/>
        </p:spPr>
      </p:sp>
      <p:sp>
        <p:nvSpPr>
          <p:cNvPr id="37" name="Text 35"/>
          <p:cNvSpPr txBox="1"/>
          <p:nvPr/>
        </p:nvSpPr>
        <p:spPr>
          <a:xfrm>
            <a:off x="9326606" y="1479408"/>
            <a:ext cx="649864"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Ý NGHĨA</a:t>
            </a:r>
            <a:endParaRPr lang="en-US" sz="1000" dirty="0"/>
          </a:p>
        </p:txBody>
      </p:sp>
      <p:sp>
        <p:nvSpPr>
          <p:cNvPr id="38" name="Shape 36"/>
          <p:cNvSpPr/>
          <p:nvPr/>
        </p:nvSpPr>
        <p:spPr>
          <a:xfrm>
            <a:off x="7940741" y="1769638"/>
            <a:ext cx="1220724" cy="6309"/>
          </a:xfrm>
          <a:prstGeom prst="rect">
            <a:avLst/>
          </a:prstGeom>
          <a:solidFill>
            <a:srgbClr val="E3E6EA"/>
          </a:solidFill>
          <a:ln/>
        </p:spPr>
      </p:sp>
      <p:sp>
        <p:nvSpPr>
          <p:cNvPr id="39" name="Text 37"/>
          <p:cNvSpPr txBox="1"/>
          <p:nvPr/>
        </p:nvSpPr>
        <p:spPr>
          <a:xfrm>
            <a:off x="8080461" y="1865285"/>
            <a:ext cx="259141" cy="22860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97</a:t>
            </a:r>
            <a:endParaRPr lang="en-US" sz="1200" dirty="0"/>
          </a:p>
        </p:txBody>
      </p:sp>
      <p:sp>
        <p:nvSpPr>
          <p:cNvPr id="40" name="Shape 38"/>
          <p:cNvSpPr/>
          <p:nvPr/>
        </p:nvSpPr>
        <p:spPr>
          <a:xfrm>
            <a:off x="9161556" y="1769638"/>
            <a:ext cx="2369759" cy="6309"/>
          </a:xfrm>
          <a:prstGeom prst="rect">
            <a:avLst/>
          </a:prstGeom>
          <a:solidFill>
            <a:srgbClr val="E3E6EA"/>
          </a:solidFill>
          <a:ln/>
        </p:spPr>
      </p:sp>
      <p:sp>
        <p:nvSpPr>
          <p:cNvPr id="41" name="Text 39"/>
          <p:cNvSpPr txBox="1"/>
          <p:nvPr/>
        </p:nvSpPr>
        <p:spPr>
          <a:xfrm>
            <a:off x="9301185" y="1870405"/>
            <a:ext cx="766542"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Sai chữ ký</a:t>
            </a:r>
            <a:endParaRPr lang="en-US" sz="1150" dirty="0"/>
          </a:p>
        </p:txBody>
      </p:sp>
      <p:sp>
        <p:nvSpPr>
          <p:cNvPr id="42" name="Shape 40"/>
          <p:cNvSpPr/>
          <p:nvPr/>
        </p:nvSpPr>
        <p:spPr>
          <a:xfrm>
            <a:off x="7940741" y="2156978"/>
            <a:ext cx="1220724" cy="6309"/>
          </a:xfrm>
          <a:prstGeom prst="rect">
            <a:avLst/>
          </a:prstGeom>
          <a:solidFill>
            <a:srgbClr val="E3E6EA"/>
          </a:solidFill>
          <a:ln/>
        </p:spPr>
      </p:sp>
      <p:sp>
        <p:nvSpPr>
          <p:cNvPr id="43" name="Text 41"/>
          <p:cNvSpPr txBox="1"/>
          <p:nvPr/>
        </p:nvSpPr>
        <p:spPr>
          <a:xfrm>
            <a:off x="8080461" y="2252624"/>
            <a:ext cx="259141" cy="22860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01</a:t>
            </a:r>
            <a:endParaRPr lang="en-US" sz="1200" dirty="0"/>
          </a:p>
        </p:txBody>
      </p:sp>
      <p:sp>
        <p:nvSpPr>
          <p:cNvPr id="44" name="Shape 42"/>
          <p:cNvSpPr/>
          <p:nvPr/>
        </p:nvSpPr>
        <p:spPr>
          <a:xfrm>
            <a:off x="9161556" y="2156978"/>
            <a:ext cx="2369759" cy="6309"/>
          </a:xfrm>
          <a:prstGeom prst="rect">
            <a:avLst/>
          </a:prstGeom>
          <a:solidFill>
            <a:srgbClr val="E3E6EA"/>
          </a:solidFill>
          <a:ln/>
        </p:spPr>
      </p:sp>
      <p:sp>
        <p:nvSpPr>
          <p:cNvPr id="45" name="Text 43"/>
          <p:cNvSpPr txBox="1"/>
          <p:nvPr/>
        </p:nvSpPr>
        <p:spPr>
          <a:xfrm>
            <a:off x="9301185" y="2257745"/>
            <a:ext cx="1358067"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Không tìm thấy đơn</a:t>
            </a:r>
            <a:endParaRPr lang="en-US" sz="1150" dirty="0"/>
          </a:p>
        </p:txBody>
      </p:sp>
      <p:sp>
        <p:nvSpPr>
          <p:cNvPr id="46" name="Shape 44"/>
          <p:cNvSpPr/>
          <p:nvPr/>
        </p:nvSpPr>
        <p:spPr>
          <a:xfrm>
            <a:off x="7940741" y="2544318"/>
            <a:ext cx="1220724" cy="6309"/>
          </a:xfrm>
          <a:prstGeom prst="rect">
            <a:avLst/>
          </a:prstGeom>
          <a:solidFill>
            <a:srgbClr val="E3E6EA"/>
          </a:solidFill>
          <a:ln/>
        </p:spPr>
      </p:sp>
      <p:sp>
        <p:nvSpPr>
          <p:cNvPr id="47" name="Text 45"/>
          <p:cNvSpPr txBox="1"/>
          <p:nvPr/>
        </p:nvSpPr>
        <p:spPr>
          <a:xfrm>
            <a:off x="8080461" y="2639964"/>
            <a:ext cx="259141" cy="22860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04</a:t>
            </a:r>
            <a:endParaRPr lang="en-US" sz="1200" dirty="0"/>
          </a:p>
        </p:txBody>
      </p:sp>
      <p:sp>
        <p:nvSpPr>
          <p:cNvPr id="48" name="Shape 46"/>
          <p:cNvSpPr/>
          <p:nvPr/>
        </p:nvSpPr>
        <p:spPr>
          <a:xfrm>
            <a:off x="9161556" y="2544318"/>
            <a:ext cx="2369759" cy="6309"/>
          </a:xfrm>
          <a:prstGeom prst="rect">
            <a:avLst/>
          </a:prstGeom>
          <a:solidFill>
            <a:srgbClr val="E3E6EA"/>
          </a:solidFill>
          <a:ln/>
        </p:spPr>
      </p:sp>
      <p:sp>
        <p:nvSpPr>
          <p:cNvPr id="49" name="Text 47"/>
          <p:cNvSpPr txBox="1"/>
          <p:nvPr/>
        </p:nvSpPr>
        <p:spPr>
          <a:xfrm>
            <a:off x="9301185" y="2645085"/>
            <a:ext cx="75822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Sai số tiền</a:t>
            </a:r>
            <a:endParaRPr lang="en-US" sz="1150" dirty="0"/>
          </a:p>
        </p:txBody>
      </p:sp>
      <p:sp>
        <p:nvSpPr>
          <p:cNvPr id="50" name="Shape 48"/>
          <p:cNvSpPr/>
          <p:nvPr/>
        </p:nvSpPr>
        <p:spPr>
          <a:xfrm>
            <a:off x="7940741" y="2931658"/>
            <a:ext cx="1220724" cy="6309"/>
          </a:xfrm>
          <a:prstGeom prst="rect">
            <a:avLst/>
          </a:prstGeom>
          <a:solidFill>
            <a:srgbClr val="E3E6EA"/>
          </a:solidFill>
          <a:ln/>
        </p:spPr>
      </p:sp>
      <p:sp>
        <p:nvSpPr>
          <p:cNvPr id="51" name="Text 49"/>
          <p:cNvSpPr txBox="1"/>
          <p:nvPr/>
        </p:nvSpPr>
        <p:spPr>
          <a:xfrm>
            <a:off x="8080461" y="3027304"/>
            <a:ext cx="259141" cy="22860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02</a:t>
            </a:r>
            <a:endParaRPr lang="en-US" sz="1200" dirty="0"/>
          </a:p>
        </p:txBody>
      </p:sp>
      <p:sp>
        <p:nvSpPr>
          <p:cNvPr id="52" name="Shape 50"/>
          <p:cNvSpPr/>
          <p:nvPr/>
        </p:nvSpPr>
        <p:spPr>
          <a:xfrm>
            <a:off x="9161556" y="2931658"/>
            <a:ext cx="2369759" cy="6309"/>
          </a:xfrm>
          <a:prstGeom prst="rect">
            <a:avLst/>
          </a:prstGeom>
          <a:solidFill>
            <a:srgbClr val="E3E6EA"/>
          </a:solidFill>
          <a:ln/>
        </p:spPr>
      </p:sp>
      <p:sp>
        <p:nvSpPr>
          <p:cNvPr id="53" name="Text 51"/>
          <p:cNvSpPr txBox="1"/>
          <p:nvPr/>
        </p:nvSpPr>
        <p:spPr>
          <a:xfrm>
            <a:off x="9301185" y="3032425"/>
            <a:ext cx="1122060"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Đơn đã xử lý rồi</a:t>
            </a:r>
            <a:endParaRPr lang="en-US" sz="1150" dirty="0"/>
          </a:p>
        </p:txBody>
      </p:sp>
      <p:sp>
        <p:nvSpPr>
          <p:cNvPr id="54" name="Shape 52"/>
          <p:cNvSpPr/>
          <p:nvPr/>
        </p:nvSpPr>
        <p:spPr>
          <a:xfrm>
            <a:off x="7940741" y="3318998"/>
            <a:ext cx="1220724" cy="6309"/>
          </a:xfrm>
          <a:prstGeom prst="rect">
            <a:avLst/>
          </a:prstGeom>
          <a:solidFill>
            <a:srgbClr val="E3E6EA"/>
          </a:solidFill>
          <a:ln/>
        </p:spPr>
      </p:sp>
      <p:sp>
        <p:nvSpPr>
          <p:cNvPr id="55" name="Text 53"/>
          <p:cNvSpPr txBox="1"/>
          <p:nvPr/>
        </p:nvSpPr>
        <p:spPr>
          <a:xfrm>
            <a:off x="8080461" y="3414644"/>
            <a:ext cx="259141" cy="228600"/>
          </a:xfrm>
          <a:prstGeom prst="rect">
            <a:avLst/>
          </a:prstGeom>
          <a:noFill/>
          <a:ln/>
        </p:spPr>
        <p:txBody>
          <a:bodyPr wrap="square" lIns="0" tIns="0" rIns="0" bIns="0" rtlCol="0" anchor="ctr"/>
          <a:lstStyle/>
          <a:p>
            <a:pPr algn="l" indent="0" marL="0">
              <a:buNone/>
            </a:pPr>
            <a:r>
              <a:rPr lang="en-US" sz="1200" b="1" dirty="0">
                <a:solidFill>
                  <a:srgbClr val="111111"/>
                </a:solidFill>
                <a:latin typeface="Courier New" pitchFamily="34" charset="0"/>
                <a:ea typeface="Courier New" pitchFamily="34" charset="-122"/>
                <a:cs typeface="Courier New" pitchFamily="34" charset="-120"/>
              </a:rPr>
              <a:t>00</a:t>
            </a:r>
            <a:endParaRPr lang="en-US" sz="1200" dirty="0"/>
          </a:p>
        </p:txBody>
      </p:sp>
      <p:sp>
        <p:nvSpPr>
          <p:cNvPr id="56" name="Shape 54"/>
          <p:cNvSpPr/>
          <p:nvPr/>
        </p:nvSpPr>
        <p:spPr>
          <a:xfrm>
            <a:off x="9161556" y="3318998"/>
            <a:ext cx="2369759" cy="6309"/>
          </a:xfrm>
          <a:prstGeom prst="rect">
            <a:avLst/>
          </a:prstGeom>
          <a:solidFill>
            <a:srgbClr val="E3E6EA"/>
          </a:solidFill>
          <a:ln/>
        </p:spPr>
      </p:sp>
      <p:sp>
        <p:nvSpPr>
          <p:cNvPr id="57" name="Text 55"/>
          <p:cNvSpPr txBox="1"/>
          <p:nvPr/>
        </p:nvSpPr>
        <p:spPr>
          <a:xfrm>
            <a:off x="9301185" y="3419765"/>
            <a:ext cx="847649" cy="219090"/>
          </a:xfrm>
          <a:prstGeom prst="rect">
            <a:avLst/>
          </a:prstGeom>
          <a:noFill/>
          <a:ln/>
        </p:spPr>
        <p:txBody>
          <a:bodyPr wrap="square" lIns="0" tIns="0" rIns="0" bIns="0" rtlCol="0" anchor="ctr"/>
          <a:lstStyle/>
          <a:p>
            <a:pPr algn="l" indent="0" marL="0">
              <a:buNone/>
            </a:pPr>
            <a:r>
              <a:rPr lang="en-US" sz="1150" dirty="0">
                <a:solidFill>
                  <a:srgbClr val="3F454D"/>
                </a:solidFill>
                <a:latin typeface="Arial" pitchFamily="34" charset="0"/>
                <a:ea typeface="Arial" pitchFamily="34" charset="-122"/>
                <a:cs typeface="Arial" pitchFamily="34" charset="-120"/>
              </a:rPr>
              <a:t>Thành công</a:t>
            </a:r>
            <a:endParaRPr lang="en-US" sz="1150" dirty="0"/>
          </a:p>
        </p:txBody>
      </p:sp>
      <p:sp>
        <p:nvSpPr>
          <p:cNvPr id="58" name="Shape 56"/>
          <p:cNvSpPr/>
          <p:nvPr/>
        </p:nvSpPr>
        <p:spPr>
          <a:xfrm>
            <a:off x="7940741" y="3817437"/>
            <a:ext cx="3590574" cy="1041410"/>
          </a:xfrm>
          <a:prstGeom prst="roundRect">
            <a:avLst>
              <a:gd name="adj" fmla="val 8535"/>
            </a:avLst>
          </a:prstGeom>
          <a:solidFill>
            <a:srgbClr val="FFFFFF"/>
          </a:solidFill>
          <a:ln w="6350">
            <a:solidFill>
              <a:srgbClr val="E3E6EA"/>
            </a:solidFill>
            <a:prstDash val="solid"/>
          </a:ln>
        </p:spPr>
      </p:sp>
      <p:sp>
        <p:nvSpPr>
          <p:cNvPr id="59" name="Text 57"/>
          <p:cNvSpPr txBox="1"/>
          <p:nvPr/>
        </p:nvSpPr>
        <p:spPr>
          <a:xfrm>
            <a:off x="8112191" y="3979743"/>
            <a:ext cx="499811" cy="228600"/>
          </a:xfrm>
          <a:prstGeom prst="rect">
            <a:avLst/>
          </a:prstGeom>
          <a:noFill/>
          <a:ln/>
        </p:spPr>
        <p:txBody>
          <a:bodyPr wrap="square" lIns="0" tIns="0" rIns="0" bIns="0" rtlCol="0" anchor="ctr"/>
          <a:lstStyle/>
          <a:p>
            <a:pPr algn="l" indent="0" marL="0">
              <a:buNone/>
            </a:pPr>
            <a:r>
              <a:rPr lang="en-US" sz="1200" b="1" dirty="0">
                <a:solidFill>
                  <a:srgbClr val="0066FF"/>
                </a:solidFill>
                <a:latin typeface="Arial" pitchFamily="34" charset="0"/>
                <a:ea typeface="Arial" pitchFamily="34" charset="-122"/>
                <a:cs typeface="Arial" pitchFamily="34" charset="-120"/>
              </a:rPr>
              <a:t>Lưu ý</a:t>
            </a:r>
            <a:endParaRPr lang="en-US" sz="1200" dirty="0"/>
          </a:p>
        </p:txBody>
      </p:sp>
      <p:sp>
        <p:nvSpPr>
          <p:cNvPr id="60" name="Shape 58"/>
          <p:cNvSpPr/>
          <p:nvPr/>
        </p:nvSpPr>
        <p:spPr>
          <a:xfrm>
            <a:off x="8150322" y="4362785"/>
            <a:ext cx="63459" cy="63459"/>
          </a:xfrm>
          <a:prstGeom prst="ellipse">
            <a:avLst/>
          </a:prstGeom>
          <a:solidFill>
            <a:srgbClr val="0066FF"/>
          </a:solidFill>
          <a:ln/>
        </p:spPr>
      </p:sp>
      <p:sp>
        <p:nvSpPr>
          <p:cNvPr id="61" name="Text 59"/>
          <p:cNvSpPr txBox="1"/>
          <p:nvPr/>
        </p:nvSpPr>
        <p:spPr>
          <a:xfrm>
            <a:off x="8328081" y="4254337"/>
            <a:ext cx="3122676" cy="514350"/>
          </a:xfrm>
          <a:prstGeom prst="rect">
            <a:avLst/>
          </a:prstGeom>
          <a:noFill/>
          <a:ln/>
        </p:spPr>
        <p:txBody>
          <a:bodyPr wrap="square" lIns="0" tIns="0" rIns="0" bIns="0" rtlCol="0" anchor="t"/>
          <a:lstStyle/>
          <a:p>
            <a:pPr algn="l" indent="0" marL="0">
              <a:lnSpc>
                <a:spcPts val="1800"/>
              </a:lnSpc>
              <a:buNone/>
            </a:pPr>
            <a:r>
              <a:rPr lang="en-US" sz="1200" dirty="0">
                <a:solidFill>
                  <a:srgbClr val="3F454D"/>
                </a:solidFill>
                <a:latin typeface="Arial" pitchFamily="34" charset="0"/>
                <a:ea typeface="Arial" pitchFamily="34" charset="-122"/>
                <a:cs typeface="Arial" pitchFamily="34" charset="-120"/>
              </a:rPr>
              <a:t>VNPAY sẽ gọi lại tới khi nhận được 00, nên cần mã 02 để đơn không bị xử lý 2 lần</a:t>
            </a:r>
            <a:endParaRPr lang="en-US" sz="1200" dirty="0"/>
          </a:p>
        </p:txBody>
      </p:sp>
      <p:sp>
        <p:nvSpPr>
          <p:cNvPr id="62" name="Text 60"/>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63" name="Text 61"/>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20</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922538"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4 – IPN</a:t>
            </a:r>
            <a:endParaRPr lang="en-US" sz="1100" dirty="0"/>
          </a:p>
        </p:txBody>
      </p:sp>
      <p:sp>
        <p:nvSpPr>
          <p:cNvPr id="3" name="Text 1"/>
          <p:cNvSpPr txBox="1"/>
          <p:nvPr/>
        </p:nvSpPr>
        <p:spPr>
          <a:xfrm>
            <a:off x="660380" y="643829"/>
            <a:ext cx="4790907"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Test lần 2: nhận được IPN</a:t>
            </a:r>
            <a:endParaRPr lang="en-US" sz="3000" dirty="0"/>
          </a:p>
        </p:txBody>
      </p:sp>
      <p:sp>
        <p:nvSpPr>
          <p:cNvPr id="4" name="Text 2"/>
          <p:cNvSpPr txBox="1"/>
          <p:nvPr/>
        </p:nvSpPr>
        <p:spPr>
          <a:xfrm>
            <a:off x="660380" y="1358798"/>
            <a:ext cx="1295522"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Terminal sẽ hiện</a:t>
            </a:r>
            <a:endParaRPr lang="en-US" sz="1000" dirty="0"/>
          </a:p>
        </p:txBody>
      </p:sp>
      <p:sp>
        <p:nvSpPr>
          <p:cNvPr id="5" name="Shape 3"/>
          <p:cNvSpPr/>
          <p:nvPr/>
        </p:nvSpPr>
        <p:spPr>
          <a:xfrm>
            <a:off x="660380" y="1601389"/>
            <a:ext cx="5206868" cy="802477"/>
          </a:xfrm>
          <a:prstGeom prst="roundRect">
            <a:avLst>
              <a:gd name="adj" fmla="val 12660"/>
            </a:avLst>
          </a:prstGeom>
          <a:solidFill>
            <a:srgbClr val="0C131E"/>
          </a:solidFill>
          <a:ln/>
        </p:spPr>
      </p:sp>
      <p:sp>
        <p:nvSpPr>
          <p:cNvPr id="6" name="Text 4"/>
          <p:cNvSpPr txBox="1"/>
          <p:nvPr/>
        </p:nvSpPr>
        <p:spPr>
          <a:xfrm>
            <a:off x="907999" y="1789024"/>
            <a:ext cx="3392973"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[10:21:40] IPN 20261005102118733051</a:t>
            </a:r>
            <a:endParaRPr lang="en-US" sz="1200" dirty="0"/>
          </a:p>
        </p:txBody>
      </p:sp>
      <p:sp>
        <p:nvSpPr>
          <p:cNvPr id="7" name="Text 5"/>
          <p:cNvSpPr txBox="1"/>
          <p:nvPr/>
        </p:nvSpPr>
        <p:spPr>
          <a:xfrm>
            <a:off x="907999" y="2025213"/>
            <a:ext cx="2617470" cy="236190"/>
          </a:xfrm>
          <a:prstGeom prst="rect">
            <a:avLst/>
          </a:prstGeom>
          <a:noFill/>
          <a:ln/>
        </p:spPr>
        <p:txBody>
          <a:bodyPr wrap="none" lIns="0" tIns="0" rIns="0" bIns="0" rtlCol="0" anchor="ctr"/>
          <a:lstStyle/>
          <a:p>
            <a:pPr algn="l" indent="0" marL="0">
              <a:buNone/>
            </a:pPr>
            <a:r>
              <a:rPr lang="en-US" sz="1200" dirty="0">
                <a:solidFill>
                  <a:srgbClr val="FFD479"/>
                </a:solidFill>
                <a:latin typeface="Courier New" pitchFamily="34" charset="0"/>
                <a:ea typeface="Courier New" pitchFamily="34" charset="-122"/>
                <a:cs typeface="Courier New" pitchFamily="34" charset="-120"/>
              </a:rPr>
              <a:t>           -&gt; PAID 15900123</a:t>
            </a:r>
            <a:endParaRPr lang="en-US" sz="1200" dirty="0"/>
          </a:p>
        </p:txBody>
      </p:sp>
      <p:sp>
        <p:nvSpPr>
          <p:cNvPr id="8" name="Shape 6"/>
          <p:cNvSpPr/>
          <p:nvPr/>
        </p:nvSpPr>
        <p:spPr>
          <a:xfrm>
            <a:off x="698510" y="2679101"/>
            <a:ext cx="63459" cy="63459"/>
          </a:xfrm>
          <a:prstGeom prst="ellipse">
            <a:avLst/>
          </a:prstGeom>
          <a:solidFill>
            <a:srgbClr val="0066FF"/>
          </a:solidFill>
          <a:ln/>
        </p:spPr>
      </p:sp>
      <p:sp>
        <p:nvSpPr>
          <p:cNvPr id="9" name="Text 7"/>
          <p:cNvSpPr txBox="1"/>
          <p:nvPr/>
        </p:nvSpPr>
        <p:spPr>
          <a:xfrm>
            <a:off x="876270" y="2577328"/>
            <a:ext cx="4505432"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Lần này log ghi IPN, tức là VNPAY đã tự gọi về server</a:t>
            </a:r>
            <a:endParaRPr lang="en-US" sz="1400" dirty="0"/>
          </a:p>
        </p:txBody>
      </p:sp>
      <p:sp>
        <p:nvSpPr>
          <p:cNvPr id="10" name="Shape 8"/>
          <p:cNvSpPr/>
          <p:nvPr/>
        </p:nvSpPr>
        <p:spPr>
          <a:xfrm>
            <a:off x="698510" y="3034711"/>
            <a:ext cx="63459" cy="63459"/>
          </a:xfrm>
          <a:prstGeom prst="ellipse">
            <a:avLst/>
          </a:prstGeom>
          <a:solidFill>
            <a:srgbClr val="0066FF"/>
          </a:solidFill>
          <a:ln/>
        </p:spPr>
      </p:sp>
      <p:sp>
        <p:nvSpPr>
          <p:cNvPr id="11" name="Text 9"/>
          <p:cNvSpPr txBox="1"/>
          <p:nvPr/>
        </p:nvSpPr>
        <p:spPr>
          <a:xfrm>
            <a:off x="876270" y="2932847"/>
            <a:ext cx="2843967"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Khách có tắt tab thì đơn vẫn PAID</a:t>
            </a:r>
            <a:endParaRPr lang="en-US" sz="1400" dirty="0"/>
          </a:p>
        </p:txBody>
      </p:sp>
      <p:sp>
        <p:nvSpPr>
          <p:cNvPr id="12" name="Shape 10"/>
          <p:cNvSpPr/>
          <p:nvPr/>
        </p:nvSpPr>
        <p:spPr>
          <a:xfrm>
            <a:off x="698510" y="3390321"/>
            <a:ext cx="63459" cy="63459"/>
          </a:xfrm>
          <a:prstGeom prst="ellipse">
            <a:avLst/>
          </a:prstGeom>
          <a:solidFill>
            <a:srgbClr val="0066FF"/>
          </a:solidFill>
          <a:ln/>
        </p:spPr>
      </p:sp>
      <p:sp>
        <p:nvSpPr>
          <p:cNvPr id="13" name="Text 11"/>
          <p:cNvSpPr txBox="1"/>
          <p:nvPr/>
        </p:nvSpPr>
        <p:spPr>
          <a:xfrm>
            <a:off x="876270" y="3288457"/>
            <a:ext cx="4807915"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Mở </a:t>
            </a:r>
            <a:pPr algn="l" indent="0" marL="0">
              <a:buNone/>
            </a:pPr>
            <a:r>
              <a:rPr lang="en-US" sz="1400" dirty="0">
                <a:solidFill>
                  <a:srgbClr val="3F454D"/>
                </a:solidFill>
                <a:latin typeface="Courier New" pitchFamily="34" charset="0"/>
                <a:ea typeface="Courier New" pitchFamily="34" charset="-122"/>
                <a:cs typeface="Courier New" pitchFamily="34" charset="-120"/>
              </a:rPr>
              <a:t>127.0.0.1:4040</a:t>
            </a:r>
            <a:pPr algn="l" indent="0" marL="0">
              <a:buNone/>
            </a:pPr>
            <a:r>
              <a:rPr lang="en-US" sz="1400" dirty="0">
                <a:solidFill>
                  <a:srgbClr val="3F454D"/>
                </a:solidFill>
                <a:latin typeface="Arial" pitchFamily="34" charset="0"/>
                <a:ea typeface="Arial" pitchFamily="34" charset="-122"/>
                <a:cs typeface="Arial" pitchFamily="34" charset="-120"/>
              </a:rPr>
              <a:t> để xem các request gọi qua ngrok</a:t>
            </a:r>
            <a:endParaRPr lang="en-US" sz="1400" dirty="0"/>
          </a:p>
        </p:txBody>
      </p:sp>
      <p:pic>
        <p:nvPicPr>
          <p:cNvPr id="14" name="Image 0" descr="/Users/minhdang_work/vnpay-seminar/slides-html/paid.png">    </p:cNvPr>
          <p:cNvPicPr>
            <a:picLocks noChangeAspect="1"/>
          </p:cNvPicPr>
          <p:nvPr/>
        </p:nvPicPr>
        <p:blipFill>
          <a:blip r:embed="rId1"/>
          <a:stretch>
            <a:fillRect/>
          </a:stretch>
        </p:blipFill>
        <p:spPr>
          <a:xfrm>
            <a:off x="6070427" y="1347368"/>
            <a:ext cx="5460888" cy="2907060"/>
          </a:xfrm>
          <a:prstGeom prst="rect">
            <a:avLst/>
          </a:prstGeom>
        </p:spPr>
      </p:pic>
      <p:sp>
        <p:nvSpPr>
          <p:cNvPr id="15" name="Shape 12"/>
          <p:cNvSpPr/>
          <p:nvPr/>
        </p:nvSpPr>
        <p:spPr>
          <a:xfrm>
            <a:off x="6070427" y="1347368"/>
            <a:ext cx="5460888" cy="2907060"/>
          </a:xfrm>
          <a:prstGeom prst="roundRect">
            <a:avLst>
              <a:gd name="adj" fmla="val 3057"/>
            </a:avLst>
          </a:prstGeom>
          <a:ln w="6350">
            <a:solidFill>
              <a:srgbClr val="E3E6EA"/>
            </a:solidFill>
            <a:prstDash val="solid"/>
          </a:ln>
        </p:spPr>
      </p:sp>
      <p:sp>
        <p:nvSpPr>
          <p:cNvPr id="16" name="Text 13"/>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17" name="Text 14"/>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21</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062167"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5 – Thêm</a:t>
            </a:r>
            <a:endParaRPr lang="en-US" sz="1100" dirty="0"/>
          </a:p>
        </p:txBody>
      </p:sp>
      <p:sp>
        <p:nvSpPr>
          <p:cNvPr id="3" name="Text 1"/>
          <p:cNvSpPr txBox="1"/>
          <p:nvPr/>
        </p:nvSpPr>
        <p:spPr>
          <a:xfrm>
            <a:off x="660380" y="643829"/>
            <a:ext cx="6457218"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API querydr (đã có sẵn trong code)</a:t>
            </a:r>
            <a:endParaRPr lang="en-US" sz="3000" dirty="0"/>
          </a:p>
        </p:txBody>
      </p:sp>
      <p:sp>
        <p:nvSpPr>
          <p:cNvPr id="4" name="Text 2"/>
          <p:cNvSpPr txBox="1"/>
          <p:nvPr/>
        </p:nvSpPr>
        <p:spPr>
          <a:xfrm>
            <a:off x="660380" y="1358798"/>
            <a:ext cx="2342784" cy="190470"/>
          </a:xfrm>
          <a:prstGeom prst="rect">
            <a:avLst/>
          </a:prstGeom>
          <a:noFill/>
          <a:ln/>
        </p:spPr>
        <p:txBody>
          <a:bodyPr wrap="square" lIns="0" tIns="0" rIns="0" bIns="0" rtlCol="0" anchor="ctr"/>
          <a:lstStyle/>
          <a:p>
            <a:pPr algn="l" indent="0" marL="0">
              <a:buNone/>
            </a:pPr>
            <a:r>
              <a:rPr lang="en-US" sz="1000" dirty="0">
                <a:solidFill>
                  <a:srgbClr val="6B7280"/>
                </a:solidFill>
                <a:latin typeface="Courier New" pitchFamily="34" charset="0"/>
                <a:ea typeface="Courier New" pitchFamily="34" charset="-122"/>
                <a:cs typeface="Courier New" pitchFamily="34" charset="-120"/>
              </a:rPr>
              <a:t>ShopStart.java, hàm reconcile</a:t>
            </a:r>
            <a:endParaRPr lang="en-US" sz="1000" dirty="0"/>
          </a:p>
        </p:txBody>
      </p:sp>
      <p:sp>
        <p:nvSpPr>
          <p:cNvPr id="5" name="Shape 3"/>
          <p:cNvSpPr/>
          <p:nvPr/>
        </p:nvSpPr>
        <p:spPr>
          <a:xfrm>
            <a:off x="660380" y="1601389"/>
            <a:ext cx="10870936" cy="1038576"/>
          </a:xfrm>
          <a:prstGeom prst="roundRect">
            <a:avLst>
              <a:gd name="adj" fmla="val 9782"/>
            </a:avLst>
          </a:prstGeom>
          <a:solidFill>
            <a:srgbClr val="0C131E"/>
          </a:solidFill>
          <a:ln/>
        </p:spPr>
      </p:sp>
      <p:sp>
        <p:nvSpPr>
          <p:cNvPr id="6" name="Text 4"/>
          <p:cNvSpPr txBox="1"/>
          <p:nvPr/>
        </p:nvSpPr>
        <p:spPr>
          <a:xfrm>
            <a:off x="907999" y="1789024"/>
            <a:ext cx="5816407" cy="236190"/>
          </a:xfrm>
          <a:prstGeom prst="rect">
            <a:avLst/>
          </a:prstGeom>
          <a:noFill/>
          <a:ln/>
        </p:spPr>
        <p:txBody>
          <a:bodyPr wrap="none" lIns="0" tIns="0" rIns="0" bIns="0" rtlCol="0" anchor="ctr"/>
          <a:lstStyle/>
          <a:p>
            <a:pPr algn="l" indent="0" marL="0">
              <a:buNone/>
            </a:pPr>
            <a:r>
              <a:rPr lang="en-US" sz="1200" dirty="0">
                <a:solidFill>
                  <a:srgbClr val="7D8CA3"/>
                </a:solidFill>
                <a:latin typeface="Courier New" pitchFamily="34" charset="0"/>
                <a:ea typeface="Courier New" pitchFamily="34" charset="-122"/>
                <a:cs typeface="Courier New" pitchFamily="34" charset="-120"/>
              </a:rPr>
              <a:t>// hashData của querydr nối bằng '|', không sắp xếp alphabet</a:t>
            </a:r>
            <a:endParaRPr lang="en-US" sz="1200" dirty="0"/>
          </a:p>
        </p:txBody>
      </p:sp>
      <p:sp>
        <p:nvSpPr>
          <p:cNvPr id="7" name="Shape 5"/>
          <p:cNvSpPr/>
          <p:nvPr/>
        </p:nvSpPr>
        <p:spPr>
          <a:xfrm>
            <a:off x="660380" y="2002536"/>
            <a:ext cx="10870936" cy="236098"/>
          </a:xfrm>
          <a:prstGeom prst="rect">
            <a:avLst/>
          </a:prstGeom>
          <a:solidFill>
            <a:srgbClr val="FFD479">
              <a:alpha val="13000"/>
            </a:srgbClr>
          </a:solidFill>
          <a:ln/>
        </p:spPr>
      </p:sp>
      <p:sp>
        <p:nvSpPr>
          <p:cNvPr id="8" name="Shape 6"/>
          <p:cNvSpPr/>
          <p:nvPr/>
        </p:nvSpPr>
        <p:spPr>
          <a:xfrm>
            <a:off x="660380" y="2002536"/>
            <a:ext cx="31730" cy="236098"/>
          </a:xfrm>
          <a:prstGeom prst="rect">
            <a:avLst/>
          </a:prstGeom>
          <a:solidFill>
            <a:srgbClr val="FFD479"/>
          </a:solidFill>
          <a:ln/>
        </p:spPr>
      </p:sp>
      <p:sp>
        <p:nvSpPr>
          <p:cNvPr id="9" name="Text 7"/>
          <p:cNvSpPr txBox="1"/>
          <p:nvPr/>
        </p:nvSpPr>
        <p:spPr>
          <a:xfrm>
            <a:off x="907999" y="2025213"/>
            <a:ext cx="7270852"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String hashData = String.join(</a:t>
            </a:r>
            <a:pPr algn="l" indent="0" marL="0">
              <a:buNone/>
            </a:pPr>
            <a:r>
              <a:rPr lang="en-US" sz="1200" dirty="0">
                <a:solidFill>
                  <a:srgbClr val="9BE3B4"/>
                </a:solidFill>
                <a:latin typeface="Courier New" pitchFamily="34" charset="0"/>
                <a:ea typeface="Courier New" pitchFamily="34" charset="-122"/>
                <a:cs typeface="Courier New" pitchFamily="34" charset="-120"/>
              </a:rPr>
              <a:t>"|"</a:t>
            </a:r>
            <a:pPr algn="l" indent="0" marL="0">
              <a:buNone/>
            </a:pPr>
            <a:r>
              <a:rPr lang="en-US" sz="1200" dirty="0">
                <a:solidFill>
                  <a:srgbClr val="E6EDF7"/>
                </a:solidFill>
                <a:latin typeface="Courier New" pitchFamily="34" charset="0"/>
                <a:ea typeface="Courier New" pitchFamily="34" charset="-122"/>
                <a:cs typeface="Courier New" pitchFamily="34" charset="-120"/>
              </a:rPr>
              <a:t>, requestId, </a:t>
            </a:r>
            <a:pPr algn="l" indent="0" marL="0">
              <a:buNone/>
            </a:pPr>
            <a:r>
              <a:rPr lang="en-US" sz="1200" dirty="0">
                <a:solidFill>
                  <a:srgbClr val="9BE3B4"/>
                </a:solidFill>
                <a:latin typeface="Courier New" pitchFamily="34" charset="0"/>
                <a:ea typeface="Courier New" pitchFamily="34" charset="-122"/>
                <a:cs typeface="Courier New" pitchFamily="34" charset="-120"/>
              </a:rPr>
              <a:t>"2.1.0"</a:t>
            </a:r>
            <a:pPr algn="l" indent="0" marL="0">
              <a:buNone/>
            </a:pPr>
            <a:r>
              <a:rPr lang="en-US" sz="1200" dirty="0">
                <a:solidFill>
                  <a:srgbClr val="E6EDF7"/>
                </a:solidFill>
                <a:latin typeface="Courier New" pitchFamily="34" charset="0"/>
                <a:ea typeface="Courier New" pitchFamily="34" charset="-122"/>
                <a:cs typeface="Courier New" pitchFamily="34" charset="-120"/>
              </a:rPr>
              <a:t>, </a:t>
            </a:r>
            <a:pPr algn="l" indent="0" marL="0">
              <a:buNone/>
            </a:pPr>
            <a:r>
              <a:rPr lang="en-US" sz="1200" dirty="0">
                <a:solidFill>
                  <a:srgbClr val="9BE3B4"/>
                </a:solidFill>
                <a:latin typeface="Courier New" pitchFamily="34" charset="0"/>
                <a:ea typeface="Courier New" pitchFamily="34" charset="-122"/>
                <a:cs typeface="Courier New" pitchFamily="34" charset="-120"/>
              </a:rPr>
              <a:t>"querydr"</a:t>
            </a:r>
            <a:pPr algn="l" indent="0" marL="0">
              <a:buNone/>
            </a:pPr>
            <a:r>
              <a:rPr lang="en-US" sz="1200" dirty="0">
                <a:solidFill>
                  <a:srgbClr val="E6EDF7"/>
                </a:solidFill>
                <a:latin typeface="Courier New" pitchFamily="34" charset="0"/>
                <a:ea typeface="Courier New" pitchFamily="34" charset="-122"/>
                <a:cs typeface="Courier New" pitchFamily="34" charset="-120"/>
              </a:rPr>
              <a:t>, TMN_CODE,</a:t>
            </a:r>
            <a:endParaRPr lang="en-US" sz="1200" dirty="0"/>
          </a:p>
        </p:txBody>
      </p:sp>
      <p:sp>
        <p:nvSpPr>
          <p:cNvPr id="10" name="Shape 8"/>
          <p:cNvSpPr/>
          <p:nvPr/>
        </p:nvSpPr>
        <p:spPr>
          <a:xfrm>
            <a:off x="660380" y="2238726"/>
            <a:ext cx="10870936" cy="236098"/>
          </a:xfrm>
          <a:prstGeom prst="rect">
            <a:avLst/>
          </a:prstGeom>
          <a:solidFill>
            <a:srgbClr val="FFD479">
              <a:alpha val="13000"/>
            </a:srgbClr>
          </a:solidFill>
          <a:ln/>
        </p:spPr>
      </p:sp>
      <p:sp>
        <p:nvSpPr>
          <p:cNvPr id="11" name="Shape 9"/>
          <p:cNvSpPr/>
          <p:nvPr/>
        </p:nvSpPr>
        <p:spPr>
          <a:xfrm>
            <a:off x="660380" y="2238726"/>
            <a:ext cx="31730" cy="236098"/>
          </a:xfrm>
          <a:prstGeom prst="rect">
            <a:avLst/>
          </a:prstGeom>
          <a:solidFill>
            <a:srgbClr val="FFD479"/>
          </a:solidFill>
          <a:ln/>
        </p:spPr>
      </p:sp>
      <p:sp>
        <p:nvSpPr>
          <p:cNvPr id="12" name="Text 10"/>
          <p:cNvSpPr txBox="1"/>
          <p:nvPr/>
        </p:nvSpPr>
        <p:spPr>
          <a:xfrm>
            <a:off x="907999" y="2261311"/>
            <a:ext cx="6204204" cy="236190"/>
          </a:xfrm>
          <a:prstGeom prst="rect">
            <a:avLst/>
          </a:prstGeom>
          <a:noFill/>
          <a:ln/>
        </p:spPr>
        <p:txBody>
          <a:bodyPr wrap="none" lIns="0" tIns="0" rIns="0" bIns="0" rtlCol="0" anchor="ctr"/>
          <a:lstStyle/>
          <a:p>
            <a:pPr algn="l" indent="0" marL="0">
              <a:buNone/>
            </a:pPr>
            <a:r>
              <a:rPr lang="en-US" sz="1200" dirty="0">
                <a:solidFill>
                  <a:srgbClr val="E6EDF7"/>
                </a:solidFill>
                <a:latin typeface="Courier New" pitchFamily="34" charset="0"/>
                <a:ea typeface="Courier New" pitchFamily="34" charset="-122"/>
                <a:cs typeface="Courier New" pitchFamily="34" charset="-120"/>
              </a:rPr>
              <a:t>        order.txnRef, order.createDate, now, </a:t>
            </a:r>
            <a:pPr algn="l" indent="0" marL="0">
              <a:buNone/>
            </a:pPr>
            <a:r>
              <a:rPr lang="en-US" sz="1200" dirty="0">
                <a:solidFill>
                  <a:srgbClr val="9BE3B4"/>
                </a:solidFill>
                <a:latin typeface="Courier New" pitchFamily="34" charset="0"/>
                <a:ea typeface="Courier New" pitchFamily="34" charset="-122"/>
                <a:cs typeface="Courier New" pitchFamily="34" charset="-120"/>
              </a:rPr>
              <a:t>"127.0.0.1"</a:t>
            </a:r>
            <a:pPr algn="l" indent="0" marL="0">
              <a:buNone/>
            </a:pPr>
            <a:r>
              <a:rPr lang="en-US" sz="1200" dirty="0">
                <a:solidFill>
                  <a:srgbClr val="E6EDF7"/>
                </a:solidFill>
                <a:latin typeface="Courier New" pitchFamily="34" charset="0"/>
                <a:ea typeface="Courier New" pitchFamily="34" charset="-122"/>
                <a:cs typeface="Courier New" pitchFamily="34" charset="-120"/>
              </a:rPr>
              <a:t>, info);</a:t>
            </a:r>
            <a:endParaRPr lang="en-US" sz="1200" dirty="0"/>
          </a:p>
        </p:txBody>
      </p:sp>
      <p:sp>
        <p:nvSpPr>
          <p:cNvPr id="13" name="Shape 11"/>
          <p:cNvSpPr/>
          <p:nvPr/>
        </p:nvSpPr>
        <p:spPr>
          <a:xfrm>
            <a:off x="698510" y="2940710"/>
            <a:ext cx="63459" cy="63459"/>
          </a:xfrm>
          <a:prstGeom prst="ellipse">
            <a:avLst/>
          </a:prstGeom>
          <a:solidFill>
            <a:srgbClr val="0066FF"/>
          </a:solidFill>
          <a:ln/>
        </p:spPr>
      </p:sp>
      <p:sp>
        <p:nvSpPr>
          <p:cNvPr id="14" name="Text 12"/>
          <p:cNvSpPr txBox="1"/>
          <p:nvPr/>
        </p:nvSpPr>
        <p:spPr>
          <a:xfrm>
            <a:off x="876270" y="2838846"/>
            <a:ext cx="5809458"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Chạy khi trang kết quả gọi </a:t>
            </a:r>
            <a:pPr algn="l" indent="0" marL="0">
              <a:buNone/>
            </a:pPr>
            <a:r>
              <a:rPr lang="en-US" sz="1400" dirty="0">
                <a:solidFill>
                  <a:srgbClr val="3F454D"/>
                </a:solidFill>
                <a:latin typeface="Courier New" pitchFamily="34" charset="0"/>
                <a:ea typeface="Courier New" pitchFamily="34" charset="-122"/>
                <a:cs typeface="Courier New" pitchFamily="34" charset="-120"/>
              </a:rPr>
              <a:t>/api/orders</a:t>
            </a:r>
            <a:pPr algn="l" indent="0" marL="0">
              <a:buNone/>
            </a:pPr>
            <a:r>
              <a:rPr lang="en-US" sz="1400" dirty="0">
                <a:solidFill>
                  <a:srgbClr val="3F454D"/>
                </a:solidFill>
                <a:latin typeface="Arial" pitchFamily="34" charset="0"/>
                <a:ea typeface="Arial" pitchFamily="34" charset="-122"/>
                <a:cs typeface="Arial" pitchFamily="34" charset="-120"/>
              </a:rPr>
              <a:t> mà đơn vẫn còn PENDING</a:t>
            </a:r>
            <a:endParaRPr lang="en-US" sz="1400" dirty="0"/>
          </a:p>
        </p:txBody>
      </p:sp>
      <p:sp>
        <p:nvSpPr>
          <p:cNvPr id="15" name="Shape 13"/>
          <p:cNvSpPr/>
          <p:nvPr/>
        </p:nvSpPr>
        <p:spPr>
          <a:xfrm>
            <a:off x="698510" y="3308939"/>
            <a:ext cx="63459" cy="63459"/>
          </a:xfrm>
          <a:prstGeom prst="ellipse">
            <a:avLst/>
          </a:prstGeom>
          <a:solidFill>
            <a:srgbClr val="0066FF"/>
          </a:solidFill>
          <a:ln/>
        </p:spPr>
      </p:sp>
      <p:sp>
        <p:nvSpPr>
          <p:cNvPr id="16" name="Text 14"/>
          <p:cNvSpPr txBox="1"/>
          <p:nvPr/>
        </p:nvSpPr>
        <p:spPr>
          <a:xfrm>
            <a:off x="876270" y="3207075"/>
            <a:ext cx="4305910"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Vẫn an toàn vì hỏi thẳng VNPAY và có so lại số tiền</a:t>
            </a:r>
            <a:endParaRPr lang="en-US" sz="1400" dirty="0"/>
          </a:p>
        </p:txBody>
      </p:sp>
      <p:sp>
        <p:nvSpPr>
          <p:cNvPr id="17" name="Shape 15"/>
          <p:cNvSpPr/>
          <p:nvPr/>
        </p:nvSpPr>
        <p:spPr>
          <a:xfrm>
            <a:off x="698510" y="3664549"/>
            <a:ext cx="63459" cy="63459"/>
          </a:xfrm>
          <a:prstGeom prst="ellipse">
            <a:avLst/>
          </a:prstGeom>
          <a:solidFill>
            <a:srgbClr val="0066FF"/>
          </a:solidFill>
          <a:ln/>
        </p:spPr>
      </p:sp>
      <p:sp>
        <p:nvSpPr>
          <p:cNvPr id="18" name="Text 16"/>
          <p:cNvSpPr txBox="1"/>
          <p:nvPr/>
        </p:nvSpPr>
        <p:spPr>
          <a:xfrm>
            <a:off x="876270" y="3562685"/>
            <a:ext cx="7938089"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Cách ký khác với lúc tạo link: nối bằng dấu </a:t>
            </a:r>
            <a:pPr algn="l" indent="0" marL="0">
              <a:buNone/>
            </a:pPr>
            <a:r>
              <a:rPr lang="en-US" sz="1400" dirty="0">
                <a:solidFill>
                  <a:srgbClr val="3F454D"/>
                </a:solidFill>
                <a:latin typeface="Courier New" pitchFamily="34" charset="0"/>
                <a:ea typeface="Courier New" pitchFamily="34" charset="-122"/>
                <a:cs typeface="Courier New" pitchFamily="34" charset="-120"/>
              </a:rPr>
              <a:t>|</a:t>
            </a:r>
            <a:pPr algn="l" indent="0" marL="0">
              <a:buNone/>
            </a:pPr>
            <a:r>
              <a:rPr lang="en-US" sz="1400" dirty="0">
                <a:solidFill>
                  <a:srgbClr val="3F454D"/>
                </a:solidFill>
                <a:latin typeface="Arial" pitchFamily="34" charset="0"/>
                <a:ea typeface="Arial" pitchFamily="34" charset="-122"/>
                <a:cs typeface="Arial" pitchFamily="34" charset="-120"/>
              </a:rPr>
              <a:t> theo thứ tự cố định, không dùng buildQueryString</a:t>
            </a:r>
            <a:endParaRPr lang="en-US" sz="1400" dirty="0"/>
          </a:p>
        </p:txBody>
      </p:sp>
      <p:sp>
        <p:nvSpPr>
          <p:cNvPr id="19" name="Text 17"/>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0" name="Text 18"/>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22</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1062167"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Phần 5 – Thêm</a:t>
            </a:r>
            <a:endParaRPr lang="en-US" sz="1100" dirty="0"/>
          </a:p>
        </p:txBody>
      </p:sp>
      <p:sp>
        <p:nvSpPr>
          <p:cNvPr id="3" name="Text 1"/>
          <p:cNvSpPr txBox="1"/>
          <p:nvPr/>
        </p:nvSpPr>
        <p:spPr>
          <a:xfrm>
            <a:off x="660380" y="643829"/>
            <a:ext cx="3377336"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Một số lỗi hay gặp</a:t>
            </a:r>
            <a:endParaRPr lang="en-US" sz="3000" dirty="0"/>
          </a:p>
        </p:txBody>
      </p:sp>
      <p:sp>
        <p:nvSpPr>
          <p:cNvPr id="4" name="Shape 2"/>
          <p:cNvSpPr/>
          <p:nvPr/>
        </p:nvSpPr>
        <p:spPr>
          <a:xfrm>
            <a:off x="660380" y="1347368"/>
            <a:ext cx="10870936" cy="3619378"/>
          </a:xfrm>
          <a:prstGeom prst="roundRect">
            <a:avLst>
              <a:gd name="adj" fmla="val 2807"/>
            </a:avLst>
          </a:prstGeom>
          <a:solidFill>
            <a:srgbClr val="FFFFFF"/>
          </a:solidFill>
          <a:ln/>
        </p:spPr>
      </p:sp>
      <p:sp>
        <p:nvSpPr>
          <p:cNvPr id="5" name="Shape 3"/>
          <p:cNvSpPr/>
          <p:nvPr/>
        </p:nvSpPr>
        <p:spPr>
          <a:xfrm>
            <a:off x="660380" y="1347368"/>
            <a:ext cx="4348338" cy="422270"/>
          </a:xfrm>
          <a:prstGeom prst="rect">
            <a:avLst/>
          </a:prstGeom>
          <a:solidFill>
            <a:srgbClr val="ECF2FF"/>
          </a:solidFill>
          <a:ln/>
        </p:spPr>
      </p:sp>
      <p:sp>
        <p:nvSpPr>
          <p:cNvPr id="6" name="Text 4"/>
          <p:cNvSpPr txBox="1"/>
          <p:nvPr/>
        </p:nvSpPr>
        <p:spPr>
          <a:xfrm>
            <a:off x="825520" y="1479408"/>
            <a:ext cx="306964"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LỖI</a:t>
            </a:r>
            <a:endParaRPr lang="en-US" sz="1000" dirty="0"/>
          </a:p>
        </p:txBody>
      </p:sp>
      <p:sp>
        <p:nvSpPr>
          <p:cNvPr id="7" name="Shape 5"/>
          <p:cNvSpPr/>
          <p:nvPr/>
        </p:nvSpPr>
        <p:spPr>
          <a:xfrm>
            <a:off x="5008717" y="1347368"/>
            <a:ext cx="6522598" cy="422270"/>
          </a:xfrm>
          <a:prstGeom prst="rect">
            <a:avLst/>
          </a:prstGeom>
          <a:solidFill>
            <a:srgbClr val="ECF2FF"/>
          </a:solidFill>
          <a:ln/>
        </p:spPr>
      </p:sp>
      <p:sp>
        <p:nvSpPr>
          <p:cNvPr id="8" name="Text 6"/>
          <p:cNvSpPr txBox="1"/>
          <p:nvPr/>
        </p:nvSpPr>
        <p:spPr>
          <a:xfrm>
            <a:off x="5173858" y="1479408"/>
            <a:ext cx="810981" cy="190470"/>
          </a:xfrm>
          <a:prstGeom prst="rect">
            <a:avLst/>
          </a:prstGeom>
          <a:noFill/>
          <a:ln/>
        </p:spPr>
        <p:txBody>
          <a:bodyPr wrap="square" lIns="0" tIns="0" rIns="0" bIns="0" rtlCol="0" anchor="ctr"/>
          <a:lstStyle/>
          <a:p>
            <a:pPr algn="l" indent="0" marL="0">
              <a:buNone/>
            </a:pPr>
            <a:r>
              <a:rPr lang="en-US" sz="1000" b="1" dirty="0">
                <a:solidFill>
                  <a:srgbClr val="0066FF"/>
                </a:solidFill>
                <a:latin typeface="Arial" pitchFamily="34" charset="0"/>
                <a:ea typeface="Arial" pitchFamily="34" charset="-122"/>
                <a:cs typeface="Arial" pitchFamily="34" charset="-120"/>
              </a:rPr>
              <a:t>CÁCH SỬA</a:t>
            </a:r>
            <a:endParaRPr lang="en-US" sz="1000" dirty="0"/>
          </a:p>
        </p:txBody>
      </p:sp>
      <p:sp>
        <p:nvSpPr>
          <p:cNvPr id="9" name="Shape 7"/>
          <p:cNvSpPr/>
          <p:nvPr/>
        </p:nvSpPr>
        <p:spPr>
          <a:xfrm>
            <a:off x="660380" y="1769638"/>
            <a:ext cx="4348338" cy="6309"/>
          </a:xfrm>
          <a:prstGeom prst="rect">
            <a:avLst/>
          </a:prstGeom>
          <a:solidFill>
            <a:srgbClr val="E3E6EA"/>
          </a:solidFill>
          <a:ln/>
        </p:spPr>
      </p:sp>
      <p:sp>
        <p:nvSpPr>
          <p:cNvPr id="10" name="Text 8"/>
          <p:cNvSpPr txBox="1"/>
          <p:nvPr/>
        </p:nvSpPr>
        <p:spPr>
          <a:xfrm>
            <a:off x="825520" y="1889882"/>
            <a:ext cx="1916217"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Address already in use</a:t>
            </a:r>
            <a:endParaRPr lang="en-US" sz="1300" dirty="0"/>
          </a:p>
        </p:txBody>
      </p:sp>
      <p:sp>
        <p:nvSpPr>
          <p:cNvPr id="11" name="Shape 9"/>
          <p:cNvSpPr/>
          <p:nvPr/>
        </p:nvSpPr>
        <p:spPr>
          <a:xfrm>
            <a:off x="5008717" y="1769638"/>
            <a:ext cx="6522598" cy="6309"/>
          </a:xfrm>
          <a:prstGeom prst="rect">
            <a:avLst/>
          </a:prstGeom>
          <a:solidFill>
            <a:srgbClr val="E3E6EA"/>
          </a:solidFill>
          <a:ln/>
        </p:spPr>
      </p:sp>
      <p:sp>
        <p:nvSpPr>
          <p:cNvPr id="12" name="Text 10"/>
          <p:cNvSpPr txBox="1"/>
          <p:nvPr/>
        </p:nvSpPr>
        <p:spPr>
          <a:xfrm>
            <a:off x="5173858" y="1889882"/>
            <a:ext cx="3093415" cy="247620"/>
          </a:xfrm>
          <a:prstGeom prst="rect">
            <a:avLst/>
          </a:prstGeom>
          <a:noFill/>
          <a:ln/>
        </p:spPr>
        <p:txBody>
          <a:bodyPr wrap="square" lIns="0" tIns="0" rIns="0" bIns="0" rtlCol="0" anchor="ctr"/>
          <a:lstStyle/>
          <a:p>
            <a:pPr algn="l" indent="0" marL="0">
              <a:buNone/>
            </a:pPr>
            <a:r>
              <a:rPr lang="en-US" sz="1300" dirty="0">
                <a:solidFill>
                  <a:srgbClr val="3F454D"/>
                </a:solidFill>
                <a:latin typeface="Arial" pitchFamily="34" charset="0"/>
                <a:ea typeface="Arial" pitchFamily="34" charset="-122"/>
                <a:cs typeface="Arial" pitchFamily="34" charset="-120"/>
              </a:rPr>
              <a:t>Port 8080 đang bị chiếm, tắt terminal cũ</a:t>
            </a:r>
            <a:endParaRPr lang="en-US" sz="1300" dirty="0"/>
          </a:p>
        </p:txBody>
      </p:sp>
      <p:sp>
        <p:nvSpPr>
          <p:cNvPr id="13" name="Shape 11"/>
          <p:cNvSpPr/>
          <p:nvPr/>
        </p:nvSpPr>
        <p:spPr>
          <a:xfrm>
            <a:off x="660380" y="2226838"/>
            <a:ext cx="4348338" cy="6309"/>
          </a:xfrm>
          <a:prstGeom prst="rect">
            <a:avLst/>
          </a:prstGeom>
          <a:solidFill>
            <a:srgbClr val="E3E6EA"/>
          </a:solidFill>
          <a:ln/>
        </p:spPr>
      </p:sp>
      <p:sp>
        <p:nvSpPr>
          <p:cNvPr id="14" name="Text 12"/>
          <p:cNvSpPr txBox="1"/>
          <p:nvPr/>
        </p:nvSpPr>
        <p:spPr>
          <a:xfrm>
            <a:off x="825520" y="2347082"/>
            <a:ext cx="1845259"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VNPAY báo sai chữ ký</a:t>
            </a:r>
            <a:endParaRPr lang="en-US" sz="1300" dirty="0"/>
          </a:p>
        </p:txBody>
      </p:sp>
      <p:sp>
        <p:nvSpPr>
          <p:cNvPr id="15" name="Shape 13"/>
          <p:cNvSpPr/>
          <p:nvPr/>
        </p:nvSpPr>
        <p:spPr>
          <a:xfrm>
            <a:off x="5008717" y="2226838"/>
            <a:ext cx="6522598" cy="6309"/>
          </a:xfrm>
          <a:prstGeom prst="rect">
            <a:avLst/>
          </a:prstGeom>
          <a:solidFill>
            <a:srgbClr val="E3E6EA"/>
          </a:solidFill>
          <a:ln/>
        </p:spPr>
      </p:sp>
      <p:sp>
        <p:nvSpPr>
          <p:cNvPr id="16" name="Text 14"/>
          <p:cNvSpPr txBox="1"/>
          <p:nvPr/>
        </p:nvSpPr>
        <p:spPr>
          <a:xfrm>
            <a:off x="5173858" y="2347082"/>
            <a:ext cx="3813505" cy="247620"/>
          </a:xfrm>
          <a:prstGeom prst="rect">
            <a:avLst/>
          </a:prstGeom>
          <a:noFill/>
          <a:ln/>
        </p:spPr>
        <p:txBody>
          <a:bodyPr wrap="square" lIns="0" tIns="0" rIns="0" bIns="0" rtlCol="0" anchor="ctr"/>
          <a:lstStyle/>
          <a:p>
            <a:pPr algn="l" indent="0" marL="0">
              <a:buNone/>
            </a:pPr>
            <a:r>
              <a:rPr lang="en-US" sz="1300" dirty="0">
                <a:solidFill>
                  <a:srgbClr val="3F454D"/>
                </a:solidFill>
                <a:latin typeface="Arial" pitchFamily="34" charset="0"/>
                <a:ea typeface="Arial" pitchFamily="34" charset="-122"/>
                <a:cs typeface="Arial" pitchFamily="34" charset="-120"/>
              </a:rPr>
              <a:t>Kiểm tra HashSecret, xem có encode value chưa</a:t>
            </a:r>
            <a:endParaRPr lang="en-US" sz="1300" dirty="0"/>
          </a:p>
        </p:txBody>
      </p:sp>
      <p:sp>
        <p:nvSpPr>
          <p:cNvPr id="17" name="Shape 15"/>
          <p:cNvSpPr/>
          <p:nvPr/>
        </p:nvSpPr>
        <p:spPr>
          <a:xfrm>
            <a:off x="660380" y="2684038"/>
            <a:ext cx="4348338" cy="6309"/>
          </a:xfrm>
          <a:prstGeom prst="rect">
            <a:avLst/>
          </a:prstGeom>
          <a:solidFill>
            <a:srgbClr val="E3E6EA"/>
          </a:solidFill>
          <a:ln/>
        </p:spPr>
      </p:sp>
      <p:sp>
        <p:nvSpPr>
          <p:cNvPr id="18" name="Text 16"/>
          <p:cNvSpPr txBox="1"/>
          <p:nvPr/>
        </p:nvSpPr>
        <p:spPr>
          <a:xfrm>
            <a:off x="825520" y="2804282"/>
            <a:ext cx="2217329"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Lỗi unreachable statement</a:t>
            </a:r>
            <a:endParaRPr lang="en-US" sz="1300" dirty="0"/>
          </a:p>
        </p:txBody>
      </p:sp>
      <p:sp>
        <p:nvSpPr>
          <p:cNvPr id="19" name="Shape 17"/>
          <p:cNvSpPr/>
          <p:nvPr/>
        </p:nvSpPr>
        <p:spPr>
          <a:xfrm>
            <a:off x="5008717" y="2684038"/>
            <a:ext cx="6522598" cy="6309"/>
          </a:xfrm>
          <a:prstGeom prst="rect">
            <a:avLst/>
          </a:prstGeom>
          <a:solidFill>
            <a:srgbClr val="E3E6EA"/>
          </a:solidFill>
          <a:ln/>
        </p:spPr>
      </p:sp>
      <p:sp>
        <p:nvSpPr>
          <p:cNvPr id="20" name="Text 18"/>
          <p:cNvSpPr txBox="1"/>
          <p:nvPr/>
        </p:nvSpPr>
        <p:spPr>
          <a:xfrm>
            <a:off x="5173858" y="2804282"/>
            <a:ext cx="3113532" cy="247620"/>
          </a:xfrm>
          <a:prstGeom prst="rect">
            <a:avLst/>
          </a:prstGeom>
          <a:noFill/>
          <a:ln/>
        </p:spPr>
        <p:txBody>
          <a:bodyPr wrap="square" lIns="0" tIns="0" rIns="0" bIns="0" rtlCol="0" anchor="ctr"/>
          <a:lstStyle/>
          <a:p>
            <a:pPr algn="l" indent="0" marL="0">
              <a:buNone/>
            </a:pPr>
            <a:r>
              <a:rPr lang="en-US" sz="1300" dirty="0">
                <a:solidFill>
                  <a:srgbClr val="3F454D"/>
                </a:solidFill>
                <a:latin typeface="Arial" pitchFamily="34" charset="0"/>
                <a:ea typeface="Arial" pitchFamily="34" charset="-122"/>
                <a:cs typeface="Arial" pitchFamily="34" charset="-120"/>
              </a:rPr>
              <a:t>Chưa xoá dòng return có sẵn trong hàm</a:t>
            </a:r>
            <a:endParaRPr lang="en-US" sz="1300" dirty="0"/>
          </a:p>
        </p:txBody>
      </p:sp>
      <p:sp>
        <p:nvSpPr>
          <p:cNvPr id="21" name="Shape 19"/>
          <p:cNvSpPr/>
          <p:nvPr/>
        </p:nvSpPr>
        <p:spPr>
          <a:xfrm>
            <a:off x="660380" y="3141147"/>
            <a:ext cx="4348338" cy="6309"/>
          </a:xfrm>
          <a:prstGeom prst="rect">
            <a:avLst/>
          </a:prstGeom>
          <a:solidFill>
            <a:srgbClr val="E3E6EA"/>
          </a:solidFill>
          <a:ln/>
        </p:spPr>
      </p:sp>
      <p:sp>
        <p:nvSpPr>
          <p:cNvPr id="22" name="Text 20"/>
          <p:cNvSpPr txBox="1"/>
          <p:nvPr/>
        </p:nvSpPr>
        <p:spPr>
          <a:xfrm>
            <a:off x="825520" y="3261482"/>
            <a:ext cx="2392528"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Sửa code mà không thấy đổi</a:t>
            </a:r>
            <a:endParaRPr lang="en-US" sz="1300" dirty="0"/>
          </a:p>
        </p:txBody>
      </p:sp>
      <p:sp>
        <p:nvSpPr>
          <p:cNvPr id="23" name="Shape 21"/>
          <p:cNvSpPr/>
          <p:nvPr/>
        </p:nvSpPr>
        <p:spPr>
          <a:xfrm>
            <a:off x="5008717" y="3141147"/>
            <a:ext cx="6522598" cy="6309"/>
          </a:xfrm>
          <a:prstGeom prst="rect">
            <a:avLst/>
          </a:prstGeom>
          <a:solidFill>
            <a:srgbClr val="E3E6EA"/>
          </a:solidFill>
          <a:ln/>
        </p:spPr>
      </p:sp>
      <p:sp>
        <p:nvSpPr>
          <p:cNvPr id="24" name="Text 22"/>
          <p:cNvSpPr txBox="1"/>
          <p:nvPr/>
        </p:nvSpPr>
        <p:spPr>
          <a:xfrm>
            <a:off x="5173858" y="3261482"/>
            <a:ext cx="2291029" cy="247620"/>
          </a:xfrm>
          <a:prstGeom prst="rect">
            <a:avLst/>
          </a:prstGeom>
          <a:noFill/>
          <a:ln/>
        </p:spPr>
        <p:txBody>
          <a:bodyPr wrap="square" lIns="0" tIns="0" rIns="0" bIns="0" rtlCol="0" anchor="ctr"/>
          <a:lstStyle/>
          <a:p>
            <a:pPr algn="l" indent="0" marL="0">
              <a:buNone/>
            </a:pPr>
            <a:r>
              <a:rPr lang="en-US" sz="1300" dirty="0">
                <a:solidFill>
                  <a:srgbClr val="3F454D"/>
                </a:solidFill>
                <a:latin typeface="Arial" pitchFamily="34" charset="0"/>
                <a:ea typeface="Arial" pitchFamily="34" charset="-122"/>
                <a:cs typeface="Arial" pitchFamily="34" charset="-120"/>
              </a:rPr>
              <a:t>Chưa Ctrl+C rồi chạy lại Java</a:t>
            </a:r>
            <a:endParaRPr lang="en-US" sz="1300" dirty="0"/>
          </a:p>
        </p:txBody>
      </p:sp>
      <p:sp>
        <p:nvSpPr>
          <p:cNvPr id="25" name="Shape 23"/>
          <p:cNvSpPr/>
          <p:nvPr/>
        </p:nvSpPr>
        <p:spPr>
          <a:xfrm>
            <a:off x="660380" y="3598347"/>
            <a:ext cx="4348338" cy="6309"/>
          </a:xfrm>
          <a:prstGeom prst="rect">
            <a:avLst/>
          </a:prstGeom>
          <a:solidFill>
            <a:srgbClr val="E3E6EA"/>
          </a:solidFill>
          <a:ln/>
        </p:spPr>
      </p:sp>
      <p:sp>
        <p:nvSpPr>
          <p:cNvPr id="26" name="Text 24"/>
          <p:cNvSpPr txBox="1"/>
          <p:nvPr/>
        </p:nvSpPr>
        <p:spPr>
          <a:xfrm>
            <a:off x="825520" y="3718682"/>
            <a:ext cx="1779057"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Không thấy dòng IPN</a:t>
            </a:r>
            <a:endParaRPr lang="en-US" sz="1300" dirty="0"/>
          </a:p>
        </p:txBody>
      </p:sp>
      <p:sp>
        <p:nvSpPr>
          <p:cNvPr id="27" name="Shape 25"/>
          <p:cNvSpPr/>
          <p:nvPr/>
        </p:nvSpPr>
        <p:spPr>
          <a:xfrm>
            <a:off x="5008717" y="3598347"/>
            <a:ext cx="6522598" cy="6309"/>
          </a:xfrm>
          <a:prstGeom prst="rect">
            <a:avLst/>
          </a:prstGeom>
          <a:solidFill>
            <a:srgbClr val="E3E6EA"/>
          </a:solidFill>
          <a:ln/>
        </p:spPr>
      </p:sp>
      <p:sp>
        <p:nvSpPr>
          <p:cNvPr id="28" name="Text 26"/>
          <p:cNvSpPr txBox="1"/>
          <p:nvPr/>
        </p:nvSpPr>
        <p:spPr>
          <a:xfrm>
            <a:off x="5173858" y="3718682"/>
            <a:ext cx="3340212" cy="247620"/>
          </a:xfrm>
          <a:prstGeom prst="rect">
            <a:avLst/>
          </a:prstGeom>
          <a:noFill/>
          <a:ln/>
        </p:spPr>
        <p:txBody>
          <a:bodyPr wrap="square" lIns="0" tIns="0" rIns="0" bIns="0" rtlCol="0" anchor="ctr"/>
          <a:lstStyle/>
          <a:p>
            <a:pPr algn="l" indent="0" marL="0">
              <a:buNone/>
            </a:pPr>
            <a:r>
              <a:rPr lang="en-US" sz="1300" dirty="0">
                <a:solidFill>
                  <a:srgbClr val="3F454D"/>
                </a:solidFill>
                <a:latin typeface="Arial" pitchFamily="34" charset="0"/>
                <a:ea typeface="Arial" pitchFamily="34" charset="-122"/>
                <a:cs typeface="Arial" pitchFamily="34" charset="-120"/>
              </a:rPr>
              <a:t>Chưa khai URL IPN, hoặc link ngrok đã đổi</a:t>
            </a:r>
            <a:endParaRPr lang="en-US" sz="1300" dirty="0"/>
          </a:p>
        </p:txBody>
      </p:sp>
      <p:sp>
        <p:nvSpPr>
          <p:cNvPr id="29" name="Shape 27"/>
          <p:cNvSpPr/>
          <p:nvPr/>
        </p:nvSpPr>
        <p:spPr>
          <a:xfrm>
            <a:off x="660380" y="4055547"/>
            <a:ext cx="4348338" cy="6309"/>
          </a:xfrm>
          <a:prstGeom prst="rect">
            <a:avLst/>
          </a:prstGeom>
          <a:solidFill>
            <a:srgbClr val="E3E6EA"/>
          </a:solidFill>
          <a:ln/>
        </p:spPr>
      </p:sp>
      <p:sp>
        <p:nvSpPr>
          <p:cNvPr id="30" name="Text 28"/>
          <p:cNvSpPr txBox="1"/>
          <p:nvPr/>
        </p:nvSpPr>
        <p:spPr>
          <a:xfrm>
            <a:off x="825520" y="4175790"/>
            <a:ext cx="1067379"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IPN trả về 97</a:t>
            </a:r>
            <a:endParaRPr lang="en-US" sz="1300" dirty="0"/>
          </a:p>
        </p:txBody>
      </p:sp>
      <p:sp>
        <p:nvSpPr>
          <p:cNvPr id="31" name="Shape 29"/>
          <p:cNvSpPr/>
          <p:nvPr/>
        </p:nvSpPr>
        <p:spPr>
          <a:xfrm>
            <a:off x="5008717" y="4055547"/>
            <a:ext cx="6522598" cy="6309"/>
          </a:xfrm>
          <a:prstGeom prst="rect">
            <a:avLst/>
          </a:prstGeom>
          <a:solidFill>
            <a:srgbClr val="E3E6EA"/>
          </a:solidFill>
          <a:ln/>
        </p:spPr>
      </p:sp>
      <p:sp>
        <p:nvSpPr>
          <p:cNvPr id="32" name="Text 30"/>
          <p:cNvSpPr txBox="1"/>
          <p:nvPr/>
        </p:nvSpPr>
        <p:spPr>
          <a:xfrm>
            <a:off x="5173858" y="4175790"/>
            <a:ext cx="3174340" cy="247620"/>
          </a:xfrm>
          <a:prstGeom prst="rect">
            <a:avLst/>
          </a:prstGeom>
          <a:noFill/>
          <a:ln/>
        </p:spPr>
        <p:txBody>
          <a:bodyPr wrap="square" lIns="0" tIns="0" rIns="0" bIns="0" rtlCol="0" anchor="ctr"/>
          <a:lstStyle/>
          <a:p>
            <a:pPr algn="l" indent="0" marL="0">
              <a:buNone/>
            </a:pPr>
            <a:r>
              <a:rPr lang="en-US" sz="1300" dirty="0">
                <a:solidFill>
                  <a:srgbClr val="3F454D"/>
                </a:solidFill>
                <a:latin typeface="Arial" pitchFamily="34" charset="0"/>
                <a:ea typeface="Arial" pitchFamily="34" charset="-122"/>
                <a:cs typeface="Arial" pitchFamily="34" charset="-120"/>
              </a:rPr>
              <a:t>HashSecret trong code khác trên VNPAY</a:t>
            </a:r>
            <a:endParaRPr lang="en-US" sz="1300" dirty="0"/>
          </a:p>
        </p:txBody>
      </p:sp>
      <p:sp>
        <p:nvSpPr>
          <p:cNvPr id="33" name="Shape 31"/>
          <p:cNvSpPr/>
          <p:nvPr/>
        </p:nvSpPr>
        <p:spPr>
          <a:xfrm>
            <a:off x="660380" y="4512747"/>
            <a:ext cx="4348338" cy="6309"/>
          </a:xfrm>
          <a:prstGeom prst="rect">
            <a:avLst/>
          </a:prstGeom>
          <a:solidFill>
            <a:srgbClr val="E3E6EA"/>
          </a:solidFill>
          <a:ln/>
        </p:spPr>
      </p:sp>
      <p:sp>
        <p:nvSpPr>
          <p:cNvPr id="34" name="Text 32"/>
          <p:cNvSpPr txBox="1"/>
          <p:nvPr/>
        </p:nvSpPr>
        <p:spPr>
          <a:xfrm>
            <a:off x="825520" y="4632990"/>
            <a:ext cx="3072475" cy="247620"/>
          </a:xfrm>
          <a:prstGeom prst="rect">
            <a:avLst/>
          </a:prstGeom>
          <a:noFill/>
          <a:ln/>
        </p:spPr>
        <p:txBody>
          <a:bodyPr wrap="square" lIns="0" tIns="0" rIns="0" bIns="0" rtlCol="0" anchor="ctr"/>
          <a:lstStyle/>
          <a:p>
            <a:pPr algn="l" indent="0" marL="0">
              <a:buNone/>
            </a:pPr>
            <a:r>
              <a:rPr lang="en-US" sz="1300" b="1" dirty="0">
                <a:solidFill>
                  <a:srgbClr val="111111"/>
                </a:solidFill>
                <a:latin typeface="Arial" pitchFamily="34" charset="0"/>
                <a:ea typeface="Arial" pitchFamily="34" charset="-122"/>
                <a:cs typeface="Arial" pitchFamily="34" charset="-120"/>
              </a:rPr>
              <a:t>Thanh toán xong không quay về web</a:t>
            </a:r>
            <a:endParaRPr lang="en-US" sz="1300" dirty="0"/>
          </a:p>
        </p:txBody>
      </p:sp>
      <p:sp>
        <p:nvSpPr>
          <p:cNvPr id="35" name="Shape 33"/>
          <p:cNvSpPr/>
          <p:nvPr/>
        </p:nvSpPr>
        <p:spPr>
          <a:xfrm>
            <a:off x="5008717" y="4512747"/>
            <a:ext cx="6522598" cy="6309"/>
          </a:xfrm>
          <a:prstGeom prst="rect">
            <a:avLst/>
          </a:prstGeom>
          <a:solidFill>
            <a:srgbClr val="E3E6EA"/>
          </a:solidFill>
          <a:ln/>
        </p:spPr>
      </p:sp>
      <p:sp>
        <p:nvSpPr>
          <p:cNvPr id="36" name="Text 34"/>
          <p:cNvSpPr txBox="1"/>
          <p:nvPr/>
        </p:nvSpPr>
        <p:spPr>
          <a:xfrm>
            <a:off x="5173858" y="4632990"/>
            <a:ext cx="3488710" cy="247620"/>
          </a:xfrm>
          <a:prstGeom prst="rect">
            <a:avLst/>
          </a:prstGeom>
          <a:noFill/>
          <a:ln/>
        </p:spPr>
        <p:txBody>
          <a:bodyPr wrap="square" lIns="0" tIns="0" rIns="0" bIns="0" rtlCol="0" anchor="ctr"/>
          <a:lstStyle/>
          <a:p>
            <a:pPr algn="l" indent="0" marL="0">
              <a:buNone/>
            </a:pPr>
            <a:r>
              <a:rPr lang="en-US" sz="1300" dirty="0">
                <a:solidFill>
                  <a:srgbClr val="3F454D"/>
                </a:solidFill>
                <a:latin typeface="Arial" pitchFamily="34" charset="0"/>
                <a:ea typeface="Arial" pitchFamily="34" charset="-122"/>
                <a:cs typeface="Arial" pitchFamily="34" charset="-120"/>
              </a:rPr>
              <a:t>Chưa set VNPAY_RETURN_URL rồi chạy lại</a:t>
            </a:r>
            <a:endParaRPr lang="en-US" sz="1300" dirty="0"/>
          </a:p>
        </p:txBody>
      </p:sp>
      <p:sp>
        <p:nvSpPr>
          <p:cNvPr id="37" name="Text 35"/>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38" name="Text 36"/>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23</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423367"/>
            <a:ext cx="658277" cy="209580"/>
          </a:xfrm>
          <a:prstGeom prst="rect">
            <a:avLst/>
          </a:prstGeom>
          <a:noFill/>
          <a:ln/>
        </p:spPr>
        <p:txBody>
          <a:bodyPr wrap="square" lIns="0" tIns="0" rIns="0" bIns="0" rtlCol="0" anchor="ctr"/>
          <a:lstStyle/>
          <a:p>
            <a:pPr algn="l" indent="0" marL="0">
              <a:buNone/>
            </a:pPr>
            <a:r>
              <a:rPr lang="en-US" sz="1100" b="1" dirty="0">
                <a:solidFill>
                  <a:srgbClr val="0066FF"/>
                </a:solidFill>
                <a:latin typeface="Arial" pitchFamily="34" charset="0"/>
                <a:ea typeface="Arial" pitchFamily="34" charset="-122"/>
                <a:cs typeface="Arial" pitchFamily="34" charset="-120"/>
              </a:rPr>
              <a:t>Tổng kết</a:t>
            </a:r>
            <a:endParaRPr lang="en-US" sz="1100" dirty="0"/>
          </a:p>
        </p:txBody>
      </p:sp>
      <p:sp>
        <p:nvSpPr>
          <p:cNvPr id="3" name="Text 1"/>
          <p:cNvSpPr txBox="1"/>
          <p:nvPr/>
        </p:nvSpPr>
        <p:spPr>
          <a:xfrm>
            <a:off x="660380" y="643829"/>
            <a:ext cx="7023324" cy="426750"/>
          </a:xfrm>
          <a:prstGeom prst="rect">
            <a:avLst/>
          </a:prstGeom>
          <a:noFill/>
          <a:ln/>
        </p:spPr>
        <p:txBody>
          <a:bodyPr wrap="square" lIns="0" tIns="0" rIns="0" bIns="0" rtlCol="0" anchor="ctr"/>
          <a:lstStyle/>
          <a:p>
            <a:pPr algn="l" indent="0" marL="0">
              <a:buNone/>
            </a:pPr>
            <a:r>
              <a:rPr lang="en-US" sz="3000" b="1" dirty="0">
                <a:solidFill>
                  <a:srgbClr val="111111"/>
                </a:solidFill>
                <a:latin typeface="Arial" pitchFamily="34" charset="0"/>
                <a:ea typeface="Arial" pitchFamily="34" charset="-122"/>
                <a:cs typeface="Arial" pitchFamily="34" charset="-120"/>
              </a:rPr>
              <a:t>Mấy điều nên nhớ khi tích hợp VNPAY</a:t>
            </a:r>
            <a:endParaRPr lang="en-US" sz="3000" dirty="0"/>
          </a:p>
        </p:txBody>
      </p:sp>
      <p:sp>
        <p:nvSpPr>
          <p:cNvPr id="4" name="Shape 2"/>
          <p:cNvSpPr/>
          <p:nvPr/>
        </p:nvSpPr>
        <p:spPr>
          <a:xfrm>
            <a:off x="698510" y="1470264"/>
            <a:ext cx="63459" cy="63459"/>
          </a:xfrm>
          <a:prstGeom prst="ellipse">
            <a:avLst/>
          </a:prstGeom>
          <a:solidFill>
            <a:srgbClr val="0066FF"/>
          </a:solidFill>
          <a:ln/>
        </p:spPr>
      </p:sp>
      <p:sp>
        <p:nvSpPr>
          <p:cNvPr id="5" name="Text 3"/>
          <p:cNvSpPr txBox="1"/>
          <p:nvPr/>
        </p:nvSpPr>
        <p:spPr>
          <a:xfrm>
            <a:off x="876270" y="1368400"/>
            <a:ext cx="6106272"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Chỉ cập nhật trạng thái đơn từ IPN hoặc querydr, không dùng ReturnURL</a:t>
            </a:r>
            <a:endParaRPr lang="en-US" sz="1400" dirty="0"/>
          </a:p>
        </p:txBody>
      </p:sp>
      <p:sp>
        <p:nvSpPr>
          <p:cNvPr id="6" name="Shape 4"/>
          <p:cNvSpPr/>
          <p:nvPr/>
        </p:nvSpPr>
        <p:spPr>
          <a:xfrm>
            <a:off x="698510" y="1825874"/>
            <a:ext cx="63459" cy="63459"/>
          </a:xfrm>
          <a:prstGeom prst="ellipse">
            <a:avLst/>
          </a:prstGeom>
          <a:solidFill>
            <a:srgbClr val="0066FF"/>
          </a:solidFill>
          <a:ln/>
        </p:spPr>
      </p:sp>
      <p:sp>
        <p:nvSpPr>
          <p:cNvPr id="7" name="Text 5"/>
          <p:cNvSpPr txBox="1"/>
          <p:nvPr/>
        </p:nvSpPr>
        <p:spPr>
          <a:xfrm>
            <a:off x="876270" y="1724010"/>
            <a:ext cx="4631253"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So lại số tiền với đơn trong DB trước khi cập nhật PAID</a:t>
            </a:r>
            <a:endParaRPr lang="en-US" sz="1400" dirty="0"/>
          </a:p>
        </p:txBody>
      </p:sp>
      <p:sp>
        <p:nvSpPr>
          <p:cNvPr id="8" name="Shape 6"/>
          <p:cNvSpPr/>
          <p:nvPr/>
        </p:nvSpPr>
        <p:spPr>
          <a:xfrm>
            <a:off x="698510" y="2181484"/>
            <a:ext cx="63459" cy="63459"/>
          </a:xfrm>
          <a:prstGeom prst="ellipse">
            <a:avLst/>
          </a:prstGeom>
          <a:solidFill>
            <a:srgbClr val="0066FF"/>
          </a:solidFill>
          <a:ln/>
        </p:spPr>
      </p:sp>
      <p:sp>
        <p:nvSpPr>
          <p:cNvPr id="9" name="Text 7"/>
          <p:cNvSpPr txBox="1"/>
          <p:nvPr/>
        </p:nvSpPr>
        <p:spPr>
          <a:xfrm>
            <a:off x="876270" y="2079620"/>
            <a:ext cx="5110490"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Đơn đã xử lý rồi thì trả 02, vì VNPAY có thể gọi IPN nhiều lần</a:t>
            </a:r>
            <a:endParaRPr lang="en-US" sz="1400" dirty="0"/>
          </a:p>
        </p:txBody>
      </p:sp>
      <p:sp>
        <p:nvSpPr>
          <p:cNvPr id="10" name="Shape 8"/>
          <p:cNvSpPr/>
          <p:nvPr/>
        </p:nvSpPr>
        <p:spPr>
          <a:xfrm>
            <a:off x="698510" y="2537094"/>
            <a:ext cx="63459" cy="63459"/>
          </a:xfrm>
          <a:prstGeom prst="ellipse">
            <a:avLst/>
          </a:prstGeom>
          <a:solidFill>
            <a:srgbClr val="0066FF"/>
          </a:solidFill>
          <a:ln/>
        </p:spPr>
      </p:sp>
      <p:sp>
        <p:nvSpPr>
          <p:cNvPr id="11" name="Text 9"/>
          <p:cNvSpPr txBox="1"/>
          <p:nvPr/>
        </p:nvSpPr>
        <p:spPr>
          <a:xfrm>
            <a:off x="876270" y="2435230"/>
            <a:ext cx="5181539" cy="266730"/>
          </a:xfrm>
          <a:prstGeom prst="rect">
            <a:avLst/>
          </a:prstGeom>
          <a:noFill/>
          <a:ln/>
        </p:spPr>
        <p:txBody>
          <a:bodyPr wrap="square" lIns="0" tIns="0" rIns="0" bIns="0" rtlCol="0" anchor="ctr"/>
          <a:lstStyle/>
          <a:p>
            <a:pPr algn="l" indent="0" marL="0">
              <a:buNone/>
            </a:pPr>
            <a:r>
              <a:rPr lang="en-US" sz="1400" dirty="0">
                <a:solidFill>
                  <a:srgbClr val="3F454D"/>
                </a:solidFill>
                <a:latin typeface="Courier New" pitchFamily="34" charset="0"/>
                <a:ea typeface="Courier New" pitchFamily="34" charset="-122"/>
                <a:cs typeface="Courier New" pitchFamily="34" charset="-120"/>
              </a:rPr>
              <a:t>vnp_TxnRef</a:t>
            </a:r>
            <a:pPr algn="l" indent="0" marL="0">
              <a:buNone/>
            </a:pPr>
            <a:r>
              <a:rPr lang="en-US" sz="1400" dirty="0">
                <a:solidFill>
                  <a:srgbClr val="3F454D"/>
                </a:solidFill>
                <a:latin typeface="Arial" pitchFamily="34" charset="0"/>
                <a:ea typeface="Arial" pitchFamily="34" charset="-122"/>
                <a:cs typeface="Arial" pitchFamily="34" charset="-120"/>
              </a:rPr>
              <a:t> không được trùng, thanh toán lại thì tạo mã mới</a:t>
            </a:r>
            <a:endParaRPr lang="en-US" sz="1400" dirty="0"/>
          </a:p>
        </p:txBody>
      </p:sp>
      <p:sp>
        <p:nvSpPr>
          <p:cNvPr id="12" name="Shape 10"/>
          <p:cNvSpPr/>
          <p:nvPr/>
        </p:nvSpPr>
        <p:spPr>
          <a:xfrm>
            <a:off x="698510" y="2905323"/>
            <a:ext cx="63459" cy="63459"/>
          </a:xfrm>
          <a:prstGeom prst="ellipse">
            <a:avLst/>
          </a:prstGeom>
          <a:solidFill>
            <a:srgbClr val="0066FF"/>
          </a:solidFill>
          <a:ln/>
        </p:spPr>
      </p:sp>
      <p:sp>
        <p:nvSpPr>
          <p:cNvPr id="13" name="Text 11"/>
          <p:cNvSpPr txBox="1"/>
          <p:nvPr/>
        </p:nvSpPr>
        <p:spPr>
          <a:xfrm>
            <a:off x="876270" y="2803459"/>
            <a:ext cx="6524153"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Dùng múi giờ </a:t>
            </a:r>
            <a:pPr algn="l" indent="0" marL="0">
              <a:buNone/>
            </a:pPr>
            <a:r>
              <a:rPr lang="en-US" sz="1400" dirty="0">
                <a:solidFill>
                  <a:srgbClr val="3F454D"/>
                </a:solidFill>
                <a:latin typeface="Courier New" pitchFamily="34" charset="0"/>
                <a:ea typeface="Courier New" pitchFamily="34" charset="-122"/>
                <a:cs typeface="Courier New" pitchFamily="34" charset="-120"/>
              </a:rPr>
              <a:t>Asia/Ho_Chi_Minh</a:t>
            </a:r>
            <a:pPr algn="l" indent="0" marL="0">
              <a:buNone/>
            </a:pPr>
            <a:r>
              <a:rPr lang="en-US" sz="1400" dirty="0">
                <a:solidFill>
                  <a:srgbClr val="3F454D"/>
                </a:solidFill>
                <a:latin typeface="Arial" pitchFamily="34" charset="0"/>
                <a:ea typeface="Arial" pitchFamily="34" charset="-122"/>
                <a:cs typeface="Arial" pitchFamily="34" charset="-120"/>
              </a:rPr>
              <a:t>, đừng dùng </a:t>
            </a:r>
            <a:pPr algn="l" indent="0" marL="0">
              <a:buNone/>
            </a:pPr>
            <a:r>
              <a:rPr lang="en-US" sz="1400" dirty="0">
                <a:solidFill>
                  <a:srgbClr val="3F454D"/>
                </a:solidFill>
                <a:latin typeface="Courier New" pitchFamily="34" charset="0"/>
                <a:ea typeface="Courier New" pitchFamily="34" charset="-122"/>
                <a:cs typeface="Courier New" pitchFamily="34" charset="-120"/>
              </a:rPr>
              <a:t>Etc/GMT+7</a:t>
            </a:r>
            <a:pPr algn="l" indent="0" marL="0">
              <a:buNone/>
            </a:pPr>
            <a:r>
              <a:rPr lang="en-US" sz="1400" dirty="0">
                <a:solidFill>
                  <a:srgbClr val="3F454D"/>
                </a:solidFill>
                <a:latin typeface="Arial" pitchFamily="34" charset="0"/>
                <a:ea typeface="Arial" pitchFamily="34" charset="-122"/>
                <a:cs typeface="Arial" pitchFamily="34" charset="-120"/>
              </a:rPr>
              <a:t> (bị lệch 14 tiếng)</a:t>
            </a:r>
            <a:endParaRPr lang="en-US" sz="1400" dirty="0"/>
          </a:p>
        </p:txBody>
      </p:sp>
      <p:sp>
        <p:nvSpPr>
          <p:cNvPr id="14" name="Shape 12"/>
          <p:cNvSpPr/>
          <p:nvPr/>
        </p:nvSpPr>
        <p:spPr>
          <a:xfrm>
            <a:off x="698510" y="3273643"/>
            <a:ext cx="63459" cy="63459"/>
          </a:xfrm>
          <a:prstGeom prst="ellipse">
            <a:avLst/>
          </a:prstGeom>
          <a:solidFill>
            <a:srgbClr val="0066FF"/>
          </a:solidFill>
          <a:ln/>
        </p:spPr>
      </p:sp>
      <p:sp>
        <p:nvSpPr>
          <p:cNvPr id="15" name="Text 13"/>
          <p:cNvSpPr txBox="1"/>
          <p:nvPr/>
        </p:nvSpPr>
        <p:spPr>
          <a:xfrm>
            <a:off x="876270" y="3171779"/>
            <a:ext cx="2291852" cy="266730"/>
          </a:xfrm>
          <a:prstGeom prst="rect">
            <a:avLst/>
          </a:prstGeom>
          <a:noFill/>
          <a:ln/>
        </p:spPr>
        <p:txBody>
          <a:bodyPr wrap="square" lIns="0" tIns="0" rIns="0" bIns="0" rtlCol="0" anchor="ctr"/>
          <a:lstStyle/>
          <a:p>
            <a:pPr algn="l" indent="0" marL="0">
              <a:buNone/>
            </a:pPr>
            <a:r>
              <a:rPr lang="en-US" sz="1400" dirty="0">
                <a:solidFill>
                  <a:srgbClr val="3F454D"/>
                </a:solidFill>
                <a:latin typeface="Arial" pitchFamily="34" charset="0"/>
                <a:ea typeface="Arial" pitchFamily="34" charset="-122"/>
                <a:cs typeface="Arial" pitchFamily="34" charset="-120"/>
              </a:rPr>
              <a:t>HashSecret chỉ để ở server</a:t>
            </a:r>
            <a:endParaRPr lang="en-US" sz="1400" dirty="0"/>
          </a:p>
        </p:txBody>
      </p:sp>
      <p:sp>
        <p:nvSpPr>
          <p:cNvPr id="16" name="Shape 14"/>
          <p:cNvSpPr/>
          <p:nvPr/>
        </p:nvSpPr>
        <p:spPr>
          <a:xfrm>
            <a:off x="660380" y="3595238"/>
            <a:ext cx="10870936" cy="1130290"/>
          </a:xfrm>
          <a:prstGeom prst="roundRect">
            <a:avLst>
              <a:gd name="adj" fmla="val 7863"/>
            </a:avLst>
          </a:prstGeom>
          <a:solidFill>
            <a:srgbClr val="FFFFFF"/>
          </a:solidFill>
          <a:ln w="6350">
            <a:solidFill>
              <a:srgbClr val="E3E6EA"/>
            </a:solidFill>
            <a:prstDash val="solid"/>
          </a:ln>
        </p:spPr>
      </p:sp>
      <p:sp>
        <p:nvSpPr>
          <p:cNvPr id="17" name="Text 15"/>
          <p:cNvSpPr txBox="1"/>
          <p:nvPr/>
        </p:nvSpPr>
        <p:spPr>
          <a:xfrm>
            <a:off x="831830" y="3757544"/>
            <a:ext cx="1983425" cy="228600"/>
          </a:xfrm>
          <a:prstGeom prst="rect">
            <a:avLst/>
          </a:prstGeom>
          <a:noFill/>
          <a:ln/>
        </p:spPr>
        <p:txBody>
          <a:bodyPr wrap="square" lIns="0" tIns="0" rIns="0" bIns="0" rtlCol="0" anchor="ctr"/>
          <a:lstStyle/>
          <a:p>
            <a:pPr algn="l" indent="0" marL="0">
              <a:buNone/>
            </a:pPr>
            <a:r>
              <a:rPr lang="en-US" sz="1200" b="1" dirty="0">
                <a:solidFill>
                  <a:srgbClr val="0066FF"/>
                </a:solidFill>
                <a:latin typeface="Arial" pitchFamily="34" charset="0"/>
                <a:ea typeface="Arial" pitchFamily="34" charset="-122"/>
                <a:cs typeface="Arial" pitchFamily="34" charset="-120"/>
              </a:rPr>
              <a:t>Chuyển sang Spring Boot</a:t>
            </a:r>
            <a:endParaRPr lang="en-US" sz="1200" dirty="0"/>
          </a:p>
        </p:txBody>
      </p:sp>
      <p:sp>
        <p:nvSpPr>
          <p:cNvPr id="18" name="Shape 16"/>
          <p:cNvSpPr/>
          <p:nvPr/>
        </p:nvSpPr>
        <p:spPr>
          <a:xfrm>
            <a:off x="869960" y="4140495"/>
            <a:ext cx="63459" cy="63459"/>
          </a:xfrm>
          <a:prstGeom prst="ellipse">
            <a:avLst/>
          </a:prstGeom>
          <a:solidFill>
            <a:srgbClr val="0066FF"/>
          </a:solidFill>
          <a:ln/>
        </p:spPr>
      </p:sp>
      <p:sp>
        <p:nvSpPr>
          <p:cNvPr id="19" name="Text 17"/>
          <p:cNvSpPr txBox="1"/>
          <p:nvPr/>
        </p:nvSpPr>
        <p:spPr>
          <a:xfrm>
            <a:off x="1047720" y="4049603"/>
            <a:ext cx="4467667" cy="228600"/>
          </a:xfrm>
          <a:prstGeom prst="rect">
            <a:avLst/>
          </a:prstGeom>
          <a:noFill/>
          <a:ln/>
        </p:spPr>
        <p:txBody>
          <a:bodyPr wrap="square" lIns="0" tIns="0" rIns="0" bIns="0" rtlCol="0" anchor="ctr"/>
          <a:lstStyle/>
          <a:p>
            <a:pPr algn="l" indent="0" marL="0">
              <a:buNone/>
            </a:pPr>
            <a:r>
              <a:rPr lang="en-US" sz="1200" dirty="0">
                <a:solidFill>
                  <a:srgbClr val="3F454D"/>
                </a:solidFill>
                <a:latin typeface="Arial" pitchFamily="34" charset="0"/>
                <a:ea typeface="Arial" pitchFamily="34" charset="-122"/>
                <a:cs typeface="Arial" pitchFamily="34" charset="-120"/>
              </a:rPr>
              <a:t>Hai hàm </a:t>
            </a:r>
            <a:pPr algn="l" indent="0" marL="0">
              <a:buNone/>
            </a:pPr>
            <a:r>
              <a:rPr lang="en-US" sz="1200" dirty="0">
                <a:solidFill>
                  <a:srgbClr val="3F454D"/>
                </a:solidFill>
                <a:latin typeface="Courier New" pitchFamily="34" charset="0"/>
                <a:ea typeface="Courier New" pitchFamily="34" charset="-122"/>
                <a:cs typeface="Courier New" pitchFamily="34" charset="-120"/>
              </a:rPr>
              <a:t>hmacSHA512</a:t>
            </a:r>
            <a:pPr algn="l" indent="0" marL="0">
              <a:buNone/>
            </a:pPr>
            <a:r>
              <a:rPr lang="en-US" sz="1200" dirty="0">
                <a:solidFill>
                  <a:srgbClr val="3F454D"/>
                </a:solidFill>
                <a:latin typeface="Arial" pitchFamily="34" charset="0"/>
                <a:ea typeface="Arial" pitchFamily="34" charset="-122"/>
                <a:cs typeface="Arial" pitchFamily="34" charset="-120"/>
              </a:rPr>
              <a:t> và </a:t>
            </a:r>
            <a:pPr algn="l" indent="0" marL="0">
              <a:buNone/>
            </a:pPr>
            <a:r>
              <a:rPr lang="en-US" sz="1200" dirty="0">
                <a:solidFill>
                  <a:srgbClr val="3F454D"/>
                </a:solidFill>
                <a:latin typeface="Courier New" pitchFamily="34" charset="0"/>
                <a:ea typeface="Courier New" pitchFamily="34" charset="-122"/>
                <a:cs typeface="Courier New" pitchFamily="34" charset="-120"/>
              </a:rPr>
              <a:t>buildQueryString</a:t>
            </a:r>
            <a:pPr algn="l" indent="0" marL="0">
              <a:buNone/>
            </a:pPr>
            <a:r>
              <a:rPr lang="en-US" sz="1200" dirty="0">
                <a:solidFill>
                  <a:srgbClr val="3F454D"/>
                </a:solidFill>
                <a:latin typeface="Arial" pitchFamily="34" charset="0"/>
                <a:ea typeface="Arial" pitchFamily="34" charset="-122"/>
                <a:cs typeface="Arial" pitchFamily="34" charset="-120"/>
              </a:rPr>
              <a:t> dùng lại được</a:t>
            </a:r>
            <a:endParaRPr lang="en-US" sz="1200" dirty="0"/>
          </a:p>
        </p:txBody>
      </p:sp>
      <p:sp>
        <p:nvSpPr>
          <p:cNvPr id="20" name="Shape 18"/>
          <p:cNvSpPr/>
          <p:nvPr/>
        </p:nvSpPr>
        <p:spPr>
          <a:xfrm>
            <a:off x="869960" y="4445356"/>
            <a:ext cx="63459" cy="63459"/>
          </a:xfrm>
          <a:prstGeom prst="ellipse">
            <a:avLst/>
          </a:prstGeom>
          <a:solidFill>
            <a:srgbClr val="0066FF"/>
          </a:solidFill>
          <a:ln/>
        </p:spPr>
      </p:sp>
      <p:sp>
        <p:nvSpPr>
          <p:cNvPr id="21" name="Text 19"/>
          <p:cNvSpPr txBox="1"/>
          <p:nvPr/>
        </p:nvSpPr>
        <p:spPr>
          <a:xfrm>
            <a:off x="1047720" y="4354373"/>
            <a:ext cx="5364145" cy="228600"/>
          </a:xfrm>
          <a:prstGeom prst="rect">
            <a:avLst/>
          </a:prstGeom>
          <a:noFill/>
          <a:ln/>
        </p:spPr>
        <p:txBody>
          <a:bodyPr wrap="square" lIns="0" tIns="0" rIns="0" bIns="0" rtlCol="0" anchor="ctr"/>
          <a:lstStyle/>
          <a:p>
            <a:pPr algn="l" indent="0" marL="0">
              <a:buNone/>
            </a:pPr>
            <a:r>
              <a:rPr lang="en-US" sz="1200" dirty="0">
                <a:solidFill>
                  <a:srgbClr val="3F454D"/>
                </a:solidFill>
                <a:latin typeface="Courier New" pitchFamily="34" charset="0"/>
                <a:ea typeface="Courier New" pitchFamily="34" charset="-122"/>
                <a:cs typeface="Courier New" pitchFamily="34" charset="-120"/>
              </a:rPr>
              <a:t>ORDERS</a:t>
            </a:r>
            <a:pPr algn="l" indent="0" marL="0">
              <a:buNone/>
            </a:pPr>
            <a:r>
              <a:rPr lang="en-US" sz="1200" dirty="0">
                <a:solidFill>
                  <a:srgbClr val="3F454D"/>
                </a:solidFill>
                <a:latin typeface="Arial" pitchFamily="34" charset="0"/>
                <a:ea typeface="Arial" pitchFamily="34" charset="-122"/>
                <a:cs typeface="Arial" pitchFamily="34" charset="-120"/>
              </a:rPr>
              <a:t> đổi thành Repository, </a:t>
            </a:r>
            <a:pPr algn="l" indent="0" marL="0">
              <a:buNone/>
            </a:pPr>
            <a:r>
              <a:rPr lang="en-US" sz="1200" dirty="0">
                <a:solidFill>
                  <a:srgbClr val="3F454D"/>
                </a:solidFill>
                <a:latin typeface="Courier New" pitchFamily="34" charset="0"/>
                <a:ea typeface="Courier New" pitchFamily="34" charset="-122"/>
                <a:cs typeface="Courier New" pitchFamily="34" charset="-120"/>
              </a:rPr>
              <a:t>HttpServer</a:t>
            </a:r>
            <a:pPr algn="l" indent="0" marL="0">
              <a:buNone/>
            </a:pPr>
            <a:r>
              <a:rPr lang="en-US" sz="1200" dirty="0">
                <a:solidFill>
                  <a:srgbClr val="3F454D"/>
                </a:solidFill>
                <a:latin typeface="Arial" pitchFamily="34" charset="0"/>
                <a:ea typeface="Arial" pitchFamily="34" charset="-122"/>
                <a:cs typeface="Arial" pitchFamily="34" charset="-120"/>
              </a:rPr>
              <a:t> đổi thành </a:t>
            </a:r>
            <a:pPr algn="l" indent="0" marL="0">
              <a:buNone/>
            </a:pPr>
            <a:r>
              <a:rPr lang="en-US" sz="1200" dirty="0">
                <a:solidFill>
                  <a:srgbClr val="3F454D"/>
                </a:solidFill>
                <a:latin typeface="Courier New" pitchFamily="34" charset="0"/>
                <a:ea typeface="Courier New" pitchFamily="34" charset="-122"/>
                <a:cs typeface="Courier New" pitchFamily="34" charset="-120"/>
              </a:rPr>
              <a:t>@RestController</a:t>
            </a:r>
            <a:endParaRPr lang="en-US" sz="1200" dirty="0"/>
          </a:p>
        </p:txBody>
      </p:sp>
      <p:sp>
        <p:nvSpPr>
          <p:cNvPr id="22" name="Text 20"/>
          <p:cNvSpPr txBox="1"/>
          <p:nvPr/>
        </p:nvSpPr>
        <p:spPr>
          <a:xfrm>
            <a:off x="660380" y="6472763"/>
            <a:ext cx="2402769"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Seminar VNPAY Sandbox – Lê Minh Đăng</a:t>
            </a:r>
            <a:endParaRPr lang="en-US" sz="950" dirty="0"/>
          </a:p>
        </p:txBody>
      </p:sp>
      <p:sp>
        <p:nvSpPr>
          <p:cNvPr id="23" name="Text 21"/>
          <p:cNvSpPr txBox="1"/>
          <p:nvPr/>
        </p:nvSpPr>
        <p:spPr>
          <a:xfrm>
            <a:off x="11397082" y="6472763"/>
            <a:ext cx="210403" cy="180960"/>
          </a:xfrm>
          <a:prstGeom prst="rect">
            <a:avLst/>
          </a:prstGeom>
          <a:noFill/>
          <a:ln/>
        </p:spPr>
        <p:txBody>
          <a:bodyPr wrap="square" lIns="0" tIns="0" rIns="0" bIns="0" rtlCol="0" anchor="ctr"/>
          <a:lstStyle/>
          <a:p>
            <a:pPr algn="l" indent="0" marL="0">
              <a:buNone/>
            </a:pPr>
            <a:r>
              <a:rPr lang="en-US" sz="950" dirty="0">
                <a:solidFill>
                  <a:srgbClr val="6B7280"/>
                </a:solidFill>
                <a:latin typeface="Arial" pitchFamily="34" charset="0"/>
                <a:ea typeface="Arial" pitchFamily="34" charset="-122"/>
                <a:cs typeface="Arial" pitchFamily="34" charset="-120"/>
              </a:rPr>
              <a:t>24</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9FA"/>
        </a:solidFill>
      </p:bgPr>
    </p:bg>
    <p:spTree>
      <p:nvGrpSpPr>
        <p:cNvPr id="1" name=""/>
        <p:cNvGrpSpPr/>
        <p:nvPr/>
      </p:nvGrpSpPr>
      <p:grpSpPr>
        <a:xfrm>
          <a:off x="0" y="0"/>
          <a:ext cx="0" cy="0"/>
          <a:chOff x="0" y="0"/>
          <a:chExt cx="0" cy="0"/>
        </a:xfrm>
      </p:grpSpPr>
      <p:sp>
        <p:nvSpPr>
          <p:cNvPr id="2" name="Text 0"/>
          <p:cNvSpPr txBox="1"/>
          <p:nvPr/>
        </p:nvSpPr>
        <p:spPr>
          <a:xfrm>
            <a:off x="660380" y="2406335"/>
            <a:ext cx="9420515" cy="654253"/>
          </a:xfrm>
          <a:prstGeom prst="rect">
            <a:avLst/>
          </a:prstGeom>
          <a:noFill/>
          <a:ln/>
        </p:spPr>
        <p:txBody>
          <a:bodyPr wrap="square" lIns="0" tIns="0" rIns="0" bIns="0" rtlCol="0" anchor="ctr"/>
          <a:lstStyle/>
          <a:p>
            <a:pPr algn="l" indent="0" marL="0">
              <a:buNone/>
            </a:pPr>
            <a:r>
              <a:rPr lang="en-US" sz="4600" b="1" dirty="0">
                <a:solidFill>
                  <a:srgbClr val="111111"/>
                </a:solidFill>
                <a:latin typeface="Arial" pitchFamily="34" charset="0"/>
                <a:ea typeface="Arial" pitchFamily="34" charset="-122"/>
                <a:cs typeface="Arial" pitchFamily="34" charset="-120"/>
              </a:rPr>
              <a:t>Cảm ơn mọi người đã lắng nghe!</a:t>
            </a:r>
            <a:endParaRPr lang="en-US" sz="4600" dirty="0"/>
          </a:p>
        </p:txBody>
      </p:sp>
      <p:sp>
        <p:nvSpPr>
          <p:cNvPr id="3" name="Text 1"/>
          <p:cNvSpPr txBox="1"/>
          <p:nvPr/>
        </p:nvSpPr>
        <p:spPr>
          <a:xfrm>
            <a:off x="660380" y="3300070"/>
            <a:ext cx="478506" cy="285750"/>
          </a:xfrm>
          <a:prstGeom prst="rect">
            <a:avLst/>
          </a:prstGeom>
          <a:noFill/>
          <a:ln/>
        </p:spPr>
        <p:txBody>
          <a:bodyPr wrap="square" lIns="0" tIns="0" rIns="0" bIns="0" rtlCol="0" anchor="ctr"/>
          <a:lstStyle/>
          <a:p>
            <a:pPr algn="l" indent="0" marL="0">
              <a:buNone/>
            </a:pPr>
            <a:r>
              <a:rPr lang="en-US" sz="1500" dirty="0">
                <a:solidFill>
                  <a:srgbClr val="3F454D"/>
                </a:solidFill>
                <a:latin typeface="Arial" pitchFamily="34" charset="0"/>
                <a:ea typeface="Arial" pitchFamily="34" charset="-122"/>
                <a:cs typeface="Arial" pitchFamily="34" charset="-120"/>
              </a:rPr>
              <a:t>Q&amp;A</a:t>
            </a:r>
            <a:endParaRPr lang="en-US" sz="1500" dirty="0"/>
          </a:p>
        </p:txBody>
      </p:sp>
      <p:sp>
        <p:nvSpPr>
          <p:cNvPr id="4" name="Text 2"/>
          <p:cNvSpPr txBox="1"/>
          <p:nvPr/>
        </p:nvSpPr>
        <p:spPr>
          <a:xfrm>
            <a:off x="660380" y="3981023"/>
            <a:ext cx="4387657" cy="247620"/>
          </a:xfrm>
          <a:prstGeom prst="rect">
            <a:avLst/>
          </a:prstGeom>
          <a:noFill/>
          <a:ln/>
        </p:spPr>
        <p:txBody>
          <a:bodyPr wrap="square" lIns="0" tIns="0" rIns="0" bIns="0" rtlCol="0" anchor="ctr"/>
          <a:lstStyle/>
          <a:p>
            <a:pPr algn="l" indent="0" marL="0">
              <a:buNone/>
            </a:pPr>
            <a:r>
              <a:rPr lang="en-US" sz="1300" dirty="0">
                <a:solidFill>
                  <a:srgbClr val="6B7280"/>
                </a:solidFill>
                <a:latin typeface="Arial" pitchFamily="34" charset="0"/>
                <a:ea typeface="Arial" pitchFamily="34" charset="-122"/>
                <a:cs typeface="Arial" pitchFamily="34" charset="-120"/>
              </a:rPr>
              <a:t>File đáp án ShopDone.java mình để trong thư mục Drive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Tích hợp VNPAY Sandbox</dc:title>
  <dc:subject>PptxGenJS Presentation</dc:subject>
  <dc:creator>Lê Minh Đăng</dc:creator>
  <cp:lastModifiedBy>Lê Minh Đăng</cp:lastModifiedBy>
  <cp:revision>1</cp:revision>
  <dcterms:created xsi:type="dcterms:W3CDTF">2026-10-06T15:25:12Z</dcterms:created>
  <dcterms:modified xsi:type="dcterms:W3CDTF">2026-10-06T15:25:12Z</dcterms:modified>
</cp:coreProperties>
</file>