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1920240"/>
            <a:ext cx="11057839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0A5BA8"/>
                </a:solidFill>
                <a:latin typeface="Calibri"/>
              </a:rPr>
              <a:t>SEMINAR</a:t>
            </a:r>
          </a:p>
          <a:p>
            <a:pPr>
              <a:spcAft>
                <a:spcPts val="1400"/>
              </a:spcAft>
            </a:pPr>
            <a:r>
              <a:rPr sz="4000" b="1">
                <a:solidFill>
                  <a:srgbClr val="16181D"/>
                </a:solidFill>
                <a:latin typeface="Calibri"/>
              </a:rPr>
              <a:t>Nhúng VNPAY vào một cửa hàng có sẵn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6B7788"/>
                </a:solidFill>
                <a:latin typeface="Calibri"/>
              </a:rPr>
              <a:t>Mở file ShopStart.java đã tải trước. Hôm nay mình điền 6 chỗ TODO trong đó.</a:t>
            </a:r>
          </a:p>
          <a:p>
            <a:pPr>
              <a:spcAft>
                <a:spcPts val="0"/>
              </a:spcAft>
            </a:pPr>
            <a:r>
              <a:rPr sz="1800" b="0">
                <a:solidFill>
                  <a:srgbClr val="6B7788"/>
                </a:solidFill>
                <a:latin typeface="Calibri"/>
              </a:rPr>
              <a:t>Cần JDK 17 trở lên. Không cần Maven, không cần cài thư viện nào.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11480"/>
            <a:ext cx="11057839" cy="812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0A5BA8"/>
                </a:solidFill>
                <a:latin typeface="Calibri"/>
              </a:rPr>
              <a:t>VẤN ĐỀ</a:t>
            </a:r>
          </a:p>
          <a:p>
            <a:pPr>
              <a:spcAft>
                <a:spcPts val="0"/>
              </a:spcAft>
            </a:pPr>
            <a:r>
              <a:rPr sz="3200" b="1">
                <a:solidFill>
                  <a:srgbClr val="16181D"/>
                </a:solidFill>
                <a:latin typeface="Calibri"/>
              </a:rPr>
              <a:t>Tại sao phải qua cổng thanh toán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425447"/>
            <a:ext cx="11057839" cy="1199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 b="0">
                <a:solidFill>
                  <a:srgbClr val="16181D"/>
                </a:solidFill>
                <a:latin typeface="Calibri"/>
              </a:rPr>
              <a:t>Lưu số thẻ trên server của mình là vi phạm PCI-DSS, và ngân hàng không cấp API trực tiếp cho đồ án.</a:t>
            </a: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16181D"/>
                </a:solidFill>
                <a:latin typeface="Calibri"/>
              </a:rPr>
              <a:t>VNPAY đảo ngược luồng: khách nhập thẻ trên trang của VNPAY, không phải trang của mình.</a:t>
            </a: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16181D"/>
                </a:solidFill>
                <a:latin typeface="Calibri"/>
              </a:rPr>
              <a:t>Server mình chỉ trao đổi chữ ký, không bao giờ thấy số thẻ.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2743707"/>
            <a:ext cx="11057839" cy="1100709"/>
          </a:xfrm>
          <a:prstGeom prst="rect">
            <a:avLst/>
          </a:prstGeom>
          <a:solidFill>
            <a:srgbClr val="F7F8FA"/>
          </a:solidFill>
          <a:ln>
            <a:solidFill>
              <a:srgbClr val="D8DEE6"/>
            </a:solidFill>
          </a:ln>
        </p:spPr>
        <p:txBody>
          <a:bodyPr wrap="square" lIns="182880" tIns="109728">
            <a:spAutoFit/>
          </a:bodyPr>
          <a:lstStyle/>
          <a:p>
            <a:pPr>
              <a:spcAft>
                <a:spcPts val="300"/>
              </a:spcAft>
            </a:pPr>
            <a:r>
              <a:rPr sz="1500" b="1">
                <a:solidFill>
                  <a:srgbClr val="0A5BA8"/>
                </a:solidFill>
                <a:latin typeface="Calibri"/>
              </a:rPr>
              <a:t>Câu chốt cho cả buổi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16181D"/>
                </a:solidFill>
                <a:latin typeface="Calibri"/>
              </a:rPr>
              <a:t>VNPAY không có SDK. Nó chỉ là redirect cộng một chữ ký HMAC-SHA512.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16181D"/>
                </a:solidFill>
                <a:latin typeface="Calibri"/>
              </a:rPr>
              <a:t>Nắm được chữ ký là xong 90% bài toán.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11480"/>
            <a:ext cx="11057839" cy="812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0A5BA8"/>
                </a:solidFill>
                <a:latin typeface="Calibri"/>
              </a:rPr>
              <a:t>KIẾN TRÚC</a:t>
            </a:r>
          </a:p>
          <a:p>
            <a:pPr>
              <a:spcAft>
                <a:spcPts val="0"/>
              </a:spcAft>
            </a:pPr>
            <a:r>
              <a:rPr sz="3200" b="1">
                <a:solidFill>
                  <a:srgbClr val="16181D"/>
                </a:solidFill>
                <a:latin typeface="Calibri"/>
              </a:rPr>
              <a:t>Bốn đường đi, chỉ hai đường được tin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425447"/>
            <a:ext cx="11057839" cy="2164842"/>
          </a:xfrm>
          <a:prstGeom prst="rect">
            <a:avLst/>
          </a:prstGeom>
          <a:solidFill>
            <a:srgbClr val="111A27"/>
          </a:solidFill>
          <a:ln>
            <a:solidFill>
              <a:srgbClr val="111A27"/>
            </a:solidFill>
          </a:ln>
        </p:spPr>
        <p:txBody>
          <a:bodyPr wrap="none" lIns="201168" rIns="146304" tIns="128016" bIns="128016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Consolas"/>
              </a:rPr>
              <a:t>1. Browser -&gt; Server mình    tạo đơn PENDING, ký tham số, trả về paymentUrl</a:t>
            </a:r>
          </a:p>
          <a:p>
            <a:pPr>
              <a:spcAft>
                <a:spcPts val="0"/>
              </a:spcAft>
            </a:pP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Consolas"/>
              </a:rPr>
              <a:t>2. VNPAY   -&gt; Server mình    IPN, gọi thẳng server. TIN ĐƯỢC, cộng tiền ở đây</a:t>
            </a:r>
          </a:p>
          <a:p>
            <a:pPr>
              <a:spcAft>
                <a:spcPts val="0"/>
              </a:spcAft>
            </a:pP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Consolas"/>
              </a:rPr>
              <a:t>3. VNPAY   -&gt; Browser        ReturnURL. KHÔNG TIN, chỉ để vẽ màn hình</a:t>
            </a:r>
          </a:p>
          <a:p>
            <a:pPr>
              <a:spcAft>
                <a:spcPts val="0"/>
              </a:spcAft>
            </a:pP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Consolas"/>
              </a:rPr>
              <a:t>4. Server mình -&gt; VNPAY      querydr, hỏi lại trạng thái. TIN ĐƯỢC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709161"/>
            <a:ext cx="11057839" cy="1357884"/>
          </a:xfrm>
          <a:prstGeom prst="rect">
            <a:avLst/>
          </a:prstGeom>
          <a:solidFill>
            <a:srgbClr val="F7F8FA"/>
          </a:solidFill>
          <a:ln>
            <a:solidFill>
              <a:srgbClr val="D8DEE6"/>
            </a:solidFill>
          </a:ln>
        </p:spPr>
        <p:txBody>
          <a:bodyPr wrap="square" lIns="182880" tIns="109728">
            <a:spAutoFit/>
          </a:bodyPr>
          <a:lstStyle/>
          <a:p>
            <a:pPr>
              <a:spcAft>
                <a:spcPts val="300"/>
              </a:spcAft>
            </a:pPr>
            <a:r>
              <a:rPr sz="1500" b="1">
                <a:solidFill>
                  <a:srgbClr val="C42B22"/>
                </a:solidFill>
                <a:latin typeface="Calibri"/>
              </a:rPr>
              <a:t>Hỏi cả lớp trước khi sang slide sau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16181D"/>
                </a:solidFill>
                <a:latin typeface="Calibri"/>
              </a:rPr>
              <a:t>"Sao không cộng tiền luôn ở ReturnURL cho nhanh?"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16181D"/>
                </a:solidFill>
                <a:latin typeface="Calibri"/>
              </a:rPr>
              <a:t>Vì đó là URL trên trình duyệt của khách. Sửa vnp_ResponseCode=00 là mua hàng miễn phí.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16181D"/>
                </a:solidFill>
                <a:latin typeface="Calibri"/>
              </a:rPr>
              <a:t>Và khách tắt tab ngay sau khi trả tiền thì ReturnURL không bao giờ về.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11480"/>
            <a:ext cx="11057839" cy="812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0A5BA8"/>
                </a:solidFill>
                <a:latin typeface="Calibri"/>
              </a:rPr>
              <a:t>LỘ TRÌNH</a:t>
            </a:r>
          </a:p>
          <a:p>
            <a:pPr>
              <a:spcAft>
                <a:spcPts val="0"/>
              </a:spcAft>
            </a:pPr>
            <a:r>
              <a:rPr sz="3200" b="1">
                <a:solidFill>
                  <a:srgbClr val="16181D"/>
                </a:solidFill>
                <a:latin typeface="Calibri"/>
              </a:rPr>
              <a:t>Sáu chỗ trống trong ShopStart.java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425447"/>
            <a:ext cx="11057839" cy="2144268"/>
          </a:xfrm>
          <a:prstGeom prst="rect">
            <a:avLst/>
          </a:prstGeom>
          <a:solidFill>
            <a:srgbClr val="111A27"/>
          </a:solidFill>
          <a:ln>
            <a:solidFill>
              <a:srgbClr val="111A27"/>
            </a:solidFill>
          </a:ln>
        </p:spPr>
        <p:txBody>
          <a:bodyPr wrap="none" lIns="201168" rIns="146304" tIns="128016" bIns="128016">
            <a:spAutoFit/>
          </a:bodyPr>
          <a:lstStyle/>
          <a:p>
            <a:pPr>
              <a:spcAft>
                <a:spcPts val="0"/>
              </a:spcAft>
            </a:pPr>
            <a:r>
              <a:rPr sz="1500">
                <a:solidFill>
                  <a:srgbClr val="E4ECF5"/>
                </a:solidFill>
                <a:latin typeface="Consolas"/>
              </a:rPr>
              <a:t>TODO 1   Cấu hình TmnCode và HashSecret                    2 phút</a:t>
            </a:r>
          </a:p>
          <a:p>
            <a:pPr>
              <a:spcAft>
                <a:spcPts val="0"/>
              </a:spcAft>
            </a:pPr>
            <a:r>
              <a:rPr sz="1500">
                <a:solidFill>
                  <a:srgbClr val="E4ECF5"/>
                </a:solidFill>
                <a:latin typeface="Consolas"/>
              </a:rPr>
              <a:t>TODO 2   Hàm ký HMAC-SHA512                                6 phút</a:t>
            </a:r>
          </a:p>
          <a:p>
            <a:pPr>
              <a:spcAft>
                <a:spcPts val="0"/>
              </a:spcAft>
            </a:pPr>
            <a:r>
              <a:rPr sz="1500">
                <a:solidFill>
                  <a:srgbClr val="E4ECF5"/>
                </a:solidFill>
                <a:latin typeface="Consolas"/>
              </a:rPr>
              <a:t>TODO 3   Hàm verify chữ ký                                 3 phút</a:t>
            </a:r>
          </a:p>
          <a:p>
            <a:pPr>
              <a:spcAft>
                <a:spcPts val="0"/>
              </a:spcAft>
            </a:pPr>
            <a:r>
              <a:rPr sz="1500">
                <a:solidFill>
                  <a:srgbClr val="E4ECF5"/>
                </a:solidFill>
                <a:latin typeface="Consolas"/>
              </a:rPr>
              <a:t>TODO 4   Tạo URL thanh toán                                5 phút</a:t>
            </a:r>
          </a:p>
          <a:p>
            <a:pPr>
              <a:spcAft>
                <a:spcPts val="0"/>
              </a:spcAft>
            </a:pPr>
            <a:r>
              <a:rPr sz="1500">
                <a:solidFill>
                  <a:srgbClr val="E4ECF5"/>
                </a:solidFill>
                <a:latin typeface="Consolas"/>
              </a:rPr>
              <a:t>TODO 5   Nhận IPN                                          5 phút</a:t>
            </a:r>
          </a:p>
          <a:p>
            <a:pPr>
              <a:spcAft>
                <a:spcPts val="0"/>
              </a:spcAft>
            </a:pPr>
            <a:r>
              <a:rPr sz="1500">
                <a:solidFill>
                  <a:srgbClr val="E4ECF5"/>
                </a:solidFill>
                <a:latin typeface="Consolas"/>
              </a:rPr>
              <a:t>TODO 6   ReturnURL và chốt trạng thái đơn                  4 phút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688587"/>
            <a:ext cx="11057839" cy="836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 b="0">
                <a:solidFill>
                  <a:srgbClr val="16181D"/>
                </a:solidFill>
                <a:latin typeface="Calibri"/>
              </a:rPr>
              <a:t>Phần đơn hàng, giao diện và server đã viết sẵn trong file, mình không đụng tới.</a:t>
            </a: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16181D"/>
                </a:solidFill>
                <a:latin typeface="Calibri"/>
              </a:rPr>
              <a:t>Ai gõ không kịp cứ ngồi xem, cuối buổi mình gửi bản làm xong.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11480"/>
            <a:ext cx="11057839" cy="812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0A5BA8"/>
                </a:solidFill>
                <a:latin typeface="Calibri"/>
              </a:rPr>
              <a:t>TODO 1</a:t>
            </a:r>
          </a:p>
          <a:p>
            <a:pPr>
              <a:spcAft>
                <a:spcPts val="0"/>
              </a:spcAft>
            </a:pPr>
            <a:r>
              <a:rPr sz="3200" b="1">
                <a:solidFill>
                  <a:srgbClr val="16181D"/>
                </a:solidFill>
                <a:latin typeface="Calibri"/>
              </a:rPr>
              <a:t>Cấu hình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425447"/>
            <a:ext cx="11057839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6B7788"/>
                </a:solidFill>
                <a:latin typeface="Consolas"/>
              </a:rPr>
              <a:t>ShopStart.java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81479"/>
            <a:ext cx="11057839" cy="2164842"/>
          </a:xfrm>
          <a:prstGeom prst="rect">
            <a:avLst/>
          </a:prstGeom>
          <a:solidFill>
            <a:srgbClr val="111A27"/>
          </a:solidFill>
          <a:ln>
            <a:solidFill>
              <a:srgbClr val="111A27"/>
            </a:solidFill>
          </a:ln>
        </p:spPr>
        <p:txBody>
          <a:bodyPr wrap="none" lIns="201168" rIns="146304" tIns="128016" bIns="128016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Consolas"/>
              </a:rPr>
              <a:t>static final String TMN_CODE    = env("VNPAY_TMN_CODE", "CHANGE_ME");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Consolas"/>
              </a:rPr>
              <a:t>static final String HASH_SECRET = env("VNPAY_HASH_SECRET", "CHANGE_ME");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Consolas"/>
              </a:rPr>
              <a:t>static final String RETURN_URL  = env("VNPAY_RETURN_URL",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Consolas"/>
              </a:rPr>
              <a:t>                                      "http://localhost:8080/vnpay/return");</a:t>
            </a:r>
          </a:p>
          <a:p>
            <a:pPr>
              <a:spcAft>
                <a:spcPts val="0"/>
              </a:spcAft>
            </a:pP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Consolas"/>
              </a:rPr>
              <a:t>static final String PAY_URL = "https://sandbox.vnpayment.vn/paymentv2/vpcpay.html";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Consolas"/>
              </a:rPr>
              <a:t>static final String API_URL = "https://sandbox.vnpayment.vn/merchant_webapi/api/transaction";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965193"/>
            <a:ext cx="11057839" cy="4729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 b="0">
                <a:solidFill>
                  <a:srgbClr val="16181D"/>
                </a:solidFill>
                <a:latin typeface="Calibri"/>
              </a:rPr>
              <a:t>Chạy app thì truyền qua biến môi trường: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57013"/>
            <a:ext cx="11057839" cy="1094994"/>
          </a:xfrm>
          <a:prstGeom prst="rect">
            <a:avLst/>
          </a:prstGeom>
          <a:solidFill>
            <a:srgbClr val="111A27"/>
          </a:solidFill>
          <a:ln>
            <a:solidFill>
              <a:srgbClr val="111A27"/>
            </a:solidFill>
          </a:ln>
        </p:spPr>
        <p:txBody>
          <a:bodyPr wrap="none" lIns="201168" rIns="146304" tIns="128016" bIns="128016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Consolas"/>
              </a:rPr>
              <a:t>export VNPAY_TMN_CODE=xxxxxxxx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Consolas"/>
              </a:rPr>
              <a:t>export VNPAY_HASH_SECRET=xxxxxxxxxxxxxxxx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Consolas"/>
              </a:rPr>
              <a:t>java ShopStart.java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770879"/>
            <a:ext cx="11057839" cy="843534"/>
          </a:xfrm>
          <a:prstGeom prst="rect">
            <a:avLst/>
          </a:prstGeom>
          <a:solidFill>
            <a:srgbClr val="F7F8FA"/>
          </a:solidFill>
          <a:ln>
            <a:solidFill>
              <a:srgbClr val="D8DEE6"/>
            </a:solidFill>
          </a:ln>
        </p:spPr>
        <p:txBody>
          <a:bodyPr wrap="square" lIns="182880" tIns="109728">
            <a:spAutoFit/>
          </a:bodyPr>
          <a:lstStyle/>
          <a:p>
            <a:pPr>
              <a:spcAft>
                <a:spcPts val="300"/>
              </a:spcAft>
            </a:pPr>
            <a:r>
              <a:rPr sz="1500" b="1">
                <a:solidFill>
                  <a:srgbClr val="C42B22"/>
                </a:solidFill>
                <a:latin typeface="Calibri"/>
              </a:rPr>
              <a:t>Đừng hardcode secret rồi push lên GitHub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16181D"/>
                </a:solidFill>
                <a:latin typeface="Calibri"/>
              </a:rPr>
              <a:t>Ai clone repo cũng ký được đơn thay bạn. GitHub có bot quét chuyện này.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11480"/>
            <a:ext cx="11057839" cy="812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0A5BA8"/>
                </a:solidFill>
                <a:latin typeface="Calibri"/>
              </a:rPr>
              <a:t>TODO 2</a:t>
            </a:r>
          </a:p>
          <a:p>
            <a:pPr>
              <a:spcAft>
                <a:spcPts val="0"/>
              </a:spcAft>
            </a:pPr>
            <a:r>
              <a:rPr sz="3200" b="1">
                <a:solidFill>
                  <a:srgbClr val="16181D"/>
                </a:solidFill>
                <a:latin typeface="Calibri"/>
              </a:rPr>
              <a:t>Hàm ký, phần khó nhất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425447"/>
            <a:ext cx="11057839" cy="4729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 b="0">
                <a:solidFill>
                  <a:srgbClr val="16181D"/>
                </a:solidFill>
                <a:latin typeface="Calibri"/>
              </a:rPr>
              <a:t>Ba bước: sort alphabet, URL-encode giá trị, rồi HMAC-SHA512 ra hex chữ thường.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2017267"/>
            <a:ext cx="11057839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6B7788"/>
                </a:solidFill>
                <a:latin typeface="Consolas"/>
              </a:rPr>
              <a:t>ShopStart.java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273299"/>
            <a:ext cx="11057839" cy="3769614"/>
          </a:xfrm>
          <a:prstGeom prst="rect">
            <a:avLst/>
          </a:prstGeom>
          <a:solidFill>
            <a:srgbClr val="111A27"/>
          </a:solidFill>
          <a:ln>
            <a:solidFill>
              <a:srgbClr val="111A27"/>
            </a:solidFill>
          </a:ln>
        </p:spPr>
        <p:txBody>
          <a:bodyPr wrap="none" lIns="201168" rIns="146304" tIns="128016" bIns="128016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Consolas"/>
              </a:rPr>
              <a:t>static String hmacSHA512(String secretKey, String data)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Consolas"/>
              </a:rPr>
              <a:t>  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Consolas"/>
              </a:rPr>
              <a:t>        Mac mac = Mac.getInstance("HmacSHA512");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Consolas"/>
              </a:rPr>
              <a:t>        mac.init(new SecretKeySpec(secretKey.getBytes(UTF_8), "HmacSHA512"));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Consolas"/>
              </a:rPr>
              <a:t>        byte[] bytes = mac.doFinal(data.getBytes(UTF_8));</a:t>
            </a:r>
          </a:p>
          <a:p>
            <a:pPr>
              <a:spcAft>
                <a:spcPts val="0"/>
              </a:spcAft>
            </a:pP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Consolas"/>
              </a:rPr>
              <a:t>        StringBuilder hex = new StringBuilder(bytes.length * 2);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Consolas"/>
              </a:rPr>
              <a:t>        for (byte b : bytes) hex.append(String.format("%02x", b));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Consolas"/>
              </a:rPr>
              <a:t>        return hex.toString();                      // hex chữ thường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Consolas"/>
              </a:rPr>
              <a:t>    } catch (Exception 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Consolas"/>
              </a:rPr>
              <a:t>        throw new IllegalStateException("Không tạo được HMAC-SHA512", 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11480"/>
            <a:ext cx="11057839" cy="812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0A5BA8"/>
                </a:solidFill>
                <a:latin typeface="Calibri"/>
              </a:rPr>
              <a:t>TODO 2</a:t>
            </a:r>
          </a:p>
          <a:p>
            <a:pPr>
              <a:spcAft>
                <a:spcPts val="0"/>
              </a:spcAft>
            </a:pPr>
            <a:r>
              <a:rPr sz="3200" b="1">
                <a:solidFill>
                  <a:srgbClr val="16181D"/>
                </a:solidFill>
                <a:latin typeface="Calibri"/>
              </a:rPr>
              <a:t>Ráp chuỗi để đem đi băm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425447"/>
            <a:ext cx="11057839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6B7788"/>
                </a:solidFill>
                <a:latin typeface="Consolas"/>
              </a:rPr>
              <a:t>ShopStart.java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81479"/>
            <a:ext cx="11057839" cy="3502152"/>
          </a:xfrm>
          <a:prstGeom prst="rect">
            <a:avLst/>
          </a:prstGeom>
          <a:solidFill>
            <a:srgbClr val="111A27"/>
          </a:solidFill>
          <a:ln>
            <a:solidFill>
              <a:srgbClr val="111A27"/>
            </a:solidFill>
          </a:ln>
        </p:spPr>
        <p:txBody>
          <a:bodyPr wrap="none" lIns="201168" rIns="146304" tIns="128016" bIns="128016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Consolas"/>
              </a:rPr>
              <a:t>static String buildQueryString(Map&lt;String, String&gt; params)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Consolas"/>
              </a:rPr>
              <a:t>    StringBuilder sb = new StringBuilder();</a:t>
            </a:r>
          </a:p>
          <a:p>
            <a:pPr>
              <a:spcAft>
                <a:spcPts val="0"/>
              </a:spcAft>
            </a:pP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Consolas"/>
              </a:rPr>
              <a:t>    for (var e : new TreeMap&lt;&gt;(params).entrySet()) {          // 1. sort alphabet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Consolas"/>
              </a:rPr>
              <a:t>        if (e.getValue() == null || e.getValue().isEmpty()) continue;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Consolas"/>
              </a:rPr>
              <a:t>        if (sb.length() &gt; 0) sb.append('&amp;');</a:t>
            </a:r>
          </a:p>
          <a:p>
            <a:pPr>
              <a:spcAft>
                <a:spcPts val="0"/>
              </a:spcAft>
            </a:pP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Consolas"/>
              </a:rPr>
              <a:t>        sb.append(URLEncoder.encode(e.getKey(), US_ASCII)).append('=')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Consolas"/>
              </a:rPr>
              <a:t>          .append(URLEncoder.encode(e.getValue(), US_ASCII));  // 2. encode giá trị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Consolas"/>
              </a:rPr>
              <a:t>    return sb.toString();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Consolas"/>
              </a:rPr>
              <a:t>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302503"/>
            <a:ext cx="11057839" cy="1100709"/>
          </a:xfrm>
          <a:prstGeom prst="rect">
            <a:avLst/>
          </a:prstGeom>
          <a:solidFill>
            <a:srgbClr val="F7F8FA"/>
          </a:solidFill>
          <a:ln>
            <a:solidFill>
              <a:srgbClr val="D8DEE6"/>
            </a:solidFill>
          </a:ln>
        </p:spPr>
        <p:txBody>
          <a:bodyPr wrap="square" lIns="182880" tIns="109728">
            <a:spAutoFit/>
          </a:bodyPr>
          <a:lstStyle/>
          <a:p>
            <a:pPr>
              <a:spcAft>
                <a:spcPts val="300"/>
              </a:spcAft>
            </a:pPr>
            <a:r>
              <a:rPr sz="1500" b="1">
                <a:solidFill>
                  <a:srgbClr val="C42B22"/>
                </a:solidFill>
                <a:latin typeface="Calibri"/>
              </a:rPr>
              <a:t>Đây là chỗ 90% người mới bị sai chữ ký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16181D"/>
                </a:solidFill>
                <a:latin typeface="Calibri"/>
              </a:rPr>
              <a:t>Quên encode GIÁ TRỊ. vnp_OrderInfo có dấu cách là hỏng ngay.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16181D"/>
                </a:solidFill>
                <a:latin typeface="Calibri"/>
              </a:rPr>
              <a:t>Để lọt tham số rỗng vào chuỗi. VNPAY bỏ qua chúng, mình giữ lại là lệch.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11480"/>
            <a:ext cx="11057839" cy="812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0A5BA8"/>
                </a:solidFill>
                <a:latin typeface="Calibri"/>
              </a:rPr>
              <a:t>TODO 3</a:t>
            </a:r>
          </a:p>
          <a:p>
            <a:pPr>
              <a:spcAft>
                <a:spcPts val="0"/>
              </a:spcAft>
            </a:pPr>
            <a:r>
              <a:rPr sz="3200" b="1">
                <a:solidFill>
                  <a:srgbClr val="16181D"/>
                </a:solidFill>
                <a:latin typeface="Calibri"/>
              </a:rPr>
              <a:t>Verify chữ ký khi VNPAY gọi về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425447"/>
            <a:ext cx="11057839" cy="4729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 b="0">
                <a:solidFill>
                  <a:srgbClr val="16181D"/>
                </a:solidFill>
                <a:latin typeface="Calibri"/>
              </a:rPr>
              <a:t>Dùng lại đúng hàm vừa viết, thêm một việc: bỏ chính chữ ký ra trước khi băm.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2017267"/>
            <a:ext cx="11057839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6B7788"/>
                </a:solidFill>
                <a:latin typeface="Consolas"/>
              </a:rPr>
              <a:t>ShopStart.java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273299"/>
            <a:ext cx="11057839" cy="3234690"/>
          </a:xfrm>
          <a:prstGeom prst="rect">
            <a:avLst/>
          </a:prstGeom>
          <a:solidFill>
            <a:srgbClr val="111A27"/>
          </a:solidFill>
          <a:ln>
            <a:solidFill>
              <a:srgbClr val="111A27"/>
            </a:solidFill>
          </a:ln>
        </p:spPr>
        <p:txBody>
          <a:bodyPr wrap="none" lIns="201168" rIns="146304" tIns="128016" bIns="128016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Consolas"/>
              </a:rPr>
              <a:t>static boolean isValidSignature(Map&lt;String, String&gt; params)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Consolas"/>
              </a:rPr>
              <a:t>    String received = params.get("vnp_SecureHash");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Consolas"/>
              </a:rPr>
              <a:t>    if (received == null || received.isBlank()) return false;</a:t>
            </a:r>
          </a:p>
          <a:p>
            <a:pPr>
              <a:spcAft>
                <a:spcPts val="0"/>
              </a:spcAft>
            </a:pP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Consolas"/>
              </a:rPr>
              <a:t>    Map&lt;String, String&gt; clone = new TreeMap&lt;&gt;(params);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Consolas"/>
              </a:rPr>
              <a:t>    clone.remove("vnp_SecureHash");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Consolas"/>
              </a:rPr>
              <a:t>    clone.remove("vnp_SecureHashType");</a:t>
            </a:r>
          </a:p>
          <a:p>
            <a:pPr>
              <a:spcAft>
                <a:spcPts val="0"/>
              </a:spcAft>
            </a:pP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Consolas"/>
              </a:rPr>
              <a:t>    String expected = hmacSHA512(HASH_SECRET, buildQueryString(clone));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Consolas"/>
              </a:rPr>
              <a:t>    return constantTimeEquals(expected, received);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Consolas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626861"/>
            <a:ext cx="11057839" cy="843534"/>
          </a:xfrm>
          <a:prstGeom prst="rect">
            <a:avLst/>
          </a:prstGeom>
          <a:solidFill>
            <a:srgbClr val="F7F8FA"/>
          </a:solidFill>
          <a:ln>
            <a:solidFill>
              <a:srgbClr val="D8DEE6"/>
            </a:solidFill>
          </a:ln>
        </p:spPr>
        <p:txBody>
          <a:bodyPr wrap="square" lIns="182880" tIns="109728">
            <a:spAutoFit/>
          </a:bodyPr>
          <a:lstStyle/>
          <a:p>
            <a:pPr>
              <a:spcAft>
                <a:spcPts val="300"/>
              </a:spcAft>
            </a:pPr>
            <a:r>
              <a:rPr sz="1500" b="1">
                <a:solidFill>
                  <a:srgbClr val="0A5BA8"/>
                </a:solidFill>
                <a:latin typeface="Calibri"/>
              </a:rPr>
              <a:t>Cách debug khi bí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16181D"/>
                </a:solidFill>
                <a:latin typeface="Calibri"/>
              </a:rPr>
              <a:t>In buildQueryString(clone) ra rồi so từng ký tự với query string trên thanh địa chỉ.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11480"/>
            <a:ext cx="11057839" cy="812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0A5BA8"/>
                </a:solidFill>
                <a:latin typeface="Calibri"/>
              </a:rPr>
              <a:t>TODO 4</a:t>
            </a:r>
          </a:p>
          <a:p>
            <a:pPr>
              <a:spcAft>
                <a:spcPts val="0"/>
              </a:spcAft>
            </a:pPr>
            <a:r>
              <a:rPr sz="3200" b="1">
                <a:solidFill>
                  <a:srgbClr val="16181D"/>
                </a:solidFill>
                <a:latin typeface="Calibri"/>
              </a:rPr>
              <a:t>Ráp tham số và tạo URL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425447"/>
            <a:ext cx="11057839" cy="1629918"/>
          </a:xfrm>
          <a:prstGeom prst="rect">
            <a:avLst/>
          </a:prstGeom>
          <a:solidFill>
            <a:srgbClr val="111A27"/>
          </a:solidFill>
          <a:ln>
            <a:solidFill>
              <a:srgbClr val="111A27"/>
            </a:solidFill>
          </a:ln>
        </p:spPr>
        <p:txBody>
          <a:bodyPr wrap="none" lIns="201168" rIns="146304" tIns="128016" bIns="128016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Consolas"/>
              </a:rPr>
              <a:t>vnp_Amount       2500000                 nhân 100, số nguyên. 25.000đ -&gt; 2500000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Consolas"/>
              </a:rPr>
              <a:t>vnp_TxnRef       20260920125606777443    duy nhất trong 24h theo TmnCode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Consolas"/>
              </a:rPr>
              <a:t>vnp_CreateDate   20260920125606          giờ GMT+7, không phải giờ máy chủ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Consolas"/>
              </a:rPr>
              <a:t>vnp_ReturnUrl    https://....ngrok...    phải khớp URL đã khai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Consolas"/>
              </a:rPr>
              <a:t>vnp_BankCode     NCB                     bỏ trống thì VNPAY hiện trang chọn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174237"/>
            <a:ext cx="11057839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6B7788"/>
                </a:solidFill>
                <a:latin typeface="Consolas"/>
              </a:rPr>
              <a:t>ShopStart.java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430269"/>
            <a:ext cx="11057839" cy="1897380"/>
          </a:xfrm>
          <a:prstGeom prst="rect">
            <a:avLst/>
          </a:prstGeom>
          <a:solidFill>
            <a:srgbClr val="111A27"/>
          </a:solidFill>
          <a:ln>
            <a:solidFill>
              <a:srgbClr val="111A27"/>
            </a:solidFill>
          </a:ln>
        </p:spPr>
        <p:txBody>
          <a:bodyPr wrap="none" lIns="201168" rIns="146304" tIns="128016" bIns="128016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Consolas"/>
              </a:rPr>
              <a:t>p.put("vnp_Amount", String.valueOf(amount * 100));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Consolas"/>
              </a:rPr>
              <a:t>p.put("vnp_CreateDate", now.format(VNP_TIME));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Consolas"/>
              </a:rPr>
              <a:t>p.put("vnp_ExpireDate", now.plusMinutes(15).format(VNP_TIME));</a:t>
            </a:r>
          </a:p>
          <a:p>
            <a:pPr>
              <a:spcAft>
                <a:spcPts val="0"/>
              </a:spcAft>
            </a:pP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Consolas"/>
              </a:rPr>
              <a:t>String query = buildQueryString(p);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Consolas"/>
              </a:rPr>
              <a:t>String url = PAY_URL + "?" + query + "&amp;vnp_SecureHash=" + hmacSHA512(HASH_SECRET, query);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446521"/>
            <a:ext cx="11057839" cy="1100709"/>
          </a:xfrm>
          <a:prstGeom prst="rect">
            <a:avLst/>
          </a:prstGeom>
          <a:solidFill>
            <a:srgbClr val="F7F8FA"/>
          </a:solidFill>
          <a:ln>
            <a:solidFill>
              <a:srgbClr val="D8DEE6"/>
            </a:solidFill>
          </a:ln>
        </p:spPr>
        <p:txBody>
          <a:bodyPr wrap="square" lIns="182880" tIns="109728">
            <a:spAutoFit/>
          </a:bodyPr>
          <a:lstStyle/>
          <a:p>
            <a:pPr>
              <a:spcAft>
                <a:spcPts val="300"/>
              </a:spcAft>
            </a:pPr>
            <a:r>
              <a:rPr sz="1500" b="1">
                <a:solidFill>
                  <a:srgbClr val="C42B22"/>
                </a:solidFill>
                <a:latin typeface="Calibri"/>
              </a:rPr>
              <a:t>Cái bẫy nằm ngay trong code mẫu của chính VNPAY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16181D"/>
                </a:solidFill>
                <a:latin typeface="Calibri"/>
              </a:rPr>
              <a:t>Họ dùng Etc/GMT+7, mà theo POSIX nó là UTC trừ 7, lệch 14 tiếng.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16181D"/>
                </a:solidFill>
                <a:latin typeface="Calibri"/>
              </a:rPr>
              <a:t>Giao dịch hết hạn ngay lúc vừa tạo. Mình dùng ZoneId.of("Asia/Ho_Chi_Minh").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11480"/>
            <a:ext cx="11057839" cy="812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0A5BA8"/>
                </a:solidFill>
                <a:latin typeface="Calibri"/>
              </a:rPr>
              <a:t>DỪNG LẠI KIỂM TRA</a:t>
            </a:r>
          </a:p>
          <a:p>
            <a:pPr>
              <a:spcAft>
                <a:spcPts val="0"/>
              </a:spcAft>
            </a:pPr>
            <a:r>
              <a:rPr sz="3200" b="1">
                <a:solidFill>
                  <a:srgbClr val="16181D"/>
                </a:solidFill>
                <a:latin typeface="Calibri"/>
              </a:rPr>
              <a:t>Chạy thử đã, đừng viết tiếp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425447"/>
            <a:ext cx="11057839" cy="1362456"/>
          </a:xfrm>
          <a:prstGeom prst="rect">
            <a:avLst/>
          </a:prstGeom>
          <a:solidFill>
            <a:srgbClr val="111A27"/>
          </a:solidFill>
          <a:ln>
            <a:solidFill>
              <a:srgbClr val="111A27"/>
            </a:solidFill>
          </a:ln>
        </p:spPr>
        <p:txBody>
          <a:bodyPr wrap="none" lIns="201168" rIns="146304" tIns="128016" bIns="128016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Consolas"/>
              </a:rPr>
              <a:t>export VNPAY_TMN_CODE=... VNPAY_HASH_SECRET=...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Consolas"/>
              </a:rPr>
              <a:t>java ShopStart.java</a:t>
            </a:r>
          </a:p>
          <a:p>
            <a:pPr>
              <a:spcAft>
                <a:spcPts val="0"/>
              </a:spcAft>
            </a:pP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Consolas"/>
              </a:rPr>
              <a:t># mở http://localhost:8080, bấm Mua ngay rồi Thanh toán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2906775"/>
            <a:ext cx="11057839" cy="843534"/>
          </a:xfrm>
          <a:prstGeom prst="rect">
            <a:avLst/>
          </a:prstGeom>
          <a:solidFill>
            <a:srgbClr val="F7F8FA"/>
          </a:solidFill>
          <a:ln>
            <a:solidFill>
              <a:srgbClr val="D8DEE6"/>
            </a:solidFill>
          </a:ln>
        </p:spPr>
        <p:txBody>
          <a:bodyPr wrap="square" lIns="182880" tIns="109728">
            <a:spAutoFit/>
          </a:bodyPr>
          <a:lstStyle/>
          <a:p>
            <a:pPr>
              <a:spcAft>
                <a:spcPts val="300"/>
              </a:spcAft>
            </a:pPr>
            <a:r>
              <a:rPr sz="1500" b="1">
                <a:solidFill>
                  <a:srgbClr val="0B6B47"/>
                </a:solidFill>
                <a:latin typeface="Calibri"/>
              </a:rPr>
              <a:t>Hiện ra form nhập thẻ NCB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16181D"/>
                </a:solidFill>
                <a:latin typeface="Calibri"/>
              </a:rPr>
              <a:t>Chữ ký đúng rồi. Đi tiếp phần ngrok.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869181"/>
            <a:ext cx="11057839" cy="1100709"/>
          </a:xfrm>
          <a:prstGeom prst="rect">
            <a:avLst/>
          </a:prstGeom>
          <a:solidFill>
            <a:srgbClr val="F7F8FA"/>
          </a:solidFill>
          <a:ln>
            <a:solidFill>
              <a:srgbClr val="D8DEE6"/>
            </a:solidFill>
          </a:ln>
        </p:spPr>
        <p:txBody>
          <a:bodyPr wrap="square" lIns="182880" tIns="109728">
            <a:spAutoFit/>
          </a:bodyPr>
          <a:lstStyle/>
          <a:p>
            <a:pPr>
              <a:spcAft>
                <a:spcPts val="300"/>
              </a:spcAft>
            </a:pPr>
            <a:r>
              <a:rPr sz="1500" b="1">
                <a:solidFill>
                  <a:srgbClr val="C42B22"/>
                </a:solidFill>
                <a:latin typeface="Calibri"/>
              </a:rPr>
              <a:t>Báo Chữ ký không hợp lệ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16181D"/>
                </a:solidFill>
                <a:latin typeface="Calibri"/>
              </a:rPr>
              <a:t>Sai HashSecret, hoặc quên encode ở TODO 2.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16181D"/>
                </a:solidFill>
                <a:latin typeface="Calibri"/>
              </a:rPr>
              <a:t>Báo website không tồn tại thì là sai TmnCode, hoặc vnp_ReturnUrl không khớp domain đã khai.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11480"/>
            <a:ext cx="11057839" cy="812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0A5BA8"/>
                </a:solidFill>
                <a:latin typeface="Calibri"/>
              </a:rPr>
              <a:t>BẮT BUỘC</a:t>
            </a:r>
          </a:p>
          <a:p>
            <a:pPr>
              <a:spcAft>
                <a:spcPts val="0"/>
              </a:spcAft>
            </a:pPr>
            <a:r>
              <a:rPr sz="3200" b="1">
                <a:solidFill>
                  <a:srgbClr val="16181D"/>
                </a:solidFill>
                <a:latin typeface="Calibri"/>
              </a:rPr>
              <a:t>ngrok, để VNPAY với tới máy mình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425447"/>
            <a:ext cx="11057839" cy="4729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 b="0">
                <a:solidFill>
                  <a:srgbClr val="16181D"/>
                </a:solidFill>
                <a:latin typeface="Calibri"/>
              </a:rPr>
              <a:t>IPN là cuộc gọi từ server VNPAY vào server mình. Máy ở localhost thì từ internet không ai thấy.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2017267"/>
            <a:ext cx="11057839" cy="1094994"/>
          </a:xfrm>
          <a:prstGeom prst="rect">
            <a:avLst/>
          </a:prstGeom>
          <a:solidFill>
            <a:srgbClr val="111A27"/>
          </a:solidFill>
          <a:ln>
            <a:solidFill>
              <a:srgbClr val="111A27"/>
            </a:solidFill>
          </a:ln>
        </p:spPr>
        <p:txBody>
          <a:bodyPr wrap="none" lIns="201168" rIns="146304" tIns="128016" bIns="128016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Consolas"/>
              </a:rPr>
              <a:t>ngrok http 8080</a:t>
            </a:r>
          </a:p>
          <a:p>
            <a:pPr>
              <a:spcAft>
                <a:spcPts val="0"/>
              </a:spcAft>
            </a:pP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Consolas"/>
              </a:rPr>
              <a:t>Forwarding   https://a1b2-42-115-242-109.ngrok-free.app -&gt; http://localhost:8080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231133"/>
            <a:ext cx="11057839" cy="4729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 b="0">
                <a:solidFill>
                  <a:srgbClr val="16181D"/>
                </a:solidFill>
                <a:latin typeface="Calibri"/>
              </a:rPr>
              <a:t>Khai 2 URL vào sandbox.vnpayment.vn/merchantv2, mục Cấu hình, Thông tin website: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822953"/>
            <a:ext cx="11057839" cy="827532"/>
          </a:xfrm>
          <a:prstGeom prst="rect">
            <a:avLst/>
          </a:prstGeom>
          <a:solidFill>
            <a:srgbClr val="111A27"/>
          </a:solidFill>
          <a:ln>
            <a:solidFill>
              <a:srgbClr val="111A27"/>
            </a:solidFill>
          </a:ln>
        </p:spPr>
        <p:txBody>
          <a:bodyPr wrap="none" lIns="201168" rIns="146304" tIns="128016" bIns="128016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Consolas"/>
              </a:rPr>
              <a:t>URL trả về             https://a1b2-....ngrok-free.app/vnpay/return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Consolas"/>
              </a:rPr>
              <a:t>URL nhận kết quả IPN   https://a1b2-....ngrok-free.app/vnpay/ipn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4769357"/>
            <a:ext cx="11057839" cy="1100709"/>
          </a:xfrm>
          <a:prstGeom prst="rect">
            <a:avLst/>
          </a:prstGeom>
          <a:solidFill>
            <a:srgbClr val="F7F8FA"/>
          </a:solidFill>
          <a:ln>
            <a:solidFill>
              <a:srgbClr val="D8DEE6"/>
            </a:solidFill>
          </a:ln>
        </p:spPr>
        <p:txBody>
          <a:bodyPr wrap="square" lIns="182880" tIns="109728">
            <a:spAutoFit/>
          </a:bodyPr>
          <a:lstStyle/>
          <a:p>
            <a:pPr>
              <a:spcAft>
                <a:spcPts val="300"/>
              </a:spcAft>
            </a:pPr>
            <a:r>
              <a:rPr sz="1500" b="1">
                <a:solidFill>
                  <a:srgbClr val="C42B22"/>
                </a:solidFill>
                <a:latin typeface="Calibri"/>
              </a:rPr>
              <a:t>Hai chuyện của bản ngrok miễn phí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16181D"/>
                </a:solidFill>
                <a:latin typeface="Calibri"/>
              </a:rPr>
              <a:t>Địa chỉ đổi mỗi lần chạy lại, phải khai lại trong portal. Làm sát giờ demo.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16181D"/>
                </a:solidFill>
                <a:latin typeface="Calibri"/>
              </a:rPr>
              <a:t>Lần đầu mở bằng trình duyệt gặp trang cảnh báo, bấm Visit Site là qua. IPN không dính.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11480"/>
            <a:ext cx="11057839" cy="812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0A5BA8"/>
                </a:solidFill>
                <a:latin typeface="Calibri"/>
              </a:rPr>
              <a:t>TODO 5</a:t>
            </a:r>
          </a:p>
          <a:p>
            <a:pPr>
              <a:spcAft>
                <a:spcPts val="0"/>
              </a:spcAft>
            </a:pPr>
            <a:r>
              <a:rPr sz="3200" b="1">
                <a:solidFill>
                  <a:srgbClr val="16181D"/>
                </a:solidFill>
                <a:latin typeface="Calibri"/>
              </a:rPr>
              <a:t>Nhận IPN, nơi duy nhất được cộng tiền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425447"/>
            <a:ext cx="11057839" cy="4729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 b="0">
                <a:solidFill>
                  <a:srgbClr val="16181D"/>
                </a:solidFill>
                <a:latin typeface="Calibri"/>
              </a:rPr>
              <a:t>VNPAY retry tới khi nhận RspCode 00, nên hàm này gọi mấy lần cũng chỉ cộng tiền một lần.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2017267"/>
            <a:ext cx="11057839" cy="4664583"/>
          </a:xfrm>
          <a:prstGeom prst="rect">
            <a:avLst/>
          </a:prstGeom>
          <a:solidFill>
            <a:srgbClr val="111A27"/>
          </a:solidFill>
          <a:ln>
            <a:solidFill>
              <a:srgbClr val="111A27"/>
            </a:solidFill>
          </a:ln>
        </p:spPr>
        <p:txBody>
          <a:bodyPr wrap="none" lIns="201168" rIns="146304" tIns="128016" bIns="128016">
            <a:spAutoFit/>
          </a:bodyPr>
          <a:lstStyle/>
          <a:p>
            <a:pPr>
              <a:spcAft>
                <a:spcPts val="0"/>
              </a:spcAft>
            </a:pPr>
            <a:r>
              <a:rPr sz="1250">
                <a:solidFill>
                  <a:srgbClr val="E4ECF5"/>
                </a:solidFill>
                <a:latin typeface="Consolas"/>
              </a:rPr>
              <a:t>if (!isValidSignature(params))</a:t>
            </a:r>
          </a:p>
          <a:p>
            <a:pPr>
              <a:spcAft>
                <a:spcPts val="0"/>
              </a:spcAft>
            </a:pPr>
            <a:r>
              <a:rPr sz="1250">
                <a:solidFill>
                  <a:srgbClr val="E4ECF5"/>
                </a:solidFill>
                <a:latin typeface="Consolas"/>
              </a:rPr>
              <a:t>    return rsp("97", "Invalid Checksum");</a:t>
            </a:r>
          </a:p>
          <a:p>
            <a:pPr>
              <a:spcAft>
                <a:spcPts val="0"/>
              </a:spcAft>
            </a:pPr>
          </a:p>
          <a:p>
            <a:pPr>
              <a:spcAft>
                <a:spcPts val="0"/>
              </a:spcAft>
            </a:pPr>
            <a:r>
              <a:rPr sz="1250">
                <a:solidFill>
                  <a:srgbClr val="E4ECF5"/>
                </a:solidFill>
                <a:latin typeface="Consolas"/>
              </a:rPr>
              <a:t>Order order = ORDERS.get(params.get("vnp_TxnRef"));</a:t>
            </a:r>
          </a:p>
          <a:p>
            <a:pPr>
              <a:spcAft>
                <a:spcPts val="0"/>
              </a:spcAft>
            </a:pPr>
            <a:r>
              <a:rPr sz="1250">
                <a:solidFill>
                  <a:srgbClr val="E4ECF5"/>
                </a:solidFill>
                <a:latin typeface="Consolas"/>
              </a:rPr>
              <a:t>if (order == null)              return rsp("01", "Order not Found");</a:t>
            </a:r>
          </a:p>
          <a:p>
            <a:pPr>
              <a:spcAft>
                <a:spcPts val="0"/>
              </a:spcAft>
            </a:pPr>
          </a:p>
          <a:p>
            <a:pPr>
              <a:spcAft>
                <a:spcPts val="0"/>
              </a:spcAft>
            </a:pPr>
            <a:r>
              <a:rPr sz="1250">
                <a:solidFill>
                  <a:srgbClr val="E4ECF5"/>
                </a:solidFill>
                <a:latin typeface="Consolas"/>
              </a:rPr>
              <a:t>if (Long.parseLong(params.get("vnp_Amount")) != order.amount * 100)</a:t>
            </a:r>
          </a:p>
          <a:p>
            <a:pPr>
              <a:spcAft>
                <a:spcPts val="0"/>
              </a:spcAft>
            </a:pPr>
            <a:r>
              <a:rPr sz="1250">
                <a:solidFill>
                  <a:srgbClr val="E4ECF5"/>
                </a:solidFill>
                <a:latin typeface="Consolas"/>
              </a:rPr>
              <a:t>    return rsp("04", "Invalid Amount");        // chống sửa số tiền trên URL</a:t>
            </a:r>
          </a:p>
          <a:p>
            <a:pPr>
              <a:spcAft>
                <a:spcPts val="0"/>
              </a:spcAft>
            </a:pPr>
            <a:r>
              <a:rPr sz="1250">
                <a:solidFill>
                  <a:srgbClr val="E4ECF5"/>
                </a:solidFill>
                <a:latin typeface="Consolas"/>
              </a:rPr>
              <a:t>synchronized (order) {</a:t>
            </a:r>
          </a:p>
          <a:p>
            <a:pPr>
              <a:spcAft>
                <a:spcPts val="0"/>
              </a:spcAft>
            </a:pPr>
            <a:r>
              <a:rPr sz="1250">
                <a:solidFill>
                  <a:srgbClr val="E4ECF5"/>
                </a:solidFill>
                <a:latin typeface="Consolas"/>
              </a:rPr>
              <a:t>    if (!"PENDING".equals(order.status))</a:t>
            </a:r>
          </a:p>
          <a:p>
            <a:pPr>
              <a:spcAft>
                <a:spcPts val="0"/>
              </a:spcAft>
            </a:pPr>
            <a:r>
              <a:rPr sz="1250">
                <a:solidFill>
                  <a:srgbClr val="E4ECF5"/>
                </a:solidFill>
                <a:latin typeface="Consolas"/>
              </a:rPr>
              <a:t>        return rsp("02", "Order already confirmed");</a:t>
            </a:r>
          </a:p>
          <a:p>
            <a:pPr>
              <a:spcAft>
                <a:spcPts val="0"/>
              </a:spcAft>
            </a:pPr>
          </a:p>
          <a:p>
            <a:pPr>
              <a:spcAft>
                <a:spcPts val="0"/>
              </a:spcAft>
            </a:pPr>
            <a:r>
              <a:rPr sz="1250">
                <a:solidFill>
                  <a:srgbClr val="E4ECF5"/>
                </a:solidFill>
                <a:latin typeface="Consolas"/>
              </a:rPr>
              <a:t>    boolean paid = "00".equals(params.get("vnp_ResponseCode"))</a:t>
            </a:r>
          </a:p>
          <a:p>
            <a:pPr>
              <a:spcAft>
                <a:spcPts val="0"/>
              </a:spcAft>
            </a:pPr>
            <a:r>
              <a:rPr sz="1250">
                <a:solidFill>
                  <a:srgbClr val="E4ECF5"/>
                </a:solidFill>
                <a:latin typeface="Consolas"/>
              </a:rPr>
              <a:t>                &amp;&amp; "00".equals(params.get("vnp_TransactionStatus"));</a:t>
            </a:r>
          </a:p>
          <a:p>
            <a:pPr>
              <a:spcAft>
                <a:spcPts val="0"/>
              </a:spcAft>
            </a:pPr>
            <a:r>
              <a:rPr sz="1250">
                <a:solidFill>
                  <a:srgbClr val="E4ECF5"/>
                </a:solidFill>
                <a:latin typeface="Consolas"/>
              </a:rPr>
              <a:t>    order.status = paid ? "PAID" : "FAILED";</a:t>
            </a:r>
          </a:p>
          <a:p>
            <a:pPr>
              <a:spcAft>
                <a:spcPts val="0"/>
              </a:spcAft>
            </a:pPr>
            <a:r>
              <a:rPr sz="1250">
                <a:solidFill>
                  <a:srgbClr val="E4ECF5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250">
                <a:solidFill>
                  <a:srgbClr val="E4ECF5"/>
                </a:solidFill>
                <a:latin typeface="Consolas"/>
              </a:rPr>
              <a:t>return rsp("00", "Confirm Success");           // VNPAY ngừng retry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11480"/>
            <a:ext cx="11057839" cy="812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0A5BA8"/>
                </a:solidFill>
                <a:latin typeface="Calibri"/>
              </a:rPr>
              <a:t>TODO 6</a:t>
            </a:r>
          </a:p>
          <a:p>
            <a:pPr>
              <a:spcAft>
                <a:spcPts val="0"/>
              </a:spcAft>
            </a:pPr>
            <a:r>
              <a:rPr sz="3200" b="1">
                <a:solidFill>
                  <a:srgbClr val="16181D"/>
                </a:solidFill>
                <a:latin typeface="Calibri"/>
              </a:rPr>
              <a:t>ReturnURL chỉ để vẽ màn hình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425447"/>
            <a:ext cx="11057839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6B7788"/>
                </a:solidFill>
                <a:latin typeface="Consolas"/>
              </a:rPr>
              <a:t>ShopStart.java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81479"/>
            <a:ext cx="11057839" cy="1897380"/>
          </a:xfrm>
          <a:prstGeom prst="rect">
            <a:avLst/>
          </a:prstGeom>
          <a:solidFill>
            <a:srgbClr val="111A27"/>
          </a:solidFill>
          <a:ln>
            <a:solidFill>
              <a:srgbClr val="111A27"/>
            </a:solidFill>
          </a:ln>
        </p:spPr>
        <p:txBody>
          <a:bodyPr wrap="none" lIns="201168" rIns="146304" tIns="128016" bIns="128016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Consolas"/>
              </a:rPr>
              <a:t>static String handleReturn(Map&lt;String, String&gt; params)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Consolas"/>
              </a:rPr>
              <a:t>    boolean valid = isValidSignature(params);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Consolas"/>
              </a:rPr>
              <a:t>    String txnRef = params.getOrDefault("vnp_TxnRef", "");</a:t>
            </a:r>
          </a:p>
          <a:p>
            <a:pPr>
              <a:spcAft>
                <a:spcPts val="0"/>
              </a:spcAft>
            </a:pP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Consolas"/>
              </a:rPr>
              <a:t>    return "/?txnRef=" + encode(txnRef) + "&amp;valid=" + valid;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Consolas"/>
              </a:rPr>
              <a:t>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697731"/>
            <a:ext cx="11057839" cy="836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 b="0">
                <a:solidFill>
                  <a:srgbClr val="16181D"/>
                </a:solidFill>
                <a:latin typeface="Calibri"/>
              </a:rPr>
              <a:t>Để ý cái KHÔNG có ở đây: không dòng nào đổi trạng thái đơn hàng.</a:t>
            </a: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16181D"/>
                </a:solidFill>
                <a:latin typeface="Calibri"/>
              </a:rPr>
              <a:t>Tham số trên trình duyệt là dữ liệu do khách mang về, không phải sự thật.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652771"/>
            <a:ext cx="11057839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6B7788"/>
                </a:solidFill>
                <a:latin typeface="Consolas"/>
              </a:rPr>
              <a:t>trang kết quả, phía trình duyệt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4908803"/>
            <a:ext cx="11057839" cy="1629918"/>
          </a:xfrm>
          <a:prstGeom prst="rect">
            <a:avLst/>
          </a:prstGeom>
          <a:solidFill>
            <a:srgbClr val="111A27"/>
          </a:solidFill>
          <a:ln>
            <a:solidFill>
              <a:srgbClr val="111A27"/>
            </a:solidFill>
          </a:ln>
        </p:spPr>
        <p:txBody>
          <a:bodyPr wrap="none" lIns="201168" rIns="146304" tIns="128016" bIns="128016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Consolas"/>
              </a:rPr>
              <a:t>// không đọc kết quả từ URL, hỏi lại server cho chắc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Consolas"/>
              </a:rPr>
              <a:t>const res   = await fetch('/api/orders?txnRef=' + txnRef);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Consolas"/>
              </a:rPr>
              <a:t>const order = await res.json();</a:t>
            </a:r>
          </a:p>
          <a:p>
            <a:pPr>
              <a:spcAft>
                <a:spcPts val="0"/>
              </a:spcAft>
            </a:pP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Consolas"/>
              </a:rPr>
              <a:t>if (order.status === 'PAID') showSuccess(order);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11480"/>
            <a:ext cx="11057839" cy="812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0A5BA8"/>
                </a:solidFill>
                <a:latin typeface="Calibri"/>
              </a:rPr>
              <a:t>TÌNH HUỐNG THẬT</a:t>
            </a:r>
          </a:p>
          <a:p>
            <a:pPr>
              <a:spcAft>
                <a:spcPts val="0"/>
              </a:spcAft>
            </a:pPr>
            <a:r>
              <a:rPr sz="3200" b="1">
                <a:solidFill>
                  <a:srgbClr val="16181D"/>
                </a:solidFill>
                <a:latin typeface="Calibri"/>
              </a:rPr>
              <a:t>Khi IPN không bao giờ về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425447"/>
            <a:ext cx="11057839" cy="1357884"/>
          </a:xfrm>
          <a:prstGeom prst="rect">
            <a:avLst/>
          </a:prstGeom>
          <a:solidFill>
            <a:srgbClr val="F7F8FA"/>
          </a:solidFill>
          <a:ln>
            <a:solidFill>
              <a:srgbClr val="D8DEE6"/>
            </a:solidFill>
          </a:ln>
        </p:spPr>
        <p:txBody>
          <a:bodyPr wrap="square" lIns="182880" tIns="109728">
            <a:spAutoFit/>
          </a:bodyPr>
          <a:lstStyle/>
          <a:p>
            <a:pPr>
              <a:spcAft>
                <a:spcPts val="300"/>
              </a:spcAft>
            </a:pPr>
            <a:r>
              <a:rPr sz="1500" b="1">
                <a:solidFill>
                  <a:srgbClr val="C42B22"/>
                </a:solidFill>
                <a:latin typeface="Calibri"/>
              </a:rPr>
              <a:t>Chuyện xảy ra lúc mình dựng bài này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16181D"/>
                </a:solidFill>
                <a:latin typeface="Calibri"/>
              </a:rPr>
              <a:t>Portal sandbox không cho khai IPN URL. Danh sách website trống trơn,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16181D"/>
                </a:solidFill>
                <a:latin typeface="Calibri"/>
              </a:rPr>
              <a:t>Cài đặt thông báo báo "Kết nối hệ thống tạm thời bị gián đoạn".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16181D"/>
                </a:solidFill>
                <a:latin typeface="Calibri"/>
              </a:rPr>
              <a:t>Code đúng hết mà IPN không tới. Chỉ biết mỗi IPN thì demo chết tại chỗ.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2902203"/>
            <a:ext cx="11057839" cy="836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 b="0">
                <a:solidFill>
                  <a:srgbClr val="16181D"/>
                </a:solidFill>
                <a:latin typeface="Calibri"/>
              </a:rPr>
              <a:t>Đường lùi là API querydr: server tự hỏi VNPAY trạng thái thật.</a:t>
            </a: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16181D"/>
                </a:solidFill>
                <a:latin typeface="Calibri"/>
              </a:rPr>
              <a:t>Vẫn an toàn như IPN vì đủ ba lớp: hỏi thẳng VNPAY, verify chữ ký response, so lại số tiền.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857243"/>
            <a:ext cx="11057839" cy="1362456"/>
          </a:xfrm>
          <a:prstGeom prst="rect">
            <a:avLst/>
          </a:prstGeom>
          <a:solidFill>
            <a:srgbClr val="111A27"/>
          </a:solidFill>
          <a:ln>
            <a:solidFill>
              <a:srgbClr val="111A27"/>
            </a:solidFill>
          </a:ln>
        </p:spPr>
        <p:txBody>
          <a:bodyPr wrap="none" lIns="201168" rIns="146304" tIns="128016" bIns="128016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Consolas"/>
              </a:rPr>
              <a:t>// Hash của querydr không sort alphabet, nối bằng '|' đúng thứ tự tài liệu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Consolas"/>
              </a:rPr>
              <a:t>String hashData = String.join("|",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Consolas"/>
              </a:rPr>
              <a:t>        requestId, "2.1.0", "querydr", TMN_CODE,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Consolas"/>
              </a:rPr>
              <a:t>        txnRef, transactionDate, createDate, ipAddr, orderInfo);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338571"/>
            <a:ext cx="11057839" cy="1100709"/>
          </a:xfrm>
          <a:prstGeom prst="rect">
            <a:avLst/>
          </a:prstGeom>
          <a:solidFill>
            <a:srgbClr val="F7F8FA"/>
          </a:solidFill>
          <a:ln>
            <a:solidFill>
              <a:srgbClr val="D8DEE6"/>
            </a:solidFill>
          </a:ln>
        </p:spPr>
        <p:txBody>
          <a:bodyPr wrap="square" lIns="182880" tIns="109728">
            <a:spAutoFit/>
          </a:bodyPr>
          <a:lstStyle/>
          <a:p>
            <a:pPr>
              <a:spcAft>
                <a:spcPts val="300"/>
              </a:spcAft>
            </a:pPr>
            <a:r>
              <a:rPr sz="1500" b="1">
                <a:solidFill>
                  <a:srgbClr val="0B6B47"/>
                </a:solidFill>
                <a:latin typeface="Calibri"/>
              </a:rPr>
              <a:t>Mang về dùng cho đồ án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16181D"/>
                </a:solidFill>
                <a:latin typeface="Calibri"/>
              </a:rPr>
              <a:t>Một job @Scheduled quét đơn PENDING quá hạn rồi gọi querydr.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16181D"/>
                </a:solidFill>
                <a:latin typeface="Calibri"/>
              </a:rPr>
              <a:t>Hệ thống thanh toán thật nào cũng có, vì IPN thất lạc là chuyện bình thường.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11480"/>
            <a:ext cx="11057839" cy="812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0A5BA8"/>
                </a:solidFill>
                <a:latin typeface="Calibri"/>
              </a:rPr>
              <a:t>DEMO</a:t>
            </a:r>
          </a:p>
          <a:p>
            <a:pPr>
              <a:spcAft>
                <a:spcPts val="0"/>
              </a:spcAft>
            </a:pPr>
            <a:r>
              <a:rPr sz="3200" b="1">
                <a:solidFill>
                  <a:srgbClr val="16181D"/>
                </a:solidFill>
                <a:latin typeface="Calibri"/>
              </a:rPr>
              <a:t>Quẹt thẻ thật trên sandbox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425447"/>
            <a:ext cx="11057839" cy="1362456"/>
          </a:xfrm>
          <a:prstGeom prst="rect">
            <a:avLst/>
          </a:prstGeom>
          <a:solidFill>
            <a:srgbClr val="111A27"/>
          </a:solidFill>
          <a:ln>
            <a:solidFill>
              <a:srgbClr val="111A27"/>
            </a:solidFill>
          </a:ln>
        </p:spPr>
        <p:txBody>
          <a:bodyPr wrap="none" lIns="201168" rIns="146304" tIns="128016" bIns="128016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Consolas"/>
              </a:rPr>
              <a:t>Số thẻ          9704198526191432198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Consolas"/>
              </a:rPr>
              <a:t>Tên chủ thẻ     NGUYEN VAN A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Consolas"/>
              </a:rPr>
              <a:t>Ngày phát hành  07/15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Consolas"/>
              </a:rPr>
              <a:t>OTP             123456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2906775"/>
            <a:ext cx="11057839" cy="4729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 b="0">
                <a:solidFill>
                  <a:srgbClr val="16181D"/>
                </a:solidFill>
                <a:latin typeface="Calibri"/>
              </a:rPr>
              <a:t>Log server lúc chốt đơn, nên mở sẵn cửa sổ terminal khi demo: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498595"/>
            <a:ext cx="11057839" cy="560070"/>
          </a:xfrm>
          <a:prstGeom prst="rect">
            <a:avLst/>
          </a:prstGeom>
          <a:solidFill>
            <a:srgbClr val="111A27"/>
          </a:solidFill>
          <a:ln>
            <a:solidFill>
              <a:srgbClr val="111A27"/>
            </a:solidFill>
          </a:ln>
        </p:spPr>
        <p:txBody>
          <a:bodyPr wrap="none" lIns="201168" rIns="146304" tIns="128016" bIns="128016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E4ECF5"/>
                </a:solidFill>
                <a:latin typeface="Consolas"/>
              </a:rPr>
              <a:t>Chot bang querydr: txnRef=20260920125606777443 status=PAID transactionNo=15683165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177537"/>
            <a:ext cx="11057839" cy="1100709"/>
          </a:xfrm>
          <a:prstGeom prst="rect">
            <a:avLst/>
          </a:prstGeom>
          <a:solidFill>
            <a:srgbClr val="F7F8FA"/>
          </a:solidFill>
          <a:ln>
            <a:solidFill>
              <a:srgbClr val="D8DEE6"/>
            </a:solidFill>
          </a:ln>
        </p:spPr>
        <p:txBody>
          <a:bodyPr wrap="square" lIns="182880" tIns="109728">
            <a:spAutoFit/>
          </a:bodyPr>
          <a:lstStyle/>
          <a:p>
            <a:pPr>
              <a:spcAft>
                <a:spcPts val="300"/>
              </a:spcAft>
            </a:pPr>
            <a:r>
              <a:rPr sz="1500" b="1">
                <a:solidFill>
                  <a:srgbClr val="0A5BA8"/>
                </a:solidFill>
                <a:latin typeface="Calibri"/>
              </a:rPr>
              <a:t>Phòng khi wifi trục trặc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16181D"/>
                </a:solidFill>
                <a:latin typeface="Calibri"/>
              </a:rPr>
              <a:t>demo-local.sh tự ký IPN bằng chính HashSecret, diễn được cả ba ca: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16181D"/>
                </a:solidFill>
                <a:latin typeface="Calibri"/>
              </a:rPr>
              <a:t>thành công ra 00, retry ra 02, bị sửa số tiền ra 97. Không cần internet, không cần bấm thẻ.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11480"/>
            <a:ext cx="11057839" cy="812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0A5BA8"/>
                </a:solidFill>
                <a:latin typeface="Calibri"/>
              </a:rPr>
              <a:t>ĐƯA VÀO ĐỒ ÁN</a:t>
            </a:r>
          </a:p>
          <a:p>
            <a:pPr>
              <a:spcAft>
                <a:spcPts val="0"/>
              </a:spcAft>
            </a:pPr>
            <a:r>
              <a:rPr sz="3200" b="1">
                <a:solidFill>
                  <a:srgbClr val="16181D"/>
                </a:solidFill>
                <a:latin typeface="Calibri"/>
              </a:rPr>
              <a:t>Từ file demo sang microservice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425447"/>
            <a:ext cx="11057839" cy="2761488"/>
          </a:xfrm>
          <a:prstGeom prst="rect">
            <a:avLst/>
          </a:prstGeom>
          <a:solidFill>
            <a:srgbClr val="111A27"/>
          </a:solidFill>
          <a:ln>
            <a:solidFill>
              <a:srgbClr val="111A27"/>
            </a:solidFill>
          </a:ln>
        </p:spPr>
        <p:txBody>
          <a:bodyPr wrap="none" lIns="201168" rIns="146304" tIns="128016" bIns="128016">
            <a:spAutoFit/>
          </a:bodyPr>
          <a:lstStyle/>
          <a:p>
            <a:pPr>
              <a:spcAft>
                <a:spcPts val="0"/>
              </a:spcAft>
            </a:pPr>
            <a:r>
              <a:rPr sz="1500">
                <a:solidFill>
                  <a:srgbClr val="E4ECF5"/>
                </a:solidFill>
                <a:latin typeface="Consolas"/>
              </a:rPr>
              <a:t>payment-service đứng riêng, service khác chỉ nghe event OrderPaid</a:t>
            </a:r>
          </a:p>
          <a:p>
            <a:pPr>
              <a:spcAft>
                <a:spcPts val="0"/>
              </a:spcAft>
            </a:pPr>
          </a:p>
          <a:p>
            <a:pPr>
              <a:spcAft>
                <a:spcPts val="0"/>
              </a:spcAft>
            </a:pPr>
            <a:r>
              <a:rPr sz="1500">
                <a:solidFill>
                  <a:srgbClr val="E4ECF5"/>
                </a:solidFill>
                <a:latin typeface="Consolas"/>
              </a:rPr>
              <a:t>HashSecret nạp từ Vault hoặc K8s Secret, không để trong application.yml</a:t>
            </a:r>
          </a:p>
          <a:p>
            <a:pPr>
              <a:spcAft>
                <a:spcPts val="0"/>
              </a:spcAft>
            </a:pPr>
          </a:p>
          <a:p>
            <a:pPr>
              <a:spcAft>
                <a:spcPts val="0"/>
              </a:spcAft>
            </a:pPr>
            <a:r>
              <a:rPr sz="1500">
                <a:solidFill>
                  <a:srgbClr val="E4ECF5"/>
                </a:solidFill>
                <a:latin typeface="Consolas"/>
              </a:rPr>
              <a:t>Bảng payment_transaction có UNIQUE(txn_ref) và optimistic lock</a:t>
            </a:r>
          </a:p>
          <a:p>
            <a:pPr>
              <a:spcAft>
                <a:spcPts val="0"/>
              </a:spcAft>
            </a:pPr>
            <a:r>
              <a:rPr sz="1500">
                <a:solidFill>
                  <a:srgbClr val="E4ECF5"/>
                </a:solidFill>
                <a:latin typeface="Consolas"/>
              </a:rPr>
              <a:t>(demo dùng synchronized, chạy nhiều instance là không đủ)</a:t>
            </a:r>
          </a:p>
          <a:p>
            <a:pPr>
              <a:spcAft>
                <a:spcPts val="0"/>
              </a:spcAft>
            </a:pPr>
          </a:p>
          <a:p>
            <a:pPr>
              <a:spcAft>
                <a:spcPts val="0"/>
              </a:spcAft>
            </a:pPr>
            <a:r>
              <a:rPr sz="1500">
                <a:solidFill>
                  <a:srgbClr val="E4ECF5"/>
                </a:solidFill>
                <a:latin typeface="Consolas"/>
              </a:rPr>
              <a:t>Nhiều cổng thanh toán thì bọc sau interface PaymentGateway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4305807"/>
            <a:ext cx="11057839" cy="1199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 b="0">
                <a:solidFill>
                  <a:srgbClr val="16181D"/>
                </a:solidFill>
                <a:latin typeface="Calibri"/>
              </a:rPr>
              <a:t>Đồ án nào dùng được ngay: bất kỳ chỗ nào có đặt hàng hoặc nạp tiền.</a:t>
            </a: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16181D"/>
                </a:solidFill>
                <a:latin typeface="Calibri"/>
              </a:rPr>
              <a:t>Bán hàng online, đặt vé, đặt sân, đóng học phí, ví điện tử, quyên góp.</a:t>
            </a: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16181D"/>
                </a:solidFill>
                <a:latin typeface="Calibri"/>
              </a:rPr>
              <a:t>Việc phải làm chỉ là thay chỗ lưu đơn hàng bằng repository của mình.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11480"/>
            <a:ext cx="11057839" cy="812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0A5BA8"/>
                </a:solidFill>
                <a:latin typeface="Calibri"/>
              </a:rPr>
              <a:t>TỔNG KẾT</a:t>
            </a:r>
          </a:p>
          <a:p>
            <a:pPr>
              <a:spcAft>
                <a:spcPts val="0"/>
              </a:spcAft>
            </a:pPr>
            <a:r>
              <a:rPr sz="3200" b="1">
                <a:solidFill>
                  <a:srgbClr val="16181D"/>
                </a:solidFill>
                <a:latin typeface="Calibri"/>
              </a:rPr>
              <a:t>Sáu điều nên nhớ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425447"/>
            <a:ext cx="11057839" cy="2144268"/>
          </a:xfrm>
          <a:prstGeom prst="rect">
            <a:avLst/>
          </a:prstGeom>
          <a:solidFill>
            <a:srgbClr val="111A27"/>
          </a:solidFill>
          <a:ln>
            <a:solidFill>
              <a:srgbClr val="111A27"/>
            </a:solidFill>
          </a:ln>
        </p:spPr>
        <p:txBody>
          <a:bodyPr wrap="none" lIns="201168" rIns="146304" tIns="128016" bIns="128016">
            <a:spAutoFit/>
          </a:bodyPr>
          <a:lstStyle/>
          <a:p>
            <a:pPr>
              <a:spcAft>
                <a:spcPts val="0"/>
              </a:spcAft>
            </a:pPr>
            <a:r>
              <a:rPr sz="1500">
                <a:solidFill>
                  <a:srgbClr val="E4ECF5"/>
                </a:solidFill>
                <a:latin typeface="Consolas"/>
              </a:rPr>
              <a:t>1. Chỉ tin IPN và querydr, hai kênh server gọi server</a:t>
            </a:r>
          </a:p>
          <a:p>
            <a:pPr>
              <a:spcAft>
                <a:spcPts val="0"/>
              </a:spcAft>
            </a:pPr>
            <a:r>
              <a:rPr sz="1500">
                <a:solidFill>
                  <a:srgbClr val="E4ECF5"/>
                </a:solidFill>
                <a:latin typeface="Consolas"/>
              </a:rPr>
              <a:t>2. So lại số tiền với đơn trong DB trước khi đánh dấu PAID</a:t>
            </a:r>
          </a:p>
          <a:p>
            <a:pPr>
              <a:spcAft>
                <a:spcPts val="0"/>
              </a:spcAft>
            </a:pPr>
            <a:r>
              <a:rPr sz="1500">
                <a:solidFill>
                  <a:srgbClr val="E4ECF5"/>
                </a:solidFill>
                <a:latin typeface="Consolas"/>
              </a:rPr>
              <a:t>3. Idempotent bằng trạng thái đơn, đã xử lý thì trả 02</a:t>
            </a:r>
          </a:p>
          <a:p>
            <a:pPr>
              <a:spcAft>
                <a:spcPts val="0"/>
              </a:spcAft>
            </a:pPr>
            <a:r>
              <a:rPr sz="1500">
                <a:solidFill>
                  <a:srgbClr val="E4ECF5"/>
                </a:solidFill>
                <a:latin typeface="Consolas"/>
              </a:rPr>
              <a:t>4. vnp_TxnRef duy nhất trong 24h, thanh toán lại phải sinh mã mới</a:t>
            </a:r>
          </a:p>
          <a:p>
            <a:pPr>
              <a:spcAft>
                <a:spcPts val="0"/>
              </a:spcAft>
            </a:pPr>
            <a:r>
              <a:rPr sz="1500">
                <a:solidFill>
                  <a:srgbClr val="E4ECF5"/>
                </a:solidFill>
                <a:latin typeface="Consolas"/>
              </a:rPr>
              <a:t>5. Giờ Asia/Ho_Chi_Minh, đừng dùng Etc/GMT+7</a:t>
            </a:r>
          </a:p>
          <a:p>
            <a:pPr>
              <a:spcAft>
                <a:spcPts val="0"/>
              </a:spcAft>
            </a:pPr>
            <a:r>
              <a:rPr sz="1500">
                <a:solidFill>
                  <a:srgbClr val="E4ECF5"/>
                </a:solidFill>
                <a:latin typeface="Consolas"/>
              </a:rPr>
              <a:t>6. Không log secret, không log chữ ký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688587"/>
            <a:ext cx="11057839" cy="843534"/>
          </a:xfrm>
          <a:prstGeom prst="rect">
            <a:avLst/>
          </a:prstGeom>
          <a:solidFill>
            <a:srgbClr val="F7F8FA"/>
          </a:solidFill>
          <a:ln>
            <a:solidFill>
              <a:srgbClr val="D8DEE6"/>
            </a:solidFill>
          </a:ln>
        </p:spPr>
        <p:txBody>
          <a:bodyPr wrap="square" lIns="182880" tIns="109728">
            <a:spAutoFit/>
          </a:bodyPr>
          <a:lstStyle/>
          <a:p>
            <a:pPr>
              <a:spcAft>
                <a:spcPts val="300"/>
              </a:spcAft>
            </a:pPr>
            <a:r>
              <a:rPr sz="1500" b="1">
                <a:solidFill>
                  <a:srgbClr val="0A5BA8"/>
                </a:solidFill>
                <a:latin typeface="Calibri"/>
              </a:rPr>
              <a:t>Nếu chỉ nhớ được một câu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16181D"/>
                </a:solidFill>
                <a:latin typeface="Calibri"/>
              </a:rPr>
              <a:t>Tham số trên trình duyệt là dữ liệu do khách mang về, không phải sự thật.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650993"/>
            <a:ext cx="11057839" cy="7675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 b="0">
                <a:solidFill>
                  <a:srgbClr val="16181D"/>
                </a:solidFill>
                <a:latin typeface="Calibri"/>
              </a:rPr>
              <a:t>Giới hạn: bắt buộc redirect nên app mobile phải nhúng WebView. Sandbox không giống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16181D"/>
                </a:solidFill>
                <a:latin typeface="Calibri"/>
              </a:rPr>
              <a:t>production 100%. Hoàn tiền phải gọi API refund rồi đối soát tay. ngrok free đổi địa chỉ mỗi lần chạy.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11480"/>
            <a:ext cx="11057839" cy="812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0A5BA8"/>
                </a:solidFill>
                <a:latin typeface="Calibri"/>
              </a:rPr>
              <a:t>HỎI ĐÁP</a:t>
            </a:r>
          </a:p>
          <a:p>
            <a:pPr>
              <a:spcAft>
                <a:spcPts val="0"/>
              </a:spcAft>
            </a:pPr>
            <a:r>
              <a:rPr sz="3200" b="1">
                <a:solidFill>
                  <a:srgbClr val="16181D"/>
                </a:solidFill>
                <a:latin typeface="Calibri"/>
              </a:rPr>
              <a:t>Mấy câu chắc sẽ bị hỏi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425447"/>
            <a:ext cx="11057839" cy="3916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 b="0">
                <a:solidFill>
                  <a:srgbClr val="16181D"/>
                </a:solidFill>
                <a:latin typeface="Calibri"/>
              </a:rPr>
              <a:t>IPN không về thì đơn treo mãi à?</a:t>
            </a:r>
          </a:p>
          <a:p>
            <a:pPr>
              <a:spcAft>
                <a:spcPts val="700"/>
              </a:spcAft>
            </a:pPr>
            <a:r>
              <a:rPr sz="1500" b="0">
                <a:solidFill>
                  <a:srgbClr val="16181D"/>
                </a:solidFill>
                <a:latin typeface="Calibri"/>
              </a:rPr>
              <a:t>Không. Job quét đơn PENDING quá hạn rồi gọi querydr để chốt.</a:t>
            </a:r>
          </a:p>
          <a:p>
            <a:pPr>
              <a:spcAft>
                <a:spcPts val="700"/>
              </a:spcAft>
            </a:pPr>
          </a:p>
          <a:p>
            <a:pPr>
              <a:spcAft>
                <a:spcPts val="700"/>
              </a:spcAft>
            </a:pPr>
            <a:r>
              <a:rPr sz="1500" b="0">
                <a:solidFill>
                  <a:srgbClr val="16181D"/>
                </a:solidFill>
                <a:latin typeface="Calibri"/>
              </a:rPr>
              <a:t>Sao phải cài ngrok, không có cách nào khác?</a:t>
            </a:r>
          </a:p>
          <a:p>
            <a:pPr>
              <a:spcAft>
                <a:spcPts val="700"/>
              </a:spcAft>
            </a:pPr>
            <a:r>
              <a:rPr sz="1500" b="0">
                <a:solidFill>
                  <a:srgbClr val="16181D"/>
                </a:solidFill>
                <a:latin typeface="Calibri"/>
              </a:rPr>
              <a:t>Cần một địa chỉ công khai để VNPAY gọi vào. Deploy lên server thật cũng được, nhưng chậm hơn.</a:t>
            </a:r>
          </a:p>
          <a:p>
            <a:pPr>
              <a:spcAft>
                <a:spcPts val="700"/>
              </a:spcAft>
            </a:pPr>
          </a:p>
          <a:p>
            <a:pPr>
              <a:spcAft>
                <a:spcPts val="700"/>
              </a:spcAft>
            </a:pPr>
            <a:r>
              <a:rPr sz="1500" b="0">
                <a:solidFill>
                  <a:srgbClr val="16181D"/>
                </a:solidFill>
                <a:latin typeface="Calibri"/>
              </a:rPr>
              <a:t>Báo sai chữ ký mà không hiểu vì sao?</a:t>
            </a:r>
          </a:p>
          <a:p>
            <a:pPr>
              <a:spcAft>
                <a:spcPts val="700"/>
              </a:spcAft>
            </a:pPr>
            <a:r>
              <a:rPr sz="1500" b="0">
                <a:solidFill>
                  <a:srgbClr val="16181D"/>
                </a:solidFill>
                <a:latin typeface="Calibri"/>
              </a:rPr>
              <a:t>In hashData ra rồi so từng ký tự. Gần như luôn là quên URL-encode, hoặc quên bỏ vnp_SecureHash.</a:t>
            </a:r>
          </a:p>
          <a:p>
            <a:pPr>
              <a:spcAft>
                <a:spcPts val="700"/>
              </a:spcAft>
            </a:pPr>
          </a:p>
          <a:p>
            <a:pPr>
              <a:spcAft>
                <a:spcPts val="700"/>
              </a:spcAft>
            </a:pPr>
            <a:r>
              <a:rPr sz="1500" b="0">
                <a:solidFill>
                  <a:srgbClr val="16181D"/>
                </a:solidFill>
                <a:latin typeface="Calibri"/>
              </a:rPr>
              <a:t>Test được không nếu chưa có thẻ, chưa có mạng?</a:t>
            </a:r>
          </a:p>
          <a:p>
            <a:pPr>
              <a:spcAft>
                <a:spcPts val="700"/>
              </a:spcAft>
            </a:pPr>
            <a:r>
              <a:rPr sz="1500" b="0">
                <a:solidFill>
                  <a:srgbClr val="16181D"/>
                </a:solidFill>
                <a:latin typeface="Calibri"/>
              </a:rPr>
              <a:t>Được, phần ký và verify có unit test chạy offline hoàn toàn.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11480"/>
            <a:ext cx="11057839" cy="812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0A5BA8"/>
                </a:solidFill>
                <a:latin typeface="Calibri"/>
              </a:rPr>
              <a:t>BÀN GIAO</a:t>
            </a:r>
          </a:p>
          <a:p>
            <a:pPr>
              <a:spcAft>
                <a:spcPts val="0"/>
              </a:spcAft>
            </a:pPr>
            <a:r>
              <a:rPr sz="3200" b="1">
                <a:solidFill>
                  <a:srgbClr val="16181D"/>
                </a:solidFill>
                <a:latin typeface="Calibri"/>
              </a:rPr>
              <a:t>Mang về dùng cho đồ án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425447"/>
            <a:ext cx="11057839" cy="4729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 b="0">
                <a:solidFill>
                  <a:srgbClr val="16181D"/>
                </a:solidFill>
                <a:latin typeface="Calibri"/>
              </a:rPr>
              <a:t>Sau buổi hôm nay mình bỏ bản làm xong vào đúng thư mục Drive lúc nãy.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2017267"/>
            <a:ext cx="11057839" cy="1527048"/>
          </a:xfrm>
          <a:prstGeom prst="rect">
            <a:avLst/>
          </a:prstGeom>
          <a:solidFill>
            <a:srgbClr val="111A27"/>
          </a:solidFill>
          <a:ln>
            <a:solidFill>
              <a:srgbClr val="111A27"/>
            </a:solidFill>
          </a:ln>
        </p:spPr>
        <p:txBody>
          <a:bodyPr wrap="none" lIns="201168" rIns="146304" tIns="128016" bIns="128016">
            <a:spAutoFit/>
          </a:bodyPr>
          <a:lstStyle/>
          <a:p>
            <a:pPr>
              <a:spcAft>
                <a:spcPts val="0"/>
              </a:spcAft>
            </a:pPr>
            <a:r>
              <a:rPr sz="1500">
                <a:solidFill>
                  <a:srgbClr val="E4ECF5"/>
                </a:solidFill>
                <a:latin typeface="Consolas"/>
              </a:rPr>
              <a:t>VnpayDemo.java      bản đã điền xong 6 TODO</a:t>
            </a:r>
          </a:p>
          <a:p>
            <a:pPr>
              <a:spcAft>
                <a:spcPts val="0"/>
              </a:spcAft>
            </a:pPr>
            <a:r>
              <a:rPr sz="1500">
                <a:solidFill>
                  <a:srgbClr val="E4ECF5"/>
                </a:solidFill>
                <a:latin typeface="Consolas"/>
              </a:rPr>
              <a:t>  Bước 4 và 5       hàm ký và verify chữ ký</a:t>
            </a:r>
          </a:p>
          <a:p>
            <a:pPr>
              <a:spcAft>
                <a:spcPts val="0"/>
              </a:spcAft>
            </a:pPr>
            <a:r>
              <a:rPr sz="1500">
                <a:solidFill>
                  <a:srgbClr val="E4ECF5"/>
                </a:solidFill>
                <a:latin typeface="Consolas"/>
              </a:rPr>
              <a:t>  Bước 8            đối soát khi IPN không về</a:t>
            </a:r>
          </a:p>
          <a:p>
            <a:pPr>
              <a:spcAft>
                <a:spcPts val="0"/>
              </a:spcAft>
            </a:pPr>
            <a:r>
              <a:rPr sz="1500">
                <a:solidFill>
                  <a:srgbClr val="E4ECF5"/>
                </a:solidFill>
                <a:latin typeface="Consolas"/>
              </a:rPr>
              <a:t>  VNPAY_MODE        chạy có ngrok hay không ngrok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663187"/>
            <a:ext cx="11057839" cy="1357884"/>
          </a:xfrm>
          <a:prstGeom prst="rect">
            <a:avLst/>
          </a:prstGeom>
          <a:solidFill>
            <a:srgbClr val="F7F8FA"/>
          </a:solidFill>
          <a:ln>
            <a:solidFill>
              <a:srgbClr val="D8DEE6"/>
            </a:solidFill>
          </a:ln>
        </p:spPr>
        <p:txBody>
          <a:bodyPr wrap="square" lIns="182880" tIns="109728">
            <a:spAutoFit/>
          </a:bodyPr>
          <a:lstStyle/>
          <a:p>
            <a:pPr>
              <a:spcAft>
                <a:spcPts val="300"/>
              </a:spcAft>
            </a:pPr>
            <a:r>
              <a:rPr sz="1500" b="1">
                <a:solidFill>
                  <a:srgbClr val="0B6B47"/>
                </a:solidFill>
                <a:latin typeface="Calibri"/>
              </a:rPr>
              <a:t>Ba bước để nhét vào đồ án của bạn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16181D"/>
                </a:solidFill>
                <a:latin typeface="Calibri"/>
              </a:rPr>
              <a:t>1. Copy hai hàm hmacSHA512 và buildQueryString sang project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16181D"/>
                </a:solidFill>
                <a:latin typeface="Calibri"/>
              </a:rPr>
              <a:t>2. Thay chỗ lưu đơn hàng bằng repository sẵn có của bạn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16181D"/>
                </a:solidFill>
                <a:latin typeface="Calibri"/>
              </a:rPr>
              <a:t>3. Nạp TmnCode và HashSecret từ biến môi trường, đừng hardcode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139943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6B7788"/>
                </a:solidFill>
                <a:latin typeface="Calibri"/>
              </a:rPr>
              <a:t>Có gì không chạy cứ nhắn mình.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