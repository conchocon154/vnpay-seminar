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notesMasterIdLst>
    <p:notesMasterId r:id="rId34"/>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notesMaster" Target="notesMasters/notesMaster1.xml"/><Relationship Id="rId35" Type="http://schemas.openxmlformats.org/officeDocument/2006/relationships/presProps" Target="presProps.xml"/><Relationship Id="rId36" Type="http://schemas.openxmlformats.org/officeDocument/2006/relationships/viewProps" Target="viewProps.xml"/><Relationship Id="rId37" Type="http://schemas.openxmlformats.org/officeDocument/2006/relationships/theme" Target="theme/theme1.xml"/><Relationship Id="rId3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Chào mọi người. Hôm nay mình trình bày cách một Payment Service trong hệ thống microservice tích hợp với cổng thanh toán VNPAY Sandbox. Code hoàn chỉnh mình đã gửi trước, nên buổi này mình tập trung giải thích: gửi những gì sang VNPAY, gửi dưới dạng nào, và vì sao code được viết như vậy.</a:t>
            </a:r>
          </a:p>
          <a:p>
            <a:endParaRPr lang="vi-VN"/>
          </a:p>
          <a:p>
            <a:r>
              <a:rPr lang="vi-VN" sz="1600" b="1" dirty="0"/>
              <a:t>Hỏi: Vì sao không tự làm chức năng nhập thẻ?</a:t>
            </a:r>
          </a:p>
          <a:p>
            <a:r>
              <a:rPr lang="vi-VN" sz="1600" dirty="0"/>
              <a:t>Đáp: Lưu và xử lý số thẻ trên server mình thì phải đạt chuẩn PCI-DSS, và ngân hàng không cấp API trực tiếp cho website nhỏ. Cổng trung gian như VNPAY nhận số thẻ thay mình.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Buổi hôm nay gồm 6 phần như trên slide. File PaymentService.java hoàn chỉnh mọi người đã có, nên mình không hướng dẫn gõ code mà đi vào lý do.</a:t>
            </a:r>
          </a:p>
          <a:p>
            <a:endParaRPr lang="vi-VN"/>
          </a:p>
          <a:p>
            <a:r>
              <a:rPr lang="vi-VN" sz="1600" dirty="0"/>
              <a:t>Mỗi ý mình gắn một trong hai nhãn. VNPAY yêu cầu là phần nằm trong tài liệu của VNPAY, làm khác thì bị từ chối. Mình chọn là phần do mình thiết kế, có thể làm theo cách khác. Phân biệt được hai phần này thì khi đổi sang cổng thanh toán khác sẽ biết phần nào cần sửa.</a:t>
            </a:r>
          </a:p>
          <a:p>
            <a:endParaRPr lang="vi-VN"/>
          </a:p>
          <a:p>
            <a:r>
              <a:rPr lang="vi-VN" sz="1600" b="1" dirty="0"/>
              <a:t>Hỏi: Các ý "VNPAY yêu cầu" lấy từ đâu?</a:t>
            </a:r>
          </a:p>
          <a:p>
            <a:r>
              <a:rPr lang="vi-VN" sz="1600" dirty="0"/>
              <a:t>Đáp: Từ tài liệu API v2.1.0 trên trang sandbox.vnpayment.vn/apis/docs, và từ các lần mình thử trực tiếp trên sandbox. Kết quả thử ghi trong file CHUNG-MINH.md.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Đây là một hệ thống bán hàng chia thành nhiều service. Request của khách đi qua API Gateway vào các service bên trong. Chỉ Payment Service giao tiếp với VNPAY.</a:t>
            </a:r>
          </a:p>
          <a:p>
            <a:endParaRPr lang="vi-VN"/>
          </a:p>
          <a:p>
            <a:r>
              <a:rPr lang="vi-VN" sz="1600" dirty="0"/>
              <a:t>Lý do tách như vậy: phần phụ thuộc vào dịch vụ bên ngoài nằm gọn ở một chỗ. Khi đổi sang cổng thanh toán khác, chỉ Payment Service phải sửa. Khi thanh toán xong, Payment Service phát event OrderPaid, các service khác tự xử lý phần của mình như trừ kho, gửi email.</a:t>
            </a:r>
          </a:p>
          <a:p>
            <a:endParaRPr lang="vi-VN"/>
          </a:p>
          <a:p>
            <a:r>
              <a:rPr lang="vi-VN" sz="1600" dirty="0"/>
              <a:t>Trong demo, mình gói Payment Service vào một file Java để dễ chạy.</a:t>
            </a:r>
          </a:p>
          <a:p>
            <a:endParaRPr lang="vi-VN"/>
          </a:p>
          <a:p>
            <a:r>
              <a:rPr lang="vi-VN" sz="1600" b="1" dirty="0"/>
              <a:t>Hỏi: Vì sao không để Order Service gọi VNPAY?</a:t>
            </a:r>
          </a:p>
          <a:p>
            <a:r>
              <a:rPr lang="vi-VN" sz="1600" dirty="0"/>
              <a:t>Đáp: Làm được, nhưng logic thanh toán sẽ dính vào logic đơn hàng. Tách riêng thì đổi cổng, thêm cổng hay scale phần thanh toán không ảnh hưởng tới Order Service.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Trong kiến trúc hướng dịch vụ, mỗi service công bố một hợp đồng: gọi vào đâu, gửi dữ liệu gì, nhận lại gì. VNPAY là bên cung cấp, Payment Service là bên sử dụng, nên hợp đồng do VNPAY quy định.</a:t>
            </a:r>
          </a:p>
          <a:p>
            <a:endParaRPr lang="vi-VN"/>
          </a:p>
          <a:p>
            <a:r>
              <a:rPr lang="vi-VN" sz="1600" dirty="0"/>
              <a:t>Cột trái là phần VNPAY quy định. Cột phải là phần bên trong Payment Service, mình tự thiết kế. Các slide sau đi vào từng phần ở cột trái và giải thích vì sao VNPAY quy định như vậy.</a:t>
            </a:r>
          </a:p>
          <a:p>
            <a:endParaRPr lang="vi-VN"/>
          </a:p>
          <a:p>
            <a:r>
              <a:rPr lang="vi-VN" sz="1600" b="1" dirty="0"/>
              <a:t>Hỏi: Nếu VNPAY đổi hợp đồng thì sao?</a:t>
            </a:r>
          </a:p>
          <a:p>
            <a:r>
              <a:rPr lang="vi-VN" sz="1600" dirty="0"/>
              <a:t>Đáp: VNPAY đánh số phiên bản, hiện là 2.1.0 và gửi trong tham số vnp_Version. Khi đổi phiên bản, chỉ Payment Service phải sửa.</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Payment Service giao tiếp với VNPAY qua 4 kênh. Kênh 1 và 2 đi qua trình duyệt của khách, gọi là front-channel, dữ liệu nằm trên query string của URL. Kênh 3 và 4 là server gọi trực tiếp server, gọi là back-channel. IPN là VNPAY gọi Payment Service bằng GET. querydr là Payment Service gọi VNPAY bằng POST với JSON.</a:t>
            </a:r>
          </a:p>
          <a:p>
            <a:endParaRPr lang="vi-VN"/>
          </a:p>
          <a:p>
            <a:r>
              <a:rPr lang="vi-VN" sz="1600" dirty="0"/>
              <a:t>Phần sau mình giải thích vì sao mỗi kênh dùng định dạng đó.</a:t>
            </a:r>
          </a:p>
          <a:p>
            <a:endParaRPr lang="vi-VN"/>
          </a:p>
          <a:p>
            <a:r>
              <a:rPr lang="vi-VN" sz="1600" b="1" dirty="0"/>
              <a:t>Hỏi: Front-channel và back-channel khác nhau ở điểm nào?</a:t>
            </a:r>
          </a:p>
          <a:p>
            <a:r>
              <a:rPr lang="vi-VN" sz="1600" dirty="0"/>
              <a:t>Đáp: Front-channel đi qua trình duyệt, khách có thể sửa URL hoặc đóng tab giữa chừng. Back-channel thì khách không can thiệp được. Vì vậy chỉ back-channel được cập nhật trạng thái đơn.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Đây là thứ tự trong một lần thanh toán. Bước 1 là API nội bộ giữa web và Payment Service, do mình thiết kế. Bước 2 trình duyệt mở link VNPAY, khách nhập thẻ trên trang VNPAY. Bước 3 VNPAY gọi IPN, Payment Service cập nhật đơn. Bước 4 VNPAY đưa khách quay lại web để hiển thị kết quả. Bước 5 là phương án dự phòng, Payment Service tự hỏi VNPAY.</a:t>
            </a:r>
          </a:p>
          <a:p>
            <a:endParaRPr lang="vi-VN"/>
          </a:p>
          <a:p>
            <a:r>
              <a:rPr lang="vi-VN" sz="1600" dirty="0"/>
              <a:t>Hai dòng tô xanh là hai chỗ được cập nhật trạng thái đơn.</a:t>
            </a:r>
          </a:p>
          <a:p>
            <a:endParaRPr lang="vi-VN"/>
          </a:p>
          <a:p>
            <a:r>
              <a:rPr lang="vi-VN" sz="1600" b="1" dirty="0"/>
              <a:t>Hỏi: Bước 3 và bước 4, bước nào đến trước?</a:t>
            </a:r>
          </a:p>
          <a:p>
            <a:r>
              <a:rPr lang="vi-VN" sz="1600" dirty="0"/>
              <a:t>Đáp: Không cố định. Vì vậy trang kết quả hỏi trạng thái từ server, không đọc kết quả trên URL.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Đây là toàn bộ tham số Payment Service gửi khi tạo thanh toán. Theo tài liệu, 13 tham số đầu là bắt buộc, BankCode là tuỳ chọn, và chữ ký vnp_SecureHash được gắn ở cuối link. Cột giữa là giá trị thật trong demo. Hai slide sau giải thích vì sao từng tham số là bắt buộc.</a:t>
            </a:r>
          </a:p>
          <a:p>
            <a:endParaRPr lang="vi-VN"/>
          </a:p>
          <a:p>
            <a:r>
              <a:rPr lang="vi-VN" sz="1600" b="1" dirty="0"/>
              <a:t>Hỏi: Thiếu một tham số bắt buộc thì sao?</a:t>
            </a:r>
          </a:p>
          <a:p>
            <a:r>
              <a:rPr lang="vi-VN" sz="1600" dirty="0"/>
              <a:t>Đáp: Mình đã thử trên sandbox: bỏ vnp_IpAddr, vnp_OrderInfo hoặc vnp_ReturnUrl thì VNPAY chuyển sang trang lỗi mã 03, dữ liệu không đúng định dạng. Riêng bỏ vnp_ExpireDate thì sandbox vẫn mở trang thanh toán, nhưng tài liệu ghi bắt buộc nên code vẫn gửi.</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Nhóm đầu là định danh: Version, Command và TmnCode cho VNPAY biết request theo phiên bản nào, để làm gì, và của website nào. TmnCode còn dùng để tìm đúng HashSecret, vì mỗi website có HashSecret riêng.</a:t>
            </a:r>
          </a:p>
          <a:p>
            <a:endParaRPr lang="vi-VN"/>
          </a:p>
          <a:p>
            <a:r>
              <a:rPr lang="vi-VN" sz="1600" dirty="0"/>
              <a:t>Nhóm thứ hai mô tả giao dịch. TxnRef là mã quan trọng nhất về mặt kỹ thuật: khi VNPAY gửi IPN hay trả kết quả querydr, đều kèm mã này để Payment Service tìm đúng đơn. Amount nhân 100 để luôn là số nguyên.</a:t>
            </a:r>
          </a:p>
          <a:p>
            <a:endParaRPr lang="vi-VN"/>
          </a:p>
          <a:p>
            <a:r>
              <a:rPr lang="vi-VN" sz="1600" b="1" dirty="0"/>
              <a:t>Hỏi: Vì sao số tiền phải nhân 100?</a:t>
            </a:r>
          </a:p>
          <a:p>
            <a:r>
              <a:rPr lang="vi-VN" sz="1600" dirty="0"/>
              <a:t>Đáp: Để luôn là số nguyên ở đơn vị nhỏ nhất, không phải xử lý số thập phân. 25.000 đồng gửi đi là 2500000. Đây là cách làm phổ biến ở các cổng thanh toán.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Nhóm thời gian: CreateDate được dùng lại khi gọi querydr, nên phải lưu cùng đơn. ExpireDate giới hạn thời gian dùng link, demo đặt 15 phút.</a:t>
            </a:r>
          </a:p>
          <a:p>
            <a:endParaRPr lang="vi-VN"/>
          </a:p>
          <a:p>
            <a:r>
              <a:rPr lang="vi-VN" sz="1600" dirty="0"/>
              <a:t>OrderInfo phải viết không dấu. Bằng chứng là giao dịch thử ngày 20/9 có nội dung viết có dấu, khi hỏi lại bằng querydr VNPAY trả về "C? ph? s?a ??".</a:t>
            </a:r>
          </a:p>
          <a:p>
            <a:endParaRPr lang="vi-VN"/>
          </a:p>
          <a:p>
            <a:r>
              <a:rPr lang="vi-VN" sz="1600" dirty="0"/>
              <a:t>IpAddr theo tài liệu là IP của khách. Demo để cố định 127.0.0.1 cho gọn, hệ thống thật cần lấy IP thật qua API Gateway.</a:t>
            </a:r>
          </a:p>
          <a:p>
            <a:endParaRPr lang="vi-VN"/>
          </a:p>
          <a:p>
            <a:r>
              <a:rPr lang="vi-VN" sz="1600" dirty="0"/>
              <a:t>SecureHash là chữ ký, phần sau mình giải thích chi tiết.</a:t>
            </a:r>
          </a:p>
          <a:p>
            <a:endParaRPr lang="vi-VN"/>
          </a:p>
          <a:p>
            <a:r>
              <a:rPr lang="vi-VN" sz="1600" b="1" dirty="0"/>
              <a:t>Hỏi: ReturnUrl gửi trong request rồi, sao còn phải khai trên trang quản lý VNPAY?</a:t>
            </a:r>
          </a:p>
          <a:p>
            <a:r>
              <a:rPr lang="vi-VN" sz="1600" dirty="0"/>
              <a:t>Đáp: ReturnUrl trong request quyết định chỗ đưa khách về. Phần khai trên trang quản lý là cấu hình của website, trong đó có URL nhận IPN.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Mọi giá trị đều được gửi dưới dạng chuỗi, nên VNPAY quy định định dạng cố định cho từng loại. Ngày giờ là 14 chữ số theo giờ Việt Nam, không có dấu gạch hay khoảng trắng, nên bên nào đọc cũng ra cùng một thời điểm. Số tiền là số nguyên. Văn bản không dấu.</a:t>
            </a:r>
          </a:p>
          <a:p>
            <a:endParaRPr lang="vi-VN"/>
          </a:p>
          <a:p>
            <a:r>
              <a:rPr lang="vi-VN" sz="1600" dirty="0"/>
              <a:t>Về múi giờ: trong code mình dùng Asia/Ho_Chi_Minh. Có một số code mẫu dùng Etc/GMT+7, nhưng theo chuẩn POSIX, dấu trong tên Etc/GMT bị đảo, nên Etc/GMT+7 thực ra là UTC trừ 7.</a:t>
            </a:r>
          </a:p>
          <a:p>
            <a:endParaRPr lang="vi-VN"/>
          </a:p>
          <a:p>
            <a:r>
              <a:rPr lang="vi-VN" sz="1600" b="1" dirty="0"/>
              <a:t>Hỏi: Giờ trên máy lệch thì sao?</a:t>
            </a:r>
          </a:p>
          <a:p>
            <a:r>
              <a:rPr lang="vi-VN" sz="1600" dirty="0"/>
              <a:t>Đáp: CreateDate và ExpireDate sẽ sai. Nếu thời điểm hết hạn nằm trong quá khứ theo giờ VNPAY, link báo giao dịch hết hạn.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Vì sao kênh 1 dùng query string? Vì đây là chuyển trang: Payment Service không gọi VNPAY, mà trả link để trình duyệt mở. Dữ liệu đi cùng link nên nằm trên query string.</a:t>
            </a:r>
          </a:p>
          <a:p>
            <a:endParaRPr lang="vi-VN"/>
          </a:p>
          <a:p>
            <a:r>
              <a:rPr lang="vi-VN" sz="1600" dirty="0"/>
              <a:t>Lý do VNPAY thiết kế chuyển trang là để khách nhập số thẻ trên trang của VNPAY. Payment Service không bao giờ nhận số thẻ.</a:t>
            </a:r>
          </a:p>
          <a:p>
            <a:endParaRPr lang="vi-VN"/>
          </a:p>
          <a:p>
            <a:r>
              <a:rPr lang="vi-VN" sz="1600" dirty="0"/>
              <a:t>URL có cấu trúc riêng: dấu &amp; ngăn cách tham số, dấu = ngăn tên và giá trị. Nếu giá trị chứa các ký tự này, URL sẽ bị hiểu sai, nên phải encode. Ví dụ ReturnUrl chứa dấu hai chấm và gạch chéo.</a:t>
            </a:r>
          </a:p>
          <a:p>
            <a:endParaRPr lang="vi-VN"/>
          </a:p>
          <a:p>
            <a:r>
              <a:rPr lang="vi-VN" sz="1600" b="1" dirty="0"/>
              <a:t>Hỏi: Dữ liệu trên URL có bị lộ không?</a:t>
            </a:r>
          </a:p>
          <a:p>
            <a:r>
              <a:rPr lang="vi-VN" sz="1600" dirty="0"/>
              <a:t>Đáp: Link chỉ chứa thông tin đơn, không có bí mật, và đi qua HTTPS. Rủi ro là bị sửa, nên cần chữ ký.</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Chữ ký là phần quan trọng về bảo mật. Ý tưởng: Payment Service và VNPAY cùng giữ một HashSecret. Payment Service ghép tham số thành chuỗi, băm bằng HashSecret. VNPAY nhận link, ghép lại chuỗi theo cùng quy tắc, băm lại và so sánh.</a:t>
            </a:r>
          </a:p>
          <a:p>
            <a:endParaRPr lang="vi-VN"/>
          </a:p>
          <a:p>
            <a:r>
              <a:rPr lang="vi-VN" sz="1600" dirty="0"/>
              <a:t>Muốn hai bên ra cùng kết quả thì quy tắc ghép phải giống nhau, nên phải sắp xếp, bỏ rỗng và encode theo cùng một cách.</a:t>
            </a:r>
          </a:p>
          <a:p>
            <a:endParaRPr lang="vi-VN"/>
          </a:p>
          <a:p>
            <a:r>
              <a:rPr lang="vi-VN" sz="1600" dirty="0"/>
              <a:t>HMAC khác hash thường ở chỗ cần khoá bí mật. Người ngoài sửa số tiền trên URL được, nhưng không tạo lại được chữ ký vì không có HashSecret.</a:t>
            </a:r>
          </a:p>
          <a:p>
            <a:endParaRPr lang="vi-VN"/>
          </a:p>
          <a:p>
            <a:r>
              <a:rPr lang="vi-VN" sz="1600" b="1" dirty="0"/>
              <a:t>Hỏi: Chữ ký có mã hoá dữ liệu không?</a:t>
            </a:r>
          </a:p>
          <a:p>
            <a:r>
              <a:rPr lang="vi-VN" sz="1600" dirty="0"/>
              <a:t>Đáp: Không. Dữ liệu vẫn đọc được trên URL. Chữ ký chỉ đảm bảo dữ liệu không bị sửa và đúng là do bên có HashSecret tạo ra.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Để biết chắc quy tắc nào là bắt buộc, mình tạo link bằng code của Payment Service rồi thử sửa từng phần, mở trên sandbox.</a:t>
            </a:r>
          </a:p>
          <a:p>
            <a:endParaRPr lang="vi-VN"/>
          </a:p>
          <a:p>
            <a:r>
              <a:rPr lang="vi-VN" sz="1600" dirty="0"/>
              <a:t>Sửa số tiền sau khi ký thì VNPAY báo sai chữ ký. Ký chuỗi không sắp xếp hoặc chưa encode cũng bị báo sai chữ ký. Riêng chữ ký viết hoa thì VNPAY vẫn chấp nhận, nên việc viết chữ thường trong code chỉ là theo code mẫu.</a:t>
            </a:r>
          </a:p>
          <a:p>
            <a:endParaRPr lang="vi-VN"/>
          </a:p>
          <a:p>
            <a:r>
              <a:rPr lang="vi-VN" sz="1600" b="1" dirty="0"/>
              <a:t>Hỏi: Mã 70 là gì?</a:t>
            </a:r>
          </a:p>
          <a:p>
            <a:r>
              <a:rPr lang="vi-VN" sz="1600" dirty="0"/>
              <a:t>Đáp: Mã lỗi trên trang lỗi của VNPAY, hiển thị nội dung "Sai chữ ký". Link lỗi có dạng Payment/Error.html?code=70.</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Đây là trang VNPAY mở ra từ link do Payment Service tạo. Các giá trị trên trang đều lấy từ query string: số tiền 25.000 là vnp_Amount chia 100, mã đơn là vnp_TxnRef, ngân hàng NCB là vnp_BankCode, đồng hồ 15 phút là từ vnp_ExpireDate.</a:t>
            </a:r>
          </a:p>
          <a:p>
            <a:endParaRPr lang="vi-VN"/>
          </a:p>
          <a:p>
            <a:r>
              <a:rPr lang="vi-VN" sz="1600" b="1" dirty="0"/>
              <a:t>Hỏi: Vì sao trang ghi "Thông tin đơn hàng (Test)"?</a:t>
            </a:r>
          </a:p>
          <a:p>
            <a:r>
              <a:rPr lang="vi-VN" sz="1600" dirty="0"/>
              <a:t>Đáp: Vì đây là môi trường sandbox, giao dịch dùng thẻ test, không có tiền thật.</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IPN là VNPAY gọi Payment Service từ server của VNPAY, phương thức GET, tham số trên query string, có chữ ký. Định dạng giống hệt link thanh toán, nên Payment Service dùng lại hai hàm buildQueryString và hmacSHA512 để kiểm tra.</a:t>
            </a:r>
          </a:p>
          <a:p>
            <a:endParaRPr lang="vi-VN"/>
          </a:p>
          <a:p>
            <a:r>
              <a:rPr lang="vi-VN" sz="1600" dirty="0"/>
              <a:t>Payment Service phải trả về JSON có RspCode. VNPAY đọc mã này để quyết định có gọi lại hay không. Đây là pattern webhook có retry.</a:t>
            </a:r>
          </a:p>
          <a:p>
            <a:endParaRPr lang="vi-VN"/>
          </a:p>
          <a:p>
            <a:r>
              <a:rPr lang="vi-VN" sz="1600" dirty="0"/>
              <a:t>Tài liệu ghi: "Thao tác cập nhật/xử lý kết quả sau khi thanh toán được thực hiện tại URL này."</a:t>
            </a:r>
          </a:p>
          <a:p>
            <a:endParaRPr lang="vi-VN"/>
          </a:p>
          <a:p>
            <a:r>
              <a:rPr lang="vi-VN" sz="1600" b="1" dirty="0"/>
              <a:t>Hỏi: Vì sao không cập nhật đơn ở ReturnURL cho đơn giản?</a:t>
            </a:r>
          </a:p>
          <a:p>
            <a:r>
              <a:rPr lang="vi-VN" sz="1600" dirty="0"/>
              <a:t>Đáp: ReturnURL đi qua trình duyệt, khách có thể sửa vnp_ResponseCode thành 00 hoặc đóng tab trước khi về. Tài liệu VNPAY cũng ghi không cập nhật kết quả tại ReturnURL.</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Hàm handleIpn kiểm tra theo thứ tự này. Chữ ký trước tiên, vì dữ liệu chưa xác thực thì không nên dùng để tra cứu. Sau đó tìm đơn, so số tiền, kiểm tra trạng thái.</a:t>
            </a:r>
          </a:p>
          <a:p>
            <a:endParaRPr lang="vi-VN"/>
          </a:p>
          <a:p>
            <a:r>
              <a:rPr lang="vi-VN" sz="1600" dirty="0"/>
              <a:t>Mã 02 có ý nghĩa với microservice: VNPAY có retry nên cùng một IPN có thể đến nhiều lần. Đơn đã xử lý thì trả 02, VNPAY dừng gọi, và đơn không bị cập nhật lần hai. Đây là xử lý idempotent.</a:t>
            </a:r>
          </a:p>
          <a:p>
            <a:endParaRPr lang="vi-VN"/>
          </a:p>
          <a:p>
            <a:r>
              <a:rPr lang="vi-VN" sz="1600" b="1" dirty="0"/>
              <a:t>Hỏi: VNPAY đã ký rồi, vì sao còn so số tiền?</a:t>
            </a:r>
          </a:p>
          <a:p>
            <a:r>
              <a:rPr lang="vi-VN" sz="1600" dirty="0"/>
              <a:t>Đáp: Chữ ký chỉ chứng minh dữ liệu do VNPAY gửi. So số tiền để chắc giao dịch khớp với đơn trong hệ thống, ví dụ trường hợp link cũ của đơn khác.</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querydr khác hai kênh trước: Payment Service gọi API của VNPAY, server tới server, không qua trình duyệt. Vì không phải chuyển trang nên không cần đưa dữ liệu lên URL, VNPAY dùng POST với body JSON.</a:t>
            </a:r>
          </a:p>
          <a:p>
            <a:endParaRPr lang="vi-VN"/>
          </a:p>
          <a:p>
            <a:r>
              <a:rPr lang="vi-VN" sz="1600" dirty="0"/>
              <a:t>Danh sách trường của querydr cố định, nên chữ ký chỉ cần nối các trường theo thứ tự trong tài liệu bằng dấu gạch đứng, không cần sắp xếp. Do đó không dùng lại buildQueryString được.</a:t>
            </a:r>
          </a:p>
          <a:p>
            <a:endParaRPr lang="vi-VN"/>
          </a:p>
          <a:p>
            <a:r>
              <a:rPr lang="vi-VN" sz="1600" dirty="0"/>
              <a:t>Đây là request thật mình gửi, hỏi lại giao dịch ngày 20/9. VNPAY trả về TransactionStatus 00, giao dịch thành công. Chữ ký trong response tính lại theo tài liệu cũng khớp.</a:t>
            </a:r>
          </a:p>
          <a:p>
            <a:endParaRPr lang="vi-VN"/>
          </a:p>
          <a:p>
            <a:r>
              <a:rPr lang="vi-VN" sz="1600" b="1" dirty="0"/>
              <a:t>Hỏi: ResponseCode và TransactionStatus khác nhau thế nào?</a:t>
            </a:r>
          </a:p>
          <a:p>
            <a:r>
              <a:rPr lang="vi-VN" sz="1600" dirty="0"/>
              <a:t>Đáp: ResponseCode cho biết lần hỏi có thành công không. TransactionStatus cho biết trạng thái tiền: 00 thành công, 01 chưa hoàn tất, 02 lỗi.</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Đây là cấu trúc file PaymentService.java mọi người đã nhận. Mỗi phần ứng với một kênh giao tiếp. Ba hàm chữ ký dùng chung cho kênh 1, 2 và 3. Các slide sau đi qua từng phần và giải thích vì sao viết như vậy.</a:t>
            </a:r>
          </a:p>
          <a:p>
            <a:endParaRPr lang="vi-VN"/>
          </a:p>
          <a:p>
            <a:r>
              <a:rPr lang="vi-VN" sz="1600" dirty="0"/>
              <a:t>Mình viết bằng HttpServer có sẵn trong JDK để file chạy được ngay bằng lệnh java, không cần cài thêm. Logic giống hệt khi viết bằng Spring Boot.</a:t>
            </a:r>
          </a:p>
          <a:p>
            <a:endParaRPr lang="vi-VN"/>
          </a:p>
          <a:p>
            <a:r>
              <a:rPr lang="vi-VN" sz="1600" b="1" dirty="0"/>
              <a:t>Hỏi: Chuyển sang Spring Boot thì đổi những gì?</a:t>
            </a:r>
          </a:p>
          <a:p>
            <a:r>
              <a:rPr lang="vi-VN" sz="1600" dirty="0"/>
              <a:t>Đáp: Ba hàm chữ ký và createPayment, handleIpn giữ nguyên. HttpServer đổi thành RestController, ORDERS đổi thành Repository.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Phần cấu hình. Múi giờ và định dạng thời gian theo yêu cầu VNPAY. Hai key đọc từ biến môi trường thay vì ghi trong code, để HashSecret không bao giờ nằm trong mã nguồn. Trong microservice thật, các secret thường đọc từ Vault hoặc Kubernetes Secret.</a:t>
            </a:r>
          </a:p>
          <a:p>
            <a:endParaRPr lang="vi-VN"/>
          </a:p>
          <a:p>
            <a:r>
              <a:rPr lang="vi-VN" sz="1600" dirty="0"/>
              <a:t>ReturnUrl cũng đọc từ biến môi trường, vì giá trị này thay đổi theo môi trường chạy: localhost khi thử, link ngrok khi cần IPN, domain thật khi triển khai.</a:t>
            </a:r>
          </a:p>
          <a:p>
            <a:endParaRPr lang="vi-VN"/>
          </a:p>
          <a:p>
            <a:r>
              <a:rPr lang="vi-VN" sz="1600" b="1" dirty="0"/>
              <a:t>Hỏi: TmnCode có cần giấu không?</a:t>
            </a:r>
          </a:p>
          <a:p>
            <a:r>
              <a:rPr lang="vi-VN" sz="1600" dirty="0"/>
              <a:t>Đáp: Không, nó nằm trên link thanh toán. HashSecret mới cần giấu, vì có HashSecret là tạo được chữ ký hợp lệ.</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Hàm này tạo chữ ký. Mac là class có sẵn trong Java cho các thuật toán HMAC. Init bằng HashSecret, gọi doFinal trên dữ liệu ra 64 byte, rồi đổi từng byte thành 2 ký tự hex.</a:t>
            </a:r>
          </a:p>
          <a:p>
            <a:endParaRPr lang="vi-VN"/>
          </a:p>
          <a:p>
            <a:r>
              <a:rPr lang="vi-VN" sz="1600" dirty="0"/>
              <a:t>%02x: số 02 đảm bảo byte nhỏ hơn 16 vẫn in đủ 2 ký tự, ví dụ 0f thay vì f. Thiếu số 0 thì chuỗi ngắn hơn 128 ký tự và chữ ký sai.</a:t>
            </a:r>
          </a:p>
          <a:p>
            <a:endParaRPr lang="vi-VN"/>
          </a:p>
          <a:p>
            <a:r>
              <a:rPr lang="vi-VN" sz="1600" b="1" dirty="0"/>
              <a:t>Hỏi: Vì sao kết quả luôn dài 128 ký tự?</a:t>
            </a:r>
          </a:p>
          <a:p>
            <a:r>
              <a:rPr lang="vi-VN" sz="1600" dirty="0"/>
              <a:t>Đáp: SHA-512 cho ra 512 bit, tức 64 byte. Mỗi byte viết thành 2 ký tự hex, nên 64 × 2 = 128.</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Hàm này ghép tham số thành chuỗi. Ba quy tắc sắp xếp, bỏ rỗng, encode là của VNPAY, đã chứng minh ở phần trước.</a:t>
            </a:r>
          </a:p>
          <a:p>
            <a:endParaRPr lang="vi-VN"/>
          </a:p>
          <a:p>
            <a:r>
              <a:rPr lang="vi-VN" sz="1600" dirty="0"/>
              <a:t>Điểm thiết kế: cùng một hàm tạo ra chuỗi để ký và chuỗi gắn lên URL. Nếu viết hai hàm riêng thì dễ lệch nhau một chi tiết nhỏ và chữ ký sai. Hàm này cũng được dùng lại khi kiểm tra chữ ký IPN.</a:t>
            </a:r>
          </a:p>
          <a:p>
            <a:endParaRPr lang="vi-VN"/>
          </a:p>
          <a:p>
            <a:r>
              <a:rPr lang="vi-VN" sz="1600" b="1" dirty="0"/>
              <a:t>Hỏi: Vì sao encode bằng US_ASCII mà không phải UTF-8?</a:t>
            </a:r>
          </a:p>
          <a:p>
            <a:r>
              <a:rPr lang="vi-VN" sz="1600" dirty="0"/>
              <a:t>Đáp: Tham số đã yêu cầu không dấu, nên mọi ký tự đều nằm trong bảng ASCII. Code mẫu Java của VNPAY cũng dùng US_ASCII.</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Đây là chiều ngược lại: kiểm tra dữ liệu VNPAY gửi về ở IPN và ReturnURL. VNPAY ký trên các tham số trước khi thêm chữ ký vào, nên phải bỏ vnp_SecureHash ra rồi ký lại phần còn lại, so với chữ ký nhận được.</a:t>
            </a:r>
          </a:p>
          <a:p>
            <a:endParaRPr lang="vi-VN"/>
          </a:p>
          <a:p>
            <a:r>
              <a:rPr lang="vi-VN" sz="1600" dirty="0"/>
              <a:t>Hàm này dùng lại buildQueryString và hmacSHA512, nên quy tắc ký ở hai chiều luôn giống nhau.</a:t>
            </a:r>
          </a:p>
          <a:p>
            <a:endParaRPr lang="vi-VN"/>
          </a:p>
          <a:p>
            <a:r>
              <a:rPr lang="vi-VN" sz="1600" b="1" dirty="0"/>
              <a:t>Hỏi: vnp_SecureHashType là gì?</a:t>
            </a:r>
          </a:p>
          <a:p>
            <a:r>
              <a:rPr lang="vi-VN" sz="1600" dirty="0"/>
              <a:t>Đáp: Trường cũ ghi loại thuật toán. VNPAY không tính nó vào chữ ký, nên bỏ ra cùng vnp_SecureHash.</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Phần đầu createPayment. Danh sách tham số đã giải thích ở phần trước, ở đây mình nói các quyết định trong code.</a:t>
            </a:r>
          </a:p>
          <a:p>
            <a:endParaRPr lang="vi-VN"/>
          </a:p>
          <a:p>
            <a:r>
              <a:rPr lang="vi-VN" sz="1600" dirty="0"/>
              <a:t>Mã đơn ghép thời điểm tạo với 6 số ngẫu nhiên, vừa không trùng trong ngày, vừa nhìn vào biết đơn tạo lúc nào. Đơn được lưu với trạng thái PENDING trước khi tạo link: nếu làm ngược lại, IPN có thể về khi đơn chưa được lưu và Payment Service trả 01.</a:t>
            </a:r>
          </a:p>
          <a:p>
            <a:endParaRPr lang="vi-VN"/>
          </a:p>
          <a:p>
            <a:r>
              <a:rPr lang="vi-VN" sz="1600" dirty="0"/>
              <a:t>Số tiền dùng kiểu long vì nhân 100 thì số tiền lớn có thể vượt giới hạn của int.</a:t>
            </a:r>
          </a:p>
          <a:p>
            <a:endParaRPr lang="vi-VN"/>
          </a:p>
          <a:p>
            <a:r>
              <a:rPr lang="vi-VN" sz="1600" b="1" dirty="0"/>
              <a:t>Hỏi: Vì sao demo để IpAddr là 127.0.0.1?</a:t>
            </a:r>
          </a:p>
          <a:p>
            <a:r>
              <a:rPr lang="vi-VN" sz="1600" dirty="0"/>
              <a:t>Đáp: Để code gọn. Hệ thống thật lấy IP của khách từ request, qua API Gateway thì đọc header X-Forwarded-For.</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Phần cuối createPayment: ghép query, ký đúng chuỗi đó, gắn chữ ký vào cuối link.</a:t>
            </a:r>
          </a:p>
          <a:p>
            <a:endParaRPr lang="vi-VN"/>
          </a:p>
          <a:p>
            <a:r>
              <a:rPr lang="vi-VN" sz="1600" dirty="0"/>
              <a:t>Kết quả trả về là JSON gồm txnRef và paymentUrl. Định dạng này do mình đặt, là hợp đồng giữa web và Payment Service. Web dùng txnRef để hỏi trạng thái đơn sau này, dùng paymentUrl để chuyển trang. Việc ký nằm hoàn toàn ở server.</a:t>
            </a:r>
          </a:p>
          <a:p>
            <a:endParaRPr lang="vi-VN"/>
          </a:p>
          <a:p>
            <a:r>
              <a:rPr lang="vi-VN" sz="1600" b="1" dirty="0"/>
              <a:t>Hỏi: Vì sao không để web tự ký bằng JavaScript?</a:t>
            </a:r>
          </a:p>
          <a:p>
            <a:r>
              <a:rPr lang="vi-VN" sz="1600" dirty="0"/>
              <a:t>Đáp: HashSecret nằm trong JavaScript thì ai mở mã nguồn trang cũng đọc được, và tự tạo được link với số tiền tuỳ ý.</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Thứ tự kiểm tra đã nói ở phần IPN. Ở đây có hai quyết định của mình.</a:t>
            </a:r>
          </a:p>
          <a:p>
            <a:endParaRPr lang="vi-VN"/>
          </a:p>
          <a:p>
            <a:r>
              <a:rPr lang="vi-VN" sz="1600" dirty="0"/>
              <a:t>Thứ nhất là synchronized trên đơn hàng. VNPAY có thể gọi IPN lại trong khi lần trước chưa xử lý xong. Khoá trên đơn đảm bảo chỉ một luồng kiểm tra và cập nhật tại một thời điểm. Trong microservice có database, phần này thay bằng transaction hoặc optimistic lock.</a:t>
            </a:r>
          </a:p>
          <a:p>
            <a:endParaRPr lang="vi-VN"/>
          </a:p>
          <a:p>
            <a:r>
              <a:rPr lang="vi-VN" sz="1600" dirty="0"/>
              <a:t>Thứ hai là ghi log khi cập nhật. Trong hệ thống thật, chỗ này phát event OrderPaid để Order, Inventory, Notification xử lý tiếp.</a:t>
            </a:r>
          </a:p>
          <a:p>
            <a:endParaRPr lang="vi-VN"/>
          </a:p>
          <a:p>
            <a:r>
              <a:rPr lang="vi-VN" sz="1600" b="1" dirty="0"/>
              <a:t>Hỏi: Vì sao phải kiểm tra cả ResponseCode và TransactionStatus?</a:t>
            </a:r>
          </a:p>
          <a:p>
            <a:r>
              <a:rPr lang="vi-VN" sz="1600" dirty="0"/>
              <a:t>Đáp: Theo tài liệu VNPAY, giao dịch thành công khi cả hai đều là 00. Một trường là kết quả phản hồi, một trường là trạng thái giao dịch.</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ReturnURL chỉ kiểm tra chữ ký rồi chuyển trình duyệt về trang kết quả. Trang kết quả gọi /api/orders để lấy trạng thái thật từ Payment Service, không tin các tham số trên URL.</a:t>
            </a:r>
          </a:p>
          <a:p>
            <a:endParaRPr lang="vi-VN"/>
          </a:p>
          <a:p>
            <a:r>
              <a:rPr lang="vi-VN" sz="1600" dirty="0"/>
              <a:t>/api/orders còn gọi reconcile: nếu đơn còn PENDING thì hỏi VNPAY bằng querydr. Chỉ khi VNPAY trả trạng thái cuối, 00 là thành công hoặc 02 là lỗi, thì mới cập nhật đơn. Trạng thái 01 là chưa hoàn tất, đơn giữ PENDING để hỏi lại sau.</a:t>
            </a:r>
          </a:p>
          <a:p>
            <a:endParaRPr lang="vi-VN"/>
          </a:p>
          <a:p>
            <a:r>
              <a:rPr lang="vi-VN" sz="1600" b="1" dirty="0"/>
              <a:t>Hỏi: Vì sao querydr không chạy định kỳ trong demo?</a:t>
            </a:r>
          </a:p>
          <a:p>
            <a:r>
              <a:rPr lang="vi-VN" sz="1600" dirty="0"/>
              <a:t>Đáp: Để demo gọn. Hệ thống thật nên có job định kỳ quét các đơn PENDING lâu và gọi querydr.</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IPN là VNPAY gọi vào Payment Service, nên Payment Service phải có địa chỉ mà internet gọi được, và tài liệu yêu cầu HTTPS. Máy cá nhân chạy localhost thì VNPAY không gọi tới được.</a:t>
            </a:r>
          </a:p>
          <a:p>
            <a:endParaRPr lang="vi-VN"/>
          </a:p>
          <a:p>
            <a:r>
              <a:rPr lang="vi-VN" sz="1600" dirty="0"/>
              <a:t>Khi chạy thử, mình dùng ngrok: ngrok cấp một link HTTPS public và chuyển request về máy mình. Trong hệ thống microservice thật, vai trò này là của API Gateway hoặc Ingress.</a:t>
            </a:r>
          </a:p>
          <a:p>
            <a:endParaRPr lang="vi-VN"/>
          </a:p>
          <a:p>
            <a:r>
              <a:rPr lang="vi-VN" sz="1600" b="1" dirty="0"/>
              <a:t>Hỏi: Có cách nào khác ngoài ngrok?</a:t>
            </a:r>
          </a:p>
          <a:p>
            <a:r>
              <a:rPr lang="vi-VN" sz="1600" dirty="0"/>
              <a:t>Đáp: Cloudflare Tunnel, hoặc deploy Payment Service lên server có IP public.</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Mình chạy demo bằng đúng file mọi người đã nhận. Terminal 1 chạy ngrok, terminal 2 đặt biến môi trường rồi chạy PaymentService.java. Trên trang quản lý VNPAY đã khai URL IPN là link ngrok.</a:t>
            </a:r>
          </a:p>
          <a:p>
            <a:endParaRPr lang="vi-VN"/>
          </a:p>
          <a:p>
            <a:r>
              <a:rPr lang="vi-VN" sz="1600" dirty="0"/>
              <a:t>Khi thanh toán, mọi người để ý từng kênh: trình duyệt chuyển sang VNPAY là kênh 1, dòng IPN trong log là kênh 3, trang kết quả là kênh 2. Trang 127.0.0.1:4040 của ngrok cho thấy request IPN thật: phương thức GET, tham số trên query string.</a:t>
            </a:r>
          </a:p>
          <a:p>
            <a:endParaRPr lang="vi-VN"/>
          </a:p>
          <a:p>
            <a:r>
              <a:rPr lang="vi-VN" sz="1600" b="1" dirty="0"/>
              <a:t>Làm</a:t>
            </a:r>
          </a:p>
          <a:p>
            <a:r>
              <a:rPr lang="vi-VN" sz="1600" dirty="0"/>
              <a:t>Chạy demo trên máy mình, mở 127.0.0.1:4040 cho lớp xem request IPN.</a:t>
            </a:r>
          </a:p>
          <a:p>
            <a:endParaRPr lang="vi-VN"/>
          </a:p>
          <a:p>
            <a:r>
              <a:rPr lang="vi-VN" sz="1600" b="1" dirty="0"/>
              <a:t>Hỏi: Trên Windows đặt biến môi trường thế nào?</a:t>
            </a:r>
          </a:p>
          <a:p>
            <a:r>
              <a:rPr lang="vi-VN" sz="1600" dirty="0"/>
              <a:t>Đáp: Trong PowerShell dùng $env:VNPAY_TMN_CODE="..." cho từng biến. Hướng dẫn chi tiết có trong file HUONG-DAN.md.</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Nhìn lại toàn bài theo microservice. Payment Service là điểm duy nhất giao tiếp với dịch vụ bên ngoài. IPN là webhook. VNPAY retry kết hợp với mã 02 là retry và idempotency. Đơn đi từ PENDING sang PAID sau một khoảng thời gian là eventual consistency. querydr là reconciliation. HMAC là xác thực thông điệp giữa hai hệ thống.</a:t>
            </a:r>
          </a:p>
          <a:p>
            <a:endParaRPr lang="vi-VN"/>
          </a:p>
          <a:p>
            <a:r>
              <a:rPr lang="vi-VN" sz="1600" dirty="0"/>
              <a:t>Các pattern này áp dụng cho các dịch vụ bên ngoài khác như MoMo, Stripe, không riêng VNPAY.</a:t>
            </a:r>
          </a:p>
          <a:p>
            <a:endParaRPr lang="vi-VN"/>
          </a:p>
          <a:p>
            <a:r>
              <a:rPr lang="vi-VN" sz="1600" b="1" dirty="0"/>
              <a:t>Hỏi: Vì sao VNPAY không trả kết quả ngay trong một request?</a:t>
            </a:r>
          </a:p>
          <a:p>
            <a:r>
              <a:rPr lang="vi-VN" sz="1600" dirty="0"/>
              <a:t>Đáp: Khách cần vài phút để nhập thẻ và OTP. Giữ một request mở trong thời gian đó không khả thi, nên kết quả được gửi sau qua IPN.</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Demo gói trong một file nên có các chỗ đơn giản hoá. Bảng này liệt kê những chỗ cần thay khi đưa vào hệ thống thật. Phần giao tiếp với VNPAY, tức chữ ký, tham số và xử lý IPN, giữ nguyên. Chỉ phần do mình chọn thay đổi.</a:t>
            </a:r>
          </a:p>
          <a:p>
            <a:endParaRPr lang="vi-VN"/>
          </a:p>
          <a:p>
            <a:r>
              <a:rPr lang="vi-VN" sz="1600" dirty="0"/>
              <a:t>Hàm reconcile trong file chưa kiểm tra chữ ký trong response querydr. Mình đã kiểm tra bằng script riêng và khớp, nhưng hệ thống thật nên làm trong service.</a:t>
            </a:r>
          </a:p>
          <a:p>
            <a:endParaRPr lang="vi-VN"/>
          </a:p>
          <a:p>
            <a:r>
              <a:rPr lang="vi-VN" sz="1600" b="1" dirty="0"/>
              <a:t>Hỏi: Vì sao event OrderPaid nên dùng outbox?</a:t>
            </a:r>
          </a:p>
          <a:p>
            <a:r>
              <a:rPr lang="vi-VN" sz="1600" dirty="0"/>
              <a:t>Đáp: Để việc cập nhật database và việc gửi event không bị lệch nhau. Event được ghi vào bảng outbox trong cùng transaction, sau đó một tiến trình riêng đẩy lên message broker.</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Tóm tắt lại sáu ý. Phần giao tiếp với VNPAY làm đúng theo tài liệu của VNPAY. Phần bên trong Payment Service thiết kế theo hệ thống của mình.</a:t>
            </a:r>
          </a:p>
          <a:p>
            <a:endParaRPr lang="vi-VN"/>
          </a:p>
          <a:p>
            <a:r>
              <a:rPr lang="vi-VN" sz="1600" b="1" dirty="0"/>
              <a:t>Hỏi: Muốn tích hợp thêm MoMo hoặc ZaloPay thì sao?</a:t>
            </a:r>
          </a:p>
          <a:p>
            <a:r>
              <a:rPr lang="vi-VN" sz="1600" dirty="0"/>
              <a:t>Đáp: Mỗi cổng có hợp đồng và cách ký riêng. Có thể tạo interface PaymentGateway, mỗi cổng một class triển khai, phần còn lại của Payment Service giữ nguyên.</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sz="1600" b="1" dirty="0"/>
              <a:t>Nói</a:t>
            </a:r>
          </a:p>
          <a:p>
            <a:r>
              <a:rPr lang="vi-VN" sz="1600" dirty="0"/>
              <a:t>Phần trình bày của mình đến đây là hết. Mọi người có câu hỏi thì hỏi nhé.</a:t>
            </a:r>
          </a:p>
          <a:p>
            <a:endParaRPr lang="vi-VN"/>
          </a:p>
          <a:p>
            <a:r>
              <a:rPr lang="vi-VN" sz="1600" b="1" dirty="0"/>
              <a:t>Hỏi: Chạy thật (production) cần đổi gì?</a:t>
            </a:r>
          </a:p>
          <a:p>
            <a:r>
              <a:rPr lang="vi-VN" sz="1600" dirty="0"/>
              <a:t>Đáp: Đổi PAY_URL và API_URL sang địa chỉ production, dùng TmnCode và HashSecret do VNPAY cấp sau khi ký hợp đồng. Code giữ nguyên.</a:t>
            </a:r>
          </a:p>
          <a:p>
            <a:endParaRPr lang="vi-VN"/>
          </a:p>
          <a:p>
            <a:r>
              <a:rPr lang="vi-VN" sz="1600" b="1" dirty="0"/>
              <a:t>Hỏi: Hoàn tiền thì làm thế nào?</a:t>
            </a:r>
          </a:p>
          <a:p>
            <a:r>
              <a:rPr lang="vi-VN" sz="1600" dirty="0"/>
              <a:t>Đáp: Dùng API refund, cùng địa chỉ với querydr, cũng gửi POST JSON và ký bằng cách nối các trường với dấu gạch đứng.</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2123054"/>
            <a:ext cx="9810506" cy="1629095"/>
          </a:xfrm>
          <a:prstGeom prst="rect">
            <a:avLst/>
          </a:prstGeom>
          <a:noFill/>
          <a:ln/>
        </p:spPr>
        <p:txBody>
          <a:bodyPr wrap="square" lIns="0" tIns="0" rIns="0" bIns="0" rtlCol="0" anchor="t"/>
          <a:lstStyle/>
          <a:p>
            <a:pPr algn="l" indent="0" marL="0">
              <a:lnSpc>
                <a:spcPts val="5150"/>
              </a:lnSpc>
              <a:buNone/>
            </a:pPr>
            <a:r>
              <a:rPr lang="en-US" sz="4600" b="1" dirty="0">
                <a:solidFill>
                  <a:srgbClr val="111111"/>
                </a:solidFill>
                <a:latin typeface="Arial" pitchFamily="34" charset="0"/>
                <a:ea typeface="Arial" pitchFamily="34" charset="-122"/>
                <a:cs typeface="Arial" pitchFamily="34" charset="-120"/>
              </a:rPr>
              <a:t>Tích hợp VNPAY vào hệ thống microservice</a:t>
            </a:r>
            <a:endParaRPr lang="en-US" sz="4600" dirty="0"/>
          </a:p>
        </p:txBody>
      </p:sp>
      <p:sp>
        <p:nvSpPr>
          <p:cNvPr id="3" name="Text 1"/>
          <p:cNvSpPr txBox="1"/>
          <p:nvPr/>
        </p:nvSpPr>
        <p:spPr>
          <a:xfrm>
            <a:off x="660380" y="3627242"/>
            <a:ext cx="8169341" cy="285750"/>
          </a:xfrm>
          <a:prstGeom prst="rect">
            <a:avLst/>
          </a:prstGeom>
          <a:noFill/>
          <a:ln/>
        </p:spPr>
        <p:txBody>
          <a:bodyPr wrap="square" lIns="0" tIns="0" rIns="0" bIns="0" rtlCol="0" anchor="ctr"/>
          <a:lstStyle/>
          <a:p>
            <a:pPr algn="l" indent="0" marL="0">
              <a:buNone/>
            </a:pPr>
            <a:r>
              <a:rPr lang="en-US" sz="1500" dirty="0">
                <a:solidFill>
                  <a:srgbClr val="3F454D"/>
                </a:solidFill>
                <a:latin typeface="Arial" pitchFamily="34" charset="0"/>
                <a:ea typeface="Arial" pitchFamily="34" charset="-122"/>
                <a:cs typeface="Arial" pitchFamily="34" charset="-120"/>
              </a:rPr>
              <a:t>Payment Service gửi gì sang VNPAY, gửi dưới dạng nào, và vì sao code được viết như vậy</a:t>
            </a:r>
            <a:endParaRPr lang="en-US" sz="1500" dirty="0"/>
          </a:p>
        </p:txBody>
      </p:sp>
      <p:sp>
        <p:nvSpPr>
          <p:cNvPr id="4" name="Text 2"/>
          <p:cNvSpPr txBox="1"/>
          <p:nvPr/>
        </p:nvSpPr>
        <p:spPr>
          <a:xfrm>
            <a:off x="660380" y="4308196"/>
            <a:ext cx="2082272" cy="247620"/>
          </a:xfrm>
          <a:prstGeom prst="rect">
            <a:avLst/>
          </a:prstGeom>
          <a:noFill/>
          <a:ln/>
        </p:spPr>
        <p:txBody>
          <a:bodyPr wrap="square" lIns="0" tIns="0" rIns="0" bIns="0" rtlCol="0" anchor="ctr"/>
          <a:lstStyle/>
          <a:p>
            <a:pPr algn="l" indent="0" marL="0">
              <a:buNone/>
            </a:pPr>
            <a:r>
              <a:rPr lang="en-US" sz="1300" dirty="0">
                <a:solidFill>
                  <a:srgbClr val="6B7280"/>
                </a:solidFill>
                <a:latin typeface="Arial" pitchFamily="34" charset="0"/>
                <a:ea typeface="Arial" pitchFamily="34" charset="-122"/>
                <a:cs typeface="Arial" pitchFamily="34" charset="-120"/>
              </a:rPr>
              <a:t>Lê Minh Đăng – 520K0108</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734263"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Giới thiệu</a:t>
            </a:r>
            <a:endParaRPr lang="en-US" sz="1100" dirty="0"/>
          </a:p>
        </p:txBody>
      </p:sp>
      <p:sp>
        <p:nvSpPr>
          <p:cNvPr id="3" name="Text 1"/>
          <p:cNvSpPr txBox="1"/>
          <p:nvPr/>
        </p:nvSpPr>
        <p:spPr>
          <a:xfrm>
            <a:off x="660380" y="643829"/>
            <a:ext cx="4026103"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Nội dung buổi chia sẻ</a:t>
            </a:r>
            <a:endParaRPr lang="en-US" sz="3000" dirty="0"/>
          </a:p>
        </p:txBody>
      </p:sp>
      <p:sp>
        <p:nvSpPr>
          <p:cNvPr id="4" name="Text 2"/>
          <p:cNvSpPr txBox="1"/>
          <p:nvPr/>
        </p:nvSpPr>
        <p:spPr>
          <a:xfrm>
            <a:off x="660380" y="1336670"/>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1.</a:t>
            </a:r>
            <a:endParaRPr lang="en-US" sz="1400" dirty="0"/>
          </a:p>
        </p:txBody>
      </p:sp>
      <p:sp>
        <p:nvSpPr>
          <p:cNvPr id="5" name="Text 3"/>
          <p:cNvSpPr txBox="1"/>
          <p:nvPr/>
        </p:nvSpPr>
        <p:spPr>
          <a:xfrm>
            <a:off x="965149" y="1368400"/>
            <a:ext cx="4764207"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Payment Service nằm ở đâu trong hệ thống microservice</a:t>
            </a:r>
            <a:endParaRPr lang="en-US" sz="1400" dirty="0"/>
          </a:p>
        </p:txBody>
      </p:sp>
      <p:sp>
        <p:nvSpPr>
          <p:cNvPr id="6" name="Text 4"/>
          <p:cNvSpPr txBox="1"/>
          <p:nvPr/>
        </p:nvSpPr>
        <p:spPr>
          <a:xfrm>
            <a:off x="660380" y="1692280"/>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2.</a:t>
            </a:r>
            <a:endParaRPr lang="en-US" sz="1400" dirty="0"/>
          </a:p>
        </p:txBody>
      </p:sp>
      <p:sp>
        <p:nvSpPr>
          <p:cNvPr id="7" name="Text 5"/>
          <p:cNvSpPr txBox="1"/>
          <p:nvPr/>
        </p:nvSpPr>
        <p:spPr>
          <a:xfrm>
            <a:off x="965149" y="1724010"/>
            <a:ext cx="4382902"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Bốn kênh giao tiếp giữa Payment Service và VNPAY</a:t>
            </a:r>
            <a:endParaRPr lang="en-US" sz="1400" dirty="0"/>
          </a:p>
        </p:txBody>
      </p:sp>
      <p:sp>
        <p:nvSpPr>
          <p:cNvPr id="8" name="Text 6"/>
          <p:cNvSpPr txBox="1"/>
          <p:nvPr/>
        </p:nvSpPr>
        <p:spPr>
          <a:xfrm>
            <a:off x="660380" y="2047890"/>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3.</a:t>
            </a:r>
            <a:endParaRPr lang="en-US" sz="1400" dirty="0"/>
          </a:p>
        </p:txBody>
      </p:sp>
      <p:sp>
        <p:nvSpPr>
          <p:cNvPr id="9" name="Text 7"/>
          <p:cNvSpPr txBox="1"/>
          <p:nvPr/>
        </p:nvSpPr>
        <p:spPr>
          <a:xfrm>
            <a:off x="965149" y="2079620"/>
            <a:ext cx="4085905"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Các tham số bắt buộc khi tạo thanh toán và lý do</a:t>
            </a:r>
            <a:endParaRPr lang="en-US" sz="1400" dirty="0"/>
          </a:p>
        </p:txBody>
      </p:sp>
      <p:sp>
        <p:nvSpPr>
          <p:cNvPr id="10" name="Text 8"/>
          <p:cNvSpPr txBox="1"/>
          <p:nvPr/>
        </p:nvSpPr>
        <p:spPr>
          <a:xfrm>
            <a:off x="660380" y="2403500"/>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4.</a:t>
            </a:r>
            <a:endParaRPr lang="en-US" sz="1400" dirty="0"/>
          </a:p>
        </p:txBody>
      </p:sp>
      <p:sp>
        <p:nvSpPr>
          <p:cNvPr id="11" name="Text 9"/>
          <p:cNvSpPr txBox="1"/>
          <p:nvPr/>
        </p:nvSpPr>
        <p:spPr>
          <a:xfrm>
            <a:off x="965149" y="2435230"/>
            <a:ext cx="3266237"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Dữ liệu được gửi dưới dạng gì và lý do</a:t>
            </a:r>
            <a:endParaRPr lang="en-US" sz="1400" dirty="0"/>
          </a:p>
        </p:txBody>
      </p:sp>
      <p:sp>
        <p:nvSpPr>
          <p:cNvPr id="12" name="Text 10"/>
          <p:cNvSpPr txBox="1"/>
          <p:nvPr/>
        </p:nvSpPr>
        <p:spPr>
          <a:xfrm>
            <a:off x="660380" y="2759019"/>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5.</a:t>
            </a:r>
            <a:endParaRPr lang="en-US" sz="1400" dirty="0"/>
          </a:p>
        </p:txBody>
      </p:sp>
      <p:sp>
        <p:nvSpPr>
          <p:cNvPr id="13" name="Text 11"/>
          <p:cNvSpPr txBox="1"/>
          <p:nvPr/>
        </p:nvSpPr>
        <p:spPr>
          <a:xfrm>
            <a:off x="965149" y="2790840"/>
            <a:ext cx="3594689"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Code xử lý từng kênh và lý do viết như vậy</a:t>
            </a:r>
            <a:endParaRPr lang="en-US" sz="1400" dirty="0"/>
          </a:p>
        </p:txBody>
      </p:sp>
      <p:sp>
        <p:nvSpPr>
          <p:cNvPr id="14" name="Text 12"/>
          <p:cNvSpPr txBox="1"/>
          <p:nvPr/>
        </p:nvSpPr>
        <p:spPr>
          <a:xfrm>
            <a:off x="660380" y="3114629"/>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6.</a:t>
            </a:r>
            <a:endParaRPr lang="en-US" sz="1400" dirty="0"/>
          </a:p>
        </p:txBody>
      </p:sp>
      <p:sp>
        <p:nvSpPr>
          <p:cNvPr id="15" name="Text 13"/>
          <p:cNvSpPr txBox="1"/>
          <p:nvPr/>
        </p:nvSpPr>
        <p:spPr>
          <a:xfrm>
            <a:off x="965149" y="3146359"/>
            <a:ext cx="3896624"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Chạy demo, các pattern microservice trong bài</a:t>
            </a:r>
            <a:endParaRPr lang="en-US" sz="1400" dirty="0"/>
          </a:p>
        </p:txBody>
      </p:sp>
      <p:sp>
        <p:nvSpPr>
          <p:cNvPr id="16" name="Shape 14"/>
          <p:cNvSpPr/>
          <p:nvPr/>
        </p:nvSpPr>
        <p:spPr>
          <a:xfrm>
            <a:off x="660380" y="3569818"/>
            <a:ext cx="10870936" cy="793699"/>
          </a:xfrm>
          <a:prstGeom prst="roundRect">
            <a:avLst>
              <a:gd name="adj" fmla="val 11198"/>
            </a:avLst>
          </a:prstGeom>
          <a:solidFill>
            <a:srgbClr val="FFFFFF"/>
          </a:solidFill>
          <a:ln w="6350">
            <a:solidFill>
              <a:srgbClr val="E3E6EA"/>
            </a:solidFill>
            <a:prstDash val="solid"/>
          </a:ln>
        </p:spPr>
      </p:sp>
      <p:sp>
        <p:nvSpPr>
          <p:cNvPr id="17" name="Text 15"/>
          <p:cNvSpPr txBox="1"/>
          <p:nvPr/>
        </p:nvSpPr>
        <p:spPr>
          <a:xfrm>
            <a:off x="831830" y="3732124"/>
            <a:ext cx="2988351" cy="228600"/>
          </a:xfrm>
          <a:prstGeom prst="rect">
            <a:avLst/>
          </a:prstGeom>
          <a:noFill/>
          <a:ln/>
        </p:spPr>
        <p:txBody>
          <a:bodyPr wrap="square" lIns="0" tIns="0" rIns="0" bIns="0" rtlCol="0" anchor="ctr"/>
          <a:lstStyle/>
          <a:p>
            <a:pPr algn="l" indent="0" marL="0">
              <a:buNone/>
            </a:pPr>
            <a:r>
              <a:rPr lang="en-US" sz="1200" b="1" dirty="0">
                <a:solidFill>
                  <a:srgbClr val="0066FF"/>
                </a:solidFill>
                <a:latin typeface="Arial" pitchFamily="34" charset="0"/>
                <a:ea typeface="Arial" pitchFamily="34" charset="-122"/>
                <a:cs typeface="Arial" pitchFamily="34" charset="-120"/>
              </a:rPr>
              <a:t>Mỗi ý trong bài gắn một trong hai nhãn</a:t>
            </a:r>
            <a:endParaRPr lang="en-US" sz="1200" dirty="0"/>
          </a:p>
        </p:txBody>
      </p:sp>
      <p:sp>
        <p:nvSpPr>
          <p:cNvPr id="18" name="Shape 16"/>
          <p:cNvSpPr/>
          <p:nvPr/>
        </p:nvSpPr>
        <p:spPr>
          <a:xfrm>
            <a:off x="831830" y="4007907"/>
            <a:ext cx="982614" cy="209580"/>
          </a:xfrm>
          <a:prstGeom prst="roundRect">
            <a:avLst>
              <a:gd name="adj" fmla="val 50000"/>
            </a:avLst>
          </a:prstGeom>
          <a:solidFill>
            <a:srgbClr val="FDE8E6"/>
          </a:solidFill>
          <a:ln/>
        </p:spPr>
      </p:sp>
      <p:sp>
        <p:nvSpPr>
          <p:cNvPr id="19" name="Text 17"/>
          <p:cNvSpPr txBox="1"/>
          <p:nvPr/>
        </p:nvSpPr>
        <p:spPr>
          <a:xfrm>
            <a:off x="907999" y="4039179"/>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20" name="Text 18"/>
          <p:cNvSpPr txBox="1"/>
          <p:nvPr/>
        </p:nvSpPr>
        <p:spPr>
          <a:xfrm>
            <a:off x="1877995" y="4024914"/>
            <a:ext cx="1810969" cy="20958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làm khác thì VNPAY từ chối</a:t>
            </a:r>
            <a:endParaRPr lang="en-US" sz="1100" dirty="0"/>
          </a:p>
        </p:txBody>
      </p:sp>
      <p:sp>
        <p:nvSpPr>
          <p:cNvPr id="21" name="Shape 19"/>
          <p:cNvSpPr/>
          <p:nvPr/>
        </p:nvSpPr>
        <p:spPr>
          <a:xfrm>
            <a:off x="3764310" y="4007907"/>
            <a:ext cx="723748" cy="209580"/>
          </a:xfrm>
          <a:prstGeom prst="roundRect">
            <a:avLst>
              <a:gd name="adj" fmla="val 50000"/>
            </a:avLst>
          </a:prstGeom>
          <a:solidFill>
            <a:srgbClr val="DEF3E8"/>
          </a:solidFill>
          <a:ln/>
        </p:spPr>
      </p:sp>
      <p:sp>
        <p:nvSpPr>
          <p:cNvPr id="22" name="Text 20"/>
          <p:cNvSpPr txBox="1"/>
          <p:nvPr/>
        </p:nvSpPr>
        <p:spPr>
          <a:xfrm>
            <a:off x="3840480" y="4039179"/>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23" name="Text 21"/>
          <p:cNvSpPr txBox="1"/>
          <p:nvPr/>
        </p:nvSpPr>
        <p:spPr>
          <a:xfrm>
            <a:off x="4551517" y="4024914"/>
            <a:ext cx="2321113" cy="20958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cách mình thiết kế, có thể làm khác</a:t>
            </a:r>
            <a:endParaRPr lang="en-US" sz="1100" dirty="0"/>
          </a:p>
        </p:txBody>
      </p:sp>
      <p:sp>
        <p:nvSpPr>
          <p:cNvPr id="24" name="Text 22"/>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25" name="Text 23"/>
          <p:cNvSpPr txBox="1"/>
          <p:nvPr/>
        </p:nvSpPr>
        <p:spPr>
          <a:xfrm>
            <a:off x="11464107" y="6472763"/>
            <a:ext cx="143378"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681685"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Kiến trúc</a:t>
            </a:r>
            <a:endParaRPr lang="en-US" sz="1100" dirty="0"/>
          </a:p>
        </p:txBody>
      </p:sp>
      <p:sp>
        <p:nvSpPr>
          <p:cNvPr id="3" name="Text 1"/>
          <p:cNvSpPr txBox="1"/>
          <p:nvPr/>
        </p:nvSpPr>
        <p:spPr>
          <a:xfrm>
            <a:off x="660380" y="643829"/>
            <a:ext cx="8450702"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Payment Service trong hệ thống microservice</a:t>
            </a:r>
            <a:endParaRPr lang="en-US" sz="3000" dirty="0"/>
          </a:p>
        </p:txBody>
      </p:sp>
      <p:sp>
        <p:nvSpPr>
          <p:cNvPr id="4" name="Shape 2"/>
          <p:cNvSpPr/>
          <p:nvPr/>
        </p:nvSpPr>
        <p:spPr>
          <a:xfrm>
            <a:off x="660380" y="2290298"/>
            <a:ext cx="1509217" cy="733440"/>
          </a:xfrm>
          <a:prstGeom prst="roundRect">
            <a:avLst>
              <a:gd name="adj" fmla="val 12118"/>
            </a:avLst>
          </a:prstGeom>
          <a:solidFill>
            <a:srgbClr val="FFFFFF"/>
          </a:solidFill>
          <a:ln w="12700">
            <a:solidFill>
              <a:srgbClr val="E3E6EA"/>
            </a:solidFill>
            <a:prstDash val="solid"/>
          </a:ln>
        </p:spPr>
      </p:sp>
      <p:sp>
        <p:nvSpPr>
          <p:cNvPr id="5" name="Text 3"/>
          <p:cNvSpPr txBox="1"/>
          <p:nvPr/>
        </p:nvSpPr>
        <p:spPr>
          <a:xfrm>
            <a:off x="977859" y="2445471"/>
            <a:ext cx="874166" cy="247620"/>
          </a:xfrm>
          <a:prstGeom prst="rect">
            <a:avLst/>
          </a:prstGeom>
          <a:noFill/>
          <a:ln/>
        </p:spPr>
        <p:txBody>
          <a:bodyPr wrap="square" lIns="0" tIns="0" rIns="0" bIns="0" rtlCol="0" anchor="ctr"/>
          <a:lstStyle/>
          <a:p>
            <a:pPr algn="ctr" indent="0" marL="0">
              <a:buNone/>
            </a:pPr>
            <a:r>
              <a:rPr lang="en-US" sz="1300" b="1" dirty="0">
                <a:solidFill>
                  <a:srgbClr val="111111"/>
                </a:solidFill>
                <a:latin typeface="Arial" pitchFamily="34" charset="0"/>
                <a:ea typeface="Arial" pitchFamily="34" charset="-122"/>
                <a:cs typeface="Arial" pitchFamily="34" charset="-120"/>
              </a:rPr>
              <a:t>Web / App</a:t>
            </a:r>
            <a:endParaRPr lang="en-US" sz="1300" dirty="0"/>
          </a:p>
        </p:txBody>
      </p:sp>
      <p:sp>
        <p:nvSpPr>
          <p:cNvPr id="6" name="Text 4"/>
          <p:cNvSpPr txBox="1"/>
          <p:nvPr/>
        </p:nvSpPr>
        <p:spPr>
          <a:xfrm>
            <a:off x="800100" y="2714854"/>
            <a:ext cx="1229777" cy="180960"/>
          </a:xfrm>
          <a:prstGeom prst="rect">
            <a:avLst/>
          </a:prstGeom>
          <a:noFill/>
          <a:ln/>
        </p:spPr>
        <p:txBody>
          <a:bodyPr wrap="square" lIns="0" tIns="0" rIns="0" bIns="0" rtlCol="0" anchor="ctr"/>
          <a:lstStyle/>
          <a:p>
            <a:pPr algn="ctr" indent="0" marL="0">
              <a:buNone/>
            </a:pPr>
            <a:r>
              <a:rPr lang="en-US" sz="950" dirty="0">
                <a:solidFill>
                  <a:srgbClr val="6B7280"/>
                </a:solidFill>
                <a:latin typeface="Arial" pitchFamily="34" charset="0"/>
                <a:ea typeface="Arial" pitchFamily="34" charset="-122"/>
                <a:cs typeface="Arial" pitchFamily="34" charset="-120"/>
              </a:rPr>
              <a:t>trình duyệt của khách</a:t>
            </a:r>
            <a:endParaRPr lang="en-US" sz="950" dirty="0"/>
          </a:p>
        </p:txBody>
      </p:sp>
      <p:sp>
        <p:nvSpPr>
          <p:cNvPr id="7" name="Text 5"/>
          <p:cNvSpPr txBox="1"/>
          <p:nvPr/>
        </p:nvSpPr>
        <p:spPr>
          <a:xfrm>
            <a:off x="2271187" y="2520269"/>
            <a:ext cx="292059" cy="323880"/>
          </a:xfrm>
          <a:prstGeom prst="rect">
            <a:avLst/>
          </a:prstGeom>
          <a:noFill/>
          <a:ln/>
        </p:spPr>
        <p:txBody>
          <a:bodyPr wrap="square" lIns="0" tIns="0" rIns="0" bIns="0" rtlCol="0" anchor="ctr"/>
          <a:lstStyle/>
          <a:p>
            <a:pPr algn="ctr" indent="0" marL="0">
              <a:buNone/>
            </a:pPr>
            <a:r>
              <a:rPr lang="en-US" sz="1700" dirty="0">
                <a:solidFill>
                  <a:srgbClr val="6B7280"/>
                </a:solidFill>
                <a:latin typeface="Arial" pitchFamily="34" charset="0"/>
                <a:ea typeface="Arial" pitchFamily="34" charset="-122"/>
                <a:cs typeface="Arial" pitchFamily="34" charset="-120"/>
              </a:rPr>
              <a:t>→</a:t>
            </a:r>
            <a:endParaRPr lang="en-US" sz="1700" dirty="0"/>
          </a:p>
        </p:txBody>
      </p:sp>
      <p:sp>
        <p:nvSpPr>
          <p:cNvPr id="8" name="Shape 6"/>
          <p:cNvSpPr/>
          <p:nvPr/>
        </p:nvSpPr>
        <p:spPr>
          <a:xfrm>
            <a:off x="2664836" y="2290298"/>
            <a:ext cx="1523025" cy="733440"/>
          </a:xfrm>
          <a:prstGeom prst="roundRect">
            <a:avLst>
              <a:gd name="adj" fmla="val 12118"/>
            </a:avLst>
          </a:prstGeom>
          <a:solidFill>
            <a:srgbClr val="FFFFFF"/>
          </a:solidFill>
          <a:ln w="12700">
            <a:solidFill>
              <a:srgbClr val="E3E6EA"/>
            </a:solidFill>
            <a:prstDash val="solid"/>
          </a:ln>
        </p:spPr>
      </p:sp>
      <p:sp>
        <p:nvSpPr>
          <p:cNvPr id="9" name="Text 7"/>
          <p:cNvSpPr txBox="1"/>
          <p:nvPr/>
        </p:nvSpPr>
        <p:spPr>
          <a:xfrm>
            <a:off x="2888224" y="2445471"/>
            <a:ext cx="1076432" cy="247620"/>
          </a:xfrm>
          <a:prstGeom prst="rect">
            <a:avLst/>
          </a:prstGeom>
          <a:noFill/>
          <a:ln/>
        </p:spPr>
        <p:txBody>
          <a:bodyPr wrap="square" lIns="0" tIns="0" rIns="0" bIns="0" rtlCol="0" anchor="ctr"/>
          <a:lstStyle/>
          <a:p>
            <a:pPr algn="ctr" indent="0" marL="0">
              <a:buNone/>
            </a:pPr>
            <a:r>
              <a:rPr lang="en-US" sz="1300" b="1" dirty="0">
                <a:solidFill>
                  <a:srgbClr val="111111"/>
                </a:solidFill>
                <a:latin typeface="Arial" pitchFamily="34" charset="0"/>
                <a:ea typeface="Arial" pitchFamily="34" charset="-122"/>
                <a:cs typeface="Arial" pitchFamily="34" charset="-120"/>
              </a:rPr>
              <a:t>API Gateway</a:t>
            </a:r>
            <a:endParaRPr lang="en-US" sz="1300" dirty="0"/>
          </a:p>
        </p:txBody>
      </p:sp>
      <p:sp>
        <p:nvSpPr>
          <p:cNvPr id="10" name="Text 8"/>
          <p:cNvSpPr txBox="1"/>
          <p:nvPr/>
        </p:nvSpPr>
        <p:spPr>
          <a:xfrm>
            <a:off x="2804556" y="2714854"/>
            <a:ext cx="1243675" cy="180960"/>
          </a:xfrm>
          <a:prstGeom prst="rect">
            <a:avLst/>
          </a:prstGeom>
          <a:noFill/>
          <a:ln/>
        </p:spPr>
        <p:txBody>
          <a:bodyPr wrap="square" lIns="0" tIns="0" rIns="0" bIns="0" rtlCol="0" anchor="ctr"/>
          <a:lstStyle/>
          <a:p>
            <a:pPr algn="ctr" indent="0" marL="0">
              <a:buNone/>
            </a:pPr>
            <a:r>
              <a:rPr lang="en-US" sz="950" dirty="0">
                <a:solidFill>
                  <a:srgbClr val="6B7280"/>
                </a:solidFill>
                <a:latin typeface="Arial" pitchFamily="34" charset="0"/>
                <a:ea typeface="Arial" pitchFamily="34" charset="-122"/>
                <a:cs typeface="Arial" pitchFamily="34" charset="-120"/>
              </a:rPr>
              <a:t>cửa vào của hệ thống</a:t>
            </a:r>
            <a:endParaRPr lang="en-US" sz="950" dirty="0"/>
          </a:p>
        </p:txBody>
      </p:sp>
      <p:sp>
        <p:nvSpPr>
          <p:cNvPr id="11" name="Text 9"/>
          <p:cNvSpPr txBox="1"/>
          <p:nvPr/>
        </p:nvSpPr>
        <p:spPr>
          <a:xfrm>
            <a:off x="4289542" y="2520269"/>
            <a:ext cx="292059" cy="323880"/>
          </a:xfrm>
          <a:prstGeom prst="rect">
            <a:avLst/>
          </a:prstGeom>
          <a:noFill/>
          <a:ln/>
        </p:spPr>
        <p:txBody>
          <a:bodyPr wrap="square" lIns="0" tIns="0" rIns="0" bIns="0" rtlCol="0" anchor="ctr"/>
          <a:lstStyle/>
          <a:p>
            <a:pPr algn="ctr" indent="0" marL="0">
              <a:buNone/>
            </a:pPr>
            <a:r>
              <a:rPr lang="en-US" sz="1700" dirty="0">
                <a:solidFill>
                  <a:srgbClr val="6B7280"/>
                </a:solidFill>
                <a:latin typeface="Arial" pitchFamily="34" charset="0"/>
                <a:ea typeface="Arial" pitchFamily="34" charset="-122"/>
                <a:cs typeface="Arial" pitchFamily="34" charset="-120"/>
              </a:rPr>
              <a:t>→</a:t>
            </a:r>
            <a:endParaRPr lang="en-US" sz="1700" dirty="0"/>
          </a:p>
        </p:txBody>
      </p:sp>
      <p:sp>
        <p:nvSpPr>
          <p:cNvPr id="12" name="Shape 10"/>
          <p:cNvSpPr/>
          <p:nvPr/>
        </p:nvSpPr>
        <p:spPr>
          <a:xfrm>
            <a:off x="4683191" y="1347368"/>
            <a:ext cx="1896923" cy="527060"/>
          </a:xfrm>
          <a:prstGeom prst="roundRect">
            <a:avLst>
              <a:gd name="adj" fmla="val 16863"/>
            </a:avLst>
          </a:prstGeom>
          <a:solidFill>
            <a:srgbClr val="FFFFFF"/>
          </a:solidFill>
          <a:ln w="12700">
            <a:solidFill>
              <a:srgbClr val="E3E6EA"/>
            </a:solidFill>
            <a:prstDash val="solid"/>
          </a:ln>
        </p:spPr>
      </p:sp>
      <p:sp>
        <p:nvSpPr>
          <p:cNvPr id="13" name="Text 11"/>
          <p:cNvSpPr txBox="1"/>
          <p:nvPr/>
        </p:nvSpPr>
        <p:spPr>
          <a:xfrm>
            <a:off x="5051969" y="1502542"/>
            <a:ext cx="1159276" cy="247620"/>
          </a:xfrm>
          <a:prstGeom prst="rect">
            <a:avLst/>
          </a:prstGeom>
          <a:noFill/>
          <a:ln/>
        </p:spPr>
        <p:txBody>
          <a:bodyPr wrap="square" lIns="0" tIns="0" rIns="0" bIns="0" rtlCol="0" anchor="ctr"/>
          <a:lstStyle/>
          <a:p>
            <a:pPr algn="ctr" indent="0" marL="0">
              <a:buNone/>
            </a:pPr>
            <a:r>
              <a:rPr lang="en-US" sz="1300" b="1" dirty="0">
                <a:solidFill>
                  <a:srgbClr val="111111"/>
                </a:solidFill>
                <a:latin typeface="Arial" pitchFamily="34" charset="0"/>
                <a:ea typeface="Arial" pitchFamily="34" charset="-122"/>
                <a:cs typeface="Arial" pitchFamily="34" charset="-120"/>
              </a:rPr>
              <a:t>Order Service</a:t>
            </a:r>
            <a:endParaRPr lang="en-US" sz="1300" dirty="0"/>
          </a:p>
        </p:txBody>
      </p:sp>
      <p:sp>
        <p:nvSpPr>
          <p:cNvPr id="14" name="Shape 12"/>
          <p:cNvSpPr/>
          <p:nvPr/>
        </p:nvSpPr>
        <p:spPr>
          <a:xfrm>
            <a:off x="4683191" y="1976018"/>
            <a:ext cx="1896923" cy="733440"/>
          </a:xfrm>
          <a:prstGeom prst="roundRect">
            <a:avLst>
              <a:gd name="adj" fmla="val 12118"/>
            </a:avLst>
          </a:prstGeom>
          <a:solidFill>
            <a:srgbClr val="ECF2FF"/>
          </a:solidFill>
          <a:ln w="12700">
            <a:solidFill>
              <a:srgbClr val="0066FF"/>
            </a:solidFill>
            <a:prstDash val="solid"/>
          </a:ln>
        </p:spPr>
      </p:sp>
      <p:sp>
        <p:nvSpPr>
          <p:cNvPr id="15" name="Text 13"/>
          <p:cNvSpPr txBox="1"/>
          <p:nvPr/>
        </p:nvSpPr>
        <p:spPr>
          <a:xfrm>
            <a:off x="4931176" y="2131192"/>
            <a:ext cx="1400952" cy="247620"/>
          </a:xfrm>
          <a:prstGeom prst="rect">
            <a:avLst/>
          </a:prstGeom>
          <a:noFill/>
          <a:ln/>
        </p:spPr>
        <p:txBody>
          <a:bodyPr wrap="square" lIns="0" tIns="0" rIns="0" bIns="0" rtlCol="0" anchor="ctr"/>
          <a:lstStyle/>
          <a:p>
            <a:pPr algn="ctr" indent="0" marL="0">
              <a:buNone/>
            </a:pPr>
            <a:r>
              <a:rPr lang="en-US" sz="1300" b="1" dirty="0">
                <a:solidFill>
                  <a:srgbClr val="111111"/>
                </a:solidFill>
                <a:latin typeface="Arial" pitchFamily="34" charset="0"/>
                <a:ea typeface="Arial" pitchFamily="34" charset="-122"/>
                <a:cs typeface="Arial" pitchFamily="34" charset="-120"/>
              </a:rPr>
              <a:t>Payment Service</a:t>
            </a:r>
            <a:endParaRPr lang="en-US" sz="1300" dirty="0"/>
          </a:p>
        </p:txBody>
      </p:sp>
      <p:sp>
        <p:nvSpPr>
          <p:cNvPr id="16" name="Text 14"/>
          <p:cNvSpPr txBox="1"/>
          <p:nvPr/>
        </p:nvSpPr>
        <p:spPr>
          <a:xfrm>
            <a:off x="5113873" y="2400574"/>
            <a:ext cx="1035467" cy="180960"/>
          </a:xfrm>
          <a:prstGeom prst="rect">
            <a:avLst/>
          </a:prstGeom>
          <a:noFill/>
          <a:ln/>
        </p:spPr>
        <p:txBody>
          <a:bodyPr wrap="square" lIns="0" tIns="0" rIns="0" bIns="0" rtlCol="0" anchor="ctr"/>
          <a:lstStyle/>
          <a:p>
            <a:pPr algn="ctr" indent="0" marL="0">
              <a:buNone/>
            </a:pPr>
            <a:r>
              <a:rPr lang="en-US" sz="950" dirty="0">
                <a:solidFill>
                  <a:srgbClr val="6B7280"/>
                </a:solidFill>
                <a:latin typeface="Arial" pitchFamily="34" charset="0"/>
                <a:ea typeface="Arial" pitchFamily="34" charset="-122"/>
                <a:cs typeface="Arial" pitchFamily="34" charset="-120"/>
              </a:rPr>
              <a:t>nội dung hôm nay</a:t>
            </a:r>
            <a:endParaRPr lang="en-US" sz="950" dirty="0"/>
          </a:p>
        </p:txBody>
      </p:sp>
      <p:sp>
        <p:nvSpPr>
          <p:cNvPr id="17" name="Shape 15"/>
          <p:cNvSpPr/>
          <p:nvPr/>
        </p:nvSpPr>
        <p:spPr>
          <a:xfrm>
            <a:off x="4683191" y="2810957"/>
            <a:ext cx="1896923" cy="527060"/>
          </a:xfrm>
          <a:prstGeom prst="roundRect">
            <a:avLst>
              <a:gd name="adj" fmla="val 16863"/>
            </a:avLst>
          </a:prstGeom>
          <a:solidFill>
            <a:srgbClr val="FFFFFF"/>
          </a:solidFill>
          <a:ln w="12700">
            <a:solidFill>
              <a:srgbClr val="E3E6EA"/>
            </a:solidFill>
            <a:prstDash val="solid"/>
          </a:ln>
        </p:spPr>
      </p:sp>
      <p:sp>
        <p:nvSpPr>
          <p:cNvPr id="18" name="Text 16"/>
          <p:cNvSpPr txBox="1"/>
          <p:nvPr/>
        </p:nvSpPr>
        <p:spPr>
          <a:xfrm>
            <a:off x="4902098" y="2966222"/>
            <a:ext cx="1459108" cy="247620"/>
          </a:xfrm>
          <a:prstGeom prst="rect">
            <a:avLst/>
          </a:prstGeom>
          <a:noFill/>
          <a:ln/>
        </p:spPr>
        <p:txBody>
          <a:bodyPr wrap="square" lIns="0" tIns="0" rIns="0" bIns="0" rtlCol="0" anchor="ctr"/>
          <a:lstStyle/>
          <a:p>
            <a:pPr algn="ctr" indent="0" marL="0">
              <a:buNone/>
            </a:pPr>
            <a:r>
              <a:rPr lang="en-US" sz="1300" b="1" dirty="0">
                <a:solidFill>
                  <a:srgbClr val="111111"/>
                </a:solidFill>
                <a:latin typeface="Arial" pitchFamily="34" charset="0"/>
                <a:ea typeface="Arial" pitchFamily="34" charset="-122"/>
                <a:cs typeface="Arial" pitchFamily="34" charset="-120"/>
              </a:rPr>
              <a:t>Inventory Service</a:t>
            </a:r>
            <a:endParaRPr lang="en-US" sz="1300" dirty="0"/>
          </a:p>
        </p:txBody>
      </p:sp>
      <p:sp>
        <p:nvSpPr>
          <p:cNvPr id="19" name="Shape 17"/>
          <p:cNvSpPr/>
          <p:nvPr/>
        </p:nvSpPr>
        <p:spPr>
          <a:xfrm>
            <a:off x="4683191" y="3439607"/>
            <a:ext cx="1896923" cy="527060"/>
          </a:xfrm>
          <a:prstGeom prst="roundRect">
            <a:avLst>
              <a:gd name="adj" fmla="val 16863"/>
            </a:avLst>
          </a:prstGeom>
          <a:solidFill>
            <a:srgbClr val="FFFFFF"/>
          </a:solidFill>
          <a:ln w="12700">
            <a:solidFill>
              <a:srgbClr val="E3E6EA"/>
            </a:solidFill>
            <a:prstDash val="solid"/>
          </a:ln>
        </p:spPr>
      </p:sp>
      <p:sp>
        <p:nvSpPr>
          <p:cNvPr id="20" name="Text 18"/>
          <p:cNvSpPr txBox="1"/>
          <p:nvPr/>
        </p:nvSpPr>
        <p:spPr>
          <a:xfrm>
            <a:off x="4814773" y="3594781"/>
            <a:ext cx="1633850" cy="247620"/>
          </a:xfrm>
          <a:prstGeom prst="rect">
            <a:avLst/>
          </a:prstGeom>
          <a:noFill/>
          <a:ln/>
        </p:spPr>
        <p:txBody>
          <a:bodyPr wrap="square" lIns="0" tIns="0" rIns="0" bIns="0" rtlCol="0" anchor="ctr"/>
          <a:lstStyle/>
          <a:p>
            <a:pPr algn="ctr" indent="0" marL="0">
              <a:buNone/>
            </a:pPr>
            <a:r>
              <a:rPr lang="en-US" sz="1300" b="1" dirty="0">
                <a:solidFill>
                  <a:srgbClr val="111111"/>
                </a:solidFill>
                <a:latin typeface="Arial" pitchFamily="34" charset="0"/>
                <a:ea typeface="Arial" pitchFamily="34" charset="-122"/>
                <a:cs typeface="Arial" pitchFamily="34" charset="-120"/>
              </a:rPr>
              <a:t>Notification Service</a:t>
            </a:r>
            <a:endParaRPr lang="en-US" sz="1300" dirty="0"/>
          </a:p>
        </p:txBody>
      </p:sp>
      <p:sp>
        <p:nvSpPr>
          <p:cNvPr id="21" name="Text 19"/>
          <p:cNvSpPr txBox="1"/>
          <p:nvPr/>
        </p:nvSpPr>
        <p:spPr>
          <a:xfrm>
            <a:off x="6681704" y="2520269"/>
            <a:ext cx="292059" cy="323880"/>
          </a:xfrm>
          <a:prstGeom prst="rect">
            <a:avLst/>
          </a:prstGeom>
          <a:noFill/>
          <a:ln/>
        </p:spPr>
        <p:txBody>
          <a:bodyPr wrap="square" lIns="0" tIns="0" rIns="0" bIns="0" rtlCol="0" anchor="ctr"/>
          <a:lstStyle/>
          <a:p>
            <a:pPr algn="ctr" indent="0" marL="0">
              <a:buNone/>
            </a:pPr>
            <a:r>
              <a:rPr lang="en-US" sz="1700" dirty="0">
                <a:solidFill>
                  <a:srgbClr val="6B7280"/>
                </a:solidFill>
                <a:latin typeface="Arial" pitchFamily="34" charset="0"/>
                <a:ea typeface="Arial" pitchFamily="34" charset="-122"/>
                <a:cs typeface="Arial" pitchFamily="34" charset="-120"/>
              </a:rPr>
              <a:t>⇄</a:t>
            </a:r>
            <a:endParaRPr lang="en-US" sz="1700" dirty="0"/>
          </a:p>
        </p:txBody>
      </p:sp>
      <p:sp>
        <p:nvSpPr>
          <p:cNvPr id="22" name="Shape 20"/>
          <p:cNvSpPr/>
          <p:nvPr/>
        </p:nvSpPr>
        <p:spPr>
          <a:xfrm>
            <a:off x="7075444" y="2290298"/>
            <a:ext cx="1301466" cy="733440"/>
          </a:xfrm>
          <a:prstGeom prst="roundRect">
            <a:avLst>
              <a:gd name="adj" fmla="val 12118"/>
            </a:avLst>
          </a:prstGeom>
          <a:solidFill>
            <a:srgbClr val="FFF5F4"/>
          </a:solidFill>
          <a:ln w="12700">
            <a:solidFill>
              <a:srgbClr val="B42318"/>
            </a:solidFill>
            <a:prstDash val="solid"/>
          </a:ln>
        </p:spPr>
      </p:sp>
      <p:sp>
        <p:nvSpPr>
          <p:cNvPr id="23" name="Text 21"/>
          <p:cNvSpPr txBox="1"/>
          <p:nvPr/>
        </p:nvSpPr>
        <p:spPr>
          <a:xfrm>
            <a:off x="7417338" y="2445471"/>
            <a:ext cx="617586" cy="247620"/>
          </a:xfrm>
          <a:prstGeom prst="rect">
            <a:avLst/>
          </a:prstGeom>
          <a:noFill/>
          <a:ln/>
        </p:spPr>
        <p:txBody>
          <a:bodyPr wrap="square" lIns="0" tIns="0" rIns="0" bIns="0" rtlCol="0" anchor="ctr"/>
          <a:lstStyle/>
          <a:p>
            <a:pPr algn="ctr" indent="0" marL="0">
              <a:buNone/>
            </a:pPr>
            <a:r>
              <a:rPr lang="en-US" sz="1300" b="1" dirty="0">
                <a:solidFill>
                  <a:srgbClr val="111111"/>
                </a:solidFill>
                <a:latin typeface="Arial" pitchFamily="34" charset="0"/>
                <a:ea typeface="Arial" pitchFamily="34" charset="-122"/>
                <a:cs typeface="Arial" pitchFamily="34" charset="-120"/>
              </a:rPr>
              <a:t>VNPAY</a:t>
            </a:r>
            <a:endParaRPr lang="en-US" sz="1300" dirty="0"/>
          </a:p>
        </p:txBody>
      </p:sp>
      <p:sp>
        <p:nvSpPr>
          <p:cNvPr id="24" name="Text 22"/>
          <p:cNvSpPr txBox="1"/>
          <p:nvPr/>
        </p:nvSpPr>
        <p:spPr>
          <a:xfrm>
            <a:off x="7215073" y="2714854"/>
            <a:ext cx="1022025" cy="180960"/>
          </a:xfrm>
          <a:prstGeom prst="rect">
            <a:avLst/>
          </a:prstGeom>
          <a:noFill/>
          <a:ln/>
        </p:spPr>
        <p:txBody>
          <a:bodyPr wrap="square" lIns="0" tIns="0" rIns="0" bIns="0" rtlCol="0" anchor="ctr"/>
          <a:lstStyle/>
          <a:p>
            <a:pPr algn="ctr" indent="0" marL="0">
              <a:buNone/>
            </a:pPr>
            <a:r>
              <a:rPr lang="en-US" sz="950" dirty="0">
                <a:solidFill>
                  <a:srgbClr val="6B7280"/>
                </a:solidFill>
                <a:latin typeface="Arial" pitchFamily="34" charset="0"/>
                <a:ea typeface="Arial" pitchFamily="34" charset="-122"/>
                <a:cs typeface="Arial" pitchFamily="34" charset="-120"/>
              </a:rPr>
              <a:t>dịch vụ bên ngoài</a:t>
            </a:r>
            <a:endParaRPr lang="en-US" sz="950" dirty="0"/>
          </a:p>
        </p:txBody>
      </p:sp>
      <p:sp>
        <p:nvSpPr>
          <p:cNvPr id="25" name="Shape 23"/>
          <p:cNvSpPr/>
          <p:nvPr/>
        </p:nvSpPr>
        <p:spPr>
          <a:xfrm>
            <a:off x="698510" y="4267413"/>
            <a:ext cx="63459" cy="63459"/>
          </a:xfrm>
          <a:prstGeom prst="ellipse">
            <a:avLst/>
          </a:prstGeom>
          <a:solidFill>
            <a:srgbClr val="0066FF"/>
          </a:solidFill>
          <a:ln/>
        </p:spPr>
      </p:sp>
      <p:sp>
        <p:nvSpPr>
          <p:cNvPr id="26" name="Text 24"/>
          <p:cNvSpPr txBox="1"/>
          <p:nvPr/>
        </p:nvSpPr>
        <p:spPr>
          <a:xfrm>
            <a:off x="876270" y="4165549"/>
            <a:ext cx="7565014"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Chỉ </a:t>
            </a:r>
            <a:pPr algn="l" indent="0" marL="0">
              <a:buNone/>
            </a:pPr>
            <a:r>
              <a:rPr lang="en-US" sz="1400" b="1" dirty="0">
                <a:solidFill>
                  <a:srgbClr val="3F454D"/>
                </a:solidFill>
                <a:latin typeface="Arial" pitchFamily="34" charset="0"/>
                <a:ea typeface="Arial" pitchFamily="34" charset="-122"/>
                <a:cs typeface="Arial" pitchFamily="34" charset="-120"/>
              </a:rPr>
              <a:t>Payment Service</a:t>
            </a:r>
            <a:pPr algn="l" indent="0" marL="0">
              <a:buNone/>
            </a:pPr>
            <a:r>
              <a:rPr lang="en-US" sz="1400" dirty="0">
                <a:solidFill>
                  <a:srgbClr val="3F454D"/>
                </a:solidFill>
                <a:latin typeface="Arial" pitchFamily="34" charset="0"/>
                <a:ea typeface="Arial" pitchFamily="34" charset="-122"/>
                <a:cs typeface="Arial" pitchFamily="34" charset="-120"/>
              </a:rPr>
              <a:t> giao tiếp với VNPAY. Các service khác không phụ thuộc vào VNPAY</a:t>
            </a:r>
            <a:endParaRPr lang="en-US" sz="1400" dirty="0"/>
          </a:p>
        </p:txBody>
      </p:sp>
      <p:sp>
        <p:nvSpPr>
          <p:cNvPr id="27" name="Shape 25"/>
          <p:cNvSpPr/>
          <p:nvPr/>
        </p:nvSpPr>
        <p:spPr>
          <a:xfrm>
            <a:off x="698510" y="4623024"/>
            <a:ext cx="63459" cy="63459"/>
          </a:xfrm>
          <a:prstGeom prst="ellipse">
            <a:avLst/>
          </a:prstGeom>
          <a:solidFill>
            <a:srgbClr val="0066FF"/>
          </a:solidFill>
          <a:ln/>
        </p:spPr>
      </p:sp>
      <p:sp>
        <p:nvSpPr>
          <p:cNvPr id="28" name="Text 26"/>
          <p:cNvSpPr txBox="1"/>
          <p:nvPr/>
        </p:nvSpPr>
        <p:spPr>
          <a:xfrm>
            <a:off x="876270" y="4521159"/>
            <a:ext cx="6821973"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Thanh toán xong, Payment Service báo cho service khác bằng event </a:t>
            </a:r>
            <a:pPr algn="l" indent="0" marL="0">
              <a:buNone/>
            </a:pPr>
            <a:r>
              <a:rPr lang="en-US" sz="1400" dirty="0">
                <a:solidFill>
                  <a:srgbClr val="3F454D"/>
                </a:solidFill>
                <a:latin typeface="Courier New" pitchFamily="34" charset="0"/>
                <a:ea typeface="Courier New" pitchFamily="34" charset="-122"/>
                <a:cs typeface="Courier New" pitchFamily="34" charset="-120"/>
              </a:rPr>
              <a:t>OrderPaid</a:t>
            </a:r>
            <a:endParaRPr lang="en-US" sz="1400" dirty="0"/>
          </a:p>
        </p:txBody>
      </p:sp>
      <p:sp>
        <p:nvSpPr>
          <p:cNvPr id="29" name="Shape 27"/>
          <p:cNvSpPr/>
          <p:nvPr/>
        </p:nvSpPr>
        <p:spPr>
          <a:xfrm>
            <a:off x="698510" y="4991252"/>
            <a:ext cx="63459" cy="63459"/>
          </a:xfrm>
          <a:prstGeom prst="ellipse">
            <a:avLst/>
          </a:prstGeom>
          <a:solidFill>
            <a:srgbClr val="0066FF"/>
          </a:solidFill>
          <a:ln/>
        </p:spPr>
      </p:sp>
      <p:sp>
        <p:nvSpPr>
          <p:cNvPr id="30" name="Text 28"/>
          <p:cNvSpPr txBox="1"/>
          <p:nvPr/>
        </p:nvSpPr>
        <p:spPr>
          <a:xfrm>
            <a:off x="876270" y="4889388"/>
            <a:ext cx="6478707"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Trong demo, Payment Service gói trong 1 file Java: </a:t>
            </a:r>
            <a:pPr algn="l" indent="0" marL="0">
              <a:buNone/>
            </a:pPr>
            <a:r>
              <a:rPr lang="en-US" sz="1400" dirty="0">
                <a:solidFill>
                  <a:srgbClr val="3F454D"/>
                </a:solidFill>
                <a:latin typeface="Courier New" pitchFamily="34" charset="0"/>
                <a:ea typeface="Courier New" pitchFamily="34" charset="-122"/>
                <a:cs typeface="Courier New" pitchFamily="34" charset="-120"/>
              </a:rPr>
              <a:t>PaymentService.java</a:t>
            </a:r>
            <a:endParaRPr lang="en-US" sz="1400" dirty="0"/>
          </a:p>
        </p:txBody>
      </p:sp>
      <p:sp>
        <p:nvSpPr>
          <p:cNvPr id="31" name="Text 29"/>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32" name="Text 30"/>
          <p:cNvSpPr txBox="1"/>
          <p:nvPr/>
        </p:nvSpPr>
        <p:spPr>
          <a:xfrm>
            <a:off x="11464107" y="6472763"/>
            <a:ext cx="143378"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3</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726387"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Kiến trúc hướng dịch vụ</a:t>
            </a:r>
            <a:endParaRPr lang="en-US" sz="1100" dirty="0"/>
          </a:p>
        </p:txBody>
      </p:sp>
      <p:sp>
        <p:nvSpPr>
          <p:cNvPr id="3" name="Text 1"/>
          <p:cNvSpPr txBox="1"/>
          <p:nvPr/>
        </p:nvSpPr>
        <p:spPr>
          <a:xfrm>
            <a:off x="660380" y="643829"/>
            <a:ext cx="10808391"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VNPAY là dịch vụ bên ngoài, hợp đồng do VNPAY quy định</a:t>
            </a:r>
            <a:endParaRPr lang="en-US" sz="3000" dirty="0"/>
          </a:p>
        </p:txBody>
      </p:sp>
      <p:sp>
        <p:nvSpPr>
          <p:cNvPr id="4" name="Text 2"/>
          <p:cNvSpPr txBox="1"/>
          <p:nvPr/>
        </p:nvSpPr>
        <p:spPr>
          <a:xfrm>
            <a:off x="660380" y="1358798"/>
            <a:ext cx="1143183"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VNPAY quy định</a:t>
            </a:r>
            <a:endParaRPr lang="en-US" sz="1000" dirty="0"/>
          </a:p>
        </p:txBody>
      </p:sp>
      <p:sp>
        <p:nvSpPr>
          <p:cNvPr id="5" name="Shape 3"/>
          <p:cNvSpPr/>
          <p:nvPr/>
        </p:nvSpPr>
        <p:spPr>
          <a:xfrm>
            <a:off x="698510" y="1724284"/>
            <a:ext cx="63459" cy="63459"/>
          </a:xfrm>
          <a:prstGeom prst="ellipse">
            <a:avLst/>
          </a:prstGeom>
          <a:solidFill>
            <a:srgbClr val="0066FF"/>
          </a:solidFill>
          <a:ln/>
        </p:spPr>
      </p:sp>
      <p:sp>
        <p:nvSpPr>
          <p:cNvPr id="6" name="Text 4"/>
          <p:cNvSpPr txBox="1"/>
          <p:nvPr/>
        </p:nvSpPr>
        <p:spPr>
          <a:xfrm>
            <a:off x="876270" y="1622420"/>
            <a:ext cx="3097256"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Địa chỉ gọi tới và phương thức HTTP</a:t>
            </a:r>
            <a:endParaRPr lang="en-US" sz="1400" dirty="0"/>
          </a:p>
        </p:txBody>
      </p:sp>
      <p:sp>
        <p:nvSpPr>
          <p:cNvPr id="7" name="Shape 5"/>
          <p:cNvSpPr/>
          <p:nvPr/>
        </p:nvSpPr>
        <p:spPr>
          <a:xfrm>
            <a:off x="698510" y="2079894"/>
            <a:ext cx="63459" cy="63459"/>
          </a:xfrm>
          <a:prstGeom prst="ellipse">
            <a:avLst/>
          </a:prstGeom>
          <a:solidFill>
            <a:srgbClr val="0066FF"/>
          </a:solidFill>
          <a:ln/>
        </p:spPr>
      </p:sp>
      <p:sp>
        <p:nvSpPr>
          <p:cNvPr id="8" name="Text 6"/>
          <p:cNvSpPr txBox="1"/>
          <p:nvPr/>
        </p:nvSpPr>
        <p:spPr>
          <a:xfrm>
            <a:off x="876270" y="1978030"/>
            <a:ext cx="4159880"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Tên, kiểu dữ liệu, độ dài của từng tham số </a:t>
            </a:r>
            <a:pPr algn="l" indent="0" marL="0">
              <a:buNone/>
            </a:pPr>
            <a:r>
              <a:rPr lang="en-US" sz="1400" dirty="0">
                <a:solidFill>
                  <a:srgbClr val="3F454D"/>
                </a:solidFill>
                <a:latin typeface="Courier New" pitchFamily="34" charset="0"/>
                <a:ea typeface="Courier New" pitchFamily="34" charset="-122"/>
                <a:cs typeface="Courier New" pitchFamily="34" charset="-120"/>
              </a:rPr>
              <a:t>vnp_*</a:t>
            </a:r>
            <a:endParaRPr lang="en-US" sz="1400" dirty="0"/>
          </a:p>
        </p:txBody>
      </p:sp>
      <p:sp>
        <p:nvSpPr>
          <p:cNvPr id="9" name="Shape 7"/>
          <p:cNvSpPr/>
          <p:nvPr/>
        </p:nvSpPr>
        <p:spPr>
          <a:xfrm>
            <a:off x="698510" y="2448123"/>
            <a:ext cx="63459" cy="63459"/>
          </a:xfrm>
          <a:prstGeom prst="ellipse">
            <a:avLst/>
          </a:prstGeom>
          <a:solidFill>
            <a:srgbClr val="0066FF"/>
          </a:solidFill>
          <a:ln/>
        </p:spPr>
      </p:sp>
      <p:sp>
        <p:nvSpPr>
          <p:cNvPr id="10" name="Text 8"/>
          <p:cNvSpPr txBox="1"/>
          <p:nvPr/>
        </p:nvSpPr>
        <p:spPr>
          <a:xfrm>
            <a:off x="876270" y="2346350"/>
            <a:ext cx="4284878"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Cách tạo chữ ký: sắp xếp, encode, HMAC-SHA512</a:t>
            </a:r>
            <a:endParaRPr lang="en-US" sz="1400" dirty="0"/>
          </a:p>
        </p:txBody>
      </p:sp>
      <p:sp>
        <p:nvSpPr>
          <p:cNvPr id="11" name="Shape 9"/>
          <p:cNvSpPr/>
          <p:nvPr/>
        </p:nvSpPr>
        <p:spPr>
          <a:xfrm>
            <a:off x="698510" y="2803733"/>
            <a:ext cx="63459" cy="63459"/>
          </a:xfrm>
          <a:prstGeom prst="ellipse">
            <a:avLst/>
          </a:prstGeom>
          <a:solidFill>
            <a:srgbClr val="0066FF"/>
          </a:solidFill>
          <a:ln/>
        </p:spPr>
      </p:sp>
      <p:sp>
        <p:nvSpPr>
          <p:cNvPr id="12" name="Text 10"/>
          <p:cNvSpPr txBox="1"/>
          <p:nvPr/>
        </p:nvSpPr>
        <p:spPr>
          <a:xfrm>
            <a:off x="876270" y="2701869"/>
            <a:ext cx="3646261"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Mã phản hồi cho IPN: 00, 01, 02, 04, 97, 99</a:t>
            </a:r>
            <a:endParaRPr lang="en-US" sz="1400" dirty="0"/>
          </a:p>
        </p:txBody>
      </p:sp>
      <p:sp>
        <p:nvSpPr>
          <p:cNvPr id="13" name="Shape 11"/>
          <p:cNvSpPr/>
          <p:nvPr/>
        </p:nvSpPr>
        <p:spPr>
          <a:xfrm>
            <a:off x="698510" y="3159343"/>
            <a:ext cx="63459" cy="63459"/>
          </a:xfrm>
          <a:prstGeom prst="ellipse">
            <a:avLst/>
          </a:prstGeom>
          <a:solidFill>
            <a:srgbClr val="0066FF"/>
          </a:solidFill>
          <a:ln/>
        </p:spPr>
      </p:sp>
      <p:sp>
        <p:nvSpPr>
          <p:cNvPr id="14" name="Text 12"/>
          <p:cNvSpPr txBox="1"/>
          <p:nvPr/>
        </p:nvSpPr>
        <p:spPr>
          <a:xfrm>
            <a:off x="876270" y="3057479"/>
            <a:ext cx="3435035"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Múi giờ GMT+7 cho mọi trường thời gian</a:t>
            </a:r>
            <a:endParaRPr lang="en-US" sz="1400" dirty="0"/>
          </a:p>
        </p:txBody>
      </p:sp>
      <p:sp>
        <p:nvSpPr>
          <p:cNvPr id="15" name="Text 13"/>
          <p:cNvSpPr txBox="1"/>
          <p:nvPr/>
        </p:nvSpPr>
        <p:spPr>
          <a:xfrm>
            <a:off x="6070427" y="1358798"/>
            <a:ext cx="1295522"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Mình tự thiết kế</a:t>
            </a:r>
            <a:endParaRPr lang="en-US" sz="1000" dirty="0"/>
          </a:p>
        </p:txBody>
      </p:sp>
      <p:sp>
        <p:nvSpPr>
          <p:cNvPr id="16" name="Shape 14"/>
          <p:cNvSpPr/>
          <p:nvPr/>
        </p:nvSpPr>
        <p:spPr>
          <a:xfrm>
            <a:off x="6108558" y="1826788"/>
            <a:ext cx="63459" cy="63459"/>
          </a:xfrm>
          <a:prstGeom prst="ellipse">
            <a:avLst/>
          </a:prstGeom>
          <a:solidFill>
            <a:srgbClr val="0066FF"/>
          </a:solidFill>
          <a:ln/>
        </p:spPr>
      </p:sp>
      <p:sp>
        <p:nvSpPr>
          <p:cNvPr id="17" name="Text 15"/>
          <p:cNvSpPr txBox="1"/>
          <p:nvPr/>
        </p:nvSpPr>
        <p:spPr>
          <a:xfrm>
            <a:off x="6286317" y="1731508"/>
            <a:ext cx="2871307" cy="238110"/>
          </a:xfrm>
          <a:prstGeom prst="rect">
            <a:avLst/>
          </a:prstGeom>
          <a:noFill/>
          <a:ln/>
        </p:spPr>
        <p:txBody>
          <a:bodyPr wrap="square" lIns="0" tIns="0" rIns="0" bIns="0" rtlCol="0" anchor="ctr"/>
          <a:lstStyle/>
          <a:p>
            <a:pPr algn="l" indent="0" marL="0">
              <a:buNone/>
            </a:pPr>
            <a:r>
              <a:rPr lang="en-US" sz="1250" dirty="0">
                <a:solidFill>
                  <a:srgbClr val="3F454D"/>
                </a:solidFill>
                <a:latin typeface="Arial" pitchFamily="34" charset="0"/>
                <a:ea typeface="Arial" pitchFamily="34" charset="-122"/>
                <a:cs typeface="Arial" pitchFamily="34" charset="-120"/>
              </a:rPr>
              <a:t>Cách chia hàm trong Payment Service</a:t>
            </a:r>
            <a:endParaRPr lang="en-US" sz="1250" dirty="0"/>
          </a:p>
        </p:txBody>
      </p:sp>
      <p:sp>
        <p:nvSpPr>
          <p:cNvPr id="18" name="Shape 16"/>
          <p:cNvSpPr/>
          <p:nvPr/>
        </p:nvSpPr>
        <p:spPr>
          <a:xfrm>
            <a:off x="6108558" y="2153778"/>
            <a:ext cx="63459" cy="63459"/>
          </a:xfrm>
          <a:prstGeom prst="ellipse">
            <a:avLst/>
          </a:prstGeom>
          <a:solidFill>
            <a:srgbClr val="0066FF"/>
          </a:solidFill>
          <a:ln/>
        </p:spPr>
      </p:sp>
      <p:sp>
        <p:nvSpPr>
          <p:cNvPr id="19" name="Text 17"/>
          <p:cNvSpPr txBox="1"/>
          <p:nvPr/>
        </p:nvSpPr>
        <p:spPr>
          <a:xfrm>
            <a:off x="6286317" y="2058497"/>
            <a:ext cx="1326246" cy="238110"/>
          </a:xfrm>
          <a:prstGeom prst="rect">
            <a:avLst/>
          </a:prstGeom>
          <a:noFill/>
          <a:ln/>
        </p:spPr>
        <p:txBody>
          <a:bodyPr wrap="square" lIns="0" tIns="0" rIns="0" bIns="0" rtlCol="0" anchor="ctr"/>
          <a:lstStyle/>
          <a:p>
            <a:pPr algn="l" indent="0" marL="0">
              <a:buNone/>
            </a:pPr>
            <a:r>
              <a:rPr lang="en-US" sz="1250" dirty="0">
                <a:solidFill>
                  <a:srgbClr val="3F454D"/>
                </a:solidFill>
                <a:latin typeface="Arial" pitchFamily="34" charset="0"/>
                <a:ea typeface="Arial" pitchFamily="34" charset="-122"/>
                <a:cs typeface="Arial" pitchFamily="34" charset="-120"/>
              </a:rPr>
              <a:t>Nơi lưu đơn hàng</a:t>
            </a:r>
            <a:endParaRPr lang="en-US" sz="1250" dirty="0"/>
          </a:p>
        </p:txBody>
      </p:sp>
      <p:sp>
        <p:nvSpPr>
          <p:cNvPr id="20" name="Shape 18"/>
          <p:cNvSpPr/>
          <p:nvPr/>
        </p:nvSpPr>
        <p:spPr>
          <a:xfrm>
            <a:off x="6108558" y="2480767"/>
            <a:ext cx="63459" cy="63459"/>
          </a:xfrm>
          <a:prstGeom prst="ellipse">
            <a:avLst/>
          </a:prstGeom>
          <a:solidFill>
            <a:srgbClr val="0066FF"/>
          </a:solidFill>
          <a:ln/>
        </p:spPr>
      </p:sp>
      <p:sp>
        <p:nvSpPr>
          <p:cNvPr id="21" name="Text 19"/>
          <p:cNvSpPr txBox="1"/>
          <p:nvPr/>
        </p:nvSpPr>
        <p:spPr>
          <a:xfrm>
            <a:off x="6286317" y="2385578"/>
            <a:ext cx="2553828" cy="238110"/>
          </a:xfrm>
          <a:prstGeom prst="rect">
            <a:avLst/>
          </a:prstGeom>
          <a:noFill/>
          <a:ln/>
        </p:spPr>
        <p:txBody>
          <a:bodyPr wrap="square" lIns="0" tIns="0" rIns="0" bIns="0" rtlCol="0" anchor="ctr"/>
          <a:lstStyle/>
          <a:p>
            <a:pPr algn="l" indent="0" marL="0">
              <a:buNone/>
            </a:pPr>
            <a:r>
              <a:rPr lang="en-US" sz="1250" dirty="0">
                <a:solidFill>
                  <a:srgbClr val="3F454D"/>
                </a:solidFill>
                <a:latin typeface="Arial" pitchFamily="34" charset="0"/>
                <a:ea typeface="Arial" pitchFamily="34" charset="-122"/>
                <a:cs typeface="Arial" pitchFamily="34" charset="-120"/>
              </a:rPr>
              <a:t>API giữa web và Payment Service</a:t>
            </a:r>
            <a:endParaRPr lang="en-US" sz="1250" dirty="0"/>
          </a:p>
        </p:txBody>
      </p:sp>
      <p:sp>
        <p:nvSpPr>
          <p:cNvPr id="22" name="Shape 20"/>
          <p:cNvSpPr/>
          <p:nvPr/>
        </p:nvSpPr>
        <p:spPr>
          <a:xfrm>
            <a:off x="6108558" y="2807848"/>
            <a:ext cx="63459" cy="63459"/>
          </a:xfrm>
          <a:prstGeom prst="ellipse">
            <a:avLst/>
          </a:prstGeom>
          <a:solidFill>
            <a:srgbClr val="0066FF"/>
          </a:solidFill>
          <a:ln/>
        </p:spPr>
      </p:sp>
      <p:sp>
        <p:nvSpPr>
          <p:cNvPr id="23" name="Text 21"/>
          <p:cNvSpPr txBox="1"/>
          <p:nvPr/>
        </p:nvSpPr>
        <p:spPr>
          <a:xfrm>
            <a:off x="6286317" y="2712568"/>
            <a:ext cx="1644183" cy="238110"/>
          </a:xfrm>
          <a:prstGeom prst="rect">
            <a:avLst/>
          </a:prstGeom>
          <a:noFill/>
          <a:ln/>
        </p:spPr>
        <p:txBody>
          <a:bodyPr wrap="square" lIns="0" tIns="0" rIns="0" bIns="0" rtlCol="0" anchor="ctr"/>
          <a:lstStyle/>
          <a:p>
            <a:pPr algn="l" indent="0" marL="0">
              <a:buNone/>
            </a:pPr>
            <a:r>
              <a:rPr lang="en-US" sz="1250" dirty="0">
                <a:solidFill>
                  <a:srgbClr val="3F454D"/>
                </a:solidFill>
                <a:latin typeface="Arial" pitchFamily="34" charset="0"/>
                <a:ea typeface="Arial" pitchFamily="34" charset="-122"/>
                <a:cs typeface="Arial" pitchFamily="34" charset="-120"/>
              </a:rPr>
              <a:t>Thời điểm gọi querydr</a:t>
            </a:r>
            <a:endParaRPr lang="en-US" sz="1250" dirty="0"/>
          </a:p>
        </p:txBody>
      </p:sp>
      <p:sp>
        <p:nvSpPr>
          <p:cNvPr id="24" name="Shape 22"/>
          <p:cNvSpPr/>
          <p:nvPr/>
        </p:nvSpPr>
        <p:spPr>
          <a:xfrm>
            <a:off x="6108558" y="3134838"/>
            <a:ext cx="63459" cy="63459"/>
          </a:xfrm>
          <a:prstGeom prst="ellipse">
            <a:avLst/>
          </a:prstGeom>
          <a:solidFill>
            <a:srgbClr val="0066FF"/>
          </a:solidFill>
          <a:ln/>
        </p:spPr>
      </p:sp>
      <p:sp>
        <p:nvSpPr>
          <p:cNvPr id="25" name="Text 23"/>
          <p:cNvSpPr txBox="1"/>
          <p:nvPr/>
        </p:nvSpPr>
        <p:spPr>
          <a:xfrm>
            <a:off x="6286317" y="3039557"/>
            <a:ext cx="2168591" cy="238110"/>
          </a:xfrm>
          <a:prstGeom prst="rect">
            <a:avLst/>
          </a:prstGeom>
          <a:noFill/>
          <a:ln/>
        </p:spPr>
        <p:txBody>
          <a:bodyPr wrap="square" lIns="0" tIns="0" rIns="0" bIns="0" rtlCol="0" anchor="ctr"/>
          <a:lstStyle/>
          <a:p>
            <a:pPr algn="l" indent="0" marL="0">
              <a:buNone/>
            </a:pPr>
            <a:r>
              <a:rPr lang="en-US" sz="1250" dirty="0">
                <a:solidFill>
                  <a:srgbClr val="3F454D"/>
                </a:solidFill>
                <a:latin typeface="Arial" pitchFamily="34" charset="0"/>
                <a:ea typeface="Arial" pitchFamily="34" charset="-122"/>
                <a:cs typeface="Arial" pitchFamily="34" charset="-120"/>
              </a:rPr>
              <a:t>Cách xử lý request đồng thời</a:t>
            </a:r>
            <a:endParaRPr lang="en-US" sz="1250" dirty="0"/>
          </a:p>
        </p:txBody>
      </p:sp>
      <p:sp>
        <p:nvSpPr>
          <p:cNvPr id="26" name="Shape 24"/>
          <p:cNvSpPr/>
          <p:nvPr/>
        </p:nvSpPr>
        <p:spPr>
          <a:xfrm>
            <a:off x="660380" y="3480938"/>
            <a:ext cx="10870936" cy="600029"/>
          </a:xfrm>
          <a:prstGeom prst="roundRect">
            <a:avLst>
              <a:gd name="adj" fmla="val 12694"/>
            </a:avLst>
          </a:prstGeom>
          <a:solidFill>
            <a:srgbClr val="FFFFFF"/>
          </a:solidFill>
          <a:ln w="6350">
            <a:solidFill>
              <a:srgbClr val="E3E6EA"/>
            </a:solidFill>
            <a:prstDash val="solid"/>
          </a:ln>
        </p:spPr>
      </p:sp>
      <p:sp>
        <p:nvSpPr>
          <p:cNvPr id="27" name="Text 25"/>
          <p:cNvSpPr txBox="1"/>
          <p:nvPr/>
        </p:nvSpPr>
        <p:spPr>
          <a:xfrm>
            <a:off x="793699" y="3593135"/>
            <a:ext cx="4672858" cy="20958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Nguồn: VNPAY API v2.1.0, mục Thanh toán PAY và Truy vấn, hoàn tiền</a:t>
            </a:r>
            <a:endParaRPr lang="en-US" sz="1100" dirty="0"/>
          </a:p>
        </p:txBody>
      </p:sp>
      <p:sp>
        <p:nvSpPr>
          <p:cNvPr id="28" name="Text 26"/>
          <p:cNvSpPr txBox="1"/>
          <p:nvPr/>
        </p:nvSpPr>
        <p:spPr>
          <a:xfrm>
            <a:off x="793699" y="3836365"/>
            <a:ext cx="1692006" cy="161940"/>
          </a:xfrm>
          <a:prstGeom prst="rect">
            <a:avLst/>
          </a:prstGeom>
          <a:noFill/>
          <a:ln/>
        </p:spPr>
        <p:txBody>
          <a:bodyPr wrap="square" lIns="0" tIns="0" rIns="0" bIns="0" rtlCol="0" anchor="ctr"/>
          <a:lstStyle/>
          <a:p>
            <a:pPr algn="l" indent="0" marL="0">
              <a:buNone/>
            </a:pPr>
            <a:r>
              <a:rPr lang="en-US" sz="850" dirty="0">
                <a:solidFill>
                  <a:srgbClr val="6B7280"/>
                </a:solidFill>
                <a:latin typeface="Arial" pitchFamily="34" charset="0"/>
                <a:ea typeface="Arial" pitchFamily="34" charset="-122"/>
                <a:cs typeface="Arial" pitchFamily="34" charset="-120"/>
              </a:rPr>
              <a:t>sandbox.vnpayment.vn/apis/docs</a:t>
            </a:r>
            <a:endParaRPr lang="en-US" sz="850" dirty="0"/>
          </a:p>
        </p:txBody>
      </p:sp>
      <p:sp>
        <p:nvSpPr>
          <p:cNvPr id="29" name="Text 27"/>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30" name="Text 28"/>
          <p:cNvSpPr txBox="1"/>
          <p:nvPr/>
        </p:nvSpPr>
        <p:spPr>
          <a:xfrm>
            <a:off x="11464107" y="6472763"/>
            <a:ext cx="143378"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430213"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Giao tiếp với VNPAY</a:t>
            </a:r>
            <a:endParaRPr lang="en-US" sz="1100" dirty="0"/>
          </a:p>
        </p:txBody>
      </p:sp>
      <p:sp>
        <p:nvSpPr>
          <p:cNvPr id="3" name="Text 1"/>
          <p:cNvSpPr txBox="1"/>
          <p:nvPr/>
        </p:nvSpPr>
        <p:spPr>
          <a:xfrm>
            <a:off x="660380" y="643829"/>
            <a:ext cx="5558912"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Bốn kênh giao tiếp với VNPAY</a:t>
            </a:r>
            <a:endParaRPr lang="en-US" sz="3000" dirty="0"/>
          </a:p>
        </p:txBody>
      </p:sp>
      <p:sp>
        <p:nvSpPr>
          <p:cNvPr id="4" name="Shape 2"/>
          <p:cNvSpPr/>
          <p:nvPr/>
        </p:nvSpPr>
        <p:spPr>
          <a:xfrm>
            <a:off x="660380" y="1347368"/>
            <a:ext cx="10870936" cy="1993849"/>
          </a:xfrm>
          <a:prstGeom prst="roundRect">
            <a:avLst>
              <a:gd name="adj" fmla="val 5095"/>
            </a:avLst>
          </a:prstGeom>
          <a:solidFill>
            <a:srgbClr val="FFFFFF"/>
          </a:solidFill>
          <a:ln/>
        </p:spPr>
      </p:sp>
      <p:sp>
        <p:nvSpPr>
          <p:cNvPr id="5" name="Shape 3"/>
          <p:cNvSpPr/>
          <p:nvPr/>
        </p:nvSpPr>
        <p:spPr>
          <a:xfrm>
            <a:off x="660380" y="1347368"/>
            <a:ext cx="434797" cy="422270"/>
          </a:xfrm>
          <a:prstGeom prst="rect">
            <a:avLst/>
          </a:prstGeom>
          <a:solidFill>
            <a:srgbClr val="ECF2FF"/>
          </a:solidFill>
          <a:ln/>
        </p:spPr>
      </p:sp>
      <p:sp>
        <p:nvSpPr>
          <p:cNvPr id="6" name="Text 4"/>
          <p:cNvSpPr txBox="1"/>
          <p:nvPr/>
        </p:nvSpPr>
        <p:spPr>
          <a:xfrm>
            <a:off x="825520" y="1479408"/>
            <a:ext cx="153162"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a:t>
            </a:r>
            <a:endParaRPr lang="en-US" sz="1000" dirty="0"/>
          </a:p>
        </p:txBody>
      </p:sp>
      <p:sp>
        <p:nvSpPr>
          <p:cNvPr id="7" name="Shape 5"/>
          <p:cNvSpPr/>
          <p:nvPr/>
        </p:nvSpPr>
        <p:spPr>
          <a:xfrm>
            <a:off x="1095177" y="1347368"/>
            <a:ext cx="1739280" cy="422270"/>
          </a:xfrm>
          <a:prstGeom prst="rect">
            <a:avLst/>
          </a:prstGeom>
          <a:solidFill>
            <a:srgbClr val="ECF2FF"/>
          </a:solidFill>
          <a:ln/>
        </p:spPr>
      </p:sp>
      <p:sp>
        <p:nvSpPr>
          <p:cNvPr id="8" name="Text 6"/>
          <p:cNvSpPr txBox="1"/>
          <p:nvPr/>
        </p:nvSpPr>
        <p:spPr>
          <a:xfrm>
            <a:off x="1260226" y="1479408"/>
            <a:ext cx="461498"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KÊNH</a:t>
            </a:r>
            <a:endParaRPr lang="en-US" sz="1000" dirty="0"/>
          </a:p>
        </p:txBody>
      </p:sp>
      <p:sp>
        <p:nvSpPr>
          <p:cNvPr id="9" name="Shape 7"/>
          <p:cNvSpPr/>
          <p:nvPr/>
        </p:nvSpPr>
        <p:spPr>
          <a:xfrm>
            <a:off x="2834366" y="1347368"/>
            <a:ext cx="2826410" cy="422270"/>
          </a:xfrm>
          <a:prstGeom prst="rect">
            <a:avLst/>
          </a:prstGeom>
          <a:solidFill>
            <a:srgbClr val="ECF2FF"/>
          </a:solidFill>
          <a:ln/>
        </p:spPr>
      </p:sp>
      <p:sp>
        <p:nvSpPr>
          <p:cNvPr id="10" name="Text 8"/>
          <p:cNvSpPr txBox="1"/>
          <p:nvPr/>
        </p:nvSpPr>
        <p:spPr>
          <a:xfrm>
            <a:off x="2999506" y="1479408"/>
            <a:ext cx="686074"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AI GỌI AI</a:t>
            </a:r>
            <a:endParaRPr lang="en-US" sz="1000" dirty="0"/>
          </a:p>
        </p:txBody>
      </p:sp>
      <p:sp>
        <p:nvSpPr>
          <p:cNvPr id="11" name="Shape 9"/>
          <p:cNvSpPr/>
          <p:nvPr/>
        </p:nvSpPr>
        <p:spPr>
          <a:xfrm>
            <a:off x="5660776" y="1347368"/>
            <a:ext cx="978408" cy="422270"/>
          </a:xfrm>
          <a:prstGeom prst="rect">
            <a:avLst/>
          </a:prstGeom>
          <a:solidFill>
            <a:srgbClr val="ECF2FF"/>
          </a:solidFill>
          <a:ln/>
        </p:spPr>
      </p:sp>
      <p:sp>
        <p:nvSpPr>
          <p:cNvPr id="12" name="Text 10"/>
          <p:cNvSpPr txBox="1"/>
          <p:nvPr/>
        </p:nvSpPr>
        <p:spPr>
          <a:xfrm>
            <a:off x="5825917" y="1479408"/>
            <a:ext cx="433151"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HTTP</a:t>
            </a:r>
            <a:endParaRPr lang="en-US" sz="1000" dirty="0"/>
          </a:p>
        </p:txBody>
      </p:sp>
      <p:sp>
        <p:nvSpPr>
          <p:cNvPr id="13" name="Shape 11"/>
          <p:cNvSpPr/>
          <p:nvPr/>
        </p:nvSpPr>
        <p:spPr>
          <a:xfrm>
            <a:off x="6639184" y="1347368"/>
            <a:ext cx="2391522" cy="422270"/>
          </a:xfrm>
          <a:prstGeom prst="rect">
            <a:avLst/>
          </a:prstGeom>
          <a:solidFill>
            <a:srgbClr val="ECF2FF"/>
          </a:solidFill>
          <a:ln/>
        </p:spPr>
      </p:sp>
      <p:sp>
        <p:nvSpPr>
          <p:cNvPr id="14" name="Text 12"/>
          <p:cNvSpPr txBox="1"/>
          <p:nvPr/>
        </p:nvSpPr>
        <p:spPr>
          <a:xfrm>
            <a:off x="6804233" y="1479408"/>
            <a:ext cx="642366"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DỮ LIỆU</a:t>
            </a:r>
            <a:endParaRPr lang="en-US" sz="1000" dirty="0"/>
          </a:p>
        </p:txBody>
      </p:sp>
      <p:sp>
        <p:nvSpPr>
          <p:cNvPr id="15" name="Shape 13"/>
          <p:cNvSpPr/>
          <p:nvPr/>
        </p:nvSpPr>
        <p:spPr>
          <a:xfrm>
            <a:off x="9030706" y="1347368"/>
            <a:ext cx="2500610" cy="422270"/>
          </a:xfrm>
          <a:prstGeom prst="rect">
            <a:avLst/>
          </a:prstGeom>
          <a:solidFill>
            <a:srgbClr val="ECF2FF"/>
          </a:solidFill>
          <a:ln/>
        </p:spPr>
      </p:sp>
      <p:sp>
        <p:nvSpPr>
          <p:cNvPr id="16" name="Text 14"/>
          <p:cNvSpPr txBox="1"/>
          <p:nvPr/>
        </p:nvSpPr>
        <p:spPr>
          <a:xfrm>
            <a:off x="9195755" y="1479408"/>
            <a:ext cx="405079"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KIỂU</a:t>
            </a:r>
            <a:endParaRPr lang="en-US" sz="1000" dirty="0"/>
          </a:p>
        </p:txBody>
      </p:sp>
      <p:sp>
        <p:nvSpPr>
          <p:cNvPr id="17" name="Shape 15"/>
          <p:cNvSpPr/>
          <p:nvPr/>
        </p:nvSpPr>
        <p:spPr>
          <a:xfrm>
            <a:off x="660380" y="1769638"/>
            <a:ext cx="434797" cy="6309"/>
          </a:xfrm>
          <a:prstGeom prst="rect">
            <a:avLst/>
          </a:prstGeom>
          <a:solidFill>
            <a:srgbClr val="E3E6EA"/>
          </a:solidFill>
          <a:ln/>
        </p:spPr>
      </p:sp>
      <p:sp>
        <p:nvSpPr>
          <p:cNvPr id="18" name="Text 16"/>
          <p:cNvSpPr txBox="1"/>
          <p:nvPr/>
        </p:nvSpPr>
        <p:spPr>
          <a:xfrm>
            <a:off x="800100" y="1873606"/>
            <a:ext cx="157460"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1</a:t>
            </a:r>
            <a:endParaRPr lang="en-US" sz="1150" dirty="0"/>
          </a:p>
        </p:txBody>
      </p:sp>
      <p:sp>
        <p:nvSpPr>
          <p:cNvPr id="19" name="Shape 17"/>
          <p:cNvSpPr/>
          <p:nvPr/>
        </p:nvSpPr>
        <p:spPr>
          <a:xfrm>
            <a:off x="1095177" y="1769638"/>
            <a:ext cx="1739280" cy="6309"/>
          </a:xfrm>
          <a:prstGeom prst="rect">
            <a:avLst/>
          </a:prstGeom>
          <a:solidFill>
            <a:srgbClr val="E3E6EA"/>
          </a:solidFill>
          <a:ln/>
        </p:spPr>
      </p:sp>
      <p:sp>
        <p:nvSpPr>
          <p:cNvPr id="20" name="Text 18"/>
          <p:cNvSpPr txBox="1"/>
          <p:nvPr/>
        </p:nvSpPr>
        <p:spPr>
          <a:xfrm>
            <a:off x="1234806" y="1873606"/>
            <a:ext cx="105869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Tạo thanh toán</a:t>
            </a:r>
            <a:endParaRPr lang="en-US" sz="1150" dirty="0"/>
          </a:p>
        </p:txBody>
      </p:sp>
      <p:sp>
        <p:nvSpPr>
          <p:cNvPr id="21" name="Shape 19"/>
          <p:cNvSpPr/>
          <p:nvPr/>
        </p:nvSpPr>
        <p:spPr>
          <a:xfrm>
            <a:off x="2834366" y="1769638"/>
            <a:ext cx="2826410" cy="6309"/>
          </a:xfrm>
          <a:prstGeom prst="rect">
            <a:avLst/>
          </a:prstGeom>
          <a:solidFill>
            <a:srgbClr val="E3E6EA"/>
          </a:solidFill>
          <a:ln/>
        </p:spPr>
      </p:sp>
      <p:sp>
        <p:nvSpPr>
          <p:cNvPr id="22" name="Text 20"/>
          <p:cNvSpPr txBox="1"/>
          <p:nvPr/>
        </p:nvSpPr>
        <p:spPr>
          <a:xfrm>
            <a:off x="2974086" y="1873606"/>
            <a:ext cx="152000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Trình duyệt → VNPAY</a:t>
            </a:r>
            <a:endParaRPr lang="en-US" sz="1150" dirty="0"/>
          </a:p>
        </p:txBody>
      </p:sp>
      <p:sp>
        <p:nvSpPr>
          <p:cNvPr id="23" name="Shape 21"/>
          <p:cNvSpPr/>
          <p:nvPr/>
        </p:nvSpPr>
        <p:spPr>
          <a:xfrm>
            <a:off x="5660776" y="1769638"/>
            <a:ext cx="978408" cy="6309"/>
          </a:xfrm>
          <a:prstGeom prst="rect">
            <a:avLst/>
          </a:prstGeom>
          <a:solidFill>
            <a:srgbClr val="E3E6EA"/>
          </a:solidFill>
          <a:ln/>
        </p:spPr>
      </p:sp>
      <p:sp>
        <p:nvSpPr>
          <p:cNvPr id="24" name="Text 22"/>
          <p:cNvSpPr txBox="1"/>
          <p:nvPr/>
        </p:nvSpPr>
        <p:spPr>
          <a:xfrm>
            <a:off x="5800496" y="1871594"/>
            <a:ext cx="350672"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GET</a:t>
            </a:r>
            <a:endParaRPr lang="en-US" sz="1200" dirty="0"/>
          </a:p>
        </p:txBody>
      </p:sp>
      <p:sp>
        <p:nvSpPr>
          <p:cNvPr id="25" name="Shape 23"/>
          <p:cNvSpPr/>
          <p:nvPr/>
        </p:nvSpPr>
        <p:spPr>
          <a:xfrm>
            <a:off x="6639184" y="1769638"/>
            <a:ext cx="2391522" cy="6309"/>
          </a:xfrm>
          <a:prstGeom prst="rect">
            <a:avLst/>
          </a:prstGeom>
          <a:solidFill>
            <a:srgbClr val="E3E6EA"/>
          </a:solidFill>
          <a:ln/>
        </p:spPr>
      </p:sp>
      <p:sp>
        <p:nvSpPr>
          <p:cNvPr id="26" name="Text 24"/>
          <p:cNvSpPr txBox="1"/>
          <p:nvPr/>
        </p:nvSpPr>
        <p:spPr>
          <a:xfrm>
            <a:off x="6778813" y="1873606"/>
            <a:ext cx="148452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Query string + chữ ký</a:t>
            </a:r>
            <a:endParaRPr lang="en-US" sz="1150" dirty="0"/>
          </a:p>
        </p:txBody>
      </p:sp>
      <p:sp>
        <p:nvSpPr>
          <p:cNvPr id="27" name="Shape 25"/>
          <p:cNvSpPr/>
          <p:nvPr/>
        </p:nvSpPr>
        <p:spPr>
          <a:xfrm>
            <a:off x="9030706" y="1769638"/>
            <a:ext cx="2500610" cy="6309"/>
          </a:xfrm>
          <a:prstGeom prst="rect">
            <a:avLst/>
          </a:prstGeom>
          <a:solidFill>
            <a:srgbClr val="E3E6EA"/>
          </a:solidFill>
          <a:ln/>
        </p:spPr>
      </p:sp>
      <p:sp>
        <p:nvSpPr>
          <p:cNvPr id="28" name="Text 26"/>
          <p:cNvSpPr txBox="1"/>
          <p:nvPr/>
        </p:nvSpPr>
        <p:spPr>
          <a:xfrm>
            <a:off x="9170335" y="1873606"/>
            <a:ext cx="953079"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Chuyển trang</a:t>
            </a:r>
            <a:endParaRPr lang="en-US" sz="1150" dirty="0"/>
          </a:p>
        </p:txBody>
      </p:sp>
      <p:sp>
        <p:nvSpPr>
          <p:cNvPr id="29" name="Shape 27"/>
          <p:cNvSpPr/>
          <p:nvPr/>
        </p:nvSpPr>
        <p:spPr>
          <a:xfrm>
            <a:off x="660380" y="2163288"/>
            <a:ext cx="434797" cy="6309"/>
          </a:xfrm>
          <a:prstGeom prst="rect">
            <a:avLst/>
          </a:prstGeom>
          <a:solidFill>
            <a:srgbClr val="E3E6EA"/>
          </a:solidFill>
          <a:ln/>
        </p:spPr>
      </p:sp>
      <p:sp>
        <p:nvSpPr>
          <p:cNvPr id="30" name="Text 28"/>
          <p:cNvSpPr txBox="1"/>
          <p:nvPr/>
        </p:nvSpPr>
        <p:spPr>
          <a:xfrm>
            <a:off x="800100" y="2267255"/>
            <a:ext cx="157460"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2</a:t>
            </a:r>
            <a:endParaRPr lang="en-US" sz="1150" dirty="0"/>
          </a:p>
        </p:txBody>
      </p:sp>
      <p:sp>
        <p:nvSpPr>
          <p:cNvPr id="31" name="Shape 29"/>
          <p:cNvSpPr/>
          <p:nvPr/>
        </p:nvSpPr>
        <p:spPr>
          <a:xfrm>
            <a:off x="1095177" y="2163288"/>
            <a:ext cx="1739280" cy="6309"/>
          </a:xfrm>
          <a:prstGeom prst="rect">
            <a:avLst/>
          </a:prstGeom>
          <a:solidFill>
            <a:srgbClr val="E3E6EA"/>
          </a:solidFill>
          <a:ln/>
        </p:spPr>
      </p:sp>
      <p:sp>
        <p:nvSpPr>
          <p:cNvPr id="32" name="Text 30"/>
          <p:cNvSpPr txBox="1"/>
          <p:nvPr/>
        </p:nvSpPr>
        <p:spPr>
          <a:xfrm>
            <a:off x="1234806" y="2267255"/>
            <a:ext cx="80668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ReturnURL</a:t>
            </a:r>
            <a:endParaRPr lang="en-US" sz="1150" dirty="0"/>
          </a:p>
        </p:txBody>
      </p:sp>
      <p:sp>
        <p:nvSpPr>
          <p:cNvPr id="33" name="Shape 31"/>
          <p:cNvSpPr/>
          <p:nvPr/>
        </p:nvSpPr>
        <p:spPr>
          <a:xfrm>
            <a:off x="2834366" y="2163288"/>
            <a:ext cx="2826410" cy="6309"/>
          </a:xfrm>
          <a:prstGeom prst="rect">
            <a:avLst/>
          </a:prstGeom>
          <a:solidFill>
            <a:srgbClr val="E3E6EA"/>
          </a:solidFill>
          <a:ln/>
        </p:spPr>
      </p:sp>
      <p:sp>
        <p:nvSpPr>
          <p:cNvPr id="34" name="Text 32"/>
          <p:cNvSpPr txBox="1"/>
          <p:nvPr/>
        </p:nvSpPr>
        <p:spPr>
          <a:xfrm>
            <a:off x="2974086" y="2267255"/>
            <a:ext cx="2142439"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VNPAY → trình duyệt → server</a:t>
            </a:r>
            <a:endParaRPr lang="en-US" sz="1150" dirty="0"/>
          </a:p>
        </p:txBody>
      </p:sp>
      <p:sp>
        <p:nvSpPr>
          <p:cNvPr id="35" name="Shape 33"/>
          <p:cNvSpPr/>
          <p:nvPr/>
        </p:nvSpPr>
        <p:spPr>
          <a:xfrm>
            <a:off x="5660776" y="2163288"/>
            <a:ext cx="978408" cy="6309"/>
          </a:xfrm>
          <a:prstGeom prst="rect">
            <a:avLst/>
          </a:prstGeom>
          <a:solidFill>
            <a:srgbClr val="E3E6EA"/>
          </a:solidFill>
          <a:ln/>
        </p:spPr>
      </p:sp>
      <p:sp>
        <p:nvSpPr>
          <p:cNvPr id="36" name="Text 34"/>
          <p:cNvSpPr txBox="1"/>
          <p:nvPr/>
        </p:nvSpPr>
        <p:spPr>
          <a:xfrm>
            <a:off x="5800496" y="2265335"/>
            <a:ext cx="350672"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GET</a:t>
            </a:r>
            <a:endParaRPr lang="en-US" sz="1200" dirty="0"/>
          </a:p>
        </p:txBody>
      </p:sp>
      <p:sp>
        <p:nvSpPr>
          <p:cNvPr id="37" name="Shape 35"/>
          <p:cNvSpPr/>
          <p:nvPr/>
        </p:nvSpPr>
        <p:spPr>
          <a:xfrm>
            <a:off x="6639184" y="2163288"/>
            <a:ext cx="2391522" cy="6309"/>
          </a:xfrm>
          <a:prstGeom prst="rect">
            <a:avLst/>
          </a:prstGeom>
          <a:solidFill>
            <a:srgbClr val="E3E6EA"/>
          </a:solidFill>
          <a:ln/>
        </p:spPr>
      </p:sp>
      <p:sp>
        <p:nvSpPr>
          <p:cNvPr id="38" name="Text 36"/>
          <p:cNvSpPr txBox="1"/>
          <p:nvPr/>
        </p:nvSpPr>
        <p:spPr>
          <a:xfrm>
            <a:off x="6778813" y="2267255"/>
            <a:ext cx="148452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Query string + chữ ký</a:t>
            </a:r>
            <a:endParaRPr lang="en-US" sz="1150" dirty="0"/>
          </a:p>
        </p:txBody>
      </p:sp>
      <p:sp>
        <p:nvSpPr>
          <p:cNvPr id="39" name="Shape 37"/>
          <p:cNvSpPr/>
          <p:nvPr/>
        </p:nvSpPr>
        <p:spPr>
          <a:xfrm>
            <a:off x="9030706" y="2163288"/>
            <a:ext cx="2500610" cy="6309"/>
          </a:xfrm>
          <a:prstGeom prst="rect">
            <a:avLst/>
          </a:prstGeom>
          <a:solidFill>
            <a:srgbClr val="E3E6EA"/>
          </a:solidFill>
          <a:ln/>
        </p:spPr>
      </p:sp>
      <p:sp>
        <p:nvSpPr>
          <p:cNvPr id="40" name="Text 38"/>
          <p:cNvSpPr txBox="1"/>
          <p:nvPr/>
        </p:nvSpPr>
        <p:spPr>
          <a:xfrm>
            <a:off x="9170335" y="2267255"/>
            <a:ext cx="175555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Chuyển trang, chỉ hiển thị</a:t>
            </a:r>
            <a:endParaRPr lang="en-US" sz="1150" dirty="0"/>
          </a:p>
        </p:txBody>
      </p:sp>
      <p:sp>
        <p:nvSpPr>
          <p:cNvPr id="41" name="Shape 39"/>
          <p:cNvSpPr/>
          <p:nvPr/>
        </p:nvSpPr>
        <p:spPr>
          <a:xfrm>
            <a:off x="660380" y="2557028"/>
            <a:ext cx="434797" cy="6309"/>
          </a:xfrm>
          <a:prstGeom prst="rect">
            <a:avLst/>
          </a:prstGeom>
          <a:solidFill>
            <a:srgbClr val="E3E6EA"/>
          </a:solidFill>
          <a:ln/>
        </p:spPr>
      </p:sp>
      <p:sp>
        <p:nvSpPr>
          <p:cNvPr id="42" name="Text 40"/>
          <p:cNvSpPr txBox="1"/>
          <p:nvPr/>
        </p:nvSpPr>
        <p:spPr>
          <a:xfrm>
            <a:off x="800100" y="2660904"/>
            <a:ext cx="157460"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3</a:t>
            </a:r>
            <a:endParaRPr lang="en-US" sz="1150" dirty="0"/>
          </a:p>
        </p:txBody>
      </p:sp>
      <p:sp>
        <p:nvSpPr>
          <p:cNvPr id="43" name="Shape 41"/>
          <p:cNvSpPr/>
          <p:nvPr/>
        </p:nvSpPr>
        <p:spPr>
          <a:xfrm>
            <a:off x="1095177" y="2557028"/>
            <a:ext cx="1739280" cy="6309"/>
          </a:xfrm>
          <a:prstGeom prst="rect">
            <a:avLst/>
          </a:prstGeom>
          <a:solidFill>
            <a:srgbClr val="E3E6EA"/>
          </a:solidFill>
          <a:ln/>
        </p:spPr>
      </p:sp>
      <p:sp>
        <p:nvSpPr>
          <p:cNvPr id="44" name="Text 42"/>
          <p:cNvSpPr txBox="1"/>
          <p:nvPr/>
        </p:nvSpPr>
        <p:spPr>
          <a:xfrm>
            <a:off x="1234806" y="2660904"/>
            <a:ext cx="31967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IPN</a:t>
            </a:r>
            <a:endParaRPr lang="en-US" sz="1150" dirty="0"/>
          </a:p>
        </p:txBody>
      </p:sp>
      <p:sp>
        <p:nvSpPr>
          <p:cNvPr id="45" name="Shape 43"/>
          <p:cNvSpPr/>
          <p:nvPr/>
        </p:nvSpPr>
        <p:spPr>
          <a:xfrm>
            <a:off x="2834366" y="2557028"/>
            <a:ext cx="2826410" cy="6309"/>
          </a:xfrm>
          <a:prstGeom prst="rect">
            <a:avLst/>
          </a:prstGeom>
          <a:solidFill>
            <a:srgbClr val="E3E6EA"/>
          </a:solidFill>
          <a:ln/>
        </p:spPr>
      </p:sp>
      <p:sp>
        <p:nvSpPr>
          <p:cNvPr id="46" name="Text 44"/>
          <p:cNvSpPr txBox="1"/>
          <p:nvPr/>
        </p:nvSpPr>
        <p:spPr>
          <a:xfrm>
            <a:off x="2974086" y="2660904"/>
            <a:ext cx="240898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Server VNPAY → Payment Service</a:t>
            </a:r>
            <a:endParaRPr lang="en-US" sz="1150" dirty="0"/>
          </a:p>
        </p:txBody>
      </p:sp>
      <p:sp>
        <p:nvSpPr>
          <p:cNvPr id="47" name="Shape 45"/>
          <p:cNvSpPr/>
          <p:nvPr/>
        </p:nvSpPr>
        <p:spPr>
          <a:xfrm>
            <a:off x="5660776" y="2557028"/>
            <a:ext cx="978408" cy="6309"/>
          </a:xfrm>
          <a:prstGeom prst="rect">
            <a:avLst/>
          </a:prstGeom>
          <a:solidFill>
            <a:srgbClr val="E3E6EA"/>
          </a:solidFill>
          <a:ln/>
        </p:spPr>
      </p:sp>
      <p:sp>
        <p:nvSpPr>
          <p:cNvPr id="48" name="Text 46"/>
          <p:cNvSpPr txBox="1"/>
          <p:nvPr/>
        </p:nvSpPr>
        <p:spPr>
          <a:xfrm>
            <a:off x="5800496" y="2658984"/>
            <a:ext cx="350672"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GET</a:t>
            </a:r>
            <a:endParaRPr lang="en-US" sz="1200" dirty="0"/>
          </a:p>
        </p:txBody>
      </p:sp>
      <p:sp>
        <p:nvSpPr>
          <p:cNvPr id="49" name="Shape 47"/>
          <p:cNvSpPr/>
          <p:nvPr/>
        </p:nvSpPr>
        <p:spPr>
          <a:xfrm>
            <a:off x="6639184" y="2557028"/>
            <a:ext cx="2391522" cy="6309"/>
          </a:xfrm>
          <a:prstGeom prst="rect">
            <a:avLst/>
          </a:prstGeom>
          <a:solidFill>
            <a:srgbClr val="E3E6EA"/>
          </a:solidFill>
          <a:ln/>
        </p:spPr>
      </p:sp>
      <p:sp>
        <p:nvSpPr>
          <p:cNvPr id="50" name="Text 48"/>
          <p:cNvSpPr txBox="1"/>
          <p:nvPr/>
        </p:nvSpPr>
        <p:spPr>
          <a:xfrm>
            <a:off x="6778813" y="2660904"/>
            <a:ext cx="177229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Query string, trả về JSON</a:t>
            </a:r>
            <a:endParaRPr lang="en-US" sz="1150" dirty="0"/>
          </a:p>
        </p:txBody>
      </p:sp>
      <p:sp>
        <p:nvSpPr>
          <p:cNvPr id="51" name="Shape 49"/>
          <p:cNvSpPr/>
          <p:nvPr/>
        </p:nvSpPr>
        <p:spPr>
          <a:xfrm>
            <a:off x="9030706" y="2557028"/>
            <a:ext cx="2500610" cy="6309"/>
          </a:xfrm>
          <a:prstGeom prst="rect">
            <a:avLst/>
          </a:prstGeom>
          <a:solidFill>
            <a:srgbClr val="E3E6EA"/>
          </a:solidFill>
          <a:ln/>
        </p:spPr>
      </p:sp>
      <p:sp>
        <p:nvSpPr>
          <p:cNvPr id="52" name="Text 50"/>
          <p:cNvSpPr txBox="1"/>
          <p:nvPr/>
        </p:nvSpPr>
        <p:spPr>
          <a:xfrm>
            <a:off x="9170335" y="2660904"/>
            <a:ext cx="155512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Webhook, bất đồng bộ</a:t>
            </a:r>
            <a:endParaRPr lang="en-US" sz="1150" dirty="0"/>
          </a:p>
        </p:txBody>
      </p:sp>
      <p:sp>
        <p:nvSpPr>
          <p:cNvPr id="53" name="Shape 51"/>
          <p:cNvSpPr/>
          <p:nvPr/>
        </p:nvSpPr>
        <p:spPr>
          <a:xfrm>
            <a:off x="660380" y="2950677"/>
            <a:ext cx="434797" cy="6309"/>
          </a:xfrm>
          <a:prstGeom prst="rect">
            <a:avLst/>
          </a:prstGeom>
          <a:solidFill>
            <a:srgbClr val="E3E6EA"/>
          </a:solidFill>
          <a:ln/>
        </p:spPr>
      </p:sp>
      <p:sp>
        <p:nvSpPr>
          <p:cNvPr id="54" name="Text 52"/>
          <p:cNvSpPr txBox="1"/>
          <p:nvPr/>
        </p:nvSpPr>
        <p:spPr>
          <a:xfrm>
            <a:off x="800100" y="3054645"/>
            <a:ext cx="157460"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4</a:t>
            </a:r>
            <a:endParaRPr lang="en-US" sz="1150" dirty="0"/>
          </a:p>
        </p:txBody>
      </p:sp>
      <p:sp>
        <p:nvSpPr>
          <p:cNvPr id="55" name="Shape 53"/>
          <p:cNvSpPr/>
          <p:nvPr/>
        </p:nvSpPr>
        <p:spPr>
          <a:xfrm>
            <a:off x="1095177" y="2950677"/>
            <a:ext cx="1739280" cy="6309"/>
          </a:xfrm>
          <a:prstGeom prst="rect">
            <a:avLst/>
          </a:prstGeom>
          <a:solidFill>
            <a:srgbClr val="E3E6EA"/>
          </a:solidFill>
          <a:ln/>
        </p:spPr>
      </p:sp>
      <p:sp>
        <p:nvSpPr>
          <p:cNvPr id="56" name="Text 54"/>
          <p:cNvSpPr txBox="1"/>
          <p:nvPr/>
        </p:nvSpPr>
        <p:spPr>
          <a:xfrm>
            <a:off x="1234806" y="3054645"/>
            <a:ext cx="571409"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querydr</a:t>
            </a:r>
            <a:endParaRPr lang="en-US" sz="1150" dirty="0"/>
          </a:p>
        </p:txBody>
      </p:sp>
      <p:sp>
        <p:nvSpPr>
          <p:cNvPr id="57" name="Shape 55"/>
          <p:cNvSpPr/>
          <p:nvPr/>
        </p:nvSpPr>
        <p:spPr>
          <a:xfrm>
            <a:off x="2834366" y="2950677"/>
            <a:ext cx="2826410" cy="6309"/>
          </a:xfrm>
          <a:prstGeom prst="rect">
            <a:avLst/>
          </a:prstGeom>
          <a:solidFill>
            <a:srgbClr val="E3E6EA"/>
          </a:solidFill>
          <a:ln/>
        </p:spPr>
      </p:sp>
      <p:sp>
        <p:nvSpPr>
          <p:cNvPr id="58" name="Text 56"/>
          <p:cNvSpPr txBox="1"/>
          <p:nvPr/>
        </p:nvSpPr>
        <p:spPr>
          <a:xfrm>
            <a:off x="2974086" y="3054645"/>
            <a:ext cx="219684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Payment Service → API VNPAY</a:t>
            </a:r>
            <a:endParaRPr lang="en-US" sz="1150" dirty="0"/>
          </a:p>
        </p:txBody>
      </p:sp>
      <p:sp>
        <p:nvSpPr>
          <p:cNvPr id="59" name="Shape 57"/>
          <p:cNvSpPr/>
          <p:nvPr/>
        </p:nvSpPr>
        <p:spPr>
          <a:xfrm>
            <a:off x="5660776" y="2950677"/>
            <a:ext cx="978408" cy="6309"/>
          </a:xfrm>
          <a:prstGeom prst="rect">
            <a:avLst/>
          </a:prstGeom>
          <a:solidFill>
            <a:srgbClr val="E3E6EA"/>
          </a:solidFill>
          <a:ln/>
        </p:spPr>
      </p:sp>
      <p:sp>
        <p:nvSpPr>
          <p:cNvPr id="60" name="Text 58"/>
          <p:cNvSpPr txBox="1"/>
          <p:nvPr/>
        </p:nvSpPr>
        <p:spPr>
          <a:xfrm>
            <a:off x="5800496" y="3052633"/>
            <a:ext cx="442021"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POST</a:t>
            </a:r>
            <a:endParaRPr lang="en-US" sz="1200" dirty="0"/>
          </a:p>
        </p:txBody>
      </p:sp>
      <p:sp>
        <p:nvSpPr>
          <p:cNvPr id="61" name="Shape 59"/>
          <p:cNvSpPr/>
          <p:nvPr/>
        </p:nvSpPr>
        <p:spPr>
          <a:xfrm>
            <a:off x="6639184" y="2950677"/>
            <a:ext cx="2391522" cy="6309"/>
          </a:xfrm>
          <a:prstGeom prst="rect">
            <a:avLst/>
          </a:prstGeom>
          <a:solidFill>
            <a:srgbClr val="E3E6EA"/>
          </a:solidFill>
          <a:ln/>
        </p:spPr>
      </p:sp>
      <p:sp>
        <p:nvSpPr>
          <p:cNvPr id="62" name="Text 60"/>
          <p:cNvSpPr txBox="1"/>
          <p:nvPr/>
        </p:nvSpPr>
        <p:spPr>
          <a:xfrm>
            <a:off x="6778813" y="3054645"/>
            <a:ext cx="1090971"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JSON hai chiều</a:t>
            </a:r>
            <a:endParaRPr lang="en-US" sz="1150" dirty="0"/>
          </a:p>
        </p:txBody>
      </p:sp>
      <p:sp>
        <p:nvSpPr>
          <p:cNvPr id="63" name="Shape 61"/>
          <p:cNvSpPr/>
          <p:nvPr/>
        </p:nvSpPr>
        <p:spPr>
          <a:xfrm>
            <a:off x="9030706" y="2950677"/>
            <a:ext cx="2500610" cy="6309"/>
          </a:xfrm>
          <a:prstGeom prst="rect">
            <a:avLst/>
          </a:prstGeom>
          <a:solidFill>
            <a:srgbClr val="E3E6EA"/>
          </a:solidFill>
          <a:ln/>
        </p:spPr>
      </p:sp>
      <p:sp>
        <p:nvSpPr>
          <p:cNvPr id="64" name="Text 62"/>
          <p:cNvSpPr txBox="1"/>
          <p:nvPr/>
        </p:nvSpPr>
        <p:spPr>
          <a:xfrm>
            <a:off x="9170335" y="3054645"/>
            <a:ext cx="126159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Request/response</a:t>
            </a:r>
            <a:endParaRPr lang="en-US" sz="1150" dirty="0"/>
          </a:p>
        </p:txBody>
      </p:sp>
      <p:sp>
        <p:nvSpPr>
          <p:cNvPr id="65" name="Shape 63"/>
          <p:cNvSpPr/>
          <p:nvPr/>
        </p:nvSpPr>
        <p:spPr>
          <a:xfrm>
            <a:off x="660380" y="3518977"/>
            <a:ext cx="10870936" cy="400050"/>
          </a:xfrm>
          <a:prstGeom prst="roundRect">
            <a:avLst>
              <a:gd name="adj" fmla="val 19040"/>
            </a:avLst>
          </a:prstGeom>
          <a:solidFill>
            <a:srgbClr val="FFFFFF"/>
          </a:solidFill>
          <a:ln w="6350">
            <a:solidFill>
              <a:srgbClr val="E3E6EA"/>
            </a:solidFill>
            <a:prstDash val="solid"/>
          </a:ln>
        </p:spPr>
      </p:sp>
      <p:sp>
        <p:nvSpPr>
          <p:cNvPr id="66" name="Shape 64"/>
          <p:cNvSpPr/>
          <p:nvPr/>
        </p:nvSpPr>
        <p:spPr>
          <a:xfrm>
            <a:off x="780989" y="3614257"/>
            <a:ext cx="982614" cy="209580"/>
          </a:xfrm>
          <a:prstGeom prst="roundRect">
            <a:avLst>
              <a:gd name="adj" fmla="val 50000"/>
            </a:avLst>
          </a:prstGeom>
          <a:solidFill>
            <a:srgbClr val="FDE8E6"/>
          </a:solidFill>
          <a:ln/>
        </p:spPr>
      </p:sp>
      <p:sp>
        <p:nvSpPr>
          <p:cNvPr id="67" name="Text 65"/>
          <p:cNvSpPr txBox="1"/>
          <p:nvPr/>
        </p:nvSpPr>
        <p:spPr>
          <a:xfrm>
            <a:off x="857250" y="3645530"/>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68" name="Text 66"/>
          <p:cNvSpPr txBox="1"/>
          <p:nvPr/>
        </p:nvSpPr>
        <p:spPr>
          <a:xfrm>
            <a:off x="1865285" y="3618555"/>
            <a:ext cx="4477085"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Phương thức HTTP và định dạng của cả 4 kênh theo tài liệu VNPAY</a:t>
            </a:r>
            <a:endParaRPr lang="en-US" sz="1100" dirty="0"/>
          </a:p>
        </p:txBody>
      </p:sp>
      <p:sp>
        <p:nvSpPr>
          <p:cNvPr id="69" name="Shape 67"/>
          <p:cNvSpPr/>
          <p:nvPr/>
        </p:nvSpPr>
        <p:spPr>
          <a:xfrm>
            <a:off x="660380" y="3995196"/>
            <a:ext cx="10870936" cy="400050"/>
          </a:xfrm>
          <a:prstGeom prst="roundRect">
            <a:avLst>
              <a:gd name="adj" fmla="val 19040"/>
            </a:avLst>
          </a:prstGeom>
          <a:solidFill>
            <a:srgbClr val="FFFFFF"/>
          </a:solidFill>
          <a:ln w="6350">
            <a:solidFill>
              <a:srgbClr val="E3E6EA"/>
            </a:solidFill>
            <a:prstDash val="solid"/>
          </a:ln>
        </p:spPr>
      </p:sp>
      <p:sp>
        <p:nvSpPr>
          <p:cNvPr id="70" name="Shape 68"/>
          <p:cNvSpPr/>
          <p:nvPr/>
        </p:nvSpPr>
        <p:spPr>
          <a:xfrm>
            <a:off x="780989" y="4090477"/>
            <a:ext cx="723748" cy="209580"/>
          </a:xfrm>
          <a:prstGeom prst="roundRect">
            <a:avLst>
              <a:gd name="adj" fmla="val 50000"/>
            </a:avLst>
          </a:prstGeom>
          <a:solidFill>
            <a:srgbClr val="DEF3E8"/>
          </a:solidFill>
          <a:ln/>
        </p:spPr>
      </p:sp>
      <p:sp>
        <p:nvSpPr>
          <p:cNvPr id="71" name="Text 69"/>
          <p:cNvSpPr txBox="1"/>
          <p:nvPr/>
        </p:nvSpPr>
        <p:spPr>
          <a:xfrm>
            <a:off x="857250" y="4121749"/>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72" name="Text 70"/>
          <p:cNvSpPr txBox="1"/>
          <p:nvPr/>
        </p:nvSpPr>
        <p:spPr>
          <a:xfrm>
            <a:off x="1606418" y="4094775"/>
            <a:ext cx="4034058"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Kênh 4 không bắt buộc, mình dùng để hỏi lại khi IPN chưa về</a:t>
            </a:r>
            <a:endParaRPr lang="en-US" sz="1100" dirty="0"/>
          </a:p>
        </p:txBody>
      </p:sp>
      <p:sp>
        <p:nvSpPr>
          <p:cNvPr id="73" name="Text 71"/>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74" name="Text 72"/>
          <p:cNvSpPr txBox="1"/>
          <p:nvPr/>
        </p:nvSpPr>
        <p:spPr>
          <a:xfrm>
            <a:off x="11464107" y="6472763"/>
            <a:ext cx="143378"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5</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430213"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Giao tiếp với VNPAY</a:t>
            </a:r>
            <a:endParaRPr lang="en-US" sz="1100" dirty="0"/>
          </a:p>
        </p:txBody>
      </p:sp>
      <p:sp>
        <p:nvSpPr>
          <p:cNvPr id="3" name="Text 1"/>
          <p:cNvSpPr txBox="1"/>
          <p:nvPr/>
        </p:nvSpPr>
        <p:spPr>
          <a:xfrm>
            <a:off x="660380" y="643829"/>
            <a:ext cx="7819034"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Thứ tự các bước trong một lần thanh toán</a:t>
            </a:r>
            <a:endParaRPr lang="en-US" sz="3000" dirty="0"/>
          </a:p>
        </p:txBody>
      </p:sp>
      <p:sp>
        <p:nvSpPr>
          <p:cNvPr id="4" name="Shape 2"/>
          <p:cNvSpPr/>
          <p:nvPr/>
        </p:nvSpPr>
        <p:spPr>
          <a:xfrm>
            <a:off x="660380" y="1347368"/>
            <a:ext cx="10870936" cy="647670"/>
          </a:xfrm>
          <a:prstGeom prst="roundRect">
            <a:avLst>
              <a:gd name="adj" fmla="val 15685"/>
            </a:avLst>
          </a:prstGeom>
          <a:solidFill>
            <a:srgbClr val="FFFFFF"/>
          </a:solidFill>
          <a:ln w="6350">
            <a:solidFill>
              <a:srgbClr val="E3E6EA"/>
            </a:solidFill>
            <a:prstDash val="solid"/>
          </a:ln>
        </p:spPr>
      </p:sp>
      <p:sp>
        <p:nvSpPr>
          <p:cNvPr id="5" name="Shape 3"/>
          <p:cNvSpPr/>
          <p:nvPr/>
        </p:nvSpPr>
        <p:spPr>
          <a:xfrm>
            <a:off x="844540" y="1493398"/>
            <a:ext cx="355610" cy="355610"/>
          </a:xfrm>
          <a:prstGeom prst="roundRect">
            <a:avLst>
              <a:gd name="adj" fmla="val 21419"/>
            </a:avLst>
          </a:prstGeom>
          <a:solidFill>
            <a:srgbClr val="DDE3EA"/>
          </a:solidFill>
          <a:ln/>
        </p:spPr>
      </p:sp>
      <p:sp>
        <p:nvSpPr>
          <p:cNvPr id="6" name="Text 4"/>
          <p:cNvSpPr txBox="1"/>
          <p:nvPr/>
        </p:nvSpPr>
        <p:spPr>
          <a:xfrm>
            <a:off x="934608" y="1562892"/>
            <a:ext cx="175290" cy="247620"/>
          </a:xfrm>
          <a:prstGeom prst="rect">
            <a:avLst/>
          </a:prstGeom>
          <a:noFill/>
          <a:ln/>
        </p:spPr>
        <p:txBody>
          <a:bodyPr wrap="square" lIns="0" tIns="0" rIns="0" bIns="0" rtlCol="0" anchor="ctr"/>
          <a:lstStyle/>
          <a:p>
            <a:pPr algn="ctr" indent="0" marL="0">
              <a:buNone/>
            </a:pPr>
            <a:r>
              <a:rPr lang="en-US" sz="1300" b="1" dirty="0">
                <a:solidFill>
                  <a:srgbClr val="111111"/>
                </a:solidFill>
                <a:latin typeface="Courier New" pitchFamily="34" charset="0"/>
                <a:ea typeface="Courier New" pitchFamily="34" charset="-122"/>
                <a:cs typeface="Courier New" pitchFamily="34" charset="-120"/>
              </a:rPr>
              <a:t>1</a:t>
            </a:r>
            <a:endParaRPr lang="en-US" sz="1300" dirty="0"/>
          </a:p>
        </p:txBody>
      </p:sp>
      <p:sp>
        <p:nvSpPr>
          <p:cNvPr id="7" name="Text 5"/>
          <p:cNvSpPr txBox="1"/>
          <p:nvPr/>
        </p:nvSpPr>
        <p:spPr>
          <a:xfrm>
            <a:off x="1377909" y="1583466"/>
            <a:ext cx="1168237" cy="209580"/>
          </a:xfrm>
          <a:prstGeom prst="rect">
            <a:avLst/>
          </a:prstGeom>
          <a:noFill/>
          <a:ln/>
        </p:spPr>
        <p:txBody>
          <a:bodyPr wrap="square" lIns="0" tIns="0" rIns="0" bIns="0" rtlCol="0" anchor="ctr"/>
          <a:lstStyle/>
          <a:p>
            <a:pPr algn="l" indent="0" marL="0">
              <a:buNone/>
            </a:pPr>
            <a:r>
              <a:rPr lang="en-US" sz="1100" b="1" dirty="0">
                <a:solidFill>
                  <a:srgbClr val="6B7280"/>
                </a:solidFill>
                <a:latin typeface="Arial" pitchFamily="34" charset="0"/>
                <a:ea typeface="Arial" pitchFamily="34" charset="-122"/>
                <a:cs typeface="Arial" pitchFamily="34" charset="-120"/>
              </a:rPr>
              <a:t>Web → Payment</a:t>
            </a:r>
            <a:endParaRPr lang="en-US" sz="1100" dirty="0"/>
          </a:p>
        </p:txBody>
      </p:sp>
      <p:sp>
        <p:nvSpPr>
          <p:cNvPr id="8" name="Text 6"/>
          <p:cNvSpPr txBox="1"/>
          <p:nvPr/>
        </p:nvSpPr>
        <p:spPr>
          <a:xfrm>
            <a:off x="3397179" y="1557772"/>
            <a:ext cx="4496471" cy="257129"/>
          </a:xfrm>
          <a:prstGeom prst="rect">
            <a:avLst/>
          </a:prstGeom>
          <a:noFill/>
          <a:ln/>
        </p:spPr>
        <p:txBody>
          <a:bodyPr wrap="square" lIns="0" tIns="0" rIns="0" bIns="0" rtlCol="0" anchor="ctr"/>
          <a:lstStyle/>
          <a:p>
            <a:pPr algn="l" indent="0" marL="0">
              <a:buNone/>
            </a:pPr>
            <a:r>
              <a:rPr lang="en-US" sz="1350" dirty="0">
                <a:solidFill>
                  <a:srgbClr val="111111"/>
                </a:solidFill>
                <a:latin typeface="Courier New" pitchFamily="34" charset="0"/>
                <a:ea typeface="Courier New" pitchFamily="34" charset="-122"/>
                <a:cs typeface="Courier New" pitchFamily="34" charset="-120"/>
              </a:rPr>
              <a:t>POST /api/payments</a:t>
            </a:r>
            <a:pPr algn="l" indent="0" marL="0">
              <a:buNone/>
            </a:pPr>
            <a:r>
              <a:rPr lang="en-US" sz="1350" dirty="0">
                <a:solidFill>
                  <a:srgbClr val="111111"/>
                </a:solidFill>
                <a:latin typeface="Arial" pitchFamily="34" charset="0"/>
                <a:ea typeface="Arial" pitchFamily="34" charset="-122"/>
                <a:cs typeface="Arial" pitchFamily="34" charset="-120"/>
              </a:rPr>
              <a:t>: lưu đơn PENDING, ký, trả link</a:t>
            </a:r>
            <a:endParaRPr lang="en-US" sz="1350" dirty="0"/>
          </a:p>
        </p:txBody>
      </p:sp>
      <p:sp>
        <p:nvSpPr>
          <p:cNvPr id="9" name="Shape 7"/>
          <p:cNvSpPr/>
          <p:nvPr/>
        </p:nvSpPr>
        <p:spPr>
          <a:xfrm>
            <a:off x="10394808" y="1515618"/>
            <a:ext cx="952348" cy="311170"/>
          </a:xfrm>
          <a:prstGeom prst="roundRect">
            <a:avLst>
              <a:gd name="adj" fmla="val 49985"/>
            </a:avLst>
          </a:prstGeom>
          <a:solidFill>
            <a:srgbClr val="DEF3E8"/>
          </a:solidFill>
          <a:ln/>
        </p:spPr>
      </p:sp>
      <p:sp>
        <p:nvSpPr>
          <p:cNvPr id="10" name="Text 8"/>
          <p:cNvSpPr txBox="1"/>
          <p:nvPr/>
        </p:nvSpPr>
        <p:spPr>
          <a:xfrm>
            <a:off x="10521818" y="1583466"/>
            <a:ext cx="774588" cy="209580"/>
          </a:xfrm>
          <a:prstGeom prst="rect">
            <a:avLst/>
          </a:prstGeom>
          <a:noFill/>
          <a:ln/>
        </p:spPr>
        <p:txBody>
          <a:bodyPr wrap="square" lIns="0" tIns="0" rIns="0" bIns="0" rtlCol="0" anchor="ctr"/>
          <a:lstStyle/>
          <a:p>
            <a:pPr algn="l" indent="0" marL="0">
              <a:buNone/>
            </a:pPr>
            <a:r>
              <a:rPr lang="en-US" sz="1100" b="1" dirty="0">
                <a:solidFill>
                  <a:srgbClr val="0B6B47"/>
                </a:solidFill>
                <a:latin typeface="Arial" pitchFamily="34" charset="0"/>
                <a:ea typeface="Arial" pitchFamily="34" charset="-122"/>
                <a:cs typeface="Arial" pitchFamily="34" charset="-120"/>
              </a:rPr>
              <a:t>Mình chọn</a:t>
            </a:r>
            <a:endParaRPr lang="en-US" sz="1100" dirty="0"/>
          </a:p>
        </p:txBody>
      </p:sp>
      <p:sp>
        <p:nvSpPr>
          <p:cNvPr id="11" name="Shape 9"/>
          <p:cNvSpPr/>
          <p:nvPr/>
        </p:nvSpPr>
        <p:spPr>
          <a:xfrm>
            <a:off x="660380" y="2172797"/>
            <a:ext cx="10870936" cy="647670"/>
          </a:xfrm>
          <a:prstGeom prst="roundRect">
            <a:avLst>
              <a:gd name="adj" fmla="val 15685"/>
            </a:avLst>
          </a:prstGeom>
          <a:solidFill>
            <a:srgbClr val="FFFFFF"/>
          </a:solidFill>
          <a:ln w="6350">
            <a:solidFill>
              <a:srgbClr val="E3E6EA"/>
            </a:solidFill>
            <a:prstDash val="solid"/>
          </a:ln>
        </p:spPr>
      </p:sp>
      <p:sp>
        <p:nvSpPr>
          <p:cNvPr id="12" name="Shape 10"/>
          <p:cNvSpPr/>
          <p:nvPr/>
        </p:nvSpPr>
        <p:spPr>
          <a:xfrm>
            <a:off x="844540" y="2318918"/>
            <a:ext cx="355610" cy="355610"/>
          </a:xfrm>
          <a:prstGeom prst="roundRect">
            <a:avLst>
              <a:gd name="adj" fmla="val 21419"/>
            </a:avLst>
          </a:prstGeom>
          <a:solidFill>
            <a:srgbClr val="DDE3EA"/>
          </a:solidFill>
          <a:ln/>
        </p:spPr>
      </p:sp>
      <p:sp>
        <p:nvSpPr>
          <p:cNvPr id="13" name="Text 11"/>
          <p:cNvSpPr txBox="1"/>
          <p:nvPr/>
        </p:nvSpPr>
        <p:spPr>
          <a:xfrm>
            <a:off x="934608" y="2388321"/>
            <a:ext cx="175290" cy="247620"/>
          </a:xfrm>
          <a:prstGeom prst="rect">
            <a:avLst/>
          </a:prstGeom>
          <a:noFill/>
          <a:ln/>
        </p:spPr>
        <p:txBody>
          <a:bodyPr wrap="square" lIns="0" tIns="0" rIns="0" bIns="0" rtlCol="0" anchor="ctr"/>
          <a:lstStyle/>
          <a:p>
            <a:pPr algn="ctr" indent="0" marL="0">
              <a:buNone/>
            </a:pPr>
            <a:r>
              <a:rPr lang="en-US" sz="1300" b="1" dirty="0">
                <a:solidFill>
                  <a:srgbClr val="111111"/>
                </a:solidFill>
                <a:latin typeface="Courier New" pitchFamily="34" charset="0"/>
                <a:ea typeface="Courier New" pitchFamily="34" charset="-122"/>
                <a:cs typeface="Courier New" pitchFamily="34" charset="-120"/>
              </a:rPr>
              <a:t>2</a:t>
            </a:r>
            <a:endParaRPr lang="en-US" sz="1300" dirty="0"/>
          </a:p>
        </p:txBody>
      </p:sp>
      <p:sp>
        <p:nvSpPr>
          <p:cNvPr id="14" name="Text 12"/>
          <p:cNvSpPr txBox="1"/>
          <p:nvPr/>
        </p:nvSpPr>
        <p:spPr>
          <a:xfrm>
            <a:off x="1377909" y="2408895"/>
            <a:ext cx="1513972" cy="209580"/>
          </a:xfrm>
          <a:prstGeom prst="rect">
            <a:avLst/>
          </a:prstGeom>
          <a:noFill/>
          <a:ln/>
        </p:spPr>
        <p:txBody>
          <a:bodyPr wrap="square" lIns="0" tIns="0" rIns="0" bIns="0" rtlCol="0" anchor="ctr"/>
          <a:lstStyle/>
          <a:p>
            <a:pPr algn="l" indent="0" marL="0">
              <a:buNone/>
            </a:pPr>
            <a:r>
              <a:rPr lang="en-US" sz="1100" b="1" dirty="0">
                <a:solidFill>
                  <a:srgbClr val="6B7280"/>
                </a:solidFill>
                <a:latin typeface="Arial" pitchFamily="34" charset="0"/>
                <a:ea typeface="Arial" pitchFamily="34" charset="-122"/>
                <a:cs typeface="Arial" pitchFamily="34" charset="-120"/>
              </a:rPr>
              <a:t>Trình duyệt → VNPAY</a:t>
            </a:r>
            <a:endParaRPr lang="en-US" sz="1100" dirty="0"/>
          </a:p>
        </p:txBody>
      </p:sp>
      <p:sp>
        <p:nvSpPr>
          <p:cNvPr id="15" name="Text 13"/>
          <p:cNvSpPr txBox="1"/>
          <p:nvPr/>
        </p:nvSpPr>
        <p:spPr>
          <a:xfrm>
            <a:off x="3397179" y="2383201"/>
            <a:ext cx="5320162" cy="257129"/>
          </a:xfrm>
          <a:prstGeom prst="rect">
            <a:avLst/>
          </a:prstGeom>
          <a:noFill/>
          <a:ln/>
        </p:spPr>
        <p:txBody>
          <a:bodyPr wrap="square" lIns="0" tIns="0" rIns="0" bIns="0" rtlCol="0" anchor="ctr"/>
          <a:lstStyle/>
          <a:p>
            <a:pPr algn="l" indent="0" marL="0">
              <a:buNone/>
            </a:pPr>
            <a:r>
              <a:rPr lang="en-US" sz="1350" dirty="0">
                <a:solidFill>
                  <a:srgbClr val="111111"/>
                </a:solidFill>
                <a:latin typeface="Courier New" pitchFamily="34" charset="0"/>
                <a:ea typeface="Courier New" pitchFamily="34" charset="-122"/>
                <a:cs typeface="Courier New" pitchFamily="34" charset="-120"/>
              </a:rPr>
              <a:t>GET vpcpay.html?vnp_...</a:t>
            </a:r>
            <a:pPr algn="l" indent="0" marL="0">
              <a:buNone/>
            </a:pPr>
            <a:r>
              <a:rPr lang="en-US" sz="1350" dirty="0">
                <a:solidFill>
                  <a:srgbClr val="111111"/>
                </a:solidFill>
                <a:latin typeface="Arial" pitchFamily="34" charset="0"/>
                <a:ea typeface="Arial" pitchFamily="34" charset="-122"/>
                <a:cs typeface="Arial" pitchFamily="34" charset="-120"/>
              </a:rPr>
              <a:t>: khách nhập thẻ trên trang VNPAY</a:t>
            </a:r>
            <a:endParaRPr lang="en-US" sz="1350" dirty="0"/>
          </a:p>
        </p:txBody>
      </p:sp>
      <p:sp>
        <p:nvSpPr>
          <p:cNvPr id="16" name="Shape 14"/>
          <p:cNvSpPr/>
          <p:nvPr/>
        </p:nvSpPr>
        <p:spPr>
          <a:xfrm>
            <a:off x="10635021" y="2341138"/>
            <a:ext cx="712135" cy="311170"/>
          </a:xfrm>
          <a:prstGeom prst="roundRect">
            <a:avLst>
              <a:gd name="adj" fmla="val 49985"/>
            </a:avLst>
          </a:prstGeom>
          <a:solidFill>
            <a:srgbClr val="FDE8E6"/>
          </a:solidFill>
          <a:ln/>
        </p:spPr>
      </p:sp>
      <p:sp>
        <p:nvSpPr>
          <p:cNvPr id="17" name="Text 15"/>
          <p:cNvSpPr txBox="1"/>
          <p:nvPr/>
        </p:nvSpPr>
        <p:spPr>
          <a:xfrm>
            <a:off x="10762031" y="2408895"/>
            <a:ext cx="534375" cy="209580"/>
          </a:xfrm>
          <a:prstGeom prst="rect">
            <a:avLst/>
          </a:prstGeom>
          <a:noFill/>
          <a:ln/>
        </p:spPr>
        <p:txBody>
          <a:bodyPr wrap="square" lIns="0" tIns="0" rIns="0" bIns="0" rtlCol="0" anchor="ctr"/>
          <a:lstStyle/>
          <a:p>
            <a:pPr algn="l" indent="0" marL="0">
              <a:buNone/>
            </a:pPr>
            <a:r>
              <a:rPr lang="en-US" sz="1100" b="1" dirty="0">
                <a:solidFill>
                  <a:srgbClr val="C42B22"/>
                </a:solidFill>
                <a:latin typeface="Arial" pitchFamily="34" charset="0"/>
                <a:ea typeface="Arial" pitchFamily="34" charset="-122"/>
                <a:cs typeface="Arial" pitchFamily="34" charset="-120"/>
              </a:rPr>
              <a:t>VNPAY</a:t>
            </a:r>
            <a:endParaRPr lang="en-US" sz="1100" dirty="0"/>
          </a:p>
        </p:txBody>
      </p:sp>
      <p:sp>
        <p:nvSpPr>
          <p:cNvPr id="18" name="Shape 16"/>
          <p:cNvSpPr/>
          <p:nvPr/>
        </p:nvSpPr>
        <p:spPr>
          <a:xfrm>
            <a:off x="660380" y="2998318"/>
            <a:ext cx="10870936" cy="647670"/>
          </a:xfrm>
          <a:prstGeom prst="roundRect">
            <a:avLst>
              <a:gd name="adj" fmla="val 15685"/>
            </a:avLst>
          </a:prstGeom>
          <a:solidFill>
            <a:srgbClr val="ECF2FF"/>
          </a:solidFill>
          <a:ln w="6350">
            <a:solidFill>
              <a:srgbClr val="E3E6EA"/>
            </a:solidFill>
            <a:prstDash val="solid"/>
          </a:ln>
        </p:spPr>
      </p:sp>
      <p:sp>
        <p:nvSpPr>
          <p:cNvPr id="19" name="Shape 17"/>
          <p:cNvSpPr/>
          <p:nvPr/>
        </p:nvSpPr>
        <p:spPr>
          <a:xfrm>
            <a:off x="844540" y="3144347"/>
            <a:ext cx="355610" cy="355610"/>
          </a:xfrm>
          <a:prstGeom prst="roundRect">
            <a:avLst>
              <a:gd name="adj" fmla="val 21419"/>
            </a:avLst>
          </a:prstGeom>
          <a:solidFill>
            <a:srgbClr val="0066FF"/>
          </a:solidFill>
          <a:ln/>
        </p:spPr>
      </p:sp>
      <p:sp>
        <p:nvSpPr>
          <p:cNvPr id="20" name="Text 18"/>
          <p:cNvSpPr txBox="1"/>
          <p:nvPr/>
        </p:nvSpPr>
        <p:spPr>
          <a:xfrm>
            <a:off x="934608" y="3213842"/>
            <a:ext cx="175290" cy="24762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3</a:t>
            </a:r>
            <a:endParaRPr lang="en-US" sz="1300" dirty="0"/>
          </a:p>
        </p:txBody>
      </p:sp>
      <p:sp>
        <p:nvSpPr>
          <p:cNvPr id="21" name="Text 19"/>
          <p:cNvSpPr txBox="1"/>
          <p:nvPr/>
        </p:nvSpPr>
        <p:spPr>
          <a:xfrm>
            <a:off x="1377909" y="3234416"/>
            <a:ext cx="1331458" cy="209580"/>
          </a:xfrm>
          <a:prstGeom prst="rect">
            <a:avLst/>
          </a:prstGeom>
          <a:noFill/>
          <a:ln/>
        </p:spPr>
        <p:txBody>
          <a:bodyPr wrap="square" lIns="0" tIns="0" rIns="0" bIns="0" rtlCol="0" anchor="ctr"/>
          <a:lstStyle/>
          <a:p>
            <a:pPr algn="l" indent="0" marL="0">
              <a:buNone/>
            </a:pPr>
            <a:r>
              <a:rPr lang="en-US" sz="1100" b="1" dirty="0">
                <a:solidFill>
                  <a:srgbClr val="6B7280"/>
                </a:solidFill>
                <a:latin typeface="Arial" pitchFamily="34" charset="0"/>
                <a:ea typeface="Arial" pitchFamily="34" charset="-122"/>
                <a:cs typeface="Arial" pitchFamily="34" charset="-120"/>
              </a:rPr>
              <a:t>VNPAY → Payment</a:t>
            </a:r>
            <a:endParaRPr lang="en-US" sz="1100" dirty="0"/>
          </a:p>
        </p:txBody>
      </p:sp>
      <p:sp>
        <p:nvSpPr>
          <p:cNvPr id="22" name="Text 20"/>
          <p:cNvSpPr txBox="1"/>
          <p:nvPr/>
        </p:nvSpPr>
        <p:spPr>
          <a:xfrm>
            <a:off x="3397179" y="3208721"/>
            <a:ext cx="4417649" cy="257129"/>
          </a:xfrm>
          <a:prstGeom prst="rect">
            <a:avLst/>
          </a:prstGeom>
          <a:noFill/>
          <a:ln/>
        </p:spPr>
        <p:txBody>
          <a:bodyPr wrap="square" lIns="0" tIns="0" rIns="0" bIns="0" rtlCol="0" anchor="ctr"/>
          <a:lstStyle/>
          <a:p>
            <a:pPr algn="l" indent="0" marL="0">
              <a:buNone/>
            </a:pPr>
            <a:r>
              <a:rPr lang="en-US" sz="1350" dirty="0">
                <a:solidFill>
                  <a:srgbClr val="111111"/>
                </a:solidFill>
                <a:latin typeface="Courier New" pitchFamily="34" charset="0"/>
                <a:ea typeface="Courier New" pitchFamily="34" charset="-122"/>
                <a:cs typeface="Courier New" pitchFamily="34" charset="-120"/>
              </a:rPr>
              <a:t>GET /vnpay/ipn?vnp_...</a:t>
            </a:r>
            <a:pPr algn="l" indent="0" marL="0">
              <a:buNone/>
            </a:pPr>
            <a:r>
              <a:rPr lang="en-US" sz="1350" dirty="0">
                <a:solidFill>
                  <a:srgbClr val="111111"/>
                </a:solidFill>
                <a:latin typeface="Arial" pitchFamily="34" charset="0"/>
                <a:ea typeface="Arial" pitchFamily="34" charset="-122"/>
                <a:cs typeface="Arial" pitchFamily="34" charset="-120"/>
              </a:rPr>
              <a:t>: cập nhật đơn, trả JSON</a:t>
            </a:r>
            <a:endParaRPr lang="en-US" sz="1350" dirty="0"/>
          </a:p>
        </p:txBody>
      </p:sp>
      <p:sp>
        <p:nvSpPr>
          <p:cNvPr id="23" name="Shape 21"/>
          <p:cNvSpPr/>
          <p:nvPr/>
        </p:nvSpPr>
        <p:spPr>
          <a:xfrm>
            <a:off x="10635021" y="3166567"/>
            <a:ext cx="712135" cy="311170"/>
          </a:xfrm>
          <a:prstGeom prst="roundRect">
            <a:avLst>
              <a:gd name="adj" fmla="val 49985"/>
            </a:avLst>
          </a:prstGeom>
          <a:solidFill>
            <a:srgbClr val="FDE8E6"/>
          </a:solidFill>
          <a:ln/>
        </p:spPr>
      </p:sp>
      <p:sp>
        <p:nvSpPr>
          <p:cNvPr id="24" name="Text 22"/>
          <p:cNvSpPr txBox="1"/>
          <p:nvPr/>
        </p:nvSpPr>
        <p:spPr>
          <a:xfrm>
            <a:off x="10762031" y="3234416"/>
            <a:ext cx="534375" cy="209580"/>
          </a:xfrm>
          <a:prstGeom prst="rect">
            <a:avLst/>
          </a:prstGeom>
          <a:noFill/>
          <a:ln/>
        </p:spPr>
        <p:txBody>
          <a:bodyPr wrap="square" lIns="0" tIns="0" rIns="0" bIns="0" rtlCol="0" anchor="ctr"/>
          <a:lstStyle/>
          <a:p>
            <a:pPr algn="l" indent="0" marL="0">
              <a:buNone/>
            </a:pPr>
            <a:r>
              <a:rPr lang="en-US" sz="1100" b="1" dirty="0">
                <a:solidFill>
                  <a:srgbClr val="C42B22"/>
                </a:solidFill>
                <a:latin typeface="Arial" pitchFamily="34" charset="0"/>
                <a:ea typeface="Arial" pitchFamily="34" charset="-122"/>
                <a:cs typeface="Arial" pitchFamily="34" charset="-120"/>
              </a:rPr>
              <a:t>VNPAY</a:t>
            </a:r>
            <a:endParaRPr lang="en-US" sz="1100" dirty="0"/>
          </a:p>
        </p:txBody>
      </p:sp>
      <p:sp>
        <p:nvSpPr>
          <p:cNvPr id="25" name="Shape 23"/>
          <p:cNvSpPr/>
          <p:nvPr/>
        </p:nvSpPr>
        <p:spPr>
          <a:xfrm>
            <a:off x="660380" y="3823838"/>
            <a:ext cx="10870936" cy="647670"/>
          </a:xfrm>
          <a:prstGeom prst="roundRect">
            <a:avLst>
              <a:gd name="adj" fmla="val 15685"/>
            </a:avLst>
          </a:prstGeom>
          <a:solidFill>
            <a:srgbClr val="FFFFFF"/>
          </a:solidFill>
          <a:ln w="6350">
            <a:solidFill>
              <a:srgbClr val="E3E6EA"/>
            </a:solidFill>
            <a:prstDash val="solid"/>
          </a:ln>
        </p:spPr>
      </p:sp>
      <p:sp>
        <p:nvSpPr>
          <p:cNvPr id="26" name="Shape 24"/>
          <p:cNvSpPr/>
          <p:nvPr/>
        </p:nvSpPr>
        <p:spPr>
          <a:xfrm>
            <a:off x="844540" y="3969868"/>
            <a:ext cx="355610" cy="355610"/>
          </a:xfrm>
          <a:prstGeom prst="roundRect">
            <a:avLst>
              <a:gd name="adj" fmla="val 21419"/>
            </a:avLst>
          </a:prstGeom>
          <a:solidFill>
            <a:srgbClr val="DDE3EA"/>
          </a:solidFill>
          <a:ln/>
        </p:spPr>
      </p:sp>
      <p:sp>
        <p:nvSpPr>
          <p:cNvPr id="27" name="Text 25"/>
          <p:cNvSpPr txBox="1"/>
          <p:nvPr/>
        </p:nvSpPr>
        <p:spPr>
          <a:xfrm>
            <a:off x="934608" y="4039271"/>
            <a:ext cx="175290" cy="247620"/>
          </a:xfrm>
          <a:prstGeom prst="rect">
            <a:avLst/>
          </a:prstGeom>
          <a:noFill/>
          <a:ln/>
        </p:spPr>
        <p:txBody>
          <a:bodyPr wrap="square" lIns="0" tIns="0" rIns="0" bIns="0" rtlCol="0" anchor="ctr"/>
          <a:lstStyle/>
          <a:p>
            <a:pPr algn="ctr" indent="0" marL="0">
              <a:buNone/>
            </a:pPr>
            <a:r>
              <a:rPr lang="en-US" sz="1300" b="1" dirty="0">
                <a:solidFill>
                  <a:srgbClr val="111111"/>
                </a:solidFill>
                <a:latin typeface="Courier New" pitchFamily="34" charset="0"/>
                <a:ea typeface="Courier New" pitchFamily="34" charset="-122"/>
                <a:cs typeface="Courier New" pitchFamily="34" charset="-120"/>
              </a:rPr>
              <a:t>4</a:t>
            </a:r>
            <a:endParaRPr lang="en-US" sz="1300" dirty="0"/>
          </a:p>
        </p:txBody>
      </p:sp>
      <p:sp>
        <p:nvSpPr>
          <p:cNvPr id="28" name="Text 26"/>
          <p:cNvSpPr txBox="1"/>
          <p:nvPr/>
        </p:nvSpPr>
        <p:spPr>
          <a:xfrm>
            <a:off x="1377909" y="4059845"/>
            <a:ext cx="1478402" cy="209580"/>
          </a:xfrm>
          <a:prstGeom prst="rect">
            <a:avLst/>
          </a:prstGeom>
          <a:noFill/>
          <a:ln/>
        </p:spPr>
        <p:txBody>
          <a:bodyPr wrap="square" lIns="0" tIns="0" rIns="0" bIns="0" rtlCol="0" anchor="ctr"/>
          <a:lstStyle/>
          <a:p>
            <a:pPr algn="l" indent="0" marL="0">
              <a:buNone/>
            </a:pPr>
            <a:r>
              <a:rPr lang="en-US" sz="1100" b="1" dirty="0">
                <a:solidFill>
                  <a:srgbClr val="6B7280"/>
                </a:solidFill>
                <a:latin typeface="Arial" pitchFamily="34" charset="0"/>
                <a:ea typeface="Arial" pitchFamily="34" charset="-122"/>
                <a:cs typeface="Arial" pitchFamily="34" charset="-120"/>
              </a:rPr>
              <a:t>VNPAY → trình duyệt</a:t>
            </a:r>
            <a:endParaRPr lang="en-US" sz="1100" dirty="0"/>
          </a:p>
        </p:txBody>
      </p:sp>
      <p:sp>
        <p:nvSpPr>
          <p:cNvPr id="29" name="Text 27"/>
          <p:cNvSpPr txBox="1"/>
          <p:nvPr/>
        </p:nvSpPr>
        <p:spPr>
          <a:xfrm>
            <a:off x="3397179" y="4034150"/>
            <a:ext cx="4060119" cy="257129"/>
          </a:xfrm>
          <a:prstGeom prst="rect">
            <a:avLst/>
          </a:prstGeom>
          <a:noFill/>
          <a:ln/>
        </p:spPr>
        <p:txBody>
          <a:bodyPr wrap="square" lIns="0" tIns="0" rIns="0" bIns="0" rtlCol="0" anchor="ctr"/>
          <a:lstStyle/>
          <a:p>
            <a:pPr algn="l" indent="0" marL="0">
              <a:buNone/>
            </a:pPr>
            <a:r>
              <a:rPr lang="en-US" sz="1350" dirty="0">
                <a:solidFill>
                  <a:srgbClr val="111111"/>
                </a:solidFill>
                <a:latin typeface="Courier New" pitchFamily="34" charset="0"/>
                <a:ea typeface="Courier New" pitchFamily="34" charset="-122"/>
                <a:cs typeface="Courier New" pitchFamily="34" charset="-120"/>
              </a:rPr>
              <a:t>GET /vnpay/return?vnp_...</a:t>
            </a:r>
            <a:pPr algn="l" indent="0" marL="0">
              <a:buNone/>
            </a:pPr>
            <a:r>
              <a:rPr lang="en-US" sz="1350" dirty="0">
                <a:solidFill>
                  <a:srgbClr val="111111"/>
                </a:solidFill>
                <a:latin typeface="Arial" pitchFamily="34" charset="0"/>
                <a:ea typeface="Arial" pitchFamily="34" charset="-122"/>
                <a:cs typeface="Arial" pitchFamily="34" charset="-120"/>
              </a:rPr>
              <a:t>: hiển thị kết quả</a:t>
            </a:r>
            <a:endParaRPr lang="en-US" sz="1350" dirty="0"/>
          </a:p>
        </p:txBody>
      </p:sp>
      <p:sp>
        <p:nvSpPr>
          <p:cNvPr id="30" name="Shape 28"/>
          <p:cNvSpPr/>
          <p:nvPr/>
        </p:nvSpPr>
        <p:spPr>
          <a:xfrm>
            <a:off x="10635021" y="3992088"/>
            <a:ext cx="712135" cy="311170"/>
          </a:xfrm>
          <a:prstGeom prst="roundRect">
            <a:avLst>
              <a:gd name="adj" fmla="val 49985"/>
            </a:avLst>
          </a:prstGeom>
          <a:solidFill>
            <a:srgbClr val="FDE8E6"/>
          </a:solidFill>
          <a:ln/>
        </p:spPr>
      </p:sp>
      <p:sp>
        <p:nvSpPr>
          <p:cNvPr id="31" name="Text 29"/>
          <p:cNvSpPr txBox="1"/>
          <p:nvPr/>
        </p:nvSpPr>
        <p:spPr>
          <a:xfrm>
            <a:off x="10762031" y="4059845"/>
            <a:ext cx="534375" cy="209580"/>
          </a:xfrm>
          <a:prstGeom prst="rect">
            <a:avLst/>
          </a:prstGeom>
          <a:noFill/>
          <a:ln/>
        </p:spPr>
        <p:txBody>
          <a:bodyPr wrap="square" lIns="0" tIns="0" rIns="0" bIns="0" rtlCol="0" anchor="ctr"/>
          <a:lstStyle/>
          <a:p>
            <a:pPr algn="l" indent="0" marL="0">
              <a:buNone/>
            </a:pPr>
            <a:r>
              <a:rPr lang="en-US" sz="1100" b="1" dirty="0">
                <a:solidFill>
                  <a:srgbClr val="C42B22"/>
                </a:solidFill>
                <a:latin typeface="Arial" pitchFamily="34" charset="0"/>
                <a:ea typeface="Arial" pitchFamily="34" charset="-122"/>
                <a:cs typeface="Arial" pitchFamily="34" charset="-120"/>
              </a:rPr>
              <a:t>VNPAY</a:t>
            </a:r>
            <a:endParaRPr lang="en-US" sz="1100" dirty="0"/>
          </a:p>
        </p:txBody>
      </p:sp>
      <p:sp>
        <p:nvSpPr>
          <p:cNvPr id="32" name="Shape 30"/>
          <p:cNvSpPr/>
          <p:nvPr/>
        </p:nvSpPr>
        <p:spPr>
          <a:xfrm>
            <a:off x="660380" y="4649267"/>
            <a:ext cx="10870936" cy="647670"/>
          </a:xfrm>
          <a:prstGeom prst="roundRect">
            <a:avLst>
              <a:gd name="adj" fmla="val 15685"/>
            </a:avLst>
          </a:prstGeom>
          <a:solidFill>
            <a:srgbClr val="ECF2FF"/>
          </a:solidFill>
          <a:ln w="6350">
            <a:solidFill>
              <a:srgbClr val="E3E6EA"/>
            </a:solidFill>
            <a:prstDash val="solid"/>
          </a:ln>
        </p:spPr>
      </p:sp>
      <p:sp>
        <p:nvSpPr>
          <p:cNvPr id="33" name="Shape 31"/>
          <p:cNvSpPr/>
          <p:nvPr/>
        </p:nvSpPr>
        <p:spPr>
          <a:xfrm>
            <a:off x="844540" y="4795296"/>
            <a:ext cx="355610" cy="355610"/>
          </a:xfrm>
          <a:prstGeom prst="roundRect">
            <a:avLst>
              <a:gd name="adj" fmla="val 21419"/>
            </a:avLst>
          </a:prstGeom>
          <a:solidFill>
            <a:srgbClr val="0066FF"/>
          </a:solidFill>
          <a:ln/>
        </p:spPr>
      </p:sp>
      <p:sp>
        <p:nvSpPr>
          <p:cNvPr id="34" name="Text 32"/>
          <p:cNvSpPr txBox="1"/>
          <p:nvPr/>
        </p:nvSpPr>
        <p:spPr>
          <a:xfrm>
            <a:off x="934608" y="4864791"/>
            <a:ext cx="175290" cy="24762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5</a:t>
            </a:r>
            <a:endParaRPr lang="en-US" sz="1300" dirty="0"/>
          </a:p>
        </p:txBody>
      </p:sp>
      <p:sp>
        <p:nvSpPr>
          <p:cNvPr id="35" name="Text 33"/>
          <p:cNvSpPr txBox="1"/>
          <p:nvPr/>
        </p:nvSpPr>
        <p:spPr>
          <a:xfrm>
            <a:off x="1377909" y="4885365"/>
            <a:ext cx="1333927" cy="209580"/>
          </a:xfrm>
          <a:prstGeom prst="rect">
            <a:avLst/>
          </a:prstGeom>
          <a:noFill/>
          <a:ln/>
        </p:spPr>
        <p:txBody>
          <a:bodyPr wrap="square" lIns="0" tIns="0" rIns="0" bIns="0" rtlCol="0" anchor="ctr"/>
          <a:lstStyle/>
          <a:p>
            <a:pPr algn="l" indent="0" marL="0">
              <a:buNone/>
            </a:pPr>
            <a:r>
              <a:rPr lang="en-US" sz="1100" b="1" dirty="0">
                <a:solidFill>
                  <a:srgbClr val="6B7280"/>
                </a:solidFill>
                <a:latin typeface="Arial" pitchFamily="34" charset="0"/>
                <a:ea typeface="Arial" pitchFamily="34" charset="-122"/>
                <a:cs typeface="Arial" pitchFamily="34" charset="-120"/>
              </a:rPr>
              <a:t>Payment → VNPAY</a:t>
            </a:r>
            <a:endParaRPr lang="en-US" sz="1100" dirty="0"/>
          </a:p>
        </p:txBody>
      </p:sp>
      <p:sp>
        <p:nvSpPr>
          <p:cNvPr id="36" name="Text 34"/>
          <p:cNvSpPr txBox="1"/>
          <p:nvPr/>
        </p:nvSpPr>
        <p:spPr>
          <a:xfrm>
            <a:off x="3397179" y="4859670"/>
            <a:ext cx="3884646" cy="257129"/>
          </a:xfrm>
          <a:prstGeom prst="rect">
            <a:avLst/>
          </a:prstGeom>
          <a:noFill/>
          <a:ln/>
        </p:spPr>
        <p:txBody>
          <a:bodyPr wrap="square" lIns="0" tIns="0" rIns="0" bIns="0" rtlCol="0" anchor="ctr"/>
          <a:lstStyle/>
          <a:p>
            <a:pPr algn="l" indent="0" marL="0">
              <a:buNone/>
            </a:pPr>
            <a:r>
              <a:rPr lang="en-US" sz="1350" dirty="0">
                <a:solidFill>
                  <a:srgbClr val="111111"/>
                </a:solidFill>
                <a:latin typeface="Courier New" pitchFamily="34" charset="0"/>
                <a:ea typeface="Courier New" pitchFamily="34" charset="-122"/>
                <a:cs typeface="Courier New" pitchFamily="34" charset="-120"/>
              </a:rPr>
              <a:t>POST querydr</a:t>
            </a:r>
            <a:pPr algn="l" indent="0" marL="0">
              <a:buNone/>
            </a:pPr>
            <a:r>
              <a:rPr lang="en-US" sz="1350" dirty="0">
                <a:solidFill>
                  <a:srgbClr val="111111"/>
                </a:solidFill>
                <a:latin typeface="Arial" pitchFamily="34" charset="0"/>
                <a:ea typeface="Arial" pitchFamily="34" charset="-122"/>
                <a:cs typeface="Arial" pitchFamily="34" charset="-120"/>
              </a:rPr>
              <a:t> (JSON): hỏi lại khi IPN chưa về</a:t>
            </a:r>
            <a:endParaRPr lang="en-US" sz="1350" dirty="0"/>
          </a:p>
        </p:txBody>
      </p:sp>
      <p:sp>
        <p:nvSpPr>
          <p:cNvPr id="37" name="Shape 35"/>
          <p:cNvSpPr/>
          <p:nvPr/>
        </p:nvSpPr>
        <p:spPr>
          <a:xfrm>
            <a:off x="10394808" y="4817516"/>
            <a:ext cx="952348" cy="311170"/>
          </a:xfrm>
          <a:prstGeom prst="roundRect">
            <a:avLst>
              <a:gd name="adj" fmla="val 49985"/>
            </a:avLst>
          </a:prstGeom>
          <a:solidFill>
            <a:srgbClr val="DEF3E8"/>
          </a:solidFill>
          <a:ln/>
        </p:spPr>
      </p:sp>
      <p:sp>
        <p:nvSpPr>
          <p:cNvPr id="38" name="Text 36"/>
          <p:cNvSpPr txBox="1"/>
          <p:nvPr/>
        </p:nvSpPr>
        <p:spPr>
          <a:xfrm>
            <a:off x="10521818" y="4885365"/>
            <a:ext cx="774588" cy="209580"/>
          </a:xfrm>
          <a:prstGeom prst="rect">
            <a:avLst/>
          </a:prstGeom>
          <a:noFill/>
          <a:ln/>
        </p:spPr>
        <p:txBody>
          <a:bodyPr wrap="square" lIns="0" tIns="0" rIns="0" bIns="0" rtlCol="0" anchor="ctr"/>
          <a:lstStyle/>
          <a:p>
            <a:pPr algn="l" indent="0" marL="0">
              <a:buNone/>
            </a:pPr>
            <a:r>
              <a:rPr lang="en-US" sz="1100" b="1" dirty="0">
                <a:solidFill>
                  <a:srgbClr val="0B6B47"/>
                </a:solidFill>
                <a:latin typeface="Arial" pitchFamily="34" charset="0"/>
                <a:ea typeface="Arial" pitchFamily="34" charset="-122"/>
                <a:cs typeface="Arial" pitchFamily="34" charset="-120"/>
              </a:rPr>
              <a:t>Mình chọn</a:t>
            </a:r>
            <a:endParaRPr lang="en-US" sz="1100" dirty="0"/>
          </a:p>
        </p:txBody>
      </p:sp>
      <p:sp>
        <p:nvSpPr>
          <p:cNvPr id="39" name="Text 37"/>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40" name="Text 38"/>
          <p:cNvSpPr txBox="1"/>
          <p:nvPr/>
        </p:nvSpPr>
        <p:spPr>
          <a:xfrm>
            <a:off x="11464107" y="6472763"/>
            <a:ext cx="143378"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6</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650687"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Tham số</a:t>
            </a:r>
            <a:endParaRPr lang="en-US" sz="1100" dirty="0"/>
          </a:p>
        </p:txBody>
      </p:sp>
      <p:sp>
        <p:nvSpPr>
          <p:cNvPr id="3" name="Text 1"/>
          <p:cNvSpPr txBox="1"/>
          <p:nvPr/>
        </p:nvSpPr>
        <p:spPr>
          <a:xfrm>
            <a:off x="660380" y="643829"/>
            <a:ext cx="8875258"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Các tham số gửi sang VNPAY khi tạo thanh toán</a:t>
            </a:r>
            <a:endParaRPr lang="en-US" sz="3000" dirty="0"/>
          </a:p>
        </p:txBody>
      </p:sp>
      <p:sp>
        <p:nvSpPr>
          <p:cNvPr id="4" name="Shape 2"/>
          <p:cNvSpPr/>
          <p:nvPr/>
        </p:nvSpPr>
        <p:spPr>
          <a:xfrm>
            <a:off x="660380" y="1347368"/>
            <a:ext cx="10870936" cy="4705228"/>
          </a:xfrm>
          <a:prstGeom prst="roundRect">
            <a:avLst>
              <a:gd name="adj" fmla="val 2159"/>
            </a:avLst>
          </a:prstGeom>
          <a:solidFill>
            <a:srgbClr val="FFFFFF"/>
          </a:solidFill>
          <a:ln/>
        </p:spPr>
      </p:sp>
      <p:sp>
        <p:nvSpPr>
          <p:cNvPr id="5" name="Shape 3"/>
          <p:cNvSpPr/>
          <p:nvPr/>
        </p:nvSpPr>
        <p:spPr>
          <a:xfrm>
            <a:off x="660380" y="1347368"/>
            <a:ext cx="3261208" cy="326989"/>
          </a:xfrm>
          <a:prstGeom prst="rect">
            <a:avLst/>
          </a:prstGeom>
          <a:solidFill>
            <a:srgbClr val="ECF2FF"/>
          </a:solidFill>
          <a:ln/>
        </p:spPr>
      </p:sp>
      <p:sp>
        <p:nvSpPr>
          <p:cNvPr id="6" name="Text 4"/>
          <p:cNvSpPr txBox="1"/>
          <p:nvPr/>
        </p:nvSpPr>
        <p:spPr>
          <a:xfrm>
            <a:off x="774680" y="1435791"/>
            <a:ext cx="643189" cy="171450"/>
          </a:xfrm>
          <a:prstGeom prst="rect">
            <a:avLst/>
          </a:prstGeom>
          <a:noFill/>
          <a:ln/>
        </p:spPr>
        <p:txBody>
          <a:bodyPr wrap="square" lIns="0" tIns="0" rIns="0" bIns="0" rtlCol="0" anchor="ctr"/>
          <a:lstStyle/>
          <a:p>
            <a:pPr algn="l" indent="0" marL="0">
              <a:buNone/>
            </a:pPr>
            <a:r>
              <a:rPr lang="en-US" sz="900" b="1" dirty="0">
                <a:solidFill>
                  <a:srgbClr val="0066FF"/>
                </a:solidFill>
                <a:latin typeface="Arial" pitchFamily="34" charset="0"/>
                <a:ea typeface="Arial" pitchFamily="34" charset="-122"/>
                <a:cs typeface="Arial" pitchFamily="34" charset="-120"/>
              </a:rPr>
              <a:t>THAM SỐ</a:t>
            </a:r>
            <a:endParaRPr lang="en-US" sz="900" dirty="0"/>
          </a:p>
        </p:txBody>
      </p:sp>
      <p:sp>
        <p:nvSpPr>
          <p:cNvPr id="7" name="Shape 5"/>
          <p:cNvSpPr/>
          <p:nvPr/>
        </p:nvSpPr>
        <p:spPr>
          <a:xfrm>
            <a:off x="3921587" y="1347368"/>
            <a:ext cx="3913449" cy="326989"/>
          </a:xfrm>
          <a:prstGeom prst="rect">
            <a:avLst/>
          </a:prstGeom>
          <a:solidFill>
            <a:srgbClr val="ECF2FF"/>
          </a:solidFill>
          <a:ln/>
        </p:spPr>
      </p:sp>
      <p:sp>
        <p:nvSpPr>
          <p:cNvPr id="8" name="Text 6"/>
          <p:cNvSpPr txBox="1"/>
          <p:nvPr/>
        </p:nvSpPr>
        <p:spPr>
          <a:xfrm>
            <a:off x="4035887" y="1435791"/>
            <a:ext cx="1421618" cy="171450"/>
          </a:xfrm>
          <a:prstGeom prst="rect">
            <a:avLst/>
          </a:prstGeom>
          <a:noFill/>
          <a:ln/>
        </p:spPr>
        <p:txBody>
          <a:bodyPr wrap="square" lIns="0" tIns="0" rIns="0" bIns="0" rtlCol="0" anchor="ctr"/>
          <a:lstStyle/>
          <a:p>
            <a:pPr algn="l" indent="0" marL="0">
              <a:buNone/>
            </a:pPr>
            <a:r>
              <a:rPr lang="en-US" sz="900" b="1" dirty="0">
                <a:solidFill>
                  <a:srgbClr val="0066FF"/>
                </a:solidFill>
                <a:latin typeface="Arial" pitchFamily="34" charset="0"/>
                <a:ea typeface="Arial" pitchFamily="34" charset="-122"/>
                <a:cs typeface="Arial" pitchFamily="34" charset="-120"/>
              </a:rPr>
              <a:t>GIÁ TRỊ TRONG DEMO</a:t>
            </a:r>
            <a:endParaRPr lang="en-US" sz="900" dirty="0"/>
          </a:p>
        </p:txBody>
      </p:sp>
      <p:sp>
        <p:nvSpPr>
          <p:cNvPr id="9" name="Shape 7"/>
          <p:cNvSpPr/>
          <p:nvPr/>
        </p:nvSpPr>
        <p:spPr>
          <a:xfrm>
            <a:off x="7835128" y="1347368"/>
            <a:ext cx="3696188" cy="326989"/>
          </a:xfrm>
          <a:prstGeom prst="rect">
            <a:avLst/>
          </a:prstGeom>
          <a:solidFill>
            <a:srgbClr val="ECF2FF"/>
          </a:solidFill>
          <a:ln/>
        </p:spPr>
      </p:sp>
      <p:sp>
        <p:nvSpPr>
          <p:cNvPr id="10" name="Text 8"/>
          <p:cNvSpPr txBox="1"/>
          <p:nvPr/>
        </p:nvSpPr>
        <p:spPr>
          <a:xfrm>
            <a:off x="7949428" y="1435791"/>
            <a:ext cx="592531" cy="171450"/>
          </a:xfrm>
          <a:prstGeom prst="rect">
            <a:avLst/>
          </a:prstGeom>
          <a:noFill/>
          <a:ln/>
        </p:spPr>
        <p:txBody>
          <a:bodyPr wrap="square" lIns="0" tIns="0" rIns="0" bIns="0" rtlCol="0" anchor="ctr"/>
          <a:lstStyle/>
          <a:p>
            <a:pPr algn="l" indent="0" marL="0">
              <a:buNone/>
            </a:pPr>
            <a:r>
              <a:rPr lang="en-US" sz="900" b="1" dirty="0">
                <a:solidFill>
                  <a:srgbClr val="0066FF"/>
                </a:solidFill>
                <a:latin typeface="Arial" pitchFamily="34" charset="0"/>
                <a:ea typeface="Arial" pitchFamily="34" charset="-122"/>
                <a:cs typeface="Arial" pitchFamily="34" charset="-120"/>
              </a:rPr>
              <a:t>Ý NGHĨA</a:t>
            </a:r>
            <a:endParaRPr lang="en-US" sz="900" dirty="0"/>
          </a:p>
        </p:txBody>
      </p:sp>
      <p:sp>
        <p:nvSpPr>
          <p:cNvPr id="11" name="Shape 9"/>
          <p:cNvSpPr/>
          <p:nvPr/>
        </p:nvSpPr>
        <p:spPr>
          <a:xfrm>
            <a:off x="660380" y="1674358"/>
            <a:ext cx="3261208" cy="6309"/>
          </a:xfrm>
          <a:prstGeom prst="rect">
            <a:avLst/>
          </a:prstGeom>
          <a:solidFill>
            <a:srgbClr val="E3E6EA"/>
          </a:solidFill>
          <a:ln/>
        </p:spPr>
      </p:sp>
      <p:sp>
        <p:nvSpPr>
          <p:cNvPr id="12" name="Text 10"/>
          <p:cNvSpPr txBox="1"/>
          <p:nvPr/>
        </p:nvSpPr>
        <p:spPr>
          <a:xfrm>
            <a:off x="774680" y="1746138"/>
            <a:ext cx="914583" cy="199979"/>
          </a:xfrm>
          <a:prstGeom prst="rect">
            <a:avLst/>
          </a:prstGeom>
          <a:noFill/>
          <a:ln/>
        </p:spPr>
        <p:txBody>
          <a:bodyPr wrap="square" lIns="0" tIns="0" rIns="0" bIns="0" rtlCol="0" anchor="ctr"/>
          <a:lstStyle/>
          <a:p>
            <a:pPr algn="l" indent="0" marL="0">
              <a:buNone/>
            </a:pPr>
            <a:r>
              <a:rPr lang="en-US" sz="1000" b="1" dirty="0">
                <a:solidFill>
                  <a:srgbClr val="111111"/>
                </a:solidFill>
                <a:latin typeface="Courier New" pitchFamily="34" charset="0"/>
                <a:ea typeface="Courier New" pitchFamily="34" charset="-122"/>
                <a:cs typeface="Courier New" pitchFamily="34" charset="-120"/>
              </a:rPr>
              <a:t>vnp_Version</a:t>
            </a:r>
            <a:endParaRPr lang="en-US" sz="1000" dirty="0"/>
          </a:p>
        </p:txBody>
      </p:sp>
      <p:sp>
        <p:nvSpPr>
          <p:cNvPr id="13" name="Shape 11"/>
          <p:cNvSpPr/>
          <p:nvPr/>
        </p:nvSpPr>
        <p:spPr>
          <a:xfrm>
            <a:off x="3921587" y="1674358"/>
            <a:ext cx="3913449" cy="6309"/>
          </a:xfrm>
          <a:prstGeom prst="rect">
            <a:avLst/>
          </a:prstGeom>
          <a:solidFill>
            <a:srgbClr val="E3E6EA"/>
          </a:solidFill>
          <a:ln/>
        </p:spPr>
      </p:sp>
      <p:sp>
        <p:nvSpPr>
          <p:cNvPr id="14" name="Text 12"/>
          <p:cNvSpPr txBox="1"/>
          <p:nvPr/>
        </p:nvSpPr>
        <p:spPr>
          <a:xfrm>
            <a:off x="4035887" y="1746138"/>
            <a:ext cx="457291" cy="199979"/>
          </a:xfrm>
          <a:prstGeom prst="rect">
            <a:avLst/>
          </a:prstGeom>
          <a:noFill/>
          <a:ln/>
        </p:spPr>
        <p:txBody>
          <a:bodyPr wrap="square" lIns="0" tIns="0" rIns="0" bIns="0" rtlCol="0" anchor="ctr"/>
          <a:lstStyle/>
          <a:p>
            <a:pPr algn="l" indent="0" marL="0">
              <a:buNone/>
            </a:pPr>
            <a:r>
              <a:rPr lang="en-US" sz="1000" dirty="0">
                <a:solidFill>
                  <a:srgbClr val="3F454D"/>
                </a:solidFill>
                <a:latin typeface="Courier New" pitchFamily="34" charset="0"/>
                <a:ea typeface="Courier New" pitchFamily="34" charset="-122"/>
                <a:cs typeface="Courier New" pitchFamily="34" charset="-120"/>
              </a:rPr>
              <a:t>2.1.0</a:t>
            </a:r>
            <a:endParaRPr lang="en-US" sz="1000" dirty="0"/>
          </a:p>
        </p:txBody>
      </p:sp>
      <p:sp>
        <p:nvSpPr>
          <p:cNvPr id="15" name="Shape 13"/>
          <p:cNvSpPr/>
          <p:nvPr/>
        </p:nvSpPr>
        <p:spPr>
          <a:xfrm>
            <a:off x="7835128" y="1674358"/>
            <a:ext cx="3696188" cy="6309"/>
          </a:xfrm>
          <a:prstGeom prst="rect">
            <a:avLst/>
          </a:prstGeom>
          <a:solidFill>
            <a:srgbClr val="E3E6EA"/>
          </a:solidFill>
          <a:ln/>
        </p:spPr>
      </p:sp>
      <p:sp>
        <p:nvSpPr>
          <p:cNvPr id="16" name="Text 14"/>
          <p:cNvSpPr txBox="1"/>
          <p:nvPr/>
        </p:nvSpPr>
        <p:spPr>
          <a:xfrm>
            <a:off x="7949428" y="1737817"/>
            <a:ext cx="921441"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Phiên bản API</a:t>
            </a:r>
            <a:endParaRPr lang="en-US" sz="1050" dirty="0"/>
          </a:p>
        </p:txBody>
      </p:sp>
      <p:sp>
        <p:nvSpPr>
          <p:cNvPr id="17" name="Shape 15"/>
          <p:cNvSpPr/>
          <p:nvPr/>
        </p:nvSpPr>
        <p:spPr>
          <a:xfrm>
            <a:off x="660380" y="1966509"/>
            <a:ext cx="3261208" cy="6309"/>
          </a:xfrm>
          <a:prstGeom prst="rect">
            <a:avLst/>
          </a:prstGeom>
          <a:solidFill>
            <a:srgbClr val="E3E6EA"/>
          </a:solidFill>
          <a:ln/>
        </p:spPr>
      </p:sp>
      <p:sp>
        <p:nvSpPr>
          <p:cNvPr id="18" name="Text 16"/>
          <p:cNvSpPr txBox="1"/>
          <p:nvPr/>
        </p:nvSpPr>
        <p:spPr>
          <a:xfrm>
            <a:off x="774680" y="2038198"/>
            <a:ext cx="914583" cy="199979"/>
          </a:xfrm>
          <a:prstGeom prst="rect">
            <a:avLst/>
          </a:prstGeom>
          <a:noFill/>
          <a:ln/>
        </p:spPr>
        <p:txBody>
          <a:bodyPr wrap="square" lIns="0" tIns="0" rIns="0" bIns="0" rtlCol="0" anchor="ctr"/>
          <a:lstStyle/>
          <a:p>
            <a:pPr algn="l" indent="0" marL="0">
              <a:buNone/>
            </a:pPr>
            <a:r>
              <a:rPr lang="en-US" sz="1000" b="1" dirty="0">
                <a:solidFill>
                  <a:srgbClr val="111111"/>
                </a:solidFill>
                <a:latin typeface="Courier New" pitchFamily="34" charset="0"/>
                <a:ea typeface="Courier New" pitchFamily="34" charset="-122"/>
                <a:cs typeface="Courier New" pitchFamily="34" charset="-120"/>
              </a:rPr>
              <a:t>vnp_Command</a:t>
            </a:r>
            <a:endParaRPr lang="en-US" sz="1000" dirty="0"/>
          </a:p>
        </p:txBody>
      </p:sp>
      <p:sp>
        <p:nvSpPr>
          <p:cNvPr id="19" name="Shape 17"/>
          <p:cNvSpPr/>
          <p:nvPr/>
        </p:nvSpPr>
        <p:spPr>
          <a:xfrm>
            <a:off x="3921587" y="1966509"/>
            <a:ext cx="3913449" cy="6309"/>
          </a:xfrm>
          <a:prstGeom prst="rect">
            <a:avLst/>
          </a:prstGeom>
          <a:solidFill>
            <a:srgbClr val="E3E6EA"/>
          </a:solidFill>
          <a:ln/>
        </p:spPr>
      </p:sp>
      <p:sp>
        <p:nvSpPr>
          <p:cNvPr id="20" name="Text 18"/>
          <p:cNvSpPr txBox="1"/>
          <p:nvPr/>
        </p:nvSpPr>
        <p:spPr>
          <a:xfrm>
            <a:off x="4035887" y="2038198"/>
            <a:ext cx="304861" cy="199979"/>
          </a:xfrm>
          <a:prstGeom prst="rect">
            <a:avLst/>
          </a:prstGeom>
          <a:noFill/>
          <a:ln/>
        </p:spPr>
        <p:txBody>
          <a:bodyPr wrap="square" lIns="0" tIns="0" rIns="0" bIns="0" rtlCol="0" anchor="ctr"/>
          <a:lstStyle/>
          <a:p>
            <a:pPr algn="l" indent="0" marL="0">
              <a:buNone/>
            </a:pPr>
            <a:r>
              <a:rPr lang="en-US" sz="1000" dirty="0">
                <a:solidFill>
                  <a:srgbClr val="3F454D"/>
                </a:solidFill>
                <a:latin typeface="Courier New" pitchFamily="34" charset="0"/>
                <a:ea typeface="Courier New" pitchFamily="34" charset="-122"/>
                <a:cs typeface="Courier New" pitchFamily="34" charset="-120"/>
              </a:rPr>
              <a:t>pay</a:t>
            </a:r>
            <a:endParaRPr lang="en-US" sz="1000" dirty="0"/>
          </a:p>
        </p:txBody>
      </p:sp>
      <p:sp>
        <p:nvSpPr>
          <p:cNvPr id="21" name="Shape 19"/>
          <p:cNvSpPr/>
          <p:nvPr/>
        </p:nvSpPr>
        <p:spPr>
          <a:xfrm>
            <a:off x="7835128" y="1966509"/>
            <a:ext cx="3696188" cy="6309"/>
          </a:xfrm>
          <a:prstGeom prst="rect">
            <a:avLst/>
          </a:prstGeom>
          <a:solidFill>
            <a:srgbClr val="E3E6EA"/>
          </a:solidFill>
          <a:ln/>
        </p:spPr>
      </p:sp>
      <p:sp>
        <p:nvSpPr>
          <p:cNvPr id="22" name="Text 20"/>
          <p:cNvSpPr txBox="1"/>
          <p:nvPr/>
        </p:nvSpPr>
        <p:spPr>
          <a:xfrm>
            <a:off x="7949428" y="2029877"/>
            <a:ext cx="617494"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Loại lệnh</a:t>
            </a:r>
            <a:endParaRPr lang="en-US" sz="1050" dirty="0"/>
          </a:p>
        </p:txBody>
      </p:sp>
      <p:sp>
        <p:nvSpPr>
          <p:cNvPr id="23" name="Shape 21"/>
          <p:cNvSpPr/>
          <p:nvPr/>
        </p:nvSpPr>
        <p:spPr>
          <a:xfrm>
            <a:off x="660380" y="2258568"/>
            <a:ext cx="3261208" cy="6309"/>
          </a:xfrm>
          <a:prstGeom prst="rect">
            <a:avLst/>
          </a:prstGeom>
          <a:solidFill>
            <a:srgbClr val="E3E6EA"/>
          </a:solidFill>
          <a:ln/>
        </p:spPr>
      </p:sp>
      <p:sp>
        <p:nvSpPr>
          <p:cNvPr id="24" name="Text 22"/>
          <p:cNvSpPr txBox="1"/>
          <p:nvPr/>
        </p:nvSpPr>
        <p:spPr>
          <a:xfrm>
            <a:off x="774680" y="2330348"/>
            <a:ext cx="914583" cy="199979"/>
          </a:xfrm>
          <a:prstGeom prst="rect">
            <a:avLst/>
          </a:prstGeom>
          <a:noFill/>
          <a:ln/>
        </p:spPr>
        <p:txBody>
          <a:bodyPr wrap="square" lIns="0" tIns="0" rIns="0" bIns="0" rtlCol="0" anchor="ctr"/>
          <a:lstStyle/>
          <a:p>
            <a:pPr algn="l" indent="0" marL="0">
              <a:buNone/>
            </a:pPr>
            <a:r>
              <a:rPr lang="en-US" sz="1000" b="1" dirty="0">
                <a:solidFill>
                  <a:srgbClr val="111111"/>
                </a:solidFill>
                <a:latin typeface="Courier New" pitchFamily="34" charset="0"/>
                <a:ea typeface="Courier New" pitchFamily="34" charset="-122"/>
                <a:cs typeface="Courier New" pitchFamily="34" charset="-120"/>
              </a:rPr>
              <a:t>vnp_TmnCode</a:t>
            </a:r>
            <a:endParaRPr lang="en-US" sz="1000" dirty="0"/>
          </a:p>
        </p:txBody>
      </p:sp>
      <p:sp>
        <p:nvSpPr>
          <p:cNvPr id="25" name="Shape 23"/>
          <p:cNvSpPr/>
          <p:nvPr/>
        </p:nvSpPr>
        <p:spPr>
          <a:xfrm>
            <a:off x="3921587" y="2258568"/>
            <a:ext cx="3913449" cy="6309"/>
          </a:xfrm>
          <a:prstGeom prst="rect">
            <a:avLst/>
          </a:prstGeom>
          <a:solidFill>
            <a:srgbClr val="E3E6EA"/>
          </a:solidFill>
          <a:ln/>
        </p:spPr>
      </p:sp>
      <p:sp>
        <p:nvSpPr>
          <p:cNvPr id="26" name="Text 24"/>
          <p:cNvSpPr txBox="1"/>
          <p:nvPr/>
        </p:nvSpPr>
        <p:spPr>
          <a:xfrm>
            <a:off x="4035887" y="2322027"/>
            <a:ext cx="1203076"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8 ký tự VNPAY cấp</a:t>
            </a:r>
            <a:endParaRPr lang="en-US" sz="1050" dirty="0"/>
          </a:p>
        </p:txBody>
      </p:sp>
      <p:sp>
        <p:nvSpPr>
          <p:cNvPr id="27" name="Shape 25"/>
          <p:cNvSpPr/>
          <p:nvPr/>
        </p:nvSpPr>
        <p:spPr>
          <a:xfrm>
            <a:off x="7835128" y="2258568"/>
            <a:ext cx="3696188" cy="6309"/>
          </a:xfrm>
          <a:prstGeom prst="rect">
            <a:avLst/>
          </a:prstGeom>
          <a:solidFill>
            <a:srgbClr val="E3E6EA"/>
          </a:solidFill>
          <a:ln/>
        </p:spPr>
      </p:sp>
      <p:sp>
        <p:nvSpPr>
          <p:cNvPr id="28" name="Text 26"/>
          <p:cNvSpPr txBox="1"/>
          <p:nvPr/>
        </p:nvSpPr>
        <p:spPr>
          <a:xfrm>
            <a:off x="7949428" y="2322027"/>
            <a:ext cx="750631"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Mã website</a:t>
            </a:r>
            <a:endParaRPr lang="en-US" sz="1050" dirty="0"/>
          </a:p>
        </p:txBody>
      </p:sp>
      <p:sp>
        <p:nvSpPr>
          <p:cNvPr id="29" name="Shape 27"/>
          <p:cNvSpPr/>
          <p:nvPr/>
        </p:nvSpPr>
        <p:spPr>
          <a:xfrm>
            <a:off x="660380" y="2550627"/>
            <a:ext cx="3261208" cy="6309"/>
          </a:xfrm>
          <a:prstGeom prst="rect">
            <a:avLst/>
          </a:prstGeom>
          <a:solidFill>
            <a:srgbClr val="E3E6EA"/>
          </a:solidFill>
          <a:ln/>
        </p:spPr>
      </p:sp>
      <p:sp>
        <p:nvSpPr>
          <p:cNvPr id="30" name="Text 28"/>
          <p:cNvSpPr txBox="1"/>
          <p:nvPr/>
        </p:nvSpPr>
        <p:spPr>
          <a:xfrm>
            <a:off x="774680" y="2622408"/>
            <a:ext cx="838413" cy="199979"/>
          </a:xfrm>
          <a:prstGeom prst="rect">
            <a:avLst/>
          </a:prstGeom>
          <a:noFill/>
          <a:ln/>
        </p:spPr>
        <p:txBody>
          <a:bodyPr wrap="square" lIns="0" tIns="0" rIns="0" bIns="0" rtlCol="0" anchor="ctr"/>
          <a:lstStyle/>
          <a:p>
            <a:pPr algn="l" indent="0" marL="0">
              <a:buNone/>
            </a:pPr>
            <a:r>
              <a:rPr lang="en-US" sz="1000" b="1" dirty="0">
                <a:solidFill>
                  <a:srgbClr val="111111"/>
                </a:solidFill>
                <a:latin typeface="Courier New" pitchFamily="34" charset="0"/>
                <a:ea typeface="Courier New" pitchFamily="34" charset="-122"/>
                <a:cs typeface="Courier New" pitchFamily="34" charset="-120"/>
              </a:rPr>
              <a:t>vnp_TxnRef</a:t>
            </a:r>
            <a:endParaRPr lang="en-US" sz="1000" dirty="0"/>
          </a:p>
        </p:txBody>
      </p:sp>
      <p:sp>
        <p:nvSpPr>
          <p:cNvPr id="31" name="Shape 29"/>
          <p:cNvSpPr/>
          <p:nvPr/>
        </p:nvSpPr>
        <p:spPr>
          <a:xfrm>
            <a:off x="3921587" y="2550627"/>
            <a:ext cx="3913449" cy="6309"/>
          </a:xfrm>
          <a:prstGeom prst="rect">
            <a:avLst/>
          </a:prstGeom>
          <a:solidFill>
            <a:srgbClr val="E3E6EA"/>
          </a:solidFill>
          <a:ln/>
        </p:spPr>
      </p:sp>
      <p:sp>
        <p:nvSpPr>
          <p:cNvPr id="32" name="Text 30"/>
          <p:cNvSpPr txBox="1"/>
          <p:nvPr/>
        </p:nvSpPr>
        <p:spPr>
          <a:xfrm>
            <a:off x="4035887" y="2622408"/>
            <a:ext cx="1615745" cy="199979"/>
          </a:xfrm>
          <a:prstGeom prst="rect">
            <a:avLst/>
          </a:prstGeom>
          <a:noFill/>
          <a:ln/>
        </p:spPr>
        <p:txBody>
          <a:bodyPr wrap="square" lIns="0" tIns="0" rIns="0" bIns="0" rtlCol="0" anchor="ctr"/>
          <a:lstStyle/>
          <a:p>
            <a:pPr algn="l" indent="0" marL="0">
              <a:buNone/>
            </a:pPr>
            <a:r>
              <a:rPr lang="en-US" sz="1000" dirty="0">
                <a:solidFill>
                  <a:srgbClr val="3F454D"/>
                </a:solidFill>
                <a:latin typeface="Courier New" pitchFamily="34" charset="0"/>
                <a:ea typeface="Courier New" pitchFamily="34" charset="-122"/>
                <a:cs typeface="Courier New" pitchFamily="34" charset="-120"/>
              </a:rPr>
              <a:t>20261010101433482913</a:t>
            </a:r>
            <a:endParaRPr lang="en-US" sz="1000" dirty="0"/>
          </a:p>
        </p:txBody>
      </p:sp>
      <p:sp>
        <p:nvSpPr>
          <p:cNvPr id="33" name="Shape 31"/>
          <p:cNvSpPr/>
          <p:nvPr/>
        </p:nvSpPr>
        <p:spPr>
          <a:xfrm>
            <a:off x="7835128" y="2550627"/>
            <a:ext cx="3696188" cy="6309"/>
          </a:xfrm>
          <a:prstGeom prst="rect">
            <a:avLst/>
          </a:prstGeom>
          <a:solidFill>
            <a:srgbClr val="E3E6EA"/>
          </a:solidFill>
          <a:ln/>
        </p:spPr>
      </p:sp>
      <p:sp>
        <p:nvSpPr>
          <p:cNvPr id="34" name="Text 32"/>
          <p:cNvSpPr txBox="1"/>
          <p:nvPr/>
        </p:nvSpPr>
        <p:spPr>
          <a:xfrm>
            <a:off x="7949428" y="2614087"/>
            <a:ext cx="1164397"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Mã đơn phía mình</a:t>
            </a:r>
            <a:endParaRPr lang="en-US" sz="1050" dirty="0"/>
          </a:p>
        </p:txBody>
      </p:sp>
      <p:sp>
        <p:nvSpPr>
          <p:cNvPr id="35" name="Shape 33"/>
          <p:cNvSpPr/>
          <p:nvPr/>
        </p:nvSpPr>
        <p:spPr>
          <a:xfrm>
            <a:off x="660380" y="2842778"/>
            <a:ext cx="3261208" cy="6309"/>
          </a:xfrm>
          <a:prstGeom prst="rect">
            <a:avLst/>
          </a:prstGeom>
          <a:solidFill>
            <a:srgbClr val="E3E6EA"/>
          </a:solidFill>
          <a:ln/>
        </p:spPr>
      </p:sp>
      <p:sp>
        <p:nvSpPr>
          <p:cNvPr id="36" name="Text 34"/>
          <p:cNvSpPr txBox="1"/>
          <p:nvPr/>
        </p:nvSpPr>
        <p:spPr>
          <a:xfrm>
            <a:off x="774680" y="2914467"/>
            <a:ext cx="838413" cy="199979"/>
          </a:xfrm>
          <a:prstGeom prst="rect">
            <a:avLst/>
          </a:prstGeom>
          <a:noFill/>
          <a:ln/>
        </p:spPr>
        <p:txBody>
          <a:bodyPr wrap="square" lIns="0" tIns="0" rIns="0" bIns="0" rtlCol="0" anchor="ctr"/>
          <a:lstStyle/>
          <a:p>
            <a:pPr algn="l" indent="0" marL="0">
              <a:buNone/>
            </a:pPr>
            <a:r>
              <a:rPr lang="en-US" sz="1000" b="1" dirty="0">
                <a:solidFill>
                  <a:srgbClr val="111111"/>
                </a:solidFill>
                <a:latin typeface="Courier New" pitchFamily="34" charset="0"/>
                <a:ea typeface="Courier New" pitchFamily="34" charset="-122"/>
                <a:cs typeface="Courier New" pitchFamily="34" charset="-120"/>
              </a:rPr>
              <a:t>vnp_Amount</a:t>
            </a:r>
            <a:endParaRPr lang="en-US" sz="1000" dirty="0"/>
          </a:p>
        </p:txBody>
      </p:sp>
      <p:sp>
        <p:nvSpPr>
          <p:cNvPr id="37" name="Shape 35"/>
          <p:cNvSpPr/>
          <p:nvPr/>
        </p:nvSpPr>
        <p:spPr>
          <a:xfrm>
            <a:off x="3921587" y="2842778"/>
            <a:ext cx="3913449" cy="6309"/>
          </a:xfrm>
          <a:prstGeom prst="rect">
            <a:avLst/>
          </a:prstGeom>
          <a:solidFill>
            <a:srgbClr val="E3E6EA"/>
          </a:solidFill>
          <a:ln/>
        </p:spPr>
      </p:sp>
      <p:sp>
        <p:nvSpPr>
          <p:cNvPr id="38" name="Text 36"/>
          <p:cNvSpPr txBox="1"/>
          <p:nvPr/>
        </p:nvSpPr>
        <p:spPr>
          <a:xfrm>
            <a:off x="4035887" y="2914467"/>
            <a:ext cx="609722" cy="199979"/>
          </a:xfrm>
          <a:prstGeom prst="rect">
            <a:avLst/>
          </a:prstGeom>
          <a:noFill/>
          <a:ln/>
        </p:spPr>
        <p:txBody>
          <a:bodyPr wrap="square" lIns="0" tIns="0" rIns="0" bIns="0" rtlCol="0" anchor="ctr"/>
          <a:lstStyle/>
          <a:p>
            <a:pPr algn="l" indent="0" marL="0">
              <a:buNone/>
            </a:pPr>
            <a:r>
              <a:rPr lang="en-US" sz="1000" dirty="0">
                <a:solidFill>
                  <a:srgbClr val="3F454D"/>
                </a:solidFill>
                <a:latin typeface="Courier New" pitchFamily="34" charset="0"/>
                <a:ea typeface="Courier New" pitchFamily="34" charset="-122"/>
                <a:cs typeface="Courier New" pitchFamily="34" charset="-120"/>
              </a:rPr>
              <a:t>2500000</a:t>
            </a:r>
            <a:endParaRPr lang="en-US" sz="1000" dirty="0"/>
          </a:p>
        </p:txBody>
      </p:sp>
      <p:sp>
        <p:nvSpPr>
          <p:cNvPr id="39" name="Shape 37"/>
          <p:cNvSpPr/>
          <p:nvPr/>
        </p:nvSpPr>
        <p:spPr>
          <a:xfrm>
            <a:off x="7835128" y="2842778"/>
            <a:ext cx="3696188" cy="6309"/>
          </a:xfrm>
          <a:prstGeom prst="rect">
            <a:avLst/>
          </a:prstGeom>
          <a:solidFill>
            <a:srgbClr val="E3E6EA"/>
          </a:solidFill>
          <a:ln/>
        </p:spPr>
      </p:sp>
      <p:sp>
        <p:nvSpPr>
          <p:cNvPr id="40" name="Text 38"/>
          <p:cNvSpPr txBox="1"/>
          <p:nvPr/>
        </p:nvSpPr>
        <p:spPr>
          <a:xfrm>
            <a:off x="7949428" y="2906146"/>
            <a:ext cx="865845"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Số tiền × 100</a:t>
            </a:r>
            <a:endParaRPr lang="en-US" sz="1050" dirty="0"/>
          </a:p>
        </p:txBody>
      </p:sp>
      <p:sp>
        <p:nvSpPr>
          <p:cNvPr id="41" name="Shape 39"/>
          <p:cNvSpPr/>
          <p:nvPr/>
        </p:nvSpPr>
        <p:spPr>
          <a:xfrm>
            <a:off x="660380" y="3134838"/>
            <a:ext cx="3261208" cy="6309"/>
          </a:xfrm>
          <a:prstGeom prst="rect">
            <a:avLst/>
          </a:prstGeom>
          <a:solidFill>
            <a:srgbClr val="E3E6EA"/>
          </a:solidFill>
          <a:ln/>
        </p:spPr>
      </p:sp>
      <p:sp>
        <p:nvSpPr>
          <p:cNvPr id="42" name="Text 40"/>
          <p:cNvSpPr txBox="1"/>
          <p:nvPr/>
        </p:nvSpPr>
        <p:spPr>
          <a:xfrm>
            <a:off x="774680" y="3206618"/>
            <a:ext cx="990752" cy="199979"/>
          </a:xfrm>
          <a:prstGeom prst="rect">
            <a:avLst/>
          </a:prstGeom>
          <a:noFill/>
          <a:ln/>
        </p:spPr>
        <p:txBody>
          <a:bodyPr wrap="square" lIns="0" tIns="0" rIns="0" bIns="0" rtlCol="0" anchor="ctr"/>
          <a:lstStyle/>
          <a:p>
            <a:pPr algn="l" indent="0" marL="0">
              <a:buNone/>
            </a:pPr>
            <a:r>
              <a:rPr lang="en-US" sz="1000" b="1" dirty="0">
                <a:solidFill>
                  <a:srgbClr val="111111"/>
                </a:solidFill>
                <a:latin typeface="Courier New" pitchFamily="34" charset="0"/>
                <a:ea typeface="Courier New" pitchFamily="34" charset="-122"/>
                <a:cs typeface="Courier New" pitchFamily="34" charset="-120"/>
              </a:rPr>
              <a:t>vnp_CurrCode</a:t>
            </a:r>
            <a:endParaRPr lang="en-US" sz="1000" dirty="0"/>
          </a:p>
        </p:txBody>
      </p:sp>
      <p:sp>
        <p:nvSpPr>
          <p:cNvPr id="43" name="Shape 41"/>
          <p:cNvSpPr/>
          <p:nvPr/>
        </p:nvSpPr>
        <p:spPr>
          <a:xfrm>
            <a:off x="3921587" y="3134838"/>
            <a:ext cx="3913449" cy="6309"/>
          </a:xfrm>
          <a:prstGeom prst="rect">
            <a:avLst/>
          </a:prstGeom>
          <a:solidFill>
            <a:srgbClr val="E3E6EA"/>
          </a:solidFill>
          <a:ln/>
        </p:spPr>
      </p:sp>
      <p:sp>
        <p:nvSpPr>
          <p:cNvPr id="44" name="Text 42"/>
          <p:cNvSpPr txBox="1"/>
          <p:nvPr/>
        </p:nvSpPr>
        <p:spPr>
          <a:xfrm>
            <a:off x="4035887" y="3206618"/>
            <a:ext cx="304861" cy="199979"/>
          </a:xfrm>
          <a:prstGeom prst="rect">
            <a:avLst/>
          </a:prstGeom>
          <a:noFill/>
          <a:ln/>
        </p:spPr>
        <p:txBody>
          <a:bodyPr wrap="square" lIns="0" tIns="0" rIns="0" bIns="0" rtlCol="0" anchor="ctr"/>
          <a:lstStyle/>
          <a:p>
            <a:pPr algn="l" indent="0" marL="0">
              <a:buNone/>
            </a:pPr>
            <a:r>
              <a:rPr lang="en-US" sz="1000" dirty="0">
                <a:solidFill>
                  <a:srgbClr val="3F454D"/>
                </a:solidFill>
                <a:latin typeface="Courier New" pitchFamily="34" charset="0"/>
                <a:ea typeface="Courier New" pitchFamily="34" charset="-122"/>
                <a:cs typeface="Courier New" pitchFamily="34" charset="-120"/>
              </a:rPr>
              <a:t>VND</a:t>
            </a:r>
            <a:endParaRPr lang="en-US" sz="1000" dirty="0"/>
          </a:p>
        </p:txBody>
      </p:sp>
      <p:sp>
        <p:nvSpPr>
          <p:cNvPr id="45" name="Shape 43"/>
          <p:cNvSpPr/>
          <p:nvPr/>
        </p:nvSpPr>
        <p:spPr>
          <a:xfrm>
            <a:off x="7835128" y="3134838"/>
            <a:ext cx="3696188" cy="6309"/>
          </a:xfrm>
          <a:prstGeom prst="rect">
            <a:avLst/>
          </a:prstGeom>
          <a:solidFill>
            <a:srgbClr val="E3E6EA"/>
          </a:solidFill>
          <a:ln/>
        </p:spPr>
      </p:sp>
      <p:sp>
        <p:nvSpPr>
          <p:cNvPr id="46" name="Text 44"/>
          <p:cNvSpPr txBox="1"/>
          <p:nvPr/>
        </p:nvSpPr>
        <p:spPr>
          <a:xfrm>
            <a:off x="7949428" y="3198297"/>
            <a:ext cx="580370"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Loại tiền</a:t>
            </a:r>
            <a:endParaRPr lang="en-US" sz="1050" dirty="0"/>
          </a:p>
        </p:txBody>
      </p:sp>
      <p:sp>
        <p:nvSpPr>
          <p:cNvPr id="47" name="Shape 45"/>
          <p:cNvSpPr/>
          <p:nvPr/>
        </p:nvSpPr>
        <p:spPr>
          <a:xfrm>
            <a:off x="660380" y="3426897"/>
            <a:ext cx="3261208" cy="6309"/>
          </a:xfrm>
          <a:prstGeom prst="rect">
            <a:avLst/>
          </a:prstGeom>
          <a:solidFill>
            <a:srgbClr val="E3E6EA"/>
          </a:solidFill>
          <a:ln/>
        </p:spPr>
      </p:sp>
      <p:sp>
        <p:nvSpPr>
          <p:cNvPr id="48" name="Text 46"/>
          <p:cNvSpPr txBox="1"/>
          <p:nvPr/>
        </p:nvSpPr>
        <p:spPr>
          <a:xfrm>
            <a:off x="774680" y="3498677"/>
            <a:ext cx="1067013" cy="199979"/>
          </a:xfrm>
          <a:prstGeom prst="rect">
            <a:avLst/>
          </a:prstGeom>
          <a:noFill/>
          <a:ln/>
        </p:spPr>
        <p:txBody>
          <a:bodyPr wrap="square" lIns="0" tIns="0" rIns="0" bIns="0" rtlCol="0" anchor="ctr"/>
          <a:lstStyle/>
          <a:p>
            <a:pPr algn="l" indent="0" marL="0">
              <a:buNone/>
            </a:pPr>
            <a:r>
              <a:rPr lang="en-US" sz="1000" b="1" dirty="0">
                <a:solidFill>
                  <a:srgbClr val="111111"/>
                </a:solidFill>
                <a:latin typeface="Courier New" pitchFamily="34" charset="0"/>
                <a:ea typeface="Courier New" pitchFamily="34" charset="-122"/>
                <a:cs typeface="Courier New" pitchFamily="34" charset="-120"/>
              </a:rPr>
              <a:t>vnp_OrderInfo</a:t>
            </a:r>
            <a:endParaRPr lang="en-US" sz="1000" dirty="0"/>
          </a:p>
        </p:txBody>
      </p:sp>
      <p:sp>
        <p:nvSpPr>
          <p:cNvPr id="49" name="Shape 47"/>
          <p:cNvSpPr/>
          <p:nvPr/>
        </p:nvSpPr>
        <p:spPr>
          <a:xfrm>
            <a:off x="3921587" y="3426897"/>
            <a:ext cx="3913449" cy="6309"/>
          </a:xfrm>
          <a:prstGeom prst="rect">
            <a:avLst/>
          </a:prstGeom>
          <a:solidFill>
            <a:srgbClr val="E3E6EA"/>
          </a:solidFill>
          <a:ln/>
        </p:spPr>
      </p:sp>
      <p:sp>
        <p:nvSpPr>
          <p:cNvPr id="50" name="Text 48"/>
          <p:cNvSpPr txBox="1"/>
          <p:nvPr/>
        </p:nvSpPr>
        <p:spPr>
          <a:xfrm>
            <a:off x="4035887" y="3498677"/>
            <a:ext cx="1938802" cy="199979"/>
          </a:xfrm>
          <a:prstGeom prst="rect">
            <a:avLst/>
          </a:prstGeom>
          <a:noFill/>
          <a:ln/>
        </p:spPr>
        <p:txBody>
          <a:bodyPr wrap="square" lIns="0" tIns="0" rIns="0" bIns="0" rtlCol="0" anchor="ctr"/>
          <a:lstStyle/>
          <a:p>
            <a:pPr algn="l" indent="0" marL="0">
              <a:buNone/>
            </a:pPr>
            <a:r>
              <a:rPr lang="en-US" sz="1000" dirty="0">
                <a:solidFill>
                  <a:srgbClr val="3F454D"/>
                </a:solidFill>
                <a:latin typeface="Courier New" pitchFamily="34" charset="0"/>
                <a:ea typeface="Courier New" pitchFamily="34" charset="-122"/>
                <a:cs typeface="Courier New" pitchFamily="34" charset="-120"/>
              </a:rPr>
              <a:t>Thanh toan Ca phe sua da</a:t>
            </a:r>
            <a:endParaRPr lang="en-US" sz="1000" dirty="0"/>
          </a:p>
        </p:txBody>
      </p:sp>
      <p:sp>
        <p:nvSpPr>
          <p:cNvPr id="51" name="Shape 49"/>
          <p:cNvSpPr/>
          <p:nvPr/>
        </p:nvSpPr>
        <p:spPr>
          <a:xfrm>
            <a:off x="7835128" y="3426897"/>
            <a:ext cx="3696188" cy="6309"/>
          </a:xfrm>
          <a:prstGeom prst="rect">
            <a:avLst/>
          </a:prstGeom>
          <a:solidFill>
            <a:srgbClr val="E3E6EA"/>
          </a:solidFill>
          <a:ln/>
        </p:spPr>
      </p:sp>
      <p:sp>
        <p:nvSpPr>
          <p:cNvPr id="52" name="Text 50"/>
          <p:cNvSpPr txBox="1"/>
          <p:nvPr/>
        </p:nvSpPr>
        <p:spPr>
          <a:xfrm>
            <a:off x="7949428" y="3490356"/>
            <a:ext cx="1277325"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Nội dung thanh toán</a:t>
            </a:r>
            <a:endParaRPr lang="en-US" sz="1050" dirty="0"/>
          </a:p>
        </p:txBody>
      </p:sp>
      <p:sp>
        <p:nvSpPr>
          <p:cNvPr id="53" name="Shape 51"/>
          <p:cNvSpPr/>
          <p:nvPr/>
        </p:nvSpPr>
        <p:spPr>
          <a:xfrm>
            <a:off x="660380" y="3719048"/>
            <a:ext cx="3261208" cy="6309"/>
          </a:xfrm>
          <a:prstGeom prst="rect">
            <a:avLst/>
          </a:prstGeom>
          <a:solidFill>
            <a:srgbClr val="E3E6EA"/>
          </a:solidFill>
          <a:ln/>
        </p:spPr>
      </p:sp>
      <p:sp>
        <p:nvSpPr>
          <p:cNvPr id="54" name="Text 52"/>
          <p:cNvSpPr txBox="1"/>
          <p:nvPr/>
        </p:nvSpPr>
        <p:spPr>
          <a:xfrm>
            <a:off x="774680" y="3790737"/>
            <a:ext cx="1067013" cy="199979"/>
          </a:xfrm>
          <a:prstGeom prst="rect">
            <a:avLst/>
          </a:prstGeom>
          <a:noFill/>
          <a:ln/>
        </p:spPr>
        <p:txBody>
          <a:bodyPr wrap="square" lIns="0" tIns="0" rIns="0" bIns="0" rtlCol="0" anchor="ctr"/>
          <a:lstStyle/>
          <a:p>
            <a:pPr algn="l" indent="0" marL="0">
              <a:buNone/>
            </a:pPr>
            <a:r>
              <a:rPr lang="en-US" sz="1000" b="1" dirty="0">
                <a:solidFill>
                  <a:srgbClr val="111111"/>
                </a:solidFill>
                <a:latin typeface="Courier New" pitchFamily="34" charset="0"/>
                <a:ea typeface="Courier New" pitchFamily="34" charset="-122"/>
                <a:cs typeface="Courier New" pitchFamily="34" charset="-120"/>
              </a:rPr>
              <a:t>vnp_OrderType</a:t>
            </a:r>
            <a:endParaRPr lang="en-US" sz="1000" dirty="0"/>
          </a:p>
        </p:txBody>
      </p:sp>
      <p:sp>
        <p:nvSpPr>
          <p:cNvPr id="55" name="Shape 53"/>
          <p:cNvSpPr/>
          <p:nvPr/>
        </p:nvSpPr>
        <p:spPr>
          <a:xfrm>
            <a:off x="3921587" y="3719048"/>
            <a:ext cx="3913449" cy="6309"/>
          </a:xfrm>
          <a:prstGeom prst="rect">
            <a:avLst/>
          </a:prstGeom>
          <a:solidFill>
            <a:srgbClr val="E3E6EA"/>
          </a:solidFill>
          <a:ln/>
        </p:spPr>
      </p:sp>
      <p:sp>
        <p:nvSpPr>
          <p:cNvPr id="56" name="Text 54"/>
          <p:cNvSpPr txBox="1"/>
          <p:nvPr/>
        </p:nvSpPr>
        <p:spPr>
          <a:xfrm>
            <a:off x="4035887" y="3790737"/>
            <a:ext cx="457291" cy="199979"/>
          </a:xfrm>
          <a:prstGeom prst="rect">
            <a:avLst/>
          </a:prstGeom>
          <a:noFill/>
          <a:ln/>
        </p:spPr>
        <p:txBody>
          <a:bodyPr wrap="square" lIns="0" tIns="0" rIns="0" bIns="0" rtlCol="0" anchor="ctr"/>
          <a:lstStyle/>
          <a:p>
            <a:pPr algn="l" indent="0" marL="0">
              <a:buNone/>
            </a:pPr>
            <a:r>
              <a:rPr lang="en-US" sz="1000" dirty="0">
                <a:solidFill>
                  <a:srgbClr val="3F454D"/>
                </a:solidFill>
                <a:latin typeface="Courier New" pitchFamily="34" charset="0"/>
                <a:ea typeface="Courier New" pitchFamily="34" charset="-122"/>
                <a:cs typeface="Courier New" pitchFamily="34" charset="-120"/>
              </a:rPr>
              <a:t>other</a:t>
            </a:r>
            <a:endParaRPr lang="en-US" sz="1000" dirty="0"/>
          </a:p>
        </p:txBody>
      </p:sp>
      <p:sp>
        <p:nvSpPr>
          <p:cNvPr id="57" name="Shape 55"/>
          <p:cNvSpPr/>
          <p:nvPr/>
        </p:nvSpPr>
        <p:spPr>
          <a:xfrm>
            <a:off x="7835128" y="3719048"/>
            <a:ext cx="3696188" cy="6309"/>
          </a:xfrm>
          <a:prstGeom prst="rect">
            <a:avLst/>
          </a:prstGeom>
          <a:solidFill>
            <a:srgbClr val="E3E6EA"/>
          </a:solidFill>
          <a:ln/>
        </p:spPr>
      </p:sp>
      <p:sp>
        <p:nvSpPr>
          <p:cNvPr id="58" name="Text 56"/>
          <p:cNvSpPr txBox="1"/>
          <p:nvPr/>
        </p:nvSpPr>
        <p:spPr>
          <a:xfrm>
            <a:off x="7949428" y="3782416"/>
            <a:ext cx="921624"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Loại hàng hoá</a:t>
            </a:r>
            <a:endParaRPr lang="en-US" sz="1050" dirty="0"/>
          </a:p>
        </p:txBody>
      </p:sp>
      <p:sp>
        <p:nvSpPr>
          <p:cNvPr id="59" name="Shape 57"/>
          <p:cNvSpPr/>
          <p:nvPr/>
        </p:nvSpPr>
        <p:spPr>
          <a:xfrm>
            <a:off x="660380" y="4011107"/>
            <a:ext cx="3261208" cy="6309"/>
          </a:xfrm>
          <a:prstGeom prst="rect">
            <a:avLst/>
          </a:prstGeom>
          <a:solidFill>
            <a:srgbClr val="E3E6EA"/>
          </a:solidFill>
          <a:ln/>
        </p:spPr>
      </p:sp>
      <p:sp>
        <p:nvSpPr>
          <p:cNvPr id="60" name="Text 58"/>
          <p:cNvSpPr txBox="1"/>
          <p:nvPr/>
        </p:nvSpPr>
        <p:spPr>
          <a:xfrm>
            <a:off x="774680" y="4082887"/>
            <a:ext cx="1143183" cy="199979"/>
          </a:xfrm>
          <a:prstGeom prst="rect">
            <a:avLst/>
          </a:prstGeom>
          <a:noFill/>
          <a:ln/>
        </p:spPr>
        <p:txBody>
          <a:bodyPr wrap="square" lIns="0" tIns="0" rIns="0" bIns="0" rtlCol="0" anchor="ctr"/>
          <a:lstStyle/>
          <a:p>
            <a:pPr algn="l" indent="0" marL="0">
              <a:buNone/>
            </a:pPr>
            <a:r>
              <a:rPr lang="en-US" sz="1000" b="1" dirty="0">
                <a:solidFill>
                  <a:srgbClr val="111111"/>
                </a:solidFill>
                <a:latin typeface="Courier New" pitchFamily="34" charset="0"/>
                <a:ea typeface="Courier New" pitchFamily="34" charset="-122"/>
                <a:cs typeface="Courier New" pitchFamily="34" charset="-120"/>
              </a:rPr>
              <a:t>vnp_CreateDate</a:t>
            </a:r>
            <a:endParaRPr lang="en-US" sz="1000" dirty="0"/>
          </a:p>
        </p:txBody>
      </p:sp>
      <p:sp>
        <p:nvSpPr>
          <p:cNvPr id="61" name="Shape 59"/>
          <p:cNvSpPr/>
          <p:nvPr/>
        </p:nvSpPr>
        <p:spPr>
          <a:xfrm>
            <a:off x="3921587" y="4011107"/>
            <a:ext cx="3913449" cy="6309"/>
          </a:xfrm>
          <a:prstGeom prst="rect">
            <a:avLst/>
          </a:prstGeom>
          <a:solidFill>
            <a:srgbClr val="E3E6EA"/>
          </a:solidFill>
          <a:ln/>
        </p:spPr>
      </p:sp>
      <p:sp>
        <p:nvSpPr>
          <p:cNvPr id="62" name="Text 60"/>
          <p:cNvSpPr txBox="1"/>
          <p:nvPr/>
        </p:nvSpPr>
        <p:spPr>
          <a:xfrm>
            <a:off x="4035887" y="4082887"/>
            <a:ext cx="1143183" cy="199979"/>
          </a:xfrm>
          <a:prstGeom prst="rect">
            <a:avLst/>
          </a:prstGeom>
          <a:noFill/>
          <a:ln/>
        </p:spPr>
        <p:txBody>
          <a:bodyPr wrap="square" lIns="0" tIns="0" rIns="0" bIns="0" rtlCol="0" anchor="ctr"/>
          <a:lstStyle/>
          <a:p>
            <a:pPr algn="l" indent="0" marL="0">
              <a:buNone/>
            </a:pPr>
            <a:r>
              <a:rPr lang="en-US" sz="1000" dirty="0">
                <a:solidFill>
                  <a:srgbClr val="3F454D"/>
                </a:solidFill>
                <a:latin typeface="Courier New" pitchFamily="34" charset="0"/>
                <a:ea typeface="Courier New" pitchFamily="34" charset="-122"/>
                <a:cs typeface="Courier New" pitchFamily="34" charset="-120"/>
              </a:rPr>
              <a:t>20261010101433</a:t>
            </a:r>
            <a:endParaRPr lang="en-US" sz="1000" dirty="0"/>
          </a:p>
        </p:txBody>
      </p:sp>
      <p:sp>
        <p:nvSpPr>
          <p:cNvPr id="63" name="Shape 61"/>
          <p:cNvSpPr/>
          <p:nvPr/>
        </p:nvSpPr>
        <p:spPr>
          <a:xfrm>
            <a:off x="7835128" y="4011107"/>
            <a:ext cx="3696188" cy="6309"/>
          </a:xfrm>
          <a:prstGeom prst="rect">
            <a:avLst/>
          </a:prstGeom>
          <a:solidFill>
            <a:srgbClr val="E3E6EA"/>
          </a:solidFill>
          <a:ln/>
        </p:spPr>
      </p:sp>
      <p:sp>
        <p:nvSpPr>
          <p:cNvPr id="64" name="Text 62"/>
          <p:cNvSpPr txBox="1"/>
          <p:nvPr/>
        </p:nvSpPr>
        <p:spPr>
          <a:xfrm>
            <a:off x="7949428" y="4074566"/>
            <a:ext cx="897392"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Thời điểm tạo</a:t>
            </a:r>
            <a:endParaRPr lang="en-US" sz="1050" dirty="0"/>
          </a:p>
        </p:txBody>
      </p:sp>
      <p:sp>
        <p:nvSpPr>
          <p:cNvPr id="65" name="Shape 63"/>
          <p:cNvSpPr/>
          <p:nvPr/>
        </p:nvSpPr>
        <p:spPr>
          <a:xfrm>
            <a:off x="660380" y="4303166"/>
            <a:ext cx="3261208" cy="6309"/>
          </a:xfrm>
          <a:prstGeom prst="rect">
            <a:avLst/>
          </a:prstGeom>
          <a:solidFill>
            <a:srgbClr val="E3E6EA"/>
          </a:solidFill>
          <a:ln/>
        </p:spPr>
      </p:sp>
      <p:sp>
        <p:nvSpPr>
          <p:cNvPr id="66" name="Text 64"/>
          <p:cNvSpPr txBox="1"/>
          <p:nvPr/>
        </p:nvSpPr>
        <p:spPr>
          <a:xfrm>
            <a:off x="774680" y="4374947"/>
            <a:ext cx="1143183" cy="199979"/>
          </a:xfrm>
          <a:prstGeom prst="rect">
            <a:avLst/>
          </a:prstGeom>
          <a:noFill/>
          <a:ln/>
        </p:spPr>
        <p:txBody>
          <a:bodyPr wrap="square" lIns="0" tIns="0" rIns="0" bIns="0" rtlCol="0" anchor="ctr"/>
          <a:lstStyle/>
          <a:p>
            <a:pPr algn="l" indent="0" marL="0">
              <a:buNone/>
            </a:pPr>
            <a:r>
              <a:rPr lang="en-US" sz="1000" b="1" dirty="0">
                <a:solidFill>
                  <a:srgbClr val="111111"/>
                </a:solidFill>
                <a:latin typeface="Courier New" pitchFamily="34" charset="0"/>
                <a:ea typeface="Courier New" pitchFamily="34" charset="-122"/>
                <a:cs typeface="Courier New" pitchFamily="34" charset="-120"/>
              </a:rPr>
              <a:t>vnp_ExpireDate</a:t>
            </a:r>
            <a:endParaRPr lang="en-US" sz="1000" dirty="0"/>
          </a:p>
        </p:txBody>
      </p:sp>
      <p:sp>
        <p:nvSpPr>
          <p:cNvPr id="67" name="Shape 65"/>
          <p:cNvSpPr/>
          <p:nvPr/>
        </p:nvSpPr>
        <p:spPr>
          <a:xfrm>
            <a:off x="3921587" y="4303166"/>
            <a:ext cx="3913449" cy="6309"/>
          </a:xfrm>
          <a:prstGeom prst="rect">
            <a:avLst/>
          </a:prstGeom>
          <a:solidFill>
            <a:srgbClr val="E3E6EA"/>
          </a:solidFill>
          <a:ln/>
        </p:spPr>
      </p:sp>
      <p:sp>
        <p:nvSpPr>
          <p:cNvPr id="68" name="Text 66"/>
          <p:cNvSpPr txBox="1"/>
          <p:nvPr/>
        </p:nvSpPr>
        <p:spPr>
          <a:xfrm>
            <a:off x="4035887" y="4374947"/>
            <a:ext cx="1143183" cy="199979"/>
          </a:xfrm>
          <a:prstGeom prst="rect">
            <a:avLst/>
          </a:prstGeom>
          <a:noFill/>
          <a:ln/>
        </p:spPr>
        <p:txBody>
          <a:bodyPr wrap="square" lIns="0" tIns="0" rIns="0" bIns="0" rtlCol="0" anchor="ctr"/>
          <a:lstStyle/>
          <a:p>
            <a:pPr algn="l" indent="0" marL="0">
              <a:buNone/>
            </a:pPr>
            <a:r>
              <a:rPr lang="en-US" sz="1000" dirty="0">
                <a:solidFill>
                  <a:srgbClr val="3F454D"/>
                </a:solidFill>
                <a:latin typeface="Courier New" pitchFamily="34" charset="0"/>
                <a:ea typeface="Courier New" pitchFamily="34" charset="-122"/>
                <a:cs typeface="Courier New" pitchFamily="34" charset="-120"/>
              </a:rPr>
              <a:t>20261010102933</a:t>
            </a:r>
            <a:endParaRPr lang="en-US" sz="1000" dirty="0"/>
          </a:p>
        </p:txBody>
      </p:sp>
      <p:sp>
        <p:nvSpPr>
          <p:cNvPr id="69" name="Shape 67"/>
          <p:cNvSpPr/>
          <p:nvPr/>
        </p:nvSpPr>
        <p:spPr>
          <a:xfrm>
            <a:off x="7835128" y="4303166"/>
            <a:ext cx="3696188" cy="6309"/>
          </a:xfrm>
          <a:prstGeom prst="rect">
            <a:avLst/>
          </a:prstGeom>
          <a:solidFill>
            <a:srgbClr val="E3E6EA"/>
          </a:solidFill>
          <a:ln/>
        </p:spPr>
      </p:sp>
      <p:sp>
        <p:nvSpPr>
          <p:cNvPr id="70" name="Text 68"/>
          <p:cNvSpPr txBox="1"/>
          <p:nvPr/>
        </p:nvSpPr>
        <p:spPr>
          <a:xfrm>
            <a:off x="7949428" y="4366626"/>
            <a:ext cx="1156990"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Thời điểm hết hạn</a:t>
            </a:r>
            <a:endParaRPr lang="en-US" sz="1050" dirty="0"/>
          </a:p>
        </p:txBody>
      </p:sp>
      <p:sp>
        <p:nvSpPr>
          <p:cNvPr id="71" name="Shape 69"/>
          <p:cNvSpPr/>
          <p:nvPr/>
        </p:nvSpPr>
        <p:spPr>
          <a:xfrm>
            <a:off x="660380" y="4595317"/>
            <a:ext cx="3261208" cy="6309"/>
          </a:xfrm>
          <a:prstGeom prst="rect">
            <a:avLst/>
          </a:prstGeom>
          <a:solidFill>
            <a:srgbClr val="E3E6EA"/>
          </a:solidFill>
          <a:ln/>
        </p:spPr>
      </p:sp>
      <p:sp>
        <p:nvSpPr>
          <p:cNvPr id="72" name="Text 70"/>
          <p:cNvSpPr txBox="1"/>
          <p:nvPr/>
        </p:nvSpPr>
        <p:spPr>
          <a:xfrm>
            <a:off x="774680" y="4667098"/>
            <a:ext cx="838413" cy="199979"/>
          </a:xfrm>
          <a:prstGeom prst="rect">
            <a:avLst/>
          </a:prstGeom>
          <a:noFill/>
          <a:ln/>
        </p:spPr>
        <p:txBody>
          <a:bodyPr wrap="square" lIns="0" tIns="0" rIns="0" bIns="0" rtlCol="0" anchor="ctr"/>
          <a:lstStyle/>
          <a:p>
            <a:pPr algn="l" indent="0" marL="0">
              <a:buNone/>
            </a:pPr>
            <a:r>
              <a:rPr lang="en-US" sz="1000" b="1" dirty="0">
                <a:solidFill>
                  <a:srgbClr val="111111"/>
                </a:solidFill>
                <a:latin typeface="Courier New" pitchFamily="34" charset="0"/>
                <a:ea typeface="Courier New" pitchFamily="34" charset="-122"/>
                <a:cs typeface="Courier New" pitchFamily="34" charset="-120"/>
              </a:rPr>
              <a:t>vnp_IpAddr</a:t>
            </a:r>
            <a:endParaRPr lang="en-US" sz="1000" dirty="0"/>
          </a:p>
        </p:txBody>
      </p:sp>
      <p:sp>
        <p:nvSpPr>
          <p:cNvPr id="73" name="Shape 71"/>
          <p:cNvSpPr/>
          <p:nvPr/>
        </p:nvSpPr>
        <p:spPr>
          <a:xfrm>
            <a:off x="3921587" y="4595317"/>
            <a:ext cx="3913449" cy="6309"/>
          </a:xfrm>
          <a:prstGeom prst="rect">
            <a:avLst/>
          </a:prstGeom>
          <a:solidFill>
            <a:srgbClr val="E3E6EA"/>
          </a:solidFill>
          <a:ln/>
        </p:spPr>
      </p:sp>
      <p:sp>
        <p:nvSpPr>
          <p:cNvPr id="74" name="Text 72"/>
          <p:cNvSpPr txBox="1"/>
          <p:nvPr/>
        </p:nvSpPr>
        <p:spPr>
          <a:xfrm>
            <a:off x="4035887" y="4667098"/>
            <a:ext cx="762152" cy="199979"/>
          </a:xfrm>
          <a:prstGeom prst="rect">
            <a:avLst/>
          </a:prstGeom>
          <a:noFill/>
          <a:ln/>
        </p:spPr>
        <p:txBody>
          <a:bodyPr wrap="square" lIns="0" tIns="0" rIns="0" bIns="0" rtlCol="0" anchor="ctr"/>
          <a:lstStyle/>
          <a:p>
            <a:pPr algn="l" indent="0" marL="0">
              <a:buNone/>
            </a:pPr>
            <a:r>
              <a:rPr lang="en-US" sz="1000" dirty="0">
                <a:solidFill>
                  <a:srgbClr val="3F454D"/>
                </a:solidFill>
                <a:latin typeface="Courier New" pitchFamily="34" charset="0"/>
                <a:ea typeface="Courier New" pitchFamily="34" charset="-122"/>
                <a:cs typeface="Courier New" pitchFamily="34" charset="-120"/>
              </a:rPr>
              <a:t>127.0.0.1</a:t>
            </a:r>
            <a:endParaRPr lang="en-US" sz="1000" dirty="0"/>
          </a:p>
        </p:txBody>
      </p:sp>
      <p:sp>
        <p:nvSpPr>
          <p:cNvPr id="75" name="Shape 73"/>
          <p:cNvSpPr/>
          <p:nvPr/>
        </p:nvSpPr>
        <p:spPr>
          <a:xfrm>
            <a:off x="7835128" y="4595317"/>
            <a:ext cx="3696188" cy="6309"/>
          </a:xfrm>
          <a:prstGeom prst="rect">
            <a:avLst/>
          </a:prstGeom>
          <a:solidFill>
            <a:srgbClr val="E3E6EA"/>
          </a:solidFill>
          <a:ln/>
        </p:spPr>
      </p:sp>
      <p:sp>
        <p:nvSpPr>
          <p:cNvPr id="76" name="Text 74"/>
          <p:cNvSpPr txBox="1"/>
          <p:nvPr/>
        </p:nvSpPr>
        <p:spPr>
          <a:xfrm>
            <a:off x="7949428" y="4658777"/>
            <a:ext cx="844723"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IP của khách</a:t>
            </a:r>
            <a:endParaRPr lang="en-US" sz="1050" dirty="0"/>
          </a:p>
        </p:txBody>
      </p:sp>
      <p:sp>
        <p:nvSpPr>
          <p:cNvPr id="77" name="Shape 75"/>
          <p:cNvSpPr/>
          <p:nvPr/>
        </p:nvSpPr>
        <p:spPr>
          <a:xfrm>
            <a:off x="660380" y="4887377"/>
            <a:ext cx="3261208" cy="6309"/>
          </a:xfrm>
          <a:prstGeom prst="rect">
            <a:avLst/>
          </a:prstGeom>
          <a:solidFill>
            <a:srgbClr val="E3E6EA"/>
          </a:solidFill>
          <a:ln/>
        </p:spPr>
      </p:sp>
      <p:sp>
        <p:nvSpPr>
          <p:cNvPr id="78" name="Text 76"/>
          <p:cNvSpPr txBox="1"/>
          <p:nvPr/>
        </p:nvSpPr>
        <p:spPr>
          <a:xfrm>
            <a:off x="774680" y="4959157"/>
            <a:ext cx="838413" cy="199979"/>
          </a:xfrm>
          <a:prstGeom prst="rect">
            <a:avLst/>
          </a:prstGeom>
          <a:noFill/>
          <a:ln/>
        </p:spPr>
        <p:txBody>
          <a:bodyPr wrap="square" lIns="0" tIns="0" rIns="0" bIns="0" rtlCol="0" anchor="ctr"/>
          <a:lstStyle/>
          <a:p>
            <a:pPr algn="l" indent="0" marL="0">
              <a:buNone/>
            </a:pPr>
            <a:r>
              <a:rPr lang="en-US" sz="1000" b="1" dirty="0">
                <a:solidFill>
                  <a:srgbClr val="111111"/>
                </a:solidFill>
                <a:latin typeface="Courier New" pitchFamily="34" charset="0"/>
                <a:ea typeface="Courier New" pitchFamily="34" charset="-122"/>
                <a:cs typeface="Courier New" pitchFamily="34" charset="-120"/>
              </a:rPr>
              <a:t>vnp_Locale</a:t>
            </a:r>
            <a:endParaRPr lang="en-US" sz="1000" dirty="0"/>
          </a:p>
        </p:txBody>
      </p:sp>
      <p:sp>
        <p:nvSpPr>
          <p:cNvPr id="79" name="Shape 77"/>
          <p:cNvSpPr/>
          <p:nvPr/>
        </p:nvSpPr>
        <p:spPr>
          <a:xfrm>
            <a:off x="3921587" y="4887377"/>
            <a:ext cx="3913449" cy="6309"/>
          </a:xfrm>
          <a:prstGeom prst="rect">
            <a:avLst/>
          </a:prstGeom>
          <a:solidFill>
            <a:srgbClr val="E3E6EA"/>
          </a:solidFill>
          <a:ln/>
        </p:spPr>
      </p:sp>
      <p:sp>
        <p:nvSpPr>
          <p:cNvPr id="80" name="Text 78"/>
          <p:cNvSpPr txBox="1"/>
          <p:nvPr/>
        </p:nvSpPr>
        <p:spPr>
          <a:xfrm>
            <a:off x="4035887" y="4959157"/>
            <a:ext cx="228691" cy="199979"/>
          </a:xfrm>
          <a:prstGeom prst="rect">
            <a:avLst/>
          </a:prstGeom>
          <a:noFill/>
          <a:ln/>
        </p:spPr>
        <p:txBody>
          <a:bodyPr wrap="square" lIns="0" tIns="0" rIns="0" bIns="0" rtlCol="0" anchor="ctr"/>
          <a:lstStyle/>
          <a:p>
            <a:pPr algn="l" indent="0" marL="0">
              <a:buNone/>
            </a:pPr>
            <a:r>
              <a:rPr lang="en-US" sz="1000" dirty="0">
                <a:solidFill>
                  <a:srgbClr val="3F454D"/>
                </a:solidFill>
                <a:latin typeface="Courier New" pitchFamily="34" charset="0"/>
                <a:ea typeface="Courier New" pitchFamily="34" charset="-122"/>
                <a:cs typeface="Courier New" pitchFamily="34" charset="-120"/>
              </a:rPr>
              <a:t>vn</a:t>
            </a:r>
            <a:endParaRPr lang="en-US" sz="1000" dirty="0"/>
          </a:p>
        </p:txBody>
      </p:sp>
      <p:sp>
        <p:nvSpPr>
          <p:cNvPr id="81" name="Shape 79"/>
          <p:cNvSpPr/>
          <p:nvPr/>
        </p:nvSpPr>
        <p:spPr>
          <a:xfrm>
            <a:off x="7835128" y="4887377"/>
            <a:ext cx="3696188" cy="6309"/>
          </a:xfrm>
          <a:prstGeom prst="rect">
            <a:avLst/>
          </a:prstGeom>
          <a:solidFill>
            <a:srgbClr val="E3E6EA"/>
          </a:solidFill>
          <a:ln/>
        </p:spPr>
      </p:sp>
      <p:sp>
        <p:nvSpPr>
          <p:cNvPr id="82" name="Text 80"/>
          <p:cNvSpPr txBox="1"/>
          <p:nvPr/>
        </p:nvSpPr>
        <p:spPr>
          <a:xfrm>
            <a:off x="7949428" y="4950836"/>
            <a:ext cx="1697858"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Ngôn ngữ trang thanh toán</a:t>
            </a:r>
            <a:endParaRPr lang="en-US" sz="1050" dirty="0"/>
          </a:p>
        </p:txBody>
      </p:sp>
      <p:sp>
        <p:nvSpPr>
          <p:cNvPr id="83" name="Shape 81"/>
          <p:cNvSpPr/>
          <p:nvPr/>
        </p:nvSpPr>
        <p:spPr>
          <a:xfrm>
            <a:off x="660380" y="5179527"/>
            <a:ext cx="3261208" cy="6309"/>
          </a:xfrm>
          <a:prstGeom prst="rect">
            <a:avLst/>
          </a:prstGeom>
          <a:solidFill>
            <a:srgbClr val="E3E6EA"/>
          </a:solidFill>
          <a:ln/>
        </p:spPr>
      </p:sp>
      <p:sp>
        <p:nvSpPr>
          <p:cNvPr id="84" name="Text 82"/>
          <p:cNvSpPr txBox="1"/>
          <p:nvPr/>
        </p:nvSpPr>
        <p:spPr>
          <a:xfrm>
            <a:off x="774680" y="5251216"/>
            <a:ext cx="1067013" cy="199979"/>
          </a:xfrm>
          <a:prstGeom prst="rect">
            <a:avLst/>
          </a:prstGeom>
          <a:noFill/>
          <a:ln/>
        </p:spPr>
        <p:txBody>
          <a:bodyPr wrap="square" lIns="0" tIns="0" rIns="0" bIns="0" rtlCol="0" anchor="ctr"/>
          <a:lstStyle/>
          <a:p>
            <a:pPr algn="l" indent="0" marL="0">
              <a:buNone/>
            </a:pPr>
            <a:r>
              <a:rPr lang="en-US" sz="1000" b="1" dirty="0">
                <a:solidFill>
                  <a:srgbClr val="111111"/>
                </a:solidFill>
                <a:latin typeface="Courier New" pitchFamily="34" charset="0"/>
                <a:ea typeface="Courier New" pitchFamily="34" charset="-122"/>
                <a:cs typeface="Courier New" pitchFamily="34" charset="-120"/>
              </a:rPr>
              <a:t>vnp_ReturnUrl</a:t>
            </a:r>
            <a:endParaRPr lang="en-US" sz="1000" dirty="0"/>
          </a:p>
        </p:txBody>
      </p:sp>
      <p:sp>
        <p:nvSpPr>
          <p:cNvPr id="85" name="Shape 83"/>
          <p:cNvSpPr/>
          <p:nvPr/>
        </p:nvSpPr>
        <p:spPr>
          <a:xfrm>
            <a:off x="3921587" y="5179527"/>
            <a:ext cx="3913449" cy="6309"/>
          </a:xfrm>
          <a:prstGeom prst="rect">
            <a:avLst/>
          </a:prstGeom>
          <a:solidFill>
            <a:srgbClr val="E3E6EA"/>
          </a:solidFill>
          <a:ln/>
        </p:spPr>
      </p:sp>
      <p:sp>
        <p:nvSpPr>
          <p:cNvPr id="86" name="Text 84"/>
          <p:cNvSpPr txBox="1"/>
          <p:nvPr/>
        </p:nvSpPr>
        <p:spPr>
          <a:xfrm>
            <a:off x="4035887" y="5251216"/>
            <a:ext cx="1777228" cy="199979"/>
          </a:xfrm>
          <a:prstGeom prst="rect">
            <a:avLst/>
          </a:prstGeom>
          <a:noFill/>
          <a:ln/>
        </p:spPr>
        <p:txBody>
          <a:bodyPr wrap="square" lIns="0" tIns="0" rIns="0" bIns="0" rtlCol="0" anchor="ctr"/>
          <a:lstStyle/>
          <a:p>
            <a:pPr algn="l" indent="0" marL="0">
              <a:buNone/>
            </a:pPr>
            <a:r>
              <a:rPr lang="en-US" sz="1000" dirty="0">
                <a:solidFill>
                  <a:srgbClr val="3F454D"/>
                </a:solidFill>
                <a:latin typeface="Courier New" pitchFamily="34" charset="0"/>
                <a:ea typeface="Courier New" pitchFamily="34" charset="-122"/>
                <a:cs typeface="Courier New" pitchFamily="34" charset="-120"/>
              </a:rPr>
              <a:t>https://…/vnpay/return</a:t>
            </a:r>
            <a:endParaRPr lang="en-US" sz="1000" dirty="0"/>
          </a:p>
        </p:txBody>
      </p:sp>
      <p:sp>
        <p:nvSpPr>
          <p:cNvPr id="87" name="Shape 85"/>
          <p:cNvSpPr/>
          <p:nvPr/>
        </p:nvSpPr>
        <p:spPr>
          <a:xfrm>
            <a:off x="7835128" y="5179527"/>
            <a:ext cx="3696188" cy="6309"/>
          </a:xfrm>
          <a:prstGeom prst="rect">
            <a:avLst/>
          </a:prstGeom>
          <a:solidFill>
            <a:srgbClr val="E3E6EA"/>
          </a:solidFill>
          <a:ln/>
        </p:spPr>
      </p:sp>
      <p:sp>
        <p:nvSpPr>
          <p:cNvPr id="88" name="Text 86"/>
          <p:cNvSpPr txBox="1"/>
          <p:nvPr/>
        </p:nvSpPr>
        <p:spPr>
          <a:xfrm>
            <a:off x="7949428" y="5242895"/>
            <a:ext cx="1468161"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Nơi đưa khách quay về</a:t>
            </a:r>
            <a:endParaRPr lang="en-US" sz="1050" dirty="0"/>
          </a:p>
        </p:txBody>
      </p:sp>
      <p:sp>
        <p:nvSpPr>
          <p:cNvPr id="89" name="Shape 87"/>
          <p:cNvSpPr/>
          <p:nvPr/>
        </p:nvSpPr>
        <p:spPr>
          <a:xfrm>
            <a:off x="660380" y="5471587"/>
            <a:ext cx="3261208" cy="6309"/>
          </a:xfrm>
          <a:prstGeom prst="rect">
            <a:avLst/>
          </a:prstGeom>
          <a:solidFill>
            <a:srgbClr val="E3E6EA"/>
          </a:solidFill>
          <a:ln/>
        </p:spPr>
      </p:sp>
      <p:sp>
        <p:nvSpPr>
          <p:cNvPr id="90" name="Text 88"/>
          <p:cNvSpPr txBox="1"/>
          <p:nvPr/>
        </p:nvSpPr>
        <p:spPr>
          <a:xfrm>
            <a:off x="774680" y="5530291"/>
            <a:ext cx="1691823" cy="199979"/>
          </a:xfrm>
          <a:prstGeom prst="rect">
            <a:avLst/>
          </a:prstGeom>
          <a:noFill/>
          <a:ln/>
        </p:spPr>
        <p:txBody>
          <a:bodyPr wrap="square" lIns="0" tIns="0" rIns="0" bIns="0" rtlCol="0" anchor="ctr"/>
          <a:lstStyle/>
          <a:p>
            <a:pPr algn="l" indent="0" marL="0">
              <a:buNone/>
            </a:pPr>
            <a:r>
              <a:rPr lang="en-US" sz="1000" b="1" dirty="0">
                <a:solidFill>
                  <a:srgbClr val="111111"/>
                </a:solidFill>
                <a:latin typeface="Courier New" pitchFamily="34" charset="0"/>
                <a:ea typeface="Courier New" pitchFamily="34" charset="-122"/>
                <a:cs typeface="Courier New" pitchFamily="34" charset="-120"/>
              </a:rPr>
              <a:t>vnp_BankCode</a:t>
            </a:r>
            <a:pPr algn="l" indent="0" marL="0">
              <a:buNone/>
            </a:pPr>
            <a:r>
              <a:rPr lang="en-US" sz="1050" b="1" dirty="0">
                <a:solidFill>
                  <a:srgbClr val="111111"/>
                </a:solidFill>
                <a:latin typeface="Arial" pitchFamily="34" charset="0"/>
                <a:ea typeface="Arial" pitchFamily="34" charset="-122"/>
                <a:cs typeface="Arial" pitchFamily="34" charset="-120"/>
              </a:rPr>
              <a:t> (tuỳ chọn)</a:t>
            </a:r>
            <a:endParaRPr lang="en-US" sz="1000" dirty="0"/>
          </a:p>
        </p:txBody>
      </p:sp>
      <p:sp>
        <p:nvSpPr>
          <p:cNvPr id="91" name="Shape 89"/>
          <p:cNvSpPr/>
          <p:nvPr/>
        </p:nvSpPr>
        <p:spPr>
          <a:xfrm>
            <a:off x="3921587" y="5471587"/>
            <a:ext cx="3913449" cy="6309"/>
          </a:xfrm>
          <a:prstGeom prst="rect">
            <a:avLst/>
          </a:prstGeom>
          <a:solidFill>
            <a:srgbClr val="E3E6EA"/>
          </a:solidFill>
          <a:ln/>
        </p:spPr>
      </p:sp>
      <p:sp>
        <p:nvSpPr>
          <p:cNvPr id="92" name="Text 90"/>
          <p:cNvSpPr txBox="1"/>
          <p:nvPr/>
        </p:nvSpPr>
        <p:spPr>
          <a:xfrm>
            <a:off x="4035887" y="5543367"/>
            <a:ext cx="304861" cy="199979"/>
          </a:xfrm>
          <a:prstGeom prst="rect">
            <a:avLst/>
          </a:prstGeom>
          <a:noFill/>
          <a:ln/>
        </p:spPr>
        <p:txBody>
          <a:bodyPr wrap="square" lIns="0" tIns="0" rIns="0" bIns="0" rtlCol="0" anchor="ctr"/>
          <a:lstStyle/>
          <a:p>
            <a:pPr algn="l" indent="0" marL="0">
              <a:buNone/>
            </a:pPr>
            <a:r>
              <a:rPr lang="en-US" sz="1000" dirty="0">
                <a:solidFill>
                  <a:srgbClr val="3F454D"/>
                </a:solidFill>
                <a:latin typeface="Courier New" pitchFamily="34" charset="0"/>
                <a:ea typeface="Courier New" pitchFamily="34" charset="-122"/>
                <a:cs typeface="Courier New" pitchFamily="34" charset="-120"/>
              </a:rPr>
              <a:t>NCB</a:t>
            </a:r>
            <a:endParaRPr lang="en-US" sz="1000" dirty="0"/>
          </a:p>
        </p:txBody>
      </p:sp>
      <p:sp>
        <p:nvSpPr>
          <p:cNvPr id="93" name="Shape 91"/>
          <p:cNvSpPr/>
          <p:nvPr/>
        </p:nvSpPr>
        <p:spPr>
          <a:xfrm>
            <a:off x="7835128" y="5471587"/>
            <a:ext cx="3696188" cy="6309"/>
          </a:xfrm>
          <a:prstGeom prst="rect">
            <a:avLst/>
          </a:prstGeom>
          <a:solidFill>
            <a:srgbClr val="E3E6EA"/>
          </a:solidFill>
          <a:ln/>
        </p:spPr>
      </p:sp>
      <p:sp>
        <p:nvSpPr>
          <p:cNvPr id="94" name="Text 92"/>
          <p:cNvSpPr txBox="1"/>
          <p:nvPr/>
        </p:nvSpPr>
        <p:spPr>
          <a:xfrm>
            <a:off x="7949428" y="5535046"/>
            <a:ext cx="2273381"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Bỏ trống thì khách chọn trên VNPAY</a:t>
            </a:r>
            <a:endParaRPr lang="en-US" sz="1050" dirty="0"/>
          </a:p>
        </p:txBody>
      </p:sp>
      <p:sp>
        <p:nvSpPr>
          <p:cNvPr id="95" name="Shape 93"/>
          <p:cNvSpPr/>
          <p:nvPr/>
        </p:nvSpPr>
        <p:spPr>
          <a:xfrm>
            <a:off x="660380" y="5763646"/>
            <a:ext cx="3261208" cy="6309"/>
          </a:xfrm>
          <a:prstGeom prst="rect">
            <a:avLst/>
          </a:prstGeom>
          <a:solidFill>
            <a:srgbClr val="E3E6EA"/>
          </a:solidFill>
          <a:ln/>
        </p:spPr>
      </p:sp>
      <p:sp>
        <p:nvSpPr>
          <p:cNvPr id="96" name="Text 94"/>
          <p:cNvSpPr txBox="1"/>
          <p:nvPr/>
        </p:nvSpPr>
        <p:spPr>
          <a:xfrm>
            <a:off x="774680" y="5835426"/>
            <a:ext cx="1143183" cy="199979"/>
          </a:xfrm>
          <a:prstGeom prst="rect">
            <a:avLst/>
          </a:prstGeom>
          <a:noFill/>
          <a:ln/>
        </p:spPr>
        <p:txBody>
          <a:bodyPr wrap="square" lIns="0" tIns="0" rIns="0" bIns="0" rtlCol="0" anchor="ctr"/>
          <a:lstStyle/>
          <a:p>
            <a:pPr algn="l" indent="0" marL="0">
              <a:buNone/>
            </a:pPr>
            <a:r>
              <a:rPr lang="en-US" sz="1000" b="1" dirty="0">
                <a:solidFill>
                  <a:srgbClr val="111111"/>
                </a:solidFill>
                <a:latin typeface="Courier New" pitchFamily="34" charset="0"/>
                <a:ea typeface="Courier New" pitchFamily="34" charset="-122"/>
                <a:cs typeface="Courier New" pitchFamily="34" charset="-120"/>
              </a:rPr>
              <a:t>vnp_SecureHash</a:t>
            </a:r>
            <a:endParaRPr lang="en-US" sz="1000" dirty="0"/>
          </a:p>
        </p:txBody>
      </p:sp>
      <p:sp>
        <p:nvSpPr>
          <p:cNvPr id="97" name="Shape 95"/>
          <p:cNvSpPr/>
          <p:nvPr/>
        </p:nvSpPr>
        <p:spPr>
          <a:xfrm>
            <a:off x="3921587" y="5763646"/>
            <a:ext cx="3913449" cy="6309"/>
          </a:xfrm>
          <a:prstGeom prst="rect">
            <a:avLst/>
          </a:prstGeom>
          <a:solidFill>
            <a:srgbClr val="E3E6EA"/>
          </a:solidFill>
          <a:ln/>
        </p:spPr>
      </p:sp>
      <p:sp>
        <p:nvSpPr>
          <p:cNvPr id="98" name="Text 96"/>
          <p:cNvSpPr txBox="1"/>
          <p:nvPr/>
        </p:nvSpPr>
        <p:spPr>
          <a:xfrm>
            <a:off x="4035887" y="5827105"/>
            <a:ext cx="884499"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128 ký tự hex</a:t>
            </a:r>
            <a:endParaRPr lang="en-US" sz="1050" dirty="0"/>
          </a:p>
        </p:txBody>
      </p:sp>
      <p:sp>
        <p:nvSpPr>
          <p:cNvPr id="99" name="Shape 97"/>
          <p:cNvSpPr/>
          <p:nvPr/>
        </p:nvSpPr>
        <p:spPr>
          <a:xfrm>
            <a:off x="7835128" y="5763646"/>
            <a:ext cx="3696188" cy="6309"/>
          </a:xfrm>
          <a:prstGeom prst="rect">
            <a:avLst/>
          </a:prstGeom>
          <a:solidFill>
            <a:srgbClr val="E3E6EA"/>
          </a:solidFill>
          <a:ln/>
        </p:spPr>
      </p:sp>
      <p:sp>
        <p:nvSpPr>
          <p:cNvPr id="100" name="Text 98"/>
          <p:cNvSpPr txBox="1"/>
          <p:nvPr/>
        </p:nvSpPr>
        <p:spPr>
          <a:xfrm>
            <a:off x="7949428" y="5827105"/>
            <a:ext cx="1321765" cy="199979"/>
          </a:xfrm>
          <a:prstGeom prst="rect">
            <a:avLst/>
          </a:prstGeom>
          <a:noFill/>
          <a:ln/>
        </p:spPr>
        <p:txBody>
          <a:bodyPr wrap="square" lIns="0" tIns="0" rIns="0" bIns="0" rtlCol="0" anchor="ctr"/>
          <a:lstStyle/>
          <a:p>
            <a:pPr algn="l" indent="0" marL="0">
              <a:buNone/>
            </a:pPr>
            <a:r>
              <a:rPr lang="en-US" sz="1050" dirty="0">
                <a:solidFill>
                  <a:srgbClr val="3F454D"/>
                </a:solidFill>
                <a:latin typeface="Arial" pitchFamily="34" charset="0"/>
                <a:ea typeface="Arial" pitchFamily="34" charset="-122"/>
                <a:cs typeface="Arial" pitchFamily="34" charset="-120"/>
              </a:rPr>
              <a:t>Chữ ký, gắn cuối link</a:t>
            </a:r>
            <a:endParaRPr lang="en-US" sz="1050" dirty="0"/>
          </a:p>
        </p:txBody>
      </p:sp>
      <p:sp>
        <p:nvSpPr>
          <p:cNvPr id="101" name="Text 99"/>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102" name="Text 100"/>
          <p:cNvSpPr txBox="1"/>
          <p:nvPr/>
        </p:nvSpPr>
        <p:spPr>
          <a:xfrm>
            <a:off x="11464107" y="6472763"/>
            <a:ext cx="143378"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7</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650687"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Tham số</a:t>
            </a:r>
            <a:endParaRPr lang="en-US" sz="1100" dirty="0"/>
          </a:p>
        </p:txBody>
      </p:sp>
      <p:sp>
        <p:nvSpPr>
          <p:cNvPr id="3" name="Text 1"/>
          <p:cNvSpPr txBox="1"/>
          <p:nvPr/>
        </p:nvSpPr>
        <p:spPr>
          <a:xfrm>
            <a:off x="660380" y="643829"/>
            <a:ext cx="7291608"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Vì sao bắt buộc: định danh và giao dịch</a:t>
            </a:r>
            <a:endParaRPr lang="en-US" sz="3000" dirty="0"/>
          </a:p>
        </p:txBody>
      </p:sp>
      <p:sp>
        <p:nvSpPr>
          <p:cNvPr id="4" name="Shape 2"/>
          <p:cNvSpPr/>
          <p:nvPr/>
        </p:nvSpPr>
        <p:spPr>
          <a:xfrm>
            <a:off x="660380" y="1347368"/>
            <a:ext cx="10870936" cy="2781239"/>
          </a:xfrm>
          <a:prstGeom prst="roundRect">
            <a:avLst>
              <a:gd name="adj" fmla="val 3653"/>
            </a:avLst>
          </a:prstGeom>
          <a:solidFill>
            <a:srgbClr val="FFFFFF"/>
          </a:solidFill>
          <a:ln/>
        </p:spPr>
      </p:sp>
      <p:sp>
        <p:nvSpPr>
          <p:cNvPr id="5" name="Shape 3"/>
          <p:cNvSpPr/>
          <p:nvPr/>
        </p:nvSpPr>
        <p:spPr>
          <a:xfrm>
            <a:off x="660380" y="1347368"/>
            <a:ext cx="2826410" cy="422270"/>
          </a:xfrm>
          <a:prstGeom prst="rect">
            <a:avLst/>
          </a:prstGeom>
          <a:solidFill>
            <a:srgbClr val="ECF2FF"/>
          </a:solidFill>
          <a:ln/>
        </p:spPr>
      </p:sp>
      <p:sp>
        <p:nvSpPr>
          <p:cNvPr id="6" name="Text 4"/>
          <p:cNvSpPr txBox="1"/>
          <p:nvPr/>
        </p:nvSpPr>
        <p:spPr>
          <a:xfrm>
            <a:off x="825520" y="1479408"/>
            <a:ext cx="706191"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THAM SỐ</a:t>
            </a:r>
            <a:endParaRPr lang="en-US" sz="1000" dirty="0"/>
          </a:p>
        </p:txBody>
      </p:sp>
      <p:sp>
        <p:nvSpPr>
          <p:cNvPr id="7" name="Shape 5"/>
          <p:cNvSpPr/>
          <p:nvPr/>
        </p:nvSpPr>
        <p:spPr>
          <a:xfrm>
            <a:off x="3486790" y="1347368"/>
            <a:ext cx="8044525" cy="422270"/>
          </a:xfrm>
          <a:prstGeom prst="rect">
            <a:avLst/>
          </a:prstGeom>
          <a:solidFill>
            <a:srgbClr val="ECF2FF"/>
          </a:solidFill>
          <a:ln/>
        </p:spPr>
      </p:sp>
      <p:sp>
        <p:nvSpPr>
          <p:cNvPr id="8" name="Text 6"/>
          <p:cNvSpPr txBox="1"/>
          <p:nvPr/>
        </p:nvSpPr>
        <p:spPr>
          <a:xfrm>
            <a:off x="3651839" y="1479408"/>
            <a:ext cx="880659"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VÌ SAO CẦN</a:t>
            </a:r>
            <a:endParaRPr lang="en-US" sz="1000" dirty="0"/>
          </a:p>
        </p:txBody>
      </p:sp>
      <p:sp>
        <p:nvSpPr>
          <p:cNvPr id="9" name="Shape 7"/>
          <p:cNvSpPr/>
          <p:nvPr/>
        </p:nvSpPr>
        <p:spPr>
          <a:xfrm>
            <a:off x="660380" y="1769638"/>
            <a:ext cx="2826410" cy="6309"/>
          </a:xfrm>
          <a:prstGeom prst="rect">
            <a:avLst/>
          </a:prstGeom>
          <a:solidFill>
            <a:srgbClr val="E3E6EA"/>
          </a:solidFill>
          <a:ln/>
        </p:spPr>
      </p:sp>
      <p:sp>
        <p:nvSpPr>
          <p:cNvPr id="10" name="Text 8"/>
          <p:cNvSpPr txBox="1"/>
          <p:nvPr/>
        </p:nvSpPr>
        <p:spPr>
          <a:xfrm>
            <a:off x="800100" y="1871594"/>
            <a:ext cx="1082284"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vnp_Version</a:t>
            </a:r>
            <a:endParaRPr lang="en-US" sz="1200" dirty="0"/>
          </a:p>
        </p:txBody>
      </p:sp>
      <p:sp>
        <p:nvSpPr>
          <p:cNvPr id="11" name="Shape 9"/>
          <p:cNvSpPr/>
          <p:nvPr/>
        </p:nvSpPr>
        <p:spPr>
          <a:xfrm>
            <a:off x="3486790" y="1769638"/>
            <a:ext cx="8044525" cy="6309"/>
          </a:xfrm>
          <a:prstGeom prst="rect">
            <a:avLst/>
          </a:prstGeom>
          <a:solidFill>
            <a:srgbClr val="E3E6EA"/>
          </a:solidFill>
          <a:ln/>
        </p:spPr>
      </p:sp>
      <p:sp>
        <p:nvSpPr>
          <p:cNvPr id="12" name="Text 10"/>
          <p:cNvSpPr txBox="1"/>
          <p:nvPr/>
        </p:nvSpPr>
        <p:spPr>
          <a:xfrm>
            <a:off x="3626419" y="1873606"/>
            <a:ext cx="6144859"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VNPAY có nhiều phiên bản API, mỗi phiên bản đọc tham số và kiểm tra chữ ký khác nhau</a:t>
            </a:r>
            <a:endParaRPr lang="en-US" sz="1150" dirty="0"/>
          </a:p>
        </p:txBody>
      </p:sp>
      <p:sp>
        <p:nvSpPr>
          <p:cNvPr id="13" name="Shape 11"/>
          <p:cNvSpPr/>
          <p:nvPr/>
        </p:nvSpPr>
        <p:spPr>
          <a:xfrm>
            <a:off x="660380" y="2163288"/>
            <a:ext cx="2826410" cy="6309"/>
          </a:xfrm>
          <a:prstGeom prst="rect">
            <a:avLst/>
          </a:prstGeom>
          <a:solidFill>
            <a:srgbClr val="E3E6EA"/>
          </a:solidFill>
          <a:ln/>
        </p:spPr>
      </p:sp>
      <p:sp>
        <p:nvSpPr>
          <p:cNvPr id="14" name="Text 12"/>
          <p:cNvSpPr txBox="1"/>
          <p:nvPr/>
        </p:nvSpPr>
        <p:spPr>
          <a:xfrm>
            <a:off x="800100" y="2265335"/>
            <a:ext cx="1082284"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vnp_Command</a:t>
            </a:r>
            <a:endParaRPr lang="en-US" sz="1200" dirty="0"/>
          </a:p>
        </p:txBody>
      </p:sp>
      <p:sp>
        <p:nvSpPr>
          <p:cNvPr id="15" name="Shape 13"/>
          <p:cNvSpPr/>
          <p:nvPr/>
        </p:nvSpPr>
        <p:spPr>
          <a:xfrm>
            <a:off x="3486790" y="2163288"/>
            <a:ext cx="8044525" cy="6309"/>
          </a:xfrm>
          <a:prstGeom prst="rect">
            <a:avLst/>
          </a:prstGeom>
          <a:solidFill>
            <a:srgbClr val="E3E6EA"/>
          </a:solidFill>
          <a:ln/>
        </p:spPr>
      </p:sp>
      <p:sp>
        <p:nvSpPr>
          <p:cNvPr id="16" name="Text 14"/>
          <p:cNvSpPr txBox="1"/>
          <p:nvPr/>
        </p:nvSpPr>
        <p:spPr>
          <a:xfrm>
            <a:off x="3626419" y="2267255"/>
            <a:ext cx="7344095"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Cùng hệ thống VNPAY nhận nhiều lệnh: pay, querydr, refund. Tham số này cho biết request dùng để làm gì</a:t>
            </a:r>
            <a:endParaRPr lang="en-US" sz="1150" dirty="0"/>
          </a:p>
        </p:txBody>
      </p:sp>
      <p:sp>
        <p:nvSpPr>
          <p:cNvPr id="17" name="Shape 15"/>
          <p:cNvSpPr/>
          <p:nvPr/>
        </p:nvSpPr>
        <p:spPr>
          <a:xfrm>
            <a:off x="660380" y="2557028"/>
            <a:ext cx="2826410" cy="6309"/>
          </a:xfrm>
          <a:prstGeom prst="rect">
            <a:avLst/>
          </a:prstGeom>
          <a:solidFill>
            <a:srgbClr val="E3E6EA"/>
          </a:solidFill>
          <a:ln/>
        </p:spPr>
      </p:sp>
      <p:sp>
        <p:nvSpPr>
          <p:cNvPr id="18" name="Text 16"/>
          <p:cNvSpPr txBox="1"/>
          <p:nvPr/>
        </p:nvSpPr>
        <p:spPr>
          <a:xfrm>
            <a:off x="800100" y="2658984"/>
            <a:ext cx="1082284"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vnp_TmnCode</a:t>
            </a:r>
            <a:endParaRPr lang="en-US" sz="1200" dirty="0"/>
          </a:p>
        </p:txBody>
      </p:sp>
      <p:sp>
        <p:nvSpPr>
          <p:cNvPr id="19" name="Shape 17"/>
          <p:cNvSpPr/>
          <p:nvPr/>
        </p:nvSpPr>
        <p:spPr>
          <a:xfrm>
            <a:off x="3486790" y="2557028"/>
            <a:ext cx="8044525" cy="6309"/>
          </a:xfrm>
          <a:prstGeom prst="rect">
            <a:avLst/>
          </a:prstGeom>
          <a:solidFill>
            <a:srgbClr val="E3E6EA"/>
          </a:solidFill>
          <a:ln/>
        </p:spPr>
      </p:sp>
      <p:sp>
        <p:nvSpPr>
          <p:cNvPr id="20" name="Text 18"/>
          <p:cNvSpPr txBox="1"/>
          <p:nvPr/>
        </p:nvSpPr>
        <p:spPr>
          <a:xfrm>
            <a:off x="3626419" y="2660904"/>
            <a:ext cx="657554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Cho VNPAY biết website nào gửi, từ đó lấy đúng HashSecret của website đó để kiểm tra chữ ký</a:t>
            </a:r>
            <a:endParaRPr lang="en-US" sz="1150" dirty="0"/>
          </a:p>
        </p:txBody>
      </p:sp>
      <p:sp>
        <p:nvSpPr>
          <p:cNvPr id="21" name="Shape 19"/>
          <p:cNvSpPr/>
          <p:nvPr/>
        </p:nvSpPr>
        <p:spPr>
          <a:xfrm>
            <a:off x="660380" y="2950677"/>
            <a:ext cx="2826410" cy="6309"/>
          </a:xfrm>
          <a:prstGeom prst="rect">
            <a:avLst/>
          </a:prstGeom>
          <a:solidFill>
            <a:srgbClr val="E3E6EA"/>
          </a:solidFill>
          <a:ln/>
        </p:spPr>
      </p:sp>
      <p:sp>
        <p:nvSpPr>
          <p:cNvPr id="22" name="Text 20"/>
          <p:cNvSpPr txBox="1"/>
          <p:nvPr/>
        </p:nvSpPr>
        <p:spPr>
          <a:xfrm>
            <a:off x="800100" y="3052633"/>
            <a:ext cx="99075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vnp_TxnRef</a:t>
            </a:r>
            <a:endParaRPr lang="en-US" sz="1200" dirty="0"/>
          </a:p>
        </p:txBody>
      </p:sp>
      <p:sp>
        <p:nvSpPr>
          <p:cNvPr id="23" name="Shape 21"/>
          <p:cNvSpPr/>
          <p:nvPr/>
        </p:nvSpPr>
        <p:spPr>
          <a:xfrm>
            <a:off x="3486790" y="2950677"/>
            <a:ext cx="8044525" cy="6309"/>
          </a:xfrm>
          <a:prstGeom prst="rect">
            <a:avLst/>
          </a:prstGeom>
          <a:solidFill>
            <a:srgbClr val="E3E6EA"/>
          </a:solidFill>
          <a:ln/>
        </p:spPr>
      </p:sp>
      <p:sp>
        <p:nvSpPr>
          <p:cNvPr id="24" name="Text 22"/>
          <p:cNvSpPr txBox="1"/>
          <p:nvPr/>
        </p:nvSpPr>
        <p:spPr>
          <a:xfrm>
            <a:off x="3626419" y="3054645"/>
            <a:ext cx="708458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Nối giao dịch bên VNPAY với đơn bên mình, IPN và querydr đều trả lại mã này. Không trùng trong ngày</a:t>
            </a:r>
            <a:endParaRPr lang="en-US" sz="1150" dirty="0"/>
          </a:p>
        </p:txBody>
      </p:sp>
      <p:sp>
        <p:nvSpPr>
          <p:cNvPr id="25" name="Shape 23"/>
          <p:cNvSpPr/>
          <p:nvPr/>
        </p:nvSpPr>
        <p:spPr>
          <a:xfrm>
            <a:off x="660380" y="3344418"/>
            <a:ext cx="2826410" cy="6309"/>
          </a:xfrm>
          <a:prstGeom prst="rect">
            <a:avLst/>
          </a:prstGeom>
          <a:solidFill>
            <a:srgbClr val="E3E6EA"/>
          </a:solidFill>
          <a:ln/>
        </p:spPr>
      </p:sp>
      <p:sp>
        <p:nvSpPr>
          <p:cNvPr id="26" name="Text 24"/>
          <p:cNvSpPr txBox="1"/>
          <p:nvPr/>
        </p:nvSpPr>
        <p:spPr>
          <a:xfrm>
            <a:off x="800100" y="3446374"/>
            <a:ext cx="99075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vnp_Amount</a:t>
            </a:r>
            <a:endParaRPr lang="en-US" sz="1200" dirty="0"/>
          </a:p>
        </p:txBody>
      </p:sp>
      <p:sp>
        <p:nvSpPr>
          <p:cNvPr id="27" name="Shape 25"/>
          <p:cNvSpPr/>
          <p:nvPr/>
        </p:nvSpPr>
        <p:spPr>
          <a:xfrm>
            <a:off x="3486790" y="3344418"/>
            <a:ext cx="8044525" cy="6309"/>
          </a:xfrm>
          <a:prstGeom prst="rect">
            <a:avLst/>
          </a:prstGeom>
          <a:solidFill>
            <a:srgbClr val="E3E6EA"/>
          </a:solidFill>
          <a:ln/>
        </p:spPr>
      </p:sp>
      <p:sp>
        <p:nvSpPr>
          <p:cNvPr id="28" name="Text 26"/>
          <p:cNvSpPr txBox="1"/>
          <p:nvPr/>
        </p:nvSpPr>
        <p:spPr>
          <a:xfrm>
            <a:off x="3626419" y="3448294"/>
            <a:ext cx="659355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Số nguyên ở đơn vị nhỏ nhất (× 100), không có dấu phẩy hay số thập phân khi truyền qua chuỗi</a:t>
            </a:r>
            <a:endParaRPr lang="en-US" sz="1150" dirty="0"/>
          </a:p>
        </p:txBody>
      </p:sp>
      <p:sp>
        <p:nvSpPr>
          <p:cNvPr id="29" name="Shape 27"/>
          <p:cNvSpPr/>
          <p:nvPr/>
        </p:nvSpPr>
        <p:spPr>
          <a:xfrm>
            <a:off x="660380" y="3738067"/>
            <a:ext cx="2826410" cy="6309"/>
          </a:xfrm>
          <a:prstGeom prst="rect">
            <a:avLst/>
          </a:prstGeom>
          <a:solidFill>
            <a:srgbClr val="E3E6EA"/>
          </a:solidFill>
          <a:ln/>
        </p:spPr>
      </p:sp>
      <p:sp>
        <p:nvSpPr>
          <p:cNvPr id="30" name="Text 28"/>
          <p:cNvSpPr txBox="1"/>
          <p:nvPr/>
        </p:nvSpPr>
        <p:spPr>
          <a:xfrm>
            <a:off x="800100" y="3840023"/>
            <a:ext cx="117363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vnp_CurrCode</a:t>
            </a:r>
            <a:endParaRPr lang="en-US" sz="1200" dirty="0"/>
          </a:p>
        </p:txBody>
      </p:sp>
      <p:sp>
        <p:nvSpPr>
          <p:cNvPr id="31" name="Shape 29"/>
          <p:cNvSpPr/>
          <p:nvPr/>
        </p:nvSpPr>
        <p:spPr>
          <a:xfrm>
            <a:off x="3486790" y="3738067"/>
            <a:ext cx="8044525" cy="6309"/>
          </a:xfrm>
          <a:prstGeom prst="rect">
            <a:avLst/>
          </a:prstGeom>
          <a:solidFill>
            <a:srgbClr val="E3E6EA"/>
          </a:solidFill>
          <a:ln/>
        </p:spPr>
      </p:sp>
      <p:sp>
        <p:nvSpPr>
          <p:cNvPr id="32" name="Text 30"/>
          <p:cNvSpPr txBox="1"/>
          <p:nvPr/>
        </p:nvSpPr>
        <p:spPr>
          <a:xfrm>
            <a:off x="3626419" y="3842034"/>
            <a:ext cx="377327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Loại tiền của giao dịch. Tài liệu ghi hiện chỉ hỗ trợ VND</a:t>
            </a:r>
            <a:endParaRPr lang="en-US" sz="1150" dirty="0"/>
          </a:p>
        </p:txBody>
      </p:sp>
      <p:sp>
        <p:nvSpPr>
          <p:cNvPr id="33" name="Text 31"/>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34" name="Text 32"/>
          <p:cNvSpPr txBox="1"/>
          <p:nvPr/>
        </p:nvSpPr>
        <p:spPr>
          <a:xfrm>
            <a:off x="11464107" y="6472763"/>
            <a:ext cx="143378"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8</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650687"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Tham số</a:t>
            </a:r>
            <a:endParaRPr lang="en-US" sz="1100" dirty="0"/>
          </a:p>
        </p:txBody>
      </p:sp>
      <p:sp>
        <p:nvSpPr>
          <p:cNvPr id="3" name="Text 1"/>
          <p:cNvSpPr txBox="1"/>
          <p:nvPr/>
        </p:nvSpPr>
        <p:spPr>
          <a:xfrm>
            <a:off x="660380" y="643829"/>
            <a:ext cx="8456646"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Vì sao bắt buộc: thời gian, hiển thị và bảo mật</a:t>
            </a:r>
            <a:endParaRPr lang="en-US" sz="3000" dirty="0"/>
          </a:p>
        </p:txBody>
      </p:sp>
      <p:sp>
        <p:nvSpPr>
          <p:cNvPr id="4" name="Shape 2"/>
          <p:cNvSpPr/>
          <p:nvPr/>
        </p:nvSpPr>
        <p:spPr>
          <a:xfrm>
            <a:off x="660380" y="1347368"/>
            <a:ext cx="10870936" cy="3568629"/>
          </a:xfrm>
          <a:prstGeom prst="roundRect">
            <a:avLst>
              <a:gd name="adj" fmla="val 2847"/>
            </a:avLst>
          </a:prstGeom>
          <a:solidFill>
            <a:srgbClr val="FFFFFF"/>
          </a:solidFill>
          <a:ln/>
        </p:spPr>
      </p:sp>
      <p:sp>
        <p:nvSpPr>
          <p:cNvPr id="5" name="Shape 3"/>
          <p:cNvSpPr/>
          <p:nvPr/>
        </p:nvSpPr>
        <p:spPr>
          <a:xfrm>
            <a:off x="660380" y="1347368"/>
            <a:ext cx="2826410" cy="422270"/>
          </a:xfrm>
          <a:prstGeom prst="rect">
            <a:avLst/>
          </a:prstGeom>
          <a:solidFill>
            <a:srgbClr val="ECF2FF"/>
          </a:solidFill>
          <a:ln/>
        </p:spPr>
      </p:sp>
      <p:sp>
        <p:nvSpPr>
          <p:cNvPr id="6" name="Text 4"/>
          <p:cNvSpPr txBox="1"/>
          <p:nvPr/>
        </p:nvSpPr>
        <p:spPr>
          <a:xfrm>
            <a:off x="825520" y="1479408"/>
            <a:ext cx="706191"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THAM SỐ</a:t>
            </a:r>
            <a:endParaRPr lang="en-US" sz="1000" dirty="0"/>
          </a:p>
        </p:txBody>
      </p:sp>
      <p:sp>
        <p:nvSpPr>
          <p:cNvPr id="7" name="Shape 5"/>
          <p:cNvSpPr/>
          <p:nvPr/>
        </p:nvSpPr>
        <p:spPr>
          <a:xfrm>
            <a:off x="3486790" y="1347368"/>
            <a:ext cx="8044525" cy="422270"/>
          </a:xfrm>
          <a:prstGeom prst="rect">
            <a:avLst/>
          </a:prstGeom>
          <a:solidFill>
            <a:srgbClr val="ECF2FF"/>
          </a:solidFill>
          <a:ln/>
        </p:spPr>
      </p:sp>
      <p:sp>
        <p:nvSpPr>
          <p:cNvPr id="8" name="Text 6"/>
          <p:cNvSpPr txBox="1"/>
          <p:nvPr/>
        </p:nvSpPr>
        <p:spPr>
          <a:xfrm>
            <a:off x="3651839" y="1479408"/>
            <a:ext cx="880659"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VÌ SAO CẦN</a:t>
            </a:r>
            <a:endParaRPr lang="en-US" sz="1000" dirty="0"/>
          </a:p>
        </p:txBody>
      </p:sp>
      <p:sp>
        <p:nvSpPr>
          <p:cNvPr id="9" name="Shape 7"/>
          <p:cNvSpPr/>
          <p:nvPr/>
        </p:nvSpPr>
        <p:spPr>
          <a:xfrm>
            <a:off x="660380" y="1769638"/>
            <a:ext cx="2826410" cy="6309"/>
          </a:xfrm>
          <a:prstGeom prst="rect">
            <a:avLst/>
          </a:prstGeom>
          <a:solidFill>
            <a:srgbClr val="E3E6EA"/>
          </a:solidFill>
          <a:ln/>
        </p:spPr>
      </p:sp>
      <p:sp>
        <p:nvSpPr>
          <p:cNvPr id="10" name="Text 8"/>
          <p:cNvSpPr txBox="1"/>
          <p:nvPr/>
        </p:nvSpPr>
        <p:spPr>
          <a:xfrm>
            <a:off x="800100" y="1871594"/>
            <a:ext cx="1357244"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vnp_CreateDate</a:t>
            </a:r>
            <a:endParaRPr lang="en-US" sz="1200" dirty="0"/>
          </a:p>
        </p:txBody>
      </p:sp>
      <p:sp>
        <p:nvSpPr>
          <p:cNvPr id="11" name="Shape 9"/>
          <p:cNvSpPr/>
          <p:nvPr/>
        </p:nvSpPr>
        <p:spPr>
          <a:xfrm>
            <a:off x="3486790" y="1769638"/>
            <a:ext cx="8044525" cy="6309"/>
          </a:xfrm>
          <a:prstGeom prst="rect">
            <a:avLst/>
          </a:prstGeom>
          <a:solidFill>
            <a:srgbClr val="E3E6EA"/>
          </a:solidFill>
          <a:ln/>
        </p:spPr>
      </p:sp>
      <p:sp>
        <p:nvSpPr>
          <p:cNvPr id="12" name="Text 10"/>
          <p:cNvSpPr txBox="1"/>
          <p:nvPr/>
        </p:nvSpPr>
        <p:spPr>
          <a:xfrm>
            <a:off x="3626419" y="1873606"/>
            <a:ext cx="698208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Thời điểm tạo giao dịch. Khi gọi querydr phải gửi lại giá trị này, nên Payment Service lưu nó cùng đơn</a:t>
            </a:r>
            <a:endParaRPr lang="en-US" sz="1150" dirty="0"/>
          </a:p>
        </p:txBody>
      </p:sp>
      <p:sp>
        <p:nvSpPr>
          <p:cNvPr id="13" name="Shape 11"/>
          <p:cNvSpPr/>
          <p:nvPr/>
        </p:nvSpPr>
        <p:spPr>
          <a:xfrm>
            <a:off x="660380" y="2163288"/>
            <a:ext cx="2826410" cy="6309"/>
          </a:xfrm>
          <a:prstGeom prst="rect">
            <a:avLst/>
          </a:prstGeom>
          <a:solidFill>
            <a:srgbClr val="E3E6EA"/>
          </a:solidFill>
          <a:ln/>
        </p:spPr>
      </p:sp>
      <p:sp>
        <p:nvSpPr>
          <p:cNvPr id="14" name="Text 12"/>
          <p:cNvSpPr txBox="1"/>
          <p:nvPr/>
        </p:nvSpPr>
        <p:spPr>
          <a:xfrm>
            <a:off x="800100" y="2265335"/>
            <a:ext cx="1357244"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vnp_ExpireDate</a:t>
            </a:r>
            <a:endParaRPr lang="en-US" sz="1200" dirty="0"/>
          </a:p>
        </p:txBody>
      </p:sp>
      <p:sp>
        <p:nvSpPr>
          <p:cNvPr id="15" name="Shape 13"/>
          <p:cNvSpPr/>
          <p:nvPr/>
        </p:nvSpPr>
        <p:spPr>
          <a:xfrm>
            <a:off x="3486790" y="2163288"/>
            <a:ext cx="8044525" cy="6309"/>
          </a:xfrm>
          <a:prstGeom prst="rect">
            <a:avLst/>
          </a:prstGeom>
          <a:solidFill>
            <a:srgbClr val="E3E6EA"/>
          </a:solidFill>
          <a:ln/>
        </p:spPr>
      </p:sp>
      <p:sp>
        <p:nvSpPr>
          <p:cNvPr id="16" name="Text 14"/>
          <p:cNvSpPr txBox="1"/>
          <p:nvPr/>
        </p:nvSpPr>
        <p:spPr>
          <a:xfrm>
            <a:off x="3626419" y="2267255"/>
            <a:ext cx="6278179"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Link chỉ dùng được tới thời điểm này. Mở lại link cũ sau thời hạn thì không thanh toán được</a:t>
            </a:r>
            <a:endParaRPr lang="en-US" sz="1150" dirty="0"/>
          </a:p>
        </p:txBody>
      </p:sp>
      <p:sp>
        <p:nvSpPr>
          <p:cNvPr id="17" name="Shape 15"/>
          <p:cNvSpPr/>
          <p:nvPr/>
        </p:nvSpPr>
        <p:spPr>
          <a:xfrm>
            <a:off x="660380" y="2557028"/>
            <a:ext cx="2826410" cy="6309"/>
          </a:xfrm>
          <a:prstGeom prst="rect">
            <a:avLst/>
          </a:prstGeom>
          <a:solidFill>
            <a:srgbClr val="E3E6EA"/>
          </a:solidFill>
          <a:ln/>
        </p:spPr>
      </p:sp>
      <p:sp>
        <p:nvSpPr>
          <p:cNvPr id="18" name="Text 16"/>
          <p:cNvSpPr txBox="1"/>
          <p:nvPr/>
        </p:nvSpPr>
        <p:spPr>
          <a:xfrm>
            <a:off x="800100" y="2658984"/>
            <a:ext cx="126507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vnp_OrderInfo</a:t>
            </a:r>
            <a:endParaRPr lang="en-US" sz="1200" dirty="0"/>
          </a:p>
        </p:txBody>
      </p:sp>
      <p:sp>
        <p:nvSpPr>
          <p:cNvPr id="19" name="Shape 17"/>
          <p:cNvSpPr/>
          <p:nvPr/>
        </p:nvSpPr>
        <p:spPr>
          <a:xfrm>
            <a:off x="3486790" y="2557028"/>
            <a:ext cx="8044525" cy="6309"/>
          </a:xfrm>
          <a:prstGeom prst="rect">
            <a:avLst/>
          </a:prstGeom>
          <a:solidFill>
            <a:srgbClr val="E3E6EA"/>
          </a:solidFill>
          <a:ln/>
        </p:spPr>
      </p:sp>
      <p:sp>
        <p:nvSpPr>
          <p:cNvPr id="20" name="Text 18"/>
          <p:cNvSpPr txBox="1"/>
          <p:nvPr/>
        </p:nvSpPr>
        <p:spPr>
          <a:xfrm>
            <a:off x="3626419" y="2660904"/>
            <a:ext cx="611121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Nội dung hiển thị cho khách và lưu để đối soát. Phải viết không dấu, không ký tự đặc biệt</a:t>
            </a:r>
            <a:endParaRPr lang="en-US" sz="1150" dirty="0"/>
          </a:p>
        </p:txBody>
      </p:sp>
      <p:sp>
        <p:nvSpPr>
          <p:cNvPr id="21" name="Shape 19"/>
          <p:cNvSpPr/>
          <p:nvPr/>
        </p:nvSpPr>
        <p:spPr>
          <a:xfrm>
            <a:off x="660380" y="2950677"/>
            <a:ext cx="2826410" cy="6309"/>
          </a:xfrm>
          <a:prstGeom prst="rect">
            <a:avLst/>
          </a:prstGeom>
          <a:solidFill>
            <a:srgbClr val="E3E6EA"/>
          </a:solidFill>
          <a:ln/>
        </p:spPr>
      </p:sp>
      <p:sp>
        <p:nvSpPr>
          <p:cNvPr id="22" name="Text 20"/>
          <p:cNvSpPr txBox="1"/>
          <p:nvPr/>
        </p:nvSpPr>
        <p:spPr>
          <a:xfrm>
            <a:off x="800100" y="3052633"/>
            <a:ext cx="126507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vnp_OrderType</a:t>
            </a:r>
            <a:endParaRPr lang="en-US" sz="1200" dirty="0"/>
          </a:p>
        </p:txBody>
      </p:sp>
      <p:sp>
        <p:nvSpPr>
          <p:cNvPr id="23" name="Shape 21"/>
          <p:cNvSpPr/>
          <p:nvPr/>
        </p:nvSpPr>
        <p:spPr>
          <a:xfrm>
            <a:off x="3486790" y="2950677"/>
            <a:ext cx="8044525" cy="6309"/>
          </a:xfrm>
          <a:prstGeom prst="rect">
            <a:avLst/>
          </a:prstGeom>
          <a:solidFill>
            <a:srgbClr val="E3E6EA"/>
          </a:solidFill>
          <a:ln/>
        </p:spPr>
      </p:sp>
      <p:sp>
        <p:nvSpPr>
          <p:cNvPr id="24" name="Text 22"/>
          <p:cNvSpPr txBox="1"/>
          <p:nvPr/>
        </p:nvSpPr>
        <p:spPr>
          <a:xfrm>
            <a:off x="3626419" y="3054645"/>
            <a:ext cx="445834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Mã loại hàng theo danh mục VNPAY, dùng để phân loại giao dịch</a:t>
            </a:r>
            <a:endParaRPr lang="en-US" sz="1150" dirty="0"/>
          </a:p>
        </p:txBody>
      </p:sp>
      <p:sp>
        <p:nvSpPr>
          <p:cNvPr id="25" name="Shape 23"/>
          <p:cNvSpPr/>
          <p:nvPr/>
        </p:nvSpPr>
        <p:spPr>
          <a:xfrm>
            <a:off x="660380" y="3344418"/>
            <a:ext cx="2826410" cy="6309"/>
          </a:xfrm>
          <a:prstGeom prst="rect">
            <a:avLst/>
          </a:prstGeom>
          <a:solidFill>
            <a:srgbClr val="E3E6EA"/>
          </a:solidFill>
          <a:ln/>
        </p:spPr>
      </p:sp>
      <p:sp>
        <p:nvSpPr>
          <p:cNvPr id="26" name="Text 24"/>
          <p:cNvSpPr txBox="1"/>
          <p:nvPr/>
        </p:nvSpPr>
        <p:spPr>
          <a:xfrm>
            <a:off x="800100" y="3446374"/>
            <a:ext cx="99075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vnp_IpAddr</a:t>
            </a:r>
            <a:endParaRPr lang="en-US" sz="1200" dirty="0"/>
          </a:p>
        </p:txBody>
      </p:sp>
      <p:sp>
        <p:nvSpPr>
          <p:cNvPr id="27" name="Shape 25"/>
          <p:cNvSpPr/>
          <p:nvPr/>
        </p:nvSpPr>
        <p:spPr>
          <a:xfrm>
            <a:off x="3486790" y="3344418"/>
            <a:ext cx="8044525" cy="6309"/>
          </a:xfrm>
          <a:prstGeom prst="rect">
            <a:avLst/>
          </a:prstGeom>
          <a:solidFill>
            <a:srgbClr val="E3E6EA"/>
          </a:solidFill>
          <a:ln/>
        </p:spPr>
      </p:sp>
      <p:sp>
        <p:nvSpPr>
          <p:cNvPr id="28" name="Text 26"/>
          <p:cNvSpPr txBox="1"/>
          <p:nvPr/>
        </p:nvSpPr>
        <p:spPr>
          <a:xfrm>
            <a:off x="3626419" y="3448294"/>
            <a:ext cx="2243755"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IP của khách thực hiện giao dịch</a:t>
            </a:r>
            <a:endParaRPr lang="en-US" sz="1150" dirty="0"/>
          </a:p>
        </p:txBody>
      </p:sp>
      <p:sp>
        <p:nvSpPr>
          <p:cNvPr id="29" name="Shape 27"/>
          <p:cNvSpPr/>
          <p:nvPr/>
        </p:nvSpPr>
        <p:spPr>
          <a:xfrm>
            <a:off x="660380" y="3738067"/>
            <a:ext cx="2826410" cy="6309"/>
          </a:xfrm>
          <a:prstGeom prst="rect">
            <a:avLst/>
          </a:prstGeom>
          <a:solidFill>
            <a:srgbClr val="E3E6EA"/>
          </a:solidFill>
          <a:ln/>
        </p:spPr>
      </p:sp>
      <p:sp>
        <p:nvSpPr>
          <p:cNvPr id="30" name="Text 28"/>
          <p:cNvSpPr txBox="1"/>
          <p:nvPr/>
        </p:nvSpPr>
        <p:spPr>
          <a:xfrm>
            <a:off x="800100" y="3840023"/>
            <a:ext cx="99075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vnp_Locale</a:t>
            </a:r>
            <a:endParaRPr lang="en-US" sz="1200" dirty="0"/>
          </a:p>
        </p:txBody>
      </p:sp>
      <p:sp>
        <p:nvSpPr>
          <p:cNvPr id="31" name="Shape 29"/>
          <p:cNvSpPr/>
          <p:nvPr/>
        </p:nvSpPr>
        <p:spPr>
          <a:xfrm>
            <a:off x="3486790" y="3738067"/>
            <a:ext cx="8044525" cy="6309"/>
          </a:xfrm>
          <a:prstGeom prst="rect">
            <a:avLst/>
          </a:prstGeom>
          <a:solidFill>
            <a:srgbClr val="E3E6EA"/>
          </a:solidFill>
          <a:ln/>
        </p:spPr>
      </p:sp>
      <p:sp>
        <p:nvSpPr>
          <p:cNvPr id="32" name="Text 30"/>
          <p:cNvSpPr txBox="1"/>
          <p:nvPr/>
        </p:nvSpPr>
        <p:spPr>
          <a:xfrm>
            <a:off x="3626419" y="3842034"/>
            <a:ext cx="270305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Ngôn ngữ trang thanh toán: vn hoặc en</a:t>
            </a:r>
            <a:endParaRPr lang="en-US" sz="1150" dirty="0"/>
          </a:p>
        </p:txBody>
      </p:sp>
      <p:sp>
        <p:nvSpPr>
          <p:cNvPr id="33" name="Shape 31"/>
          <p:cNvSpPr/>
          <p:nvPr/>
        </p:nvSpPr>
        <p:spPr>
          <a:xfrm>
            <a:off x="660380" y="4131808"/>
            <a:ext cx="2826410" cy="6309"/>
          </a:xfrm>
          <a:prstGeom prst="rect">
            <a:avLst/>
          </a:prstGeom>
          <a:solidFill>
            <a:srgbClr val="E3E6EA"/>
          </a:solidFill>
          <a:ln/>
        </p:spPr>
      </p:sp>
      <p:sp>
        <p:nvSpPr>
          <p:cNvPr id="34" name="Text 32"/>
          <p:cNvSpPr txBox="1"/>
          <p:nvPr/>
        </p:nvSpPr>
        <p:spPr>
          <a:xfrm>
            <a:off x="800100" y="4233763"/>
            <a:ext cx="1265072"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vnp_ReturnUrl</a:t>
            </a:r>
            <a:endParaRPr lang="en-US" sz="1200" dirty="0"/>
          </a:p>
        </p:txBody>
      </p:sp>
      <p:sp>
        <p:nvSpPr>
          <p:cNvPr id="35" name="Shape 33"/>
          <p:cNvSpPr/>
          <p:nvPr/>
        </p:nvSpPr>
        <p:spPr>
          <a:xfrm>
            <a:off x="3486790" y="4131808"/>
            <a:ext cx="8044525" cy="6309"/>
          </a:xfrm>
          <a:prstGeom prst="rect">
            <a:avLst/>
          </a:prstGeom>
          <a:solidFill>
            <a:srgbClr val="E3E6EA"/>
          </a:solidFill>
          <a:ln/>
        </p:spPr>
      </p:sp>
      <p:sp>
        <p:nvSpPr>
          <p:cNvPr id="36" name="Text 34"/>
          <p:cNvSpPr txBox="1"/>
          <p:nvPr/>
        </p:nvSpPr>
        <p:spPr>
          <a:xfrm>
            <a:off x="3626419" y="4235684"/>
            <a:ext cx="511058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VNPAY không biết web của mình ở đâu, cần địa chỉ để đưa khách quay về</a:t>
            </a:r>
            <a:endParaRPr lang="en-US" sz="1150" dirty="0"/>
          </a:p>
        </p:txBody>
      </p:sp>
      <p:sp>
        <p:nvSpPr>
          <p:cNvPr id="37" name="Shape 35"/>
          <p:cNvSpPr/>
          <p:nvPr/>
        </p:nvSpPr>
        <p:spPr>
          <a:xfrm>
            <a:off x="660380" y="4525457"/>
            <a:ext cx="2826410" cy="6309"/>
          </a:xfrm>
          <a:prstGeom prst="rect">
            <a:avLst/>
          </a:prstGeom>
          <a:solidFill>
            <a:srgbClr val="E3E6EA"/>
          </a:solidFill>
          <a:ln/>
        </p:spPr>
      </p:sp>
      <p:sp>
        <p:nvSpPr>
          <p:cNvPr id="38" name="Text 36"/>
          <p:cNvSpPr txBox="1"/>
          <p:nvPr/>
        </p:nvSpPr>
        <p:spPr>
          <a:xfrm>
            <a:off x="800100" y="4627413"/>
            <a:ext cx="1357244" cy="219090"/>
          </a:xfrm>
          <a:prstGeom prst="rect">
            <a:avLst/>
          </a:prstGeom>
          <a:noFill/>
          <a:ln/>
        </p:spPr>
        <p:txBody>
          <a:bodyPr wrap="square" lIns="0" tIns="0" rIns="0" bIns="0" rtlCol="0" anchor="ctr"/>
          <a:lstStyle/>
          <a:p>
            <a:pPr algn="l" indent="0" marL="0">
              <a:buNone/>
            </a:pPr>
            <a:r>
              <a:rPr lang="en-US" sz="1200" b="1" dirty="0">
                <a:solidFill>
                  <a:srgbClr val="111111"/>
                </a:solidFill>
                <a:latin typeface="Courier New" pitchFamily="34" charset="0"/>
                <a:ea typeface="Courier New" pitchFamily="34" charset="-122"/>
                <a:cs typeface="Courier New" pitchFamily="34" charset="-120"/>
              </a:rPr>
              <a:t>vnp_SecureHash</a:t>
            </a:r>
            <a:endParaRPr lang="en-US" sz="1200" dirty="0"/>
          </a:p>
        </p:txBody>
      </p:sp>
      <p:sp>
        <p:nvSpPr>
          <p:cNvPr id="39" name="Shape 37"/>
          <p:cNvSpPr/>
          <p:nvPr/>
        </p:nvSpPr>
        <p:spPr>
          <a:xfrm>
            <a:off x="3486790" y="4525457"/>
            <a:ext cx="8044525" cy="6309"/>
          </a:xfrm>
          <a:prstGeom prst="rect">
            <a:avLst/>
          </a:prstGeom>
          <a:solidFill>
            <a:srgbClr val="E3E6EA"/>
          </a:solidFill>
          <a:ln/>
        </p:spPr>
      </p:sp>
      <p:sp>
        <p:nvSpPr>
          <p:cNvPr id="40" name="Text 38"/>
          <p:cNvSpPr txBox="1"/>
          <p:nvPr/>
        </p:nvSpPr>
        <p:spPr>
          <a:xfrm>
            <a:off x="3626419" y="4629424"/>
            <a:ext cx="5412791"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Chữ ký trên toàn bộ tham số, để VNPAY phát hiện dữ liệu bị sửa trên đường đi</a:t>
            </a:r>
            <a:endParaRPr lang="en-US" sz="1150" dirty="0"/>
          </a:p>
        </p:txBody>
      </p:sp>
      <p:sp>
        <p:nvSpPr>
          <p:cNvPr id="41" name="Text 39"/>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42" name="Text 40"/>
          <p:cNvSpPr txBox="1"/>
          <p:nvPr/>
        </p:nvSpPr>
        <p:spPr>
          <a:xfrm>
            <a:off x="11464107" y="6472763"/>
            <a:ext cx="143378"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9</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263884"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Định dạng dữ liệu</a:t>
            </a:r>
            <a:endParaRPr lang="en-US" sz="1100" dirty="0"/>
          </a:p>
        </p:txBody>
      </p:sp>
      <p:sp>
        <p:nvSpPr>
          <p:cNvPr id="3" name="Text 1"/>
          <p:cNvSpPr txBox="1"/>
          <p:nvPr/>
        </p:nvSpPr>
        <p:spPr>
          <a:xfrm>
            <a:off x="660380" y="643829"/>
            <a:ext cx="6351514"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Định dạng từng loại giá trị và lý do</a:t>
            </a:r>
            <a:endParaRPr lang="en-US" sz="3000" dirty="0"/>
          </a:p>
        </p:txBody>
      </p:sp>
      <p:sp>
        <p:nvSpPr>
          <p:cNvPr id="4" name="Shape 2"/>
          <p:cNvSpPr/>
          <p:nvPr/>
        </p:nvSpPr>
        <p:spPr>
          <a:xfrm>
            <a:off x="660380" y="1347368"/>
            <a:ext cx="10870936" cy="2527219"/>
          </a:xfrm>
          <a:prstGeom prst="roundRect">
            <a:avLst>
              <a:gd name="adj" fmla="val 4020"/>
            </a:avLst>
          </a:prstGeom>
          <a:solidFill>
            <a:srgbClr val="FFFFFF"/>
          </a:solidFill>
          <a:ln/>
        </p:spPr>
      </p:sp>
      <p:sp>
        <p:nvSpPr>
          <p:cNvPr id="5" name="Shape 3"/>
          <p:cNvSpPr/>
          <p:nvPr/>
        </p:nvSpPr>
        <p:spPr>
          <a:xfrm>
            <a:off x="660380" y="1347368"/>
            <a:ext cx="1521836" cy="422270"/>
          </a:xfrm>
          <a:prstGeom prst="rect">
            <a:avLst/>
          </a:prstGeom>
          <a:solidFill>
            <a:srgbClr val="ECF2FF"/>
          </a:solidFill>
          <a:ln/>
        </p:spPr>
      </p:sp>
      <p:sp>
        <p:nvSpPr>
          <p:cNvPr id="6" name="Text 4"/>
          <p:cNvSpPr txBox="1"/>
          <p:nvPr/>
        </p:nvSpPr>
        <p:spPr>
          <a:xfrm>
            <a:off x="825520" y="1479408"/>
            <a:ext cx="404988"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LOẠI</a:t>
            </a:r>
            <a:endParaRPr lang="en-US" sz="1000" dirty="0"/>
          </a:p>
        </p:txBody>
      </p:sp>
      <p:sp>
        <p:nvSpPr>
          <p:cNvPr id="7" name="Shape 5"/>
          <p:cNvSpPr/>
          <p:nvPr/>
        </p:nvSpPr>
        <p:spPr>
          <a:xfrm>
            <a:off x="2182307" y="1347368"/>
            <a:ext cx="3043855" cy="422270"/>
          </a:xfrm>
          <a:prstGeom prst="rect">
            <a:avLst/>
          </a:prstGeom>
          <a:solidFill>
            <a:srgbClr val="ECF2FF"/>
          </a:solidFill>
          <a:ln/>
        </p:spPr>
      </p:sp>
      <p:sp>
        <p:nvSpPr>
          <p:cNvPr id="8" name="Text 6"/>
          <p:cNvSpPr txBox="1"/>
          <p:nvPr/>
        </p:nvSpPr>
        <p:spPr>
          <a:xfrm>
            <a:off x="2347356" y="1479408"/>
            <a:ext cx="853044"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ĐỊNH DẠNG</a:t>
            </a:r>
            <a:endParaRPr lang="en-US" sz="1000" dirty="0"/>
          </a:p>
        </p:txBody>
      </p:sp>
      <p:sp>
        <p:nvSpPr>
          <p:cNvPr id="9" name="Shape 7"/>
          <p:cNvSpPr/>
          <p:nvPr/>
        </p:nvSpPr>
        <p:spPr>
          <a:xfrm>
            <a:off x="5226162" y="1347368"/>
            <a:ext cx="6305154" cy="422270"/>
          </a:xfrm>
          <a:prstGeom prst="rect">
            <a:avLst/>
          </a:prstGeom>
          <a:solidFill>
            <a:srgbClr val="ECF2FF"/>
          </a:solidFill>
          <a:ln/>
        </p:spPr>
      </p:sp>
      <p:sp>
        <p:nvSpPr>
          <p:cNvPr id="10" name="Text 8"/>
          <p:cNvSpPr txBox="1"/>
          <p:nvPr/>
        </p:nvSpPr>
        <p:spPr>
          <a:xfrm>
            <a:off x="5391211" y="1479408"/>
            <a:ext cx="496062"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LÝ DO</a:t>
            </a:r>
            <a:endParaRPr lang="en-US" sz="1000" dirty="0"/>
          </a:p>
        </p:txBody>
      </p:sp>
      <p:sp>
        <p:nvSpPr>
          <p:cNvPr id="11" name="Shape 9"/>
          <p:cNvSpPr/>
          <p:nvPr/>
        </p:nvSpPr>
        <p:spPr>
          <a:xfrm>
            <a:off x="660380" y="1769638"/>
            <a:ext cx="1521836" cy="6309"/>
          </a:xfrm>
          <a:prstGeom prst="rect">
            <a:avLst/>
          </a:prstGeom>
          <a:solidFill>
            <a:srgbClr val="E3E6EA"/>
          </a:solidFill>
          <a:ln/>
        </p:spPr>
      </p:sp>
      <p:sp>
        <p:nvSpPr>
          <p:cNvPr id="12" name="Text 10"/>
          <p:cNvSpPr txBox="1"/>
          <p:nvPr/>
        </p:nvSpPr>
        <p:spPr>
          <a:xfrm>
            <a:off x="800100" y="1975195"/>
            <a:ext cx="707654"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Ngày giờ</a:t>
            </a:r>
            <a:endParaRPr lang="en-US" sz="1150" dirty="0"/>
          </a:p>
        </p:txBody>
      </p:sp>
      <p:sp>
        <p:nvSpPr>
          <p:cNvPr id="13" name="Shape 11"/>
          <p:cNvSpPr/>
          <p:nvPr/>
        </p:nvSpPr>
        <p:spPr>
          <a:xfrm>
            <a:off x="2182307" y="1769638"/>
            <a:ext cx="3043855" cy="6309"/>
          </a:xfrm>
          <a:prstGeom prst="rect">
            <a:avLst/>
          </a:prstGeom>
          <a:solidFill>
            <a:srgbClr val="E3E6EA"/>
          </a:solidFill>
          <a:ln/>
        </p:spPr>
      </p:sp>
      <p:sp>
        <p:nvSpPr>
          <p:cNvPr id="14" name="Text 12"/>
          <p:cNvSpPr txBox="1"/>
          <p:nvPr/>
        </p:nvSpPr>
        <p:spPr>
          <a:xfrm>
            <a:off x="2321936" y="1966874"/>
            <a:ext cx="1963765"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yyyyMMddHHmmss</a:t>
            </a:r>
            <a:pPr algn="l" indent="0" marL="0">
              <a:buNone/>
            </a:pPr>
            <a:r>
              <a:rPr lang="en-US" sz="1150" dirty="0">
                <a:solidFill>
                  <a:srgbClr val="3F454D"/>
                </a:solidFill>
                <a:latin typeface="Arial" pitchFamily="34" charset="0"/>
                <a:ea typeface="Arial" pitchFamily="34" charset="-122"/>
                <a:cs typeface="Arial" pitchFamily="34" charset="-120"/>
              </a:rPr>
              <a:t>, GMT+7</a:t>
            </a:r>
            <a:endParaRPr lang="en-US" sz="1200" dirty="0"/>
          </a:p>
        </p:txBody>
      </p:sp>
      <p:sp>
        <p:nvSpPr>
          <p:cNvPr id="15" name="Shape 13"/>
          <p:cNvSpPr/>
          <p:nvPr/>
        </p:nvSpPr>
        <p:spPr>
          <a:xfrm>
            <a:off x="5226162" y="1769638"/>
            <a:ext cx="6305154" cy="6309"/>
          </a:xfrm>
          <a:prstGeom prst="rect">
            <a:avLst/>
          </a:prstGeom>
          <a:solidFill>
            <a:srgbClr val="E3E6EA"/>
          </a:solidFill>
          <a:ln/>
        </p:spPr>
      </p:sp>
      <p:sp>
        <p:nvSpPr>
          <p:cNvPr id="16" name="Text 14"/>
          <p:cNvSpPr txBox="1"/>
          <p:nvPr/>
        </p:nvSpPr>
        <p:spPr>
          <a:xfrm>
            <a:off x="5365791" y="1848825"/>
            <a:ext cx="6206581" cy="493685"/>
          </a:xfrm>
          <a:prstGeom prst="rect">
            <a:avLst/>
          </a:prstGeom>
          <a:noFill/>
          <a:ln/>
        </p:spPr>
        <p:txBody>
          <a:bodyPr wrap="square" lIns="0" tIns="0" rIns="0" bIns="0" rtlCol="0" anchor="t"/>
          <a:lstStyle/>
          <a:p>
            <a:pPr algn="l" indent="0" marL="0">
              <a:lnSpc>
                <a:spcPts val="1730"/>
              </a:lnSpc>
              <a:buNone/>
            </a:pPr>
            <a:r>
              <a:rPr lang="en-US" sz="1150" dirty="0">
                <a:solidFill>
                  <a:srgbClr val="3F454D"/>
                </a:solidFill>
                <a:latin typeface="Arial" pitchFamily="34" charset="0"/>
                <a:ea typeface="Arial" pitchFamily="34" charset="-122"/>
                <a:cs typeface="Arial" pitchFamily="34" charset="-120"/>
              </a:rPr>
              <a:t>14 chữ số, độ dài cố định, không phụ thuộc cách ghi ngày của từng ngôn ngữ. Múi giờ cố định để hai bên hiểu cùng một thời điểm</a:t>
            </a:r>
            <a:endParaRPr lang="en-US" sz="1150" dirty="0"/>
          </a:p>
        </p:txBody>
      </p:sp>
      <p:sp>
        <p:nvSpPr>
          <p:cNvPr id="17" name="Shape 15"/>
          <p:cNvSpPr/>
          <p:nvPr/>
        </p:nvSpPr>
        <p:spPr>
          <a:xfrm>
            <a:off x="660380" y="2366467"/>
            <a:ext cx="1521836" cy="6309"/>
          </a:xfrm>
          <a:prstGeom prst="rect">
            <a:avLst/>
          </a:prstGeom>
          <a:solidFill>
            <a:srgbClr val="E3E6EA"/>
          </a:solidFill>
          <a:ln/>
        </p:spPr>
      </p:sp>
      <p:sp>
        <p:nvSpPr>
          <p:cNvPr id="18" name="Text 16"/>
          <p:cNvSpPr txBox="1"/>
          <p:nvPr/>
        </p:nvSpPr>
        <p:spPr>
          <a:xfrm>
            <a:off x="800100" y="2462479"/>
            <a:ext cx="563088"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Số tiền</a:t>
            </a:r>
            <a:endParaRPr lang="en-US" sz="1150" dirty="0"/>
          </a:p>
        </p:txBody>
      </p:sp>
      <p:sp>
        <p:nvSpPr>
          <p:cNvPr id="19" name="Shape 17"/>
          <p:cNvSpPr/>
          <p:nvPr/>
        </p:nvSpPr>
        <p:spPr>
          <a:xfrm>
            <a:off x="2182307" y="2366467"/>
            <a:ext cx="3043855" cy="6309"/>
          </a:xfrm>
          <a:prstGeom prst="rect">
            <a:avLst/>
          </a:prstGeom>
          <a:solidFill>
            <a:srgbClr val="E3E6EA"/>
          </a:solidFill>
          <a:ln/>
        </p:spPr>
      </p:sp>
      <p:sp>
        <p:nvSpPr>
          <p:cNvPr id="20" name="Text 18"/>
          <p:cNvSpPr txBox="1"/>
          <p:nvPr/>
        </p:nvSpPr>
        <p:spPr>
          <a:xfrm>
            <a:off x="2321936" y="2462479"/>
            <a:ext cx="1184697"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Số nguyên × 100</a:t>
            </a:r>
            <a:endParaRPr lang="en-US" sz="1150" dirty="0"/>
          </a:p>
        </p:txBody>
      </p:sp>
      <p:sp>
        <p:nvSpPr>
          <p:cNvPr id="21" name="Shape 19"/>
          <p:cNvSpPr/>
          <p:nvPr/>
        </p:nvSpPr>
        <p:spPr>
          <a:xfrm>
            <a:off x="5226162" y="2366467"/>
            <a:ext cx="6305154" cy="6309"/>
          </a:xfrm>
          <a:prstGeom prst="rect">
            <a:avLst/>
          </a:prstGeom>
          <a:solidFill>
            <a:srgbClr val="E3E6EA"/>
          </a:solidFill>
          <a:ln/>
        </p:spPr>
      </p:sp>
      <p:sp>
        <p:nvSpPr>
          <p:cNvPr id="22" name="Text 20"/>
          <p:cNvSpPr txBox="1"/>
          <p:nvPr/>
        </p:nvSpPr>
        <p:spPr>
          <a:xfrm>
            <a:off x="5365791" y="2462479"/>
            <a:ext cx="3069915"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Không có dấu chấm, dấu phẩy, số thập phân</a:t>
            </a:r>
            <a:endParaRPr lang="en-US" sz="1150" dirty="0"/>
          </a:p>
        </p:txBody>
      </p:sp>
      <p:sp>
        <p:nvSpPr>
          <p:cNvPr id="23" name="Shape 21"/>
          <p:cNvSpPr/>
          <p:nvPr/>
        </p:nvSpPr>
        <p:spPr>
          <a:xfrm>
            <a:off x="660380" y="2744297"/>
            <a:ext cx="1521836" cy="6309"/>
          </a:xfrm>
          <a:prstGeom prst="rect">
            <a:avLst/>
          </a:prstGeom>
          <a:solidFill>
            <a:srgbClr val="E3E6EA"/>
          </a:solidFill>
          <a:ln/>
        </p:spPr>
      </p:sp>
      <p:sp>
        <p:nvSpPr>
          <p:cNvPr id="24" name="Text 22"/>
          <p:cNvSpPr txBox="1"/>
          <p:nvPr/>
        </p:nvSpPr>
        <p:spPr>
          <a:xfrm>
            <a:off x="800100" y="2840309"/>
            <a:ext cx="279075"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Mã</a:t>
            </a:r>
            <a:endParaRPr lang="en-US" sz="1150" dirty="0"/>
          </a:p>
        </p:txBody>
      </p:sp>
      <p:sp>
        <p:nvSpPr>
          <p:cNvPr id="25" name="Shape 23"/>
          <p:cNvSpPr/>
          <p:nvPr/>
        </p:nvSpPr>
        <p:spPr>
          <a:xfrm>
            <a:off x="2182307" y="2744297"/>
            <a:ext cx="3043855" cy="6309"/>
          </a:xfrm>
          <a:prstGeom prst="rect">
            <a:avLst/>
          </a:prstGeom>
          <a:solidFill>
            <a:srgbClr val="E3E6EA"/>
          </a:solidFill>
          <a:ln/>
        </p:spPr>
      </p:sp>
      <p:sp>
        <p:nvSpPr>
          <p:cNvPr id="26" name="Text 24"/>
          <p:cNvSpPr txBox="1"/>
          <p:nvPr/>
        </p:nvSpPr>
        <p:spPr>
          <a:xfrm>
            <a:off x="2321936" y="2840309"/>
            <a:ext cx="1823131"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Chữ và số, giới hạn độ dài</a:t>
            </a:r>
            <a:endParaRPr lang="en-US" sz="1150" dirty="0"/>
          </a:p>
        </p:txBody>
      </p:sp>
      <p:sp>
        <p:nvSpPr>
          <p:cNvPr id="27" name="Shape 25"/>
          <p:cNvSpPr/>
          <p:nvPr/>
        </p:nvSpPr>
        <p:spPr>
          <a:xfrm>
            <a:off x="5226162" y="2744297"/>
            <a:ext cx="6305154" cy="6309"/>
          </a:xfrm>
          <a:prstGeom prst="rect">
            <a:avLst/>
          </a:prstGeom>
          <a:solidFill>
            <a:srgbClr val="E3E6EA"/>
          </a:solidFill>
          <a:ln/>
        </p:spPr>
      </p:sp>
      <p:sp>
        <p:nvSpPr>
          <p:cNvPr id="28" name="Text 26"/>
          <p:cNvSpPr txBox="1"/>
          <p:nvPr/>
        </p:nvSpPr>
        <p:spPr>
          <a:xfrm>
            <a:off x="5365791" y="2840309"/>
            <a:ext cx="457977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Kiểm tra được ngay khi nhận. TmnCode 8 ký tự, TxnRef tối đa 100</a:t>
            </a:r>
            <a:endParaRPr lang="en-US" sz="1150" dirty="0"/>
          </a:p>
        </p:txBody>
      </p:sp>
      <p:sp>
        <p:nvSpPr>
          <p:cNvPr id="29" name="Shape 27"/>
          <p:cNvSpPr/>
          <p:nvPr/>
        </p:nvSpPr>
        <p:spPr>
          <a:xfrm>
            <a:off x="660380" y="3122127"/>
            <a:ext cx="1521836" cy="6309"/>
          </a:xfrm>
          <a:prstGeom prst="rect">
            <a:avLst/>
          </a:prstGeom>
          <a:solidFill>
            <a:srgbClr val="E3E6EA"/>
          </a:solidFill>
          <a:ln/>
        </p:spPr>
      </p:sp>
      <p:sp>
        <p:nvSpPr>
          <p:cNvPr id="30" name="Text 28"/>
          <p:cNvSpPr txBox="1"/>
          <p:nvPr/>
        </p:nvSpPr>
        <p:spPr>
          <a:xfrm>
            <a:off x="800100" y="3218139"/>
            <a:ext cx="644286"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Văn bản</a:t>
            </a:r>
            <a:endParaRPr lang="en-US" sz="1150" dirty="0"/>
          </a:p>
        </p:txBody>
      </p:sp>
      <p:sp>
        <p:nvSpPr>
          <p:cNvPr id="31" name="Shape 29"/>
          <p:cNvSpPr/>
          <p:nvPr/>
        </p:nvSpPr>
        <p:spPr>
          <a:xfrm>
            <a:off x="2182307" y="3122127"/>
            <a:ext cx="3043855" cy="6309"/>
          </a:xfrm>
          <a:prstGeom prst="rect">
            <a:avLst/>
          </a:prstGeom>
          <a:solidFill>
            <a:srgbClr val="E3E6EA"/>
          </a:solidFill>
          <a:ln/>
        </p:spPr>
      </p:sp>
      <p:sp>
        <p:nvSpPr>
          <p:cNvPr id="32" name="Text 30"/>
          <p:cNvSpPr txBox="1"/>
          <p:nvPr/>
        </p:nvSpPr>
        <p:spPr>
          <a:xfrm>
            <a:off x="2321936" y="3218139"/>
            <a:ext cx="222949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Không dấu, không ký tự đặc biệt</a:t>
            </a:r>
            <a:endParaRPr lang="en-US" sz="1150" dirty="0"/>
          </a:p>
        </p:txBody>
      </p:sp>
      <p:sp>
        <p:nvSpPr>
          <p:cNvPr id="33" name="Shape 31"/>
          <p:cNvSpPr/>
          <p:nvPr/>
        </p:nvSpPr>
        <p:spPr>
          <a:xfrm>
            <a:off x="5226162" y="3122127"/>
            <a:ext cx="6305154" cy="6309"/>
          </a:xfrm>
          <a:prstGeom prst="rect">
            <a:avLst/>
          </a:prstGeom>
          <a:solidFill>
            <a:srgbClr val="E3E6EA"/>
          </a:solidFill>
          <a:ln/>
        </p:spPr>
      </p:sp>
      <p:sp>
        <p:nvSpPr>
          <p:cNvPr id="34" name="Text 32"/>
          <p:cNvSpPr txBox="1"/>
          <p:nvPr/>
        </p:nvSpPr>
        <p:spPr>
          <a:xfrm>
            <a:off x="5365791" y="3218139"/>
            <a:ext cx="494727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Dữ liệu đi qua nhiều hệ thống. Có dấu thì bị lỗi ký tự (đã thấy ở querydr)</a:t>
            </a:r>
            <a:endParaRPr lang="en-US" sz="1150" dirty="0"/>
          </a:p>
        </p:txBody>
      </p:sp>
      <p:sp>
        <p:nvSpPr>
          <p:cNvPr id="35" name="Shape 33"/>
          <p:cNvSpPr/>
          <p:nvPr/>
        </p:nvSpPr>
        <p:spPr>
          <a:xfrm>
            <a:off x="660380" y="3499957"/>
            <a:ext cx="1521836" cy="6309"/>
          </a:xfrm>
          <a:prstGeom prst="rect">
            <a:avLst/>
          </a:prstGeom>
          <a:solidFill>
            <a:srgbClr val="E3E6EA"/>
          </a:solidFill>
          <a:ln/>
        </p:spPr>
      </p:sp>
      <p:sp>
        <p:nvSpPr>
          <p:cNvPr id="36" name="Text 34"/>
          <p:cNvSpPr txBox="1"/>
          <p:nvPr/>
        </p:nvSpPr>
        <p:spPr>
          <a:xfrm>
            <a:off x="800100" y="3595969"/>
            <a:ext cx="579730"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Chữ ký</a:t>
            </a:r>
            <a:endParaRPr lang="en-US" sz="1150" dirty="0"/>
          </a:p>
        </p:txBody>
      </p:sp>
      <p:sp>
        <p:nvSpPr>
          <p:cNvPr id="37" name="Shape 35"/>
          <p:cNvSpPr/>
          <p:nvPr/>
        </p:nvSpPr>
        <p:spPr>
          <a:xfrm>
            <a:off x="2182307" y="3499957"/>
            <a:ext cx="3043855" cy="6309"/>
          </a:xfrm>
          <a:prstGeom prst="rect">
            <a:avLst/>
          </a:prstGeom>
          <a:solidFill>
            <a:srgbClr val="E3E6EA"/>
          </a:solidFill>
          <a:ln/>
        </p:spPr>
      </p:sp>
      <p:sp>
        <p:nvSpPr>
          <p:cNvPr id="38" name="Text 36"/>
          <p:cNvSpPr txBox="1"/>
          <p:nvPr/>
        </p:nvSpPr>
        <p:spPr>
          <a:xfrm>
            <a:off x="2321936" y="3595969"/>
            <a:ext cx="102632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Hex, 128 ký tự</a:t>
            </a:r>
            <a:endParaRPr lang="en-US" sz="1150" dirty="0"/>
          </a:p>
        </p:txBody>
      </p:sp>
      <p:sp>
        <p:nvSpPr>
          <p:cNvPr id="39" name="Shape 37"/>
          <p:cNvSpPr/>
          <p:nvPr/>
        </p:nvSpPr>
        <p:spPr>
          <a:xfrm>
            <a:off x="5226162" y="3499957"/>
            <a:ext cx="6305154" cy="6309"/>
          </a:xfrm>
          <a:prstGeom prst="rect">
            <a:avLst/>
          </a:prstGeom>
          <a:solidFill>
            <a:srgbClr val="E3E6EA"/>
          </a:solidFill>
          <a:ln/>
        </p:spPr>
      </p:sp>
      <p:sp>
        <p:nvSpPr>
          <p:cNvPr id="40" name="Text 38"/>
          <p:cNvSpPr txBox="1"/>
          <p:nvPr/>
        </p:nvSpPr>
        <p:spPr>
          <a:xfrm>
            <a:off x="5365791" y="3595969"/>
            <a:ext cx="4010101"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HMAC-SHA512 ra 64 byte, mỗi byte viết thành 2 ký tự hex</a:t>
            </a:r>
            <a:endParaRPr lang="en-US" sz="1150" dirty="0"/>
          </a:p>
        </p:txBody>
      </p:sp>
      <p:sp>
        <p:nvSpPr>
          <p:cNvPr id="41" name="Shape 39"/>
          <p:cNvSpPr/>
          <p:nvPr/>
        </p:nvSpPr>
        <p:spPr>
          <a:xfrm>
            <a:off x="660380" y="4052346"/>
            <a:ext cx="10870936" cy="400050"/>
          </a:xfrm>
          <a:prstGeom prst="roundRect">
            <a:avLst>
              <a:gd name="adj" fmla="val 19040"/>
            </a:avLst>
          </a:prstGeom>
          <a:solidFill>
            <a:srgbClr val="FFFFFF"/>
          </a:solidFill>
          <a:ln w="6350">
            <a:solidFill>
              <a:srgbClr val="E3E6EA"/>
            </a:solidFill>
            <a:prstDash val="solid"/>
          </a:ln>
        </p:spPr>
      </p:sp>
      <p:sp>
        <p:nvSpPr>
          <p:cNvPr id="42" name="Shape 40"/>
          <p:cNvSpPr/>
          <p:nvPr/>
        </p:nvSpPr>
        <p:spPr>
          <a:xfrm>
            <a:off x="780989" y="4147627"/>
            <a:ext cx="982614" cy="209580"/>
          </a:xfrm>
          <a:prstGeom prst="roundRect">
            <a:avLst>
              <a:gd name="adj" fmla="val 50000"/>
            </a:avLst>
          </a:prstGeom>
          <a:solidFill>
            <a:srgbClr val="FDE8E6"/>
          </a:solidFill>
          <a:ln/>
        </p:spPr>
      </p:sp>
      <p:sp>
        <p:nvSpPr>
          <p:cNvPr id="43" name="Text 41"/>
          <p:cNvSpPr txBox="1"/>
          <p:nvPr/>
        </p:nvSpPr>
        <p:spPr>
          <a:xfrm>
            <a:off x="857250" y="4178899"/>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44" name="Text 42"/>
          <p:cNvSpPr txBox="1"/>
          <p:nvPr/>
        </p:nvSpPr>
        <p:spPr>
          <a:xfrm>
            <a:off x="1865285" y="4151925"/>
            <a:ext cx="4020068"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Các định dạng trên theo cột Kiểu dữ liệu trong tài liệu VNPAY</a:t>
            </a:r>
            <a:endParaRPr lang="en-US" sz="1100" dirty="0"/>
          </a:p>
        </p:txBody>
      </p:sp>
      <p:sp>
        <p:nvSpPr>
          <p:cNvPr id="45" name="Shape 43"/>
          <p:cNvSpPr/>
          <p:nvPr/>
        </p:nvSpPr>
        <p:spPr>
          <a:xfrm>
            <a:off x="660380" y="4528657"/>
            <a:ext cx="10870936" cy="400050"/>
          </a:xfrm>
          <a:prstGeom prst="roundRect">
            <a:avLst>
              <a:gd name="adj" fmla="val 19040"/>
            </a:avLst>
          </a:prstGeom>
          <a:solidFill>
            <a:srgbClr val="FFFFFF"/>
          </a:solidFill>
          <a:ln w="6350">
            <a:solidFill>
              <a:srgbClr val="E3E6EA"/>
            </a:solidFill>
            <a:prstDash val="solid"/>
          </a:ln>
        </p:spPr>
      </p:sp>
      <p:sp>
        <p:nvSpPr>
          <p:cNvPr id="46" name="Shape 44"/>
          <p:cNvSpPr/>
          <p:nvPr/>
        </p:nvSpPr>
        <p:spPr>
          <a:xfrm>
            <a:off x="780989" y="4623846"/>
            <a:ext cx="723748" cy="209580"/>
          </a:xfrm>
          <a:prstGeom prst="roundRect">
            <a:avLst>
              <a:gd name="adj" fmla="val 50000"/>
            </a:avLst>
          </a:prstGeom>
          <a:solidFill>
            <a:srgbClr val="DEF3E8"/>
          </a:solidFill>
          <a:ln/>
        </p:spPr>
      </p:sp>
      <p:sp>
        <p:nvSpPr>
          <p:cNvPr id="47" name="Text 45"/>
          <p:cNvSpPr txBox="1"/>
          <p:nvPr/>
        </p:nvSpPr>
        <p:spPr>
          <a:xfrm>
            <a:off x="857250" y="4655119"/>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48" name="Text 46"/>
          <p:cNvSpPr txBox="1"/>
          <p:nvPr/>
        </p:nvSpPr>
        <p:spPr>
          <a:xfrm>
            <a:off x="1606418" y="4628236"/>
            <a:ext cx="7916967"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Dùng </a:t>
            </a:r>
            <a:pPr algn="l" indent="0" marL="0">
              <a:buNone/>
            </a:pPr>
            <a:r>
              <a:rPr lang="en-US" sz="1100" dirty="0">
                <a:solidFill>
                  <a:srgbClr val="3F454D"/>
                </a:solidFill>
                <a:latin typeface="Courier New" pitchFamily="34" charset="0"/>
                <a:ea typeface="Courier New" pitchFamily="34" charset="-122"/>
                <a:cs typeface="Courier New" pitchFamily="34" charset="-120"/>
              </a:rPr>
              <a:t>ZoneId.of("Asia/Ho_Chi_Minh")</a:t>
            </a:r>
            <a:pPr algn="l" indent="0" marL="0">
              <a:buNone/>
            </a:pPr>
            <a:r>
              <a:rPr lang="en-US" sz="1100" dirty="0">
                <a:solidFill>
                  <a:srgbClr val="3F454D"/>
                </a:solidFill>
                <a:latin typeface="Arial" pitchFamily="34" charset="0"/>
                <a:ea typeface="Arial" pitchFamily="34" charset="-122"/>
                <a:cs typeface="Arial" pitchFamily="34" charset="-120"/>
              </a:rPr>
              <a:t>. Không dùng </a:t>
            </a:r>
            <a:pPr algn="l" indent="0" marL="0">
              <a:buNone/>
            </a:pPr>
            <a:r>
              <a:rPr lang="en-US" sz="1100" dirty="0">
                <a:solidFill>
                  <a:srgbClr val="3F454D"/>
                </a:solidFill>
                <a:latin typeface="Courier New" pitchFamily="34" charset="0"/>
                <a:ea typeface="Courier New" pitchFamily="34" charset="-122"/>
                <a:cs typeface="Courier New" pitchFamily="34" charset="-120"/>
              </a:rPr>
              <a:t>Etc/GMT+7</a:t>
            </a:r>
            <a:pPr algn="l" indent="0" marL="0">
              <a:buNone/>
            </a:pPr>
            <a:r>
              <a:rPr lang="en-US" sz="1100" dirty="0">
                <a:solidFill>
                  <a:srgbClr val="3F454D"/>
                </a:solidFill>
                <a:latin typeface="Arial" pitchFamily="34" charset="0"/>
                <a:ea typeface="Arial" pitchFamily="34" charset="-122"/>
                <a:cs typeface="Arial" pitchFamily="34" charset="-120"/>
              </a:rPr>
              <a:t> vì theo chuẩn POSIX đó là UTC−7, lệch 14 tiếng</a:t>
            </a:r>
            <a:endParaRPr lang="en-US" sz="1100" dirty="0"/>
          </a:p>
        </p:txBody>
      </p:sp>
      <p:sp>
        <p:nvSpPr>
          <p:cNvPr id="49" name="Text 47"/>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50" name="Text 48"/>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10</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263884"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Định dạng dữ liệu</a:t>
            </a:r>
            <a:endParaRPr lang="en-US" sz="1100" dirty="0"/>
          </a:p>
        </p:txBody>
      </p:sp>
      <p:sp>
        <p:nvSpPr>
          <p:cNvPr id="3" name="Text 1"/>
          <p:cNvSpPr txBox="1"/>
          <p:nvPr/>
        </p:nvSpPr>
        <p:spPr>
          <a:xfrm>
            <a:off x="660380" y="643829"/>
            <a:ext cx="9036101"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Vì sao tạo thanh toán bằng query string trên URL</a:t>
            </a:r>
            <a:endParaRPr lang="en-US" sz="3000" dirty="0"/>
          </a:p>
        </p:txBody>
      </p:sp>
      <p:sp>
        <p:nvSpPr>
          <p:cNvPr id="4" name="Shape 2"/>
          <p:cNvSpPr/>
          <p:nvPr/>
        </p:nvSpPr>
        <p:spPr>
          <a:xfrm>
            <a:off x="660380" y="1347368"/>
            <a:ext cx="10870936" cy="400050"/>
          </a:xfrm>
          <a:prstGeom prst="roundRect">
            <a:avLst>
              <a:gd name="adj" fmla="val 19040"/>
            </a:avLst>
          </a:prstGeom>
          <a:solidFill>
            <a:srgbClr val="FFFFFF"/>
          </a:solidFill>
          <a:ln w="6350">
            <a:solidFill>
              <a:srgbClr val="E3E6EA"/>
            </a:solidFill>
            <a:prstDash val="solid"/>
          </a:ln>
        </p:spPr>
      </p:sp>
      <p:sp>
        <p:nvSpPr>
          <p:cNvPr id="5" name="Shape 3"/>
          <p:cNvSpPr/>
          <p:nvPr/>
        </p:nvSpPr>
        <p:spPr>
          <a:xfrm>
            <a:off x="780989" y="1442649"/>
            <a:ext cx="982614" cy="209580"/>
          </a:xfrm>
          <a:prstGeom prst="roundRect">
            <a:avLst>
              <a:gd name="adj" fmla="val 50000"/>
            </a:avLst>
          </a:prstGeom>
          <a:solidFill>
            <a:srgbClr val="FDE8E6"/>
          </a:solidFill>
          <a:ln/>
        </p:spPr>
      </p:sp>
      <p:sp>
        <p:nvSpPr>
          <p:cNvPr id="6" name="Text 4"/>
          <p:cNvSpPr txBox="1"/>
          <p:nvPr/>
        </p:nvSpPr>
        <p:spPr>
          <a:xfrm>
            <a:off x="857250" y="1473830"/>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7" name="Text 5"/>
          <p:cNvSpPr txBox="1"/>
          <p:nvPr/>
        </p:nvSpPr>
        <p:spPr>
          <a:xfrm>
            <a:off x="1865285" y="1446947"/>
            <a:ext cx="8870594"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Kênh 1 là chuyển trang. Payment Service tạo link, trình duyệt mở link. Dữ liệu đi theo link nên nằm trên query string, phương thức GET</a:t>
            </a:r>
            <a:endParaRPr lang="en-US" sz="1100" dirty="0"/>
          </a:p>
        </p:txBody>
      </p:sp>
      <p:sp>
        <p:nvSpPr>
          <p:cNvPr id="8" name="Shape 6"/>
          <p:cNvSpPr/>
          <p:nvPr/>
        </p:nvSpPr>
        <p:spPr>
          <a:xfrm>
            <a:off x="660380" y="1823588"/>
            <a:ext cx="10870936" cy="400050"/>
          </a:xfrm>
          <a:prstGeom prst="roundRect">
            <a:avLst>
              <a:gd name="adj" fmla="val 19040"/>
            </a:avLst>
          </a:prstGeom>
          <a:solidFill>
            <a:srgbClr val="FFFFFF"/>
          </a:solidFill>
          <a:ln w="6350">
            <a:solidFill>
              <a:srgbClr val="E3E6EA"/>
            </a:solidFill>
            <a:prstDash val="solid"/>
          </a:ln>
        </p:spPr>
      </p:sp>
      <p:sp>
        <p:nvSpPr>
          <p:cNvPr id="9" name="Shape 7"/>
          <p:cNvSpPr/>
          <p:nvPr/>
        </p:nvSpPr>
        <p:spPr>
          <a:xfrm>
            <a:off x="780989" y="1918868"/>
            <a:ext cx="982614" cy="209580"/>
          </a:xfrm>
          <a:prstGeom prst="roundRect">
            <a:avLst>
              <a:gd name="adj" fmla="val 50000"/>
            </a:avLst>
          </a:prstGeom>
          <a:solidFill>
            <a:srgbClr val="FDE8E6"/>
          </a:solidFill>
          <a:ln/>
        </p:spPr>
      </p:sp>
      <p:sp>
        <p:nvSpPr>
          <p:cNvPr id="10" name="Text 8"/>
          <p:cNvSpPr txBox="1"/>
          <p:nvPr/>
        </p:nvSpPr>
        <p:spPr>
          <a:xfrm>
            <a:off x="857250" y="1950049"/>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11" name="Text 9"/>
          <p:cNvSpPr txBox="1"/>
          <p:nvPr/>
        </p:nvSpPr>
        <p:spPr>
          <a:xfrm>
            <a:off x="1865285" y="1923166"/>
            <a:ext cx="7062917"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Khách nhập thẻ trên trang VNPAY. Payment Service không nhận số thẻ nên không phải đạt chuẩn PCI-DSS</a:t>
            </a:r>
            <a:endParaRPr lang="en-US" sz="1100" dirty="0"/>
          </a:p>
        </p:txBody>
      </p:sp>
      <p:sp>
        <p:nvSpPr>
          <p:cNvPr id="12" name="Shape 10"/>
          <p:cNvSpPr/>
          <p:nvPr/>
        </p:nvSpPr>
        <p:spPr>
          <a:xfrm>
            <a:off x="660380" y="2299807"/>
            <a:ext cx="10870936" cy="400050"/>
          </a:xfrm>
          <a:prstGeom prst="roundRect">
            <a:avLst>
              <a:gd name="adj" fmla="val 19040"/>
            </a:avLst>
          </a:prstGeom>
          <a:solidFill>
            <a:srgbClr val="FFFFFF"/>
          </a:solidFill>
          <a:ln w="6350">
            <a:solidFill>
              <a:srgbClr val="E3E6EA"/>
            </a:solidFill>
            <a:prstDash val="solid"/>
          </a:ln>
        </p:spPr>
      </p:sp>
      <p:sp>
        <p:nvSpPr>
          <p:cNvPr id="13" name="Shape 11"/>
          <p:cNvSpPr/>
          <p:nvPr/>
        </p:nvSpPr>
        <p:spPr>
          <a:xfrm>
            <a:off x="780989" y="2395088"/>
            <a:ext cx="982614" cy="209580"/>
          </a:xfrm>
          <a:prstGeom prst="roundRect">
            <a:avLst>
              <a:gd name="adj" fmla="val 50000"/>
            </a:avLst>
          </a:prstGeom>
          <a:solidFill>
            <a:srgbClr val="FDE8E6"/>
          </a:solidFill>
          <a:ln/>
        </p:spPr>
      </p:sp>
      <p:sp>
        <p:nvSpPr>
          <p:cNvPr id="14" name="Text 12"/>
          <p:cNvSpPr txBox="1"/>
          <p:nvPr/>
        </p:nvSpPr>
        <p:spPr>
          <a:xfrm>
            <a:off x="857250" y="2426360"/>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15" name="Text 13"/>
          <p:cNvSpPr txBox="1"/>
          <p:nvPr/>
        </p:nvSpPr>
        <p:spPr>
          <a:xfrm>
            <a:off x="1865285" y="2399386"/>
            <a:ext cx="5139934"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URL không chứa được dấu cách, </a:t>
            </a:r>
            <a:pPr algn="l" indent="0" marL="0">
              <a:buNone/>
            </a:pPr>
            <a:r>
              <a:rPr lang="en-US" sz="1100" dirty="0">
                <a:solidFill>
                  <a:srgbClr val="3F454D"/>
                </a:solidFill>
                <a:latin typeface="Courier New" pitchFamily="34" charset="0"/>
                <a:ea typeface="Courier New" pitchFamily="34" charset="-122"/>
                <a:cs typeface="Courier New" pitchFamily="34" charset="-120"/>
              </a:rPr>
              <a:t>&amp;</a:t>
            </a:r>
            <a:pPr algn="l" indent="0" marL="0">
              <a:buNone/>
            </a:pPr>
            <a:r>
              <a:rPr lang="en-US" sz="1100" dirty="0">
                <a:solidFill>
                  <a:srgbClr val="3F454D"/>
                </a:solidFill>
                <a:latin typeface="Arial" pitchFamily="34" charset="0"/>
                <a:ea typeface="Arial" pitchFamily="34" charset="-122"/>
                <a:cs typeface="Arial" pitchFamily="34" charset="-120"/>
              </a:rPr>
              <a:t>, </a:t>
            </a:r>
            <a:pPr algn="l" indent="0" marL="0">
              <a:buNone/>
            </a:pPr>
            <a:r>
              <a:rPr lang="en-US" sz="1100" dirty="0">
                <a:solidFill>
                  <a:srgbClr val="3F454D"/>
                </a:solidFill>
                <a:latin typeface="Courier New" pitchFamily="34" charset="0"/>
                <a:ea typeface="Courier New" pitchFamily="34" charset="-122"/>
                <a:cs typeface="Courier New" pitchFamily="34" charset="-120"/>
              </a:rPr>
              <a:t>=</a:t>
            </a:r>
            <a:pPr algn="l" indent="0" marL="0">
              <a:buNone/>
            </a:pPr>
            <a:r>
              <a:rPr lang="en-US" sz="1100" dirty="0">
                <a:solidFill>
                  <a:srgbClr val="3F454D"/>
                </a:solidFill>
                <a:latin typeface="Arial" pitchFamily="34" charset="0"/>
                <a:ea typeface="Arial" pitchFamily="34" charset="-122"/>
                <a:cs typeface="Arial" pitchFamily="34" charset="-120"/>
              </a:rPr>
              <a:t>, </a:t>
            </a:r>
            <a:pPr algn="l" indent="0" marL="0">
              <a:buNone/>
            </a:pPr>
            <a:r>
              <a:rPr lang="en-US" sz="1100" dirty="0">
                <a:solidFill>
                  <a:srgbClr val="3F454D"/>
                </a:solidFill>
                <a:latin typeface="Courier New" pitchFamily="34" charset="0"/>
                <a:ea typeface="Courier New" pitchFamily="34" charset="-122"/>
                <a:cs typeface="Courier New" pitchFamily="34" charset="-120"/>
              </a:rPr>
              <a:t>:</a:t>
            </a:r>
            <a:pPr algn="l" indent="0" marL="0">
              <a:buNone/>
            </a:pPr>
            <a:r>
              <a:rPr lang="en-US" sz="1100" dirty="0">
                <a:solidFill>
                  <a:srgbClr val="3F454D"/>
                </a:solidFill>
                <a:latin typeface="Arial" pitchFamily="34" charset="0"/>
                <a:ea typeface="Arial" pitchFamily="34" charset="-122"/>
                <a:cs typeface="Arial" pitchFamily="34" charset="-120"/>
              </a:rPr>
              <a:t>, </a:t>
            </a:r>
            <a:pPr algn="l" indent="0" marL="0">
              <a:buNone/>
            </a:pPr>
            <a:r>
              <a:rPr lang="en-US" sz="1100" dirty="0">
                <a:solidFill>
                  <a:srgbClr val="3F454D"/>
                </a:solidFill>
                <a:latin typeface="Courier New" pitchFamily="34" charset="0"/>
                <a:ea typeface="Courier New" pitchFamily="34" charset="-122"/>
                <a:cs typeface="Courier New" pitchFamily="34" charset="-120"/>
              </a:rPr>
              <a:t>/</a:t>
            </a:r>
            <a:pPr algn="l" indent="0" marL="0">
              <a:buNone/>
            </a:pPr>
            <a:r>
              <a:rPr lang="en-US" sz="1100" dirty="0">
                <a:solidFill>
                  <a:srgbClr val="3F454D"/>
                </a:solidFill>
                <a:latin typeface="Arial" pitchFamily="34" charset="0"/>
                <a:ea typeface="Arial" pitchFamily="34" charset="-122"/>
                <a:cs typeface="Arial" pitchFamily="34" charset="-120"/>
              </a:rPr>
              <a:t> trong giá trị, nên phải URL-encode</a:t>
            </a:r>
            <a:endParaRPr lang="en-US" sz="1100" dirty="0"/>
          </a:p>
        </p:txBody>
      </p:sp>
      <p:sp>
        <p:nvSpPr>
          <p:cNvPr id="16" name="Shape 14"/>
          <p:cNvSpPr/>
          <p:nvPr/>
        </p:nvSpPr>
        <p:spPr>
          <a:xfrm>
            <a:off x="660380" y="2776027"/>
            <a:ext cx="10870936" cy="400050"/>
          </a:xfrm>
          <a:prstGeom prst="roundRect">
            <a:avLst>
              <a:gd name="adj" fmla="val 19040"/>
            </a:avLst>
          </a:prstGeom>
          <a:solidFill>
            <a:srgbClr val="FFFFFF"/>
          </a:solidFill>
          <a:ln w="6350">
            <a:solidFill>
              <a:srgbClr val="E3E6EA"/>
            </a:solidFill>
            <a:prstDash val="solid"/>
          </a:ln>
        </p:spPr>
      </p:sp>
      <p:sp>
        <p:nvSpPr>
          <p:cNvPr id="17" name="Shape 15"/>
          <p:cNvSpPr/>
          <p:nvPr/>
        </p:nvSpPr>
        <p:spPr>
          <a:xfrm>
            <a:off x="780989" y="2871307"/>
            <a:ext cx="723748" cy="209580"/>
          </a:xfrm>
          <a:prstGeom prst="roundRect">
            <a:avLst>
              <a:gd name="adj" fmla="val 50000"/>
            </a:avLst>
          </a:prstGeom>
          <a:solidFill>
            <a:srgbClr val="DEF3E8"/>
          </a:solidFill>
          <a:ln/>
        </p:spPr>
      </p:sp>
      <p:sp>
        <p:nvSpPr>
          <p:cNvPr id="18" name="Text 16"/>
          <p:cNvSpPr txBox="1"/>
          <p:nvPr/>
        </p:nvSpPr>
        <p:spPr>
          <a:xfrm>
            <a:off x="857250" y="2902580"/>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19" name="Text 17"/>
          <p:cNvSpPr txBox="1"/>
          <p:nvPr/>
        </p:nvSpPr>
        <p:spPr>
          <a:xfrm>
            <a:off x="1606418" y="2875605"/>
            <a:ext cx="7300661"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Payment Service trả JSON </a:t>
            </a:r>
            <a:pPr algn="l" indent="0" marL="0">
              <a:buNone/>
            </a:pPr>
            <a:r>
              <a:rPr lang="en-US" sz="1100" dirty="0">
                <a:solidFill>
                  <a:srgbClr val="3F454D"/>
                </a:solidFill>
                <a:latin typeface="Courier New" pitchFamily="34" charset="0"/>
                <a:ea typeface="Courier New" pitchFamily="34" charset="-122"/>
                <a:cs typeface="Courier New" pitchFamily="34" charset="-120"/>
              </a:rPr>
              <a:t>{txnRef, paymentUrl}</a:t>
            </a:r>
            <a:pPr algn="l" indent="0" marL="0">
              <a:buNone/>
            </a:pPr>
            <a:r>
              <a:rPr lang="en-US" sz="1100" dirty="0">
                <a:solidFill>
                  <a:srgbClr val="3F454D"/>
                </a:solidFill>
                <a:latin typeface="Arial" pitchFamily="34" charset="0"/>
                <a:ea typeface="Arial" pitchFamily="34" charset="-122"/>
                <a:cs typeface="Arial" pitchFamily="34" charset="-120"/>
              </a:rPr>
              <a:t> thay vì tự chuyển trang, để web quyết định cách hiển thị</a:t>
            </a:r>
            <a:endParaRPr lang="en-US" sz="1100" dirty="0"/>
          </a:p>
        </p:txBody>
      </p:sp>
      <p:sp>
        <p:nvSpPr>
          <p:cNvPr id="20" name="Shape 18"/>
          <p:cNvSpPr/>
          <p:nvPr/>
        </p:nvSpPr>
        <p:spPr>
          <a:xfrm>
            <a:off x="660380" y="3353928"/>
            <a:ext cx="10870936" cy="1097737"/>
          </a:xfrm>
          <a:prstGeom prst="roundRect">
            <a:avLst>
              <a:gd name="adj" fmla="val 9254"/>
            </a:avLst>
          </a:prstGeom>
          <a:solidFill>
            <a:srgbClr val="0C131E"/>
          </a:solidFill>
          <a:ln/>
        </p:spPr>
      </p:sp>
      <p:sp>
        <p:nvSpPr>
          <p:cNvPr id="21" name="Text 19"/>
          <p:cNvSpPr txBox="1"/>
          <p:nvPr/>
        </p:nvSpPr>
        <p:spPr>
          <a:xfrm>
            <a:off x="907999" y="3536991"/>
            <a:ext cx="4962174" cy="191933"/>
          </a:xfrm>
          <a:prstGeom prst="rect">
            <a:avLst/>
          </a:prstGeom>
          <a:noFill/>
          <a:ln/>
        </p:spPr>
        <p:txBody>
          <a:bodyPr wrap="none" lIns="0" tIns="0" rIns="0" bIns="0" rtlCol="0" anchor="ctr"/>
          <a:lstStyle/>
          <a:p>
            <a:pPr algn="l" indent="0" marL="0">
              <a:buNone/>
            </a:pPr>
            <a:r>
              <a:rPr lang="en-US" sz="980" dirty="0">
                <a:solidFill>
                  <a:srgbClr val="7D8CA3"/>
                </a:solidFill>
                <a:latin typeface="Courier New" pitchFamily="34" charset="0"/>
                <a:ea typeface="Courier New" pitchFamily="34" charset="-122"/>
                <a:cs typeface="Courier New" pitchFamily="34" charset="-120"/>
              </a:rPr>
              <a:t>// trước khi encode: dấu cách, ":" và "/" làm hỏng cấu trúc URL</a:t>
            </a:r>
            <a:endParaRPr lang="en-US" sz="980" dirty="0"/>
          </a:p>
        </p:txBody>
      </p:sp>
      <p:sp>
        <p:nvSpPr>
          <p:cNvPr id="22" name="Text 20"/>
          <p:cNvSpPr txBox="1"/>
          <p:nvPr/>
        </p:nvSpPr>
        <p:spPr>
          <a:xfrm>
            <a:off x="907999" y="3728832"/>
            <a:ext cx="6301222"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vnp_OrderInfo=Thanh toan Ca phe&amp;vnp_ReturnUrl=http:</a:t>
            </a:r>
            <a:pPr algn="l" indent="0" marL="0">
              <a:buNone/>
            </a:pPr>
            <a:r>
              <a:rPr lang="en-US" sz="980" dirty="0">
                <a:solidFill>
                  <a:srgbClr val="7D8CA3"/>
                </a:solidFill>
                <a:latin typeface="Courier New" pitchFamily="34" charset="0"/>
                <a:ea typeface="Courier New" pitchFamily="34" charset="-122"/>
                <a:cs typeface="Courier New" pitchFamily="34" charset="-120"/>
              </a:rPr>
              <a:t>//localhost:8080/vnpay/return</a:t>
            </a:r>
            <a:endParaRPr lang="en-US" sz="980" dirty="0"/>
          </a:p>
        </p:txBody>
      </p:sp>
      <p:sp>
        <p:nvSpPr>
          <p:cNvPr id="23" name="Text 21"/>
          <p:cNvSpPr txBox="1"/>
          <p:nvPr/>
        </p:nvSpPr>
        <p:spPr>
          <a:xfrm>
            <a:off x="907999" y="3920764"/>
            <a:ext cx="1339413" cy="191933"/>
          </a:xfrm>
          <a:prstGeom prst="rect">
            <a:avLst/>
          </a:prstGeom>
          <a:noFill/>
          <a:ln/>
        </p:spPr>
        <p:txBody>
          <a:bodyPr wrap="none" lIns="0" tIns="0" rIns="0" bIns="0" rtlCol="0" anchor="ctr"/>
          <a:lstStyle/>
          <a:p>
            <a:pPr algn="l" indent="0" marL="0">
              <a:buNone/>
            </a:pPr>
            <a:r>
              <a:rPr lang="en-US" sz="980" dirty="0">
                <a:solidFill>
                  <a:srgbClr val="7D8CA3"/>
                </a:solidFill>
                <a:latin typeface="Courier New" pitchFamily="34" charset="0"/>
                <a:ea typeface="Courier New" pitchFamily="34" charset="-122"/>
                <a:cs typeface="Courier New" pitchFamily="34" charset="-120"/>
              </a:rPr>
              <a:t>// sau khi encode</a:t>
            </a:r>
            <a:endParaRPr lang="en-US" sz="980" dirty="0"/>
          </a:p>
        </p:txBody>
      </p:sp>
      <p:sp>
        <p:nvSpPr>
          <p:cNvPr id="24" name="Shape 22"/>
          <p:cNvSpPr/>
          <p:nvPr/>
        </p:nvSpPr>
        <p:spPr>
          <a:xfrm>
            <a:off x="660380" y="4094683"/>
            <a:ext cx="10870936" cy="191841"/>
          </a:xfrm>
          <a:prstGeom prst="rect">
            <a:avLst/>
          </a:prstGeom>
          <a:solidFill>
            <a:srgbClr val="FFD479">
              <a:alpha val="13000"/>
            </a:srgbClr>
          </a:solidFill>
          <a:ln/>
        </p:spPr>
      </p:sp>
      <p:sp>
        <p:nvSpPr>
          <p:cNvPr id="25" name="Shape 23"/>
          <p:cNvSpPr/>
          <p:nvPr/>
        </p:nvSpPr>
        <p:spPr>
          <a:xfrm>
            <a:off x="660380" y="4094683"/>
            <a:ext cx="31730" cy="191841"/>
          </a:xfrm>
          <a:prstGeom prst="rect">
            <a:avLst/>
          </a:prstGeom>
          <a:solidFill>
            <a:srgbClr val="FFD479"/>
          </a:solidFill>
          <a:ln/>
        </p:spPr>
      </p:sp>
      <p:sp>
        <p:nvSpPr>
          <p:cNvPr id="26" name="Text 24"/>
          <p:cNvSpPr txBox="1"/>
          <p:nvPr/>
        </p:nvSpPr>
        <p:spPr>
          <a:xfrm>
            <a:off x="907999" y="4112605"/>
            <a:ext cx="7246254"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vnp_OrderInfo=Thanh+toan+Ca+phe&amp;vnp_ReturnUrl=http%3A%2F%2Flocalhost%3A8080%2Fvnpay%2Freturn</a:t>
            </a:r>
            <a:endParaRPr lang="en-US" sz="980" dirty="0"/>
          </a:p>
        </p:txBody>
      </p:sp>
      <p:sp>
        <p:nvSpPr>
          <p:cNvPr id="27" name="Text 25"/>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28" name="Text 26"/>
          <p:cNvSpPr txBox="1"/>
          <p:nvPr/>
        </p:nvSpPr>
        <p:spPr>
          <a:xfrm>
            <a:off x="11406043" y="6472763"/>
            <a:ext cx="201534"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11</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557784"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Chữ ký</a:t>
            </a:r>
            <a:endParaRPr lang="en-US" sz="1100" dirty="0"/>
          </a:p>
        </p:txBody>
      </p:sp>
      <p:sp>
        <p:nvSpPr>
          <p:cNvPr id="3" name="Text 1"/>
          <p:cNvSpPr txBox="1"/>
          <p:nvPr/>
        </p:nvSpPr>
        <p:spPr>
          <a:xfrm>
            <a:off x="660380" y="643829"/>
            <a:ext cx="5900075"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Vì sao tạo chữ ký theo cách này</a:t>
            </a:r>
            <a:endParaRPr lang="en-US" sz="3000" dirty="0"/>
          </a:p>
        </p:txBody>
      </p:sp>
      <p:sp>
        <p:nvSpPr>
          <p:cNvPr id="4" name="Text 2"/>
          <p:cNvSpPr txBox="1"/>
          <p:nvPr/>
        </p:nvSpPr>
        <p:spPr>
          <a:xfrm>
            <a:off x="660380" y="1336670"/>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1.</a:t>
            </a:r>
            <a:endParaRPr lang="en-US" sz="1400" dirty="0"/>
          </a:p>
        </p:txBody>
      </p:sp>
      <p:sp>
        <p:nvSpPr>
          <p:cNvPr id="5" name="Text 3"/>
          <p:cNvSpPr txBox="1"/>
          <p:nvPr/>
        </p:nvSpPr>
        <p:spPr>
          <a:xfrm>
            <a:off x="965149" y="1368400"/>
            <a:ext cx="7993959" cy="266730"/>
          </a:xfrm>
          <a:prstGeom prst="rect">
            <a:avLst/>
          </a:prstGeom>
          <a:noFill/>
          <a:ln/>
        </p:spPr>
        <p:txBody>
          <a:bodyPr wrap="square" lIns="0" tIns="0" rIns="0" bIns="0" rtlCol="0" anchor="ctr"/>
          <a:lstStyle/>
          <a:p>
            <a:pPr algn="l" indent="0" marL="0">
              <a:buNone/>
            </a:pPr>
            <a:r>
              <a:rPr lang="en-US" sz="1400" b="1" dirty="0">
                <a:solidFill>
                  <a:srgbClr val="3F454D"/>
                </a:solidFill>
                <a:latin typeface="Arial" pitchFamily="34" charset="0"/>
                <a:ea typeface="Arial" pitchFamily="34" charset="-122"/>
                <a:cs typeface="Arial" pitchFamily="34" charset="-120"/>
              </a:rPr>
              <a:t>Sắp xếp tham số theo tên</a:t>
            </a:r>
            <a:pPr algn="l" indent="0" marL="0">
              <a:buNone/>
            </a:pPr>
            <a:r>
              <a:rPr lang="en-US" sz="1400" dirty="0">
                <a:solidFill>
                  <a:srgbClr val="3F454D"/>
                </a:solidFill>
                <a:latin typeface="Arial" pitchFamily="34" charset="0"/>
                <a:ea typeface="Arial" pitchFamily="34" charset="-122"/>
                <a:cs typeface="Arial" pitchFamily="34" charset="-120"/>
              </a:rPr>
              <a:t>: hai bên ghép ra cùng một chuỗi, không phụ thuộc thứ tự trong Map</a:t>
            </a:r>
            <a:endParaRPr lang="en-US" sz="1400" dirty="0"/>
          </a:p>
        </p:txBody>
      </p:sp>
      <p:sp>
        <p:nvSpPr>
          <p:cNvPr id="6" name="Text 4"/>
          <p:cNvSpPr txBox="1"/>
          <p:nvPr/>
        </p:nvSpPr>
        <p:spPr>
          <a:xfrm>
            <a:off x="660380" y="1692280"/>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2.</a:t>
            </a:r>
            <a:endParaRPr lang="en-US" sz="1400" dirty="0"/>
          </a:p>
        </p:txBody>
      </p:sp>
      <p:sp>
        <p:nvSpPr>
          <p:cNvPr id="7" name="Text 5"/>
          <p:cNvSpPr txBox="1"/>
          <p:nvPr/>
        </p:nvSpPr>
        <p:spPr>
          <a:xfrm>
            <a:off x="965149" y="1724010"/>
            <a:ext cx="5415900" cy="266730"/>
          </a:xfrm>
          <a:prstGeom prst="rect">
            <a:avLst/>
          </a:prstGeom>
          <a:noFill/>
          <a:ln/>
        </p:spPr>
        <p:txBody>
          <a:bodyPr wrap="square" lIns="0" tIns="0" rIns="0" bIns="0" rtlCol="0" anchor="ctr"/>
          <a:lstStyle/>
          <a:p>
            <a:pPr algn="l" indent="0" marL="0">
              <a:buNone/>
            </a:pPr>
            <a:r>
              <a:rPr lang="en-US" sz="1400" b="1" dirty="0">
                <a:solidFill>
                  <a:srgbClr val="3F454D"/>
                </a:solidFill>
                <a:latin typeface="Arial" pitchFamily="34" charset="0"/>
                <a:ea typeface="Arial" pitchFamily="34" charset="-122"/>
                <a:cs typeface="Arial" pitchFamily="34" charset="-120"/>
              </a:rPr>
              <a:t>Bỏ tham số rỗng</a:t>
            </a:r>
            <a:pPr algn="l" indent="0" marL="0">
              <a:buNone/>
            </a:pPr>
            <a:r>
              <a:rPr lang="en-US" sz="1400" dirty="0">
                <a:solidFill>
                  <a:srgbClr val="3F454D"/>
                </a:solidFill>
                <a:latin typeface="Arial" pitchFamily="34" charset="0"/>
                <a:ea typeface="Arial" pitchFamily="34" charset="-122"/>
                <a:cs typeface="Arial" pitchFamily="34" charset="-120"/>
              </a:rPr>
              <a:t>: VNPAY không đưa tham số rỗng vào chuỗi ký</a:t>
            </a:r>
            <a:endParaRPr lang="en-US" sz="1400" dirty="0"/>
          </a:p>
        </p:txBody>
      </p:sp>
      <p:sp>
        <p:nvSpPr>
          <p:cNvPr id="8" name="Text 6"/>
          <p:cNvSpPr txBox="1"/>
          <p:nvPr/>
        </p:nvSpPr>
        <p:spPr>
          <a:xfrm>
            <a:off x="660380" y="2047890"/>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3.</a:t>
            </a:r>
            <a:endParaRPr lang="en-US" sz="1400" dirty="0"/>
          </a:p>
        </p:txBody>
      </p:sp>
      <p:sp>
        <p:nvSpPr>
          <p:cNvPr id="9" name="Text 7"/>
          <p:cNvSpPr txBox="1"/>
          <p:nvPr/>
        </p:nvSpPr>
        <p:spPr>
          <a:xfrm>
            <a:off x="965149" y="2079620"/>
            <a:ext cx="5099243" cy="266730"/>
          </a:xfrm>
          <a:prstGeom prst="rect">
            <a:avLst/>
          </a:prstGeom>
          <a:noFill/>
          <a:ln/>
        </p:spPr>
        <p:txBody>
          <a:bodyPr wrap="square" lIns="0" tIns="0" rIns="0" bIns="0" rtlCol="0" anchor="ctr"/>
          <a:lstStyle/>
          <a:p>
            <a:pPr algn="l" indent="0" marL="0">
              <a:buNone/>
            </a:pPr>
            <a:r>
              <a:rPr lang="en-US" sz="1400" b="1" dirty="0">
                <a:solidFill>
                  <a:srgbClr val="3F454D"/>
                </a:solidFill>
                <a:latin typeface="Arial" pitchFamily="34" charset="0"/>
                <a:ea typeface="Arial" pitchFamily="34" charset="-122"/>
                <a:cs typeface="Arial" pitchFamily="34" charset="-120"/>
              </a:rPr>
              <a:t>Encode giá trị rồi mới ký</a:t>
            </a:r>
            <a:pPr algn="l" indent="0" marL="0">
              <a:buNone/>
            </a:pPr>
            <a:r>
              <a:rPr lang="en-US" sz="1400" dirty="0">
                <a:solidFill>
                  <a:srgbClr val="3F454D"/>
                </a:solidFill>
                <a:latin typeface="Arial" pitchFamily="34" charset="0"/>
                <a:ea typeface="Arial" pitchFamily="34" charset="-122"/>
                <a:cs typeface="Arial" pitchFamily="34" charset="-120"/>
              </a:rPr>
              <a:t>: ký đúng chuỗi xuất hiện trên URL</a:t>
            </a:r>
            <a:endParaRPr lang="en-US" sz="1400" dirty="0"/>
          </a:p>
        </p:txBody>
      </p:sp>
      <p:sp>
        <p:nvSpPr>
          <p:cNvPr id="10" name="Text 8"/>
          <p:cNvSpPr txBox="1"/>
          <p:nvPr/>
        </p:nvSpPr>
        <p:spPr>
          <a:xfrm>
            <a:off x="660380" y="2403500"/>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4.</a:t>
            </a:r>
            <a:endParaRPr lang="en-US" sz="1400" dirty="0"/>
          </a:p>
        </p:txBody>
      </p:sp>
      <p:sp>
        <p:nvSpPr>
          <p:cNvPr id="11" name="Text 9"/>
          <p:cNvSpPr txBox="1"/>
          <p:nvPr/>
        </p:nvSpPr>
        <p:spPr>
          <a:xfrm>
            <a:off x="965149" y="2435230"/>
            <a:ext cx="8869040" cy="266730"/>
          </a:xfrm>
          <a:prstGeom prst="rect">
            <a:avLst/>
          </a:prstGeom>
          <a:noFill/>
          <a:ln/>
        </p:spPr>
        <p:txBody>
          <a:bodyPr wrap="square" lIns="0" tIns="0" rIns="0" bIns="0" rtlCol="0" anchor="ctr"/>
          <a:lstStyle/>
          <a:p>
            <a:pPr algn="l" indent="0" marL="0">
              <a:buNone/>
            </a:pPr>
            <a:r>
              <a:rPr lang="en-US" sz="1400" b="1" dirty="0">
                <a:solidFill>
                  <a:srgbClr val="3F454D"/>
                </a:solidFill>
                <a:latin typeface="Arial" pitchFamily="34" charset="0"/>
                <a:ea typeface="Arial" pitchFamily="34" charset="-122"/>
                <a:cs typeface="Arial" pitchFamily="34" charset="-120"/>
              </a:rPr>
              <a:t>HMAC-SHA512 với HashSecret</a:t>
            </a:r>
            <a:pPr algn="l" indent="0" marL="0">
              <a:buNone/>
            </a:pPr>
            <a:r>
              <a:rPr lang="en-US" sz="1400" dirty="0">
                <a:solidFill>
                  <a:srgbClr val="3F454D"/>
                </a:solidFill>
                <a:latin typeface="Arial" pitchFamily="34" charset="0"/>
                <a:ea typeface="Arial" pitchFamily="34" charset="-122"/>
                <a:cs typeface="Arial" pitchFamily="34" charset="-120"/>
              </a:rPr>
              <a:t>: chỉ bên có HashSecret tạo được chữ ký. HashSecret không đi trên URL</a:t>
            </a:r>
            <a:endParaRPr lang="en-US" sz="1400" dirty="0"/>
          </a:p>
        </p:txBody>
      </p:sp>
      <p:sp>
        <p:nvSpPr>
          <p:cNvPr id="12" name="Text 10"/>
          <p:cNvSpPr txBox="1"/>
          <p:nvPr/>
        </p:nvSpPr>
        <p:spPr>
          <a:xfrm>
            <a:off x="660380" y="2759019"/>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5.</a:t>
            </a:r>
            <a:endParaRPr lang="en-US" sz="1400" dirty="0"/>
          </a:p>
        </p:txBody>
      </p:sp>
      <p:sp>
        <p:nvSpPr>
          <p:cNvPr id="13" name="Text 11"/>
          <p:cNvSpPr txBox="1"/>
          <p:nvPr/>
        </p:nvSpPr>
        <p:spPr>
          <a:xfrm>
            <a:off x="965149" y="2790840"/>
            <a:ext cx="6747998" cy="266730"/>
          </a:xfrm>
          <a:prstGeom prst="rect">
            <a:avLst/>
          </a:prstGeom>
          <a:noFill/>
          <a:ln/>
        </p:spPr>
        <p:txBody>
          <a:bodyPr wrap="square" lIns="0" tIns="0" rIns="0" bIns="0" rtlCol="0" anchor="ctr"/>
          <a:lstStyle/>
          <a:p>
            <a:pPr algn="l" indent="0" marL="0">
              <a:buNone/>
            </a:pPr>
            <a:r>
              <a:rPr lang="en-US" sz="1400" b="1" dirty="0">
                <a:solidFill>
                  <a:srgbClr val="3F454D"/>
                </a:solidFill>
                <a:latin typeface="Arial" pitchFamily="34" charset="0"/>
                <a:ea typeface="Arial" pitchFamily="34" charset="-122"/>
                <a:cs typeface="Arial" pitchFamily="34" charset="-120"/>
              </a:rPr>
              <a:t>Gắn chữ ký vào cuối link</a:t>
            </a:r>
            <a:pPr algn="l" indent="0" marL="0">
              <a:buNone/>
            </a:pPr>
            <a:r>
              <a:rPr lang="en-US" sz="1400" dirty="0">
                <a:solidFill>
                  <a:srgbClr val="3F454D"/>
                </a:solidFill>
                <a:latin typeface="Arial" pitchFamily="34" charset="0"/>
                <a:ea typeface="Arial" pitchFamily="34" charset="-122"/>
                <a:cs typeface="Arial" pitchFamily="34" charset="-120"/>
              </a:rPr>
              <a:t>: </a:t>
            </a:r>
            <a:pPr algn="l" indent="0" marL="0">
              <a:buNone/>
            </a:pPr>
            <a:r>
              <a:rPr lang="en-US" sz="1400" dirty="0">
                <a:solidFill>
                  <a:srgbClr val="3F454D"/>
                </a:solidFill>
                <a:latin typeface="Courier New" pitchFamily="34" charset="0"/>
                <a:ea typeface="Courier New" pitchFamily="34" charset="-122"/>
                <a:cs typeface="Courier New" pitchFamily="34" charset="-120"/>
              </a:rPr>
              <a:t>vnp_SecureHash</a:t>
            </a:r>
            <a:pPr algn="l" indent="0" marL="0">
              <a:buNone/>
            </a:pPr>
            <a:r>
              <a:rPr lang="en-US" sz="1400" dirty="0">
                <a:solidFill>
                  <a:srgbClr val="3F454D"/>
                </a:solidFill>
                <a:latin typeface="Arial" pitchFamily="34" charset="0"/>
                <a:ea typeface="Arial" pitchFamily="34" charset="-122"/>
                <a:cs typeface="Arial" pitchFamily="34" charset="-120"/>
              </a:rPr>
              <a:t> không nằm trong chuỗi đem đi ký</a:t>
            </a:r>
            <a:endParaRPr lang="en-US" sz="1400" dirty="0"/>
          </a:p>
        </p:txBody>
      </p:sp>
      <p:sp>
        <p:nvSpPr>
          <p:cNvPr id="14" name="Shape 12"/>
          <p:cNvSpPr/>
          <p:nvPr/>
        </p:nvSpPr>
        <p:spPr>
          <a:xfrm>
            <a:off x="660380" y="3226918"/>
            <a:ext cx="10870936" cy="1097737"/>
          </a:xfrm>
          <a:prstGeom prst="roundRect">
            <a:avLst>
              <a:gd name="adj" fmla="val 9254"/>
            </a:avLst>
          </a:prstGeom>
          <a:solidFill>
            <a:srgbClr val="0C131E"/>
          </a:solidFill>
          <a:ln/>
        </p:spPr>
      </p:sp>
      <p:sp>
        <p:nvSpPr>
          <p:cNvPr id="15" name="Text 13"/>
          <p:cNvSpPr txBox="1"/>
          <p:nvPr/>
        </p:nvSpPr>
        <p:spPr>
          <a:xfrm>
            <a:off x="907999" y="3409980"/>
            <a:ext cx="1811609" cy="191933"/>
          </a:xfrm>
          <a:prstGeom prst="rect">
            <a:avLst/>
          </a:prstGeom>
          <a:noFill/>
          <a:ln/>
        </p:spPr>
        <p:txBody>
          <a:bodyPr wrap="none" lIns="0" tIns="0" rIns="0" bIns="0" rtlCol="0" anchor="ctr"/>
          <a:lstStyle/>
          <a:p>
            <a:pPr algn="l" indent="0" marL="0">
              <a:buNone/>
            </a:pPr>
            <a:r>
              <a:rPr lang="en-US" sz="980" dirty="0">
                <a:solidFill>
                  <a:srgbClr val="7D8CA3"/>
                </a:solidFill>
                <a:latin typeface="Courier New" pitchFamily="34" charset="0"/>
                <a:ea typeface="Courier New" pitchFamily="34" charset="-122"/>
                <a:cs typeface="Courier New" pitchFamily="34" charset="-120"/>
              </a:rPr>
              <a:t>// 1-3: chuỗi đem đi ký</a:t>
            </a:r>
            <a:endParaRPr lang="en-US" sz="980" dirty="0"/>
          </a:p>
        </p:txBody>
      </p:sp>
      <p:sp>
        <p:nvSpPr>
          <p:cNvPr id="16" name="Text 14"/>
          <p:cNvSpPr txBox="1"/>
          <p:nvPr/>
        </p:nvSpPr>
        <p:spPr>
          <a:xfrm>
            <a:off x="907999" y="3601822"/>
            <a:ext cx="6931243"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vnp_Amount=2500000&amp;vnp_Command=pay&amp;...&amp;vnp_TxnRef=20261010101433482913&amp;vnp_Version=2.1.0</a:t>
            </a:r>
            <a:endParaRPr lang="en-US" sz="980" dirty="0"/>
          </a:p>
        </p:txBody>
      </p:sp>
      <p:sp>
        <p:nvSpPr>
          <p:cNvPr id="17" name="Text 15"/>
          <p:cNvSpPr txBox="1"/>
          <p:nvPr/>
        </p:nvSpPr>
        <p:spPr>
          <a:xfrm>
            <a:off x="907999" y="3793754"/>
            <a:ext cx="3229295" cy="191933"/>
          </a:xfrm>
          <a:prstGeom prst="rect">
            <a:avLst/>
          </a:prstGeom>
          <a:noFill/>
          <a:ln/>
        </p:spPr>
        <p:txBody>
          <a:bodyPr wrap="none" lIns="0" tIns="0" rIns="0" bIns="0" rtlCol="0" anchor="ctr"/>
          <a:lstStyle/>
          <a:p>
            <a:pPr algn="l" indent="0" marL="0">
              <a:buNone/>
            </a:pPr>
            <a:r>
              <a:rPr lang="en-US" sz="980" dirty="0">
                <a:solidFill>
                  <a:srgbClr val="7D8CA3"/>
                </a:solidFill>
                <a:latin typeface="Courier New" pitchFamily="34" charset="0"/>
                <a:ea typeface="Courier New" pitchFamily="34" charset="-122"/>
                <a:cs typeface="Courier New" pitchFamily="34" charset="-120"/>
              </a:rPr>
              <a:t>// 4: HMAC-SHA512(HashSecret, chuỗi trên)</a:t>
            </a:r>
            <a:endParaRPr lang="en-US" sz="980" dirty="0"/>
          </a:p>
        </p:txBody>
      </p:sp>
      <p:sp>
        <p:nvSpPr>
          <p:cNvPr id="18" name="Shape 16"/>
          <p:cNvSpPr/>
          <p:nvPr/>
        </p:nvSpPr>
        <p:spPr>
          <a:xfrm>
            <a:off x="660380" y="3967673"/>
            <a:ext cx="10870936" cy="191841"/>
          </a:xfrm>
          <a:prstGeom prst="rect">
            <a:avLst/>
          </a:prstGeom>
          <a:solidFill>
            <a:srgbClr val="FFD479">
              <a:alpha val="13000"/>
            </a:srgbClr>
          </a:solidFill>
          <a:ln/>
        </p:spPr>
      </p:sp>
      <p:sp>
        <p:nvSpPr>
          <p:cNvPr id="19" name="Shape 17"/>
          <p:cNvSpPr/>
          <p:nvPr/>
        </p:nvSpPr>
        <p:spPr>
          <a:xfrm>
            <a:off x="660380" y="3967673"/>
            <a:ext cx="31730" cy="191841"/>
          </a:xfrm>
          <a:prstGeom prst="rect">
            <a:avLst/>
          </a:prstGeom>
          <a:solidFill>
            <a:srgbClr val="FFD479"/>
          </a:solidFill>
          <a:ln/>
        </p:spPr>
      </p:sp>
      <p:sp>
        <p:nvSpPr>
          <p:cNvPr id="20" name="Text 18"/>
          <p:cNvSpPr txBox="1"/>
          <p:nvPr/>
        </p:nvSpPr>
        <p:spPr>
          <a:xfrm>
            <a:off x="907999" y="3985595"/>
            <a:ext cx="385950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98bbf7a165e10ad8527a34f48b43c45d...   (128 ký tự)</a:t>
            </a:r>
            <a:endParaRPr lang="en-US" sz="980" dirty="0"/>
          </a:p>
        </p:txBody>
      </p:sp>
      <p:sp>
        <p:nvSpPr>
          <p:cNvPr id="21" name="Shape 19"/>
          <p:cNvSpPr/>
          <p:nvPr/>
        </p:nvSpPr>
        <p:spPr>
          <a:xfrm>
            <a:off x="660380" y="4502414"/>
            <a:ext cx="10870936" cy="400050"/>
          </a:xfrm>
          <a:prstGeom prst="roundRect">
            <a:avLst>
              <a:gd name="adj" fmla="val 19040"/>
            </a:avLst>
          </a:prstGeom>
          <a:solidFill>
            <a:srgbClr val="FFFFFF"/>
          </a:solidFill>
          <a:ln w="6350">
            <a:solidFill>
              <a:srgbClr val="E3E6EA"/>
            </a:solidFill>
            <a:prstDash val="solid"/>
          </a:ln>
        </p:spPr>
      </p:sp>
      <p:sp>
        <p:nvSpPr>
          <p:cNvPr id="22" name="Shape 20"/>
          <p:cNvSpPr/>
          <p:nvPr/>
        </p:nvSpPr>
        <p:spPr>
          <a:xfrm>
            <a:off x="780989" y="4597695"/>
            <a:ext cx="982614" cy="209580"/>
          </a:xfrm>
          <a:prstGeom prst="roundRect">
            <a:avLst>
              <a:gd name="adj" fmla="val 50000"/>
            </a:avLst>
          </a:prstGeom>
          <a:solidFill>
            <a:srgbClr val="FDE8E6"/>
          </a:solidFill>
          <a:ln/>
        </p:spPr>
      </p:sp>
      <p:sp>
        <p:nvSpPr>
          <p:cNvPr id="23" name="Text 21"/>
          <p:cNvSpPr txBox="1"/>
          <p:nvPr/>
        </p:nvSpPr>
        <p:spPr>
          <a:xfrm>
            <a:off x="857250" y="4628967"/>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24" name="Text 22"/>
          <p:cNvSpPr txBox="1"/>
          <p:nvPr/>
        </p:nvSpPr>
        <p:spPr>
          <a:xfrm>
            <a:off x="1865285" y="4601992"/>
            <a:ext cx="3112892"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Bước 1 đến 5 theo tài liệu và code mẫu VNPAY</a:t>
            </a:r>
            <a:endParaRPr lang="en-US" sz="1100" dirty="0"/>
          </a:p>
        </p:txBody>
      </p:sp>
      <p:sp>
        <p:nvSpPr>
          <p:cNvPr id="25" name="Text 23"/>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26" name="Text 24"/>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906719"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Chứng minh</a:t>
            </a:r>
            <a:endParaRPr lang="en-US" sz="1100" dirty="0"/>
          </a:p>
        </p:txBody>
      </p:sp>
      <p:sp>
        <p:nvSpPr>
          <p:cNvPr id="3" name="Text 1"/>
          <p:cNvSpPr txBox="1"/>
          <p:nvPr/>
        </p:nvSpPr>
        <p:spPr>
          <a:xfrm>
            <a:off x="660380" y="643829"/>
            <a:ext cx="7736464"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Thử chữ ký trực tiếp trên VNPAY sandbox</a:t>
            </a:r>
            <a:endParaRPr lang="en-US" sz="3000" dirty="0"/>
          </a:p>
        </p:txBody>
      </p:sp>
      <p:sp>
        <p:nvSpPr>
          <p:cNvPr id="4" name="Shape 2"/>
          <p:cNvSpPr/>
          <p:nvPr/>
        </p:nvSpPr>
        <p:spPr>
          <a:xfrm>
            <a:off x="660380" y="1347368"/>
            <a:ext cx="5714817" cy="2965399"/>
          </a:xfrm>
          <a:prstGeom prst="roundRect">
            <a:avLst>
              <a:gd name="adj" fmla="val 3426"/>
            </a:avLst>
          </a:prstGeom>
          <a:solidFill>
            <a:srgbClr val="FFFFFF"/>
          </a:solidFill>
          <a:ln/>
        </p:spPr>
      </p:sp>
      <p:sp>
        <p:nvSpPr>
          <p:cNvPr id="5" name="Shape 3"/>
          <p:cNvSpPr/>
          <p:nvPr/>
        </p:nvSpPr>
        <p:spPr>
          <a:xfrm>
            <a:off x="660380" y="1347368"/>
            <a:ext cx="2285909" cy="422270"/>
          </a:xfrm>
          <a:prstGeom prst="rect">
            <a:avLst/>
          </a:prstGeom>
          <a:solidFill>
            <a:srgbClr val="ECF2FF"/>
          </a:solidFill>
          <a:ln/>
        </p:spPr>
      </p:sp>
      <p:sp>
        <p:nvSpPr>
          <p:cNvPr id="6" name="Text 4"/>
          <p:cNvSpPr txBox="1"/>
          <p:nvPr/>
        </p:nvSpPr>
        <p:spPr>
          <a:xfrm>
            <a:off x="825520" y="1479408"/>
            <a:ext cx="1192743"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THỬ NGÀY 10/10</a:t>
            </a:r>
            <a:endParaRPr lang="en-US" sz="1000" dirty="0"/>
          </a:p>
        </p:txBody>
      </p:sp>
      <p:sp>
        <p:nvSpPr>
          <p:cNvPr id="7" name="Shape 5"/>
          <p:cNvSpPr/>
          <p:nvPr/>
        </p:nvSpPr>
        <p:spPr>
          <a:xfrm>
            <a:off x="2946288" y="1347368"/>
            <a:ext cx="1600200" cy="422270"/>
          </a:xfrm>
          <a:prstGeom prst="rect">
            <a:avLst/>
          </a:prstGeom>
          <a:solidFill>
            <a:srgbClr val="ECF2FF"/>
          </a:solidFill>
          <a:ln/>
        </p:spPr>
      </p:sp>
      <p:sp>
        <p:nvSpPr>
          <p:cNvPr id="8" name="Text 6"/>
          <p:cNvSpPr txBox="1"/>
          <p:nvPr/>
        </p:nvSpPr>
        <p:spPr>
          <a:xfrm>
            <a:off x="3111429" y="1479408"/>
            <a:ext cx="1067562"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VNPAY TRẢ VỀ</a:t>
            </a:r>
            <a:endParaRPr lang="en-US" sz="1000" dirty="0"/>
          </a:p>
        </p:txBody>
      </p:sp>
      <p:sp>
        <p:nvSpPr>
          <p:cNvPr id="9" name="Shape 7"/>
          <p:cNvSpPr/>
          <p:nvPr/>
        </p:nvSpPr>
        <p:spPr>
          <a:xfrm>
            <a:off x="4546488" y="1347368"/>
            <a:ext cx="1828800" cy="422270"/>
          </a:xfrm>
          <a:prstGeom prst="rect">
            <a:avLst/>
          </a:prstGeom>
          <a:solidFill>
            <a:srgbClr val="ECF2FF"/>
          </a:solidFill>
          <a:ln/>
        </p:spPr>
      </p:sp>
      <p:sp>
        <p:nvSpPr>
          <p:cNvPr id="10" name="Text 8"/>
          <p:cNvSpPr txBox="1"/>
          <p:nvPr/>
        </p:nvSpPr>
        <p:spPr>
          <a:xfrm>
            <a:off x="4711537" y="1479408"/>
            <a:ext cx="769010"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KẾT LUẬN</a:t>
            </a:r>
            <a:endParaRPr lang="en-US" sz="1000" dirty="0"/>
          </a:p>
        </p:txBody>
      </p:sp>
      <p:sp>
        <p:nvSpPr>
          <p:cNvPr id="11" name="Shape 9"/>
          <p:cNvSpPr/>
          <p:nvPr/>
        </p:nvSpPr>
        <p:spPr>
          <a:xfrm>
            <a:off x="660380" y="1769638"/>
            <a:ext cx="2285909" cy="6309"/>
          </a:xfrm>
          <a:prstGeom prst="rect">
            <a:avLst/>
          </a:prstGeom>
          <a:solidFill>
            <a:srgbClr val="E3E6EA"/>
          </a:solidFill>
          <a:ln/>
        </p:spPr>
      </p:sp>
      <p:sp>
        <p:nvSpPr>
          <p:cNvPr id="12" name="Text 10"/>
          <p:cNvSpPr txBox="1"/>
          <p:nvPr/>
        </p:nvSpPr>
        <p:spPr>
          <a:xfrm>
            <a:off x="800100" y="1975195"/>
            <a:ext cx="1651224"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Link đúng do code tạo</a:t>
            </a:r>
            <a:endParaRPr lang="en-US" sz="1150" dirty="0"/>
          </a:p>
        </p:txBody>
      </p:sp>
      <p:sp>
        <p:nvSpPr>
          <p:cNvPr id="13" name="Shape 11"/>
          <p:cNvSpPr/>
          <p:nvPr/>
        </p:nvSpPr>
        <p:spPr>
          <a:xfrm>
            <a:off x="2946288" y="1769638"/>
            <a:ext cx="1600200" cy="6309"/>
          </a:xfrm>
          <a:prstGeom prst="rect">
            <a:avLst/>
          </a:prstGeom>
          <a:solidFill>
            <a:srgbClr val="E3E6EA"/>
          </a:solidFill>
          <a:ln/>
        </p:spPr>
      </p:sp>
      <p:sp>
        <p:nvSpPr>
          <p:cNvPr id="14" name="Text 12"/>
          <p:cNvSpPr txBox="1"/>
          <p:nvPr/>
        </p:nvSpPr>
        <p:spPr>
          <a:xfrm>
            <a:off x="3086009" y="1848825"/>
            <a:ext cx="1360353" cy="493685"/>
          </a:xfrm>
          <a:prstGeom prst="rect">
            <a:avLst/>
          </a:prstGeom>
          <a:noFill/>
          <a:ln/>
        </p:spPr>
        <p:txBody>
          <a:bodyPr wrap="square" lIns="0" tIns="0" rIns="0" bIns="0" rtlCol="0" anchor="t"/>
          <a:lstStyle/>
          <a:p>
            <a:pPr algn="l" indent="0" marL="0">
              <a:lnSpc>
                <a:spcPts val="1730"/>
              </a:lnSpc>
              <a:buNone/>
            </a:pPr>
            <a:r>
              <a:rPr lang="en-US" sz="1150" dirty="0">
                <a:solidFill>
                  <a:srgbClr val="3F454D"/>
                </a:solidFill>
                <a:latin typeface="Arial" pitchFamily="34" charset="0"/>
                <a:ea typeface="Arial" pitchFamily="34" charset="-122"/>
                <a:cs typeface="Arial" pitchFamily="34" charset="-120"/>
              </a:rPr>
              <a:t>Mở trang thanh toán</a:t>
            </a:r>
            <a:endParaRPr lang="en-US" sz="1150" dirty="0"/>
          </a:p>
        </p:txBody>
      </p:sp>
      <p:sp>
        <p:nvSpPr>
          <p:cNvPr id="15" name="Shape 13"/>
          <p:cNvSpPr/>
          <p:nvPr/>
        </p:nvSpPr>
        <p:spPr>
          <a:xfrm>
            <a:off x="4546488" y="1769638"/>
            <a:ext cx="1828800" cy="6309"/>
          </a:xfrm>
          <a:prstGeom prst="rect">
            <a:avLst/>
          </a:prstGeom>
          <a:solidFill>
            <a:srgbClr val="E3E6EA"/>
          </a:solidFill>
          <a:ln/>
        </p:spPr>
      </p:sp>
      <p:sp>
        <p:nvSpPr>
          <p:cNvPr id="16" name="Text 14"/>
          <p:cNvSpPr txBox="1"/>
          <p:nvPr/>
        </p:nvSpPr>
        <p:spPr>
          <a:xfrm>
            <a:off x="4686209" y="1975195"/>
            <a:ext cx="222199"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t>
            </a:r>
            <a:endParaRPr lang="en-US" sz="1150" dirty="0"/>
          </a:p>
        </p:txBody>
      </p:sp>
      <p:sp>
        <p:nvSpPr>
          <p:cNvPr id="17" name="Shape 15"/>
          <p:cNvSpPr/>
          <p:nvPr/>
        </p:nvSpPr>
        <p:spPr>
          <a:xfrm>
            <a:off x="660380" y="2366467"/>
            <a:ext cx="2285909" cy="6309"/>
          </a:xfrm>
          <a:prstGeom prst="rect">
            <a:avLst/>
          </a:prstGeom>
          <a:solidFill>
            <a:srgbClr val="E3E6EA"/>
          </a:solidFill>
          <a:ln/>
        </p:spPr>
      </p:sp>
      <p:sp>
        <p:nvSpPr>
          <p:cNvPr id="18" name="Text 16"/>
          <p:cNvSpPr txBox="1"/>
          <p:nvPr/>
        </p:nvSpPr>
        <p:spPr>
          <a:xfrm>
            <a:off x="800100" y="2445746"/>
            <a:ext cx="2066727" cy="493685"/>
          </a:xfrm>
          <a:prstGeom prst="rect">
            <a:avLst/>
          </a:prstGeom>
          <a:noFill/>
          <a:ln/>
        </p:spPr>
        <p:txBody>
          <a:bodyPr wrap="square" lIns="0" tIns="0" rIns="0" bIns="0" rtlCol="0" anchor="t"/>
          <a:lstStyle/>
          <a:p>
            <a:pPr algn="l" indent="0" marL="0">
              <a:lnSpc>
                <a:spcPts val="1730"/>
              </a:lnSpc>
              <a:buNone/>
            </a:pPr>
            <a:r>
              <a:rPr lang="en-US" sz="1150" b="1" dirty="0">
                <a:solidFill>
                  <a:srgbClr val="111111"/>
                </a:solidFill>
                <a:latin typeface="Arial" pitchFamily="34" charset="0"/>
                <a:ea typeface="Arial" pitchFamily="34" charset="-122"/>
                <a:cs typeface="Arial" pitchFamily="34" charset="-120"/>
              </a:rPr>
              <a:t>Ký xong rồi sửa vnp_Amount</a:t>
            </a:r>
            <a:endParaRPr lang="en-US" sz="1150" dirty="0"/>
          </a:p>
        </p:txBody>
      </p:sp>
      <p:sp>
        <p:nvSpPr>
          <p:cNvPr id="19" name="Shape 17"/>
          <p:cNvSpPr/>
          <p:nvPr/>
        </p:nvSpPr>
        <p:spPr>
          <a:xfrm>
            <a:off x="2946288" y="2366467"/>
            <a:ext cx="1600200" cy="6309"/>
          </a:xfrm>
          <a:prstGeom prst="rect">
            <a:avLst/>
          </a:prstGeom>
          <a:solidFill>
            <a:srgbClr val="E3E6EA"/>
          </a:solidFill>
          <a:ln/>
        </p:spPr>
      </p:sp>
      <p:sp>
        <p:nvSpPr>
          <p:cNvPr id="20" name="Text 18"/>
          <p:cNvSpPr txBox="1"/>
          <p:nvPr/>
        </p:nvSpPr>
        <p:spPr>
          <a:xfrm>
            <a:off x="3086009" y="2572024"/>
            <a:ext cx="131024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Sai chữ ký (mã 70)</a:t>
            </a:r>
            <a:endParaRPr lang="en-US" sz="1150" dirty="0"/>
          </a:p>
        </p:txBody>
      </p:sp>
      <p:sp>
        <p:nvSpPr>
          <p:cNvPr id="21" name="Shape 19"/>
          <p:cNvSpPr/>
          <p:nvPr/>
        </p:nvSpPr>
        <p:spPr>
          <a:xfrm>
            <a:off x="4546488" y="2366467"/>
            <a:ext cx="1828800" cy="6309"/>
          </a:xfrm>
          <a:prstGeom prst="rect">
            <a:avLst/>
          </a:prstGeom>
          <a:solidFill>
            <a:srgbClr val="E3E6EA"/>
          </a:solidFill>
          <a:ln/>
        </p:spPr>
      </p:sp>
      <p:sp>
        <p:nvSpPr>
          <p:cNvPr id="22" name="Text 20"/>
          <p:cNvSpPr txBox="1"/>
          <p:nvPr/>
        </p:nvSpPr>
        <p:spPr>
          <a:xfrm>
            <a:off x="4686209" y="2572024"/>
            <a:ext cx="160056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VNPAY kiểm tra chữ ký</a:t>
            </a:r>
            <a:endParaRPr lang="en-US" sz="1150" dirty="0"/>
          </a:p>
        </p:txBody>
      </p:sp>
      <p:sp>
        <p:nvSpPr>
          <p:cNvPr id="23" name="Shape 21"/>
          <p:cNvSpPr/>
          <p:nvPr/>
        </p:nvSpPr>
        <p:spPr>
          <a:xfrm>
            <a:off x="660380" y="2963388"/>
            <a:ext cx="2285909" cy="6309"/>
          </a:xfrm>
          <a:prstGeom prst="rect">
            <a:avLst/>
          </a:prstGeom>
          <a:solidFill>
            <a:srgbClr val="E3E6EA"/>
          </a:solidFill>
          <a:ln/>
        </p:spPr>
      </p:sp>
      <p:sp>
        <p:nvSpPr>
          <p:cNvPr id="24" name="Text 22"/>
          <p:cNvSpPr txBox="1"/>
          <p:nvPr/>
        </p:nvSpPr>
        <p:spPr>
          <a:xfrm>
            <a:off x="800100" y="3059400"/>
            <a:ext cx="1780611"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Ký chuỗi không sắp xếp</a:t>
            </a:r>
            <a:endParaRPr lang="en-US" sz="1150" dirty="0"/>
          </a:p>
        </p:txBody>
      </p:sp>
      <p:sp>
        <p:nvSpPr>
          <p:cNvPr id="25" name="Shape 23"/>
          <p:cNvSpPr/>
          <p:nvPr/>
        </p:nvSpPr>
        <p:spPr>
          <a:xfrm>
            <a:off x="2946288" y="2963388"/>
            <a:ext cx="1600200" cy="6309"/>
          </a:xfrm>
          <a:prstGeom prst="rect">
            <a:avLst/>
          </a:prstGeom>
          <a:solidFill>
            <a:srgbClr val="E3E6EA"/>
          </a:solidFill>
          <a:ln/>
        </p:spPr>
      </p:sp>
      <p:sp>
        <p:nvSpPr>
          <p:cNvPr id="26" name="Text 24"/>
          <p:cNvSpPr txBox="1"/>
          <p:nvPr/>
        </p:nvSpPr>
        <p:spPr>
          <a:xfrm>
            <a:off x="3086009" y="3059400"/>
            <a:ext cx="131024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Sai chữ ký (mã 70)</a:t>
            </a:r>
            <a:endParaRPr lang="en-US" sz="1150" dirty="0"/>
          </a:p>
        </p:txBody>
      </p:sp>
      <p:sp>
        <p:nvSpPr>
          <p:cNvPr id="27" name="Shape 25"/>
          <p:cNvSpPr/>
          <p:nvPr/>
        </p:nvSpPr>
        <p:spPr>
          <a:xfrm>
            <a:off x="4546488" y="2963388"/>
            <a:ext cx="1828800" cy="6309"/>
          </a:xfrm>
          <a:prstGeom prst="rect">
            <a:avLst/>
          </a:prstGeom>
          <a:solidFill>
            <a:srgbClr val="E3E6EA"/>
          </a:solidFill>
          <a:ln/>
        </p:spPr>
      </p:sp>
      <p:sp>
        <p:nvSpPr>
          <p:cNvPr id="28" name="Text 26"/>
          <p:cNvSpPr txBox="1"/>
          <p:nvPr/>
        </p:nvSpPr>
        <p:spPr>
          <a:xfrm>
            <a:off x="4686209" y="3059400"/>
            <a:ext cx="136858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Sắp xếp là bắt buộc</a:t>
            </a:r>
            <a:endParaRPr lang="en-US" sz="1150" dirty="0"/>
          </a:p>
        </p:txBody>
      </p:sp>
      <p:sp>
        <p:nvSpPr>
          <p:cNvPr id="29" name="Shape 27"/>
          <p:cNvSpPr/>
          <p:nvPr/>
        </p:nvSpPr>
        <p:spPr>
          <a:xfrm>
            <a:off x="660380" y="3341218"/>
            <a:ext cx="2285909" cy="6309"/>
          </a:xfrm>
          <a:prstGeom prst="rect">
            <a:avLst/>
          </a:prstGeom>
          <a:solidFill>
            <a:srgbClr val="E3E6EA"/>
          </a:solidFill>
          <a:ln/>
        </p:spPr>
      </p:sp>
      <p:sp>
        <p:nvSpPr>
          <p:cNvPr id="30" name="Text 28"/>
          <p:cNvSpPr txBox="1"/>
          <p:nvPr/>
        </p:nvSpPr>
        <p:spPr>
          <a:xfrm>
            <a:off x="800100" y="3437230"/>
            <a:ext cx="1660642"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Ký chuỗi chưa encode</a:t>
            </a:r>
            <a:endParaRPr lang="en-US" sz="1150" dirty="0"/>
          </a:p>
        </p:txBody>
      </p:sp>
      <p:sp>
        <p:nvSpPr>
          <p:cNvPr id="31" name="Shape 29"/>
          <p:cNvSpPr/>
          <p:nvPr/>
        </p:nvSpPr>
        <p:spPr>
          <a:xfrm>
            <a:off x="2946288" y="3341218"/>
            <a:ext cx="1600200" cy="6309"/>
          </a:xfrm>
          <a:prstGeom prst="rect">
            <a:avLst/>
          </a:prstGeom>
          <a:solidFill>
            <a:srgbClr val="E3E6EA"/>
          </a:solidFill>
          <a:ln/>
        </p:spPr>
      </p:sp>
      <p:sp>
        <p:nvSpPr>
          <p:cNvPr id="32" name="Text 30"/>
          <p:cNvSpPr txBox="1"/>
          <p:nvPr/>
        </p:nvSpPr>
        <p:spPr>
          <a:xfrm>
            <a:off x="3086009" y="3437230"/>
            <a:ext cx="131024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Sai chữ ký (mã 70)</a:t>
            </a:r>
            <a:endParaRPr lang="en-US" sz="1150" dirty="0"/>
          </a:p>
        </p:txBody>
      </p:sp>
      <p:sp>
        <p:nvSpPr>
          <p:cNvPr id="33" name="Shape 31"/>
          <p:cNvSpPr/>
          <p:nvPr/>
        </p:nvSpPr>
        <p:spPr>
          <a:xfrm>
            <a:off x="4546488" y="3341218"/>
            <a:ext cx="1828800" cy="6309"/>
          </a:xfrm>
          <a:prstGeom prst="rect">
            <a:avLst/>
          </a:prstGeom>
          <a:solidFill>
            <a:srgbClr val="E3E6EA"/>
          </a:solidFill>
          <a:ln/>
        </p:spPr>
      </p:sp>
      <p:sp>
        <p:nvSpPr>
          <p:cNvPr id="34" name="Text 32"/>
          <p:cNvSpPr txBox="1"/>
          <p:nvPr/>
        </p:nvSpPr>
        <p:spPr>
          <a:xfrm>
            <a:off x="4686209" y="3437230"/>
            <a:ext cx="132670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Encode là bắt buộc</a:t>
            </a:r>
            <a:endParaRPr lang="en-US" sz="1150" dirty="0"/>
          </a:p>
        </p:txBody>
      </p:sp>
      <p:sp>
        <p:nvSpPr>
          <p:cNvPr id="35" name="Shape 33"/>
          <p:cNvSpPr/>
          <p:nvPr/>
        </p:nvSpPr>
        <p:spPr>
          <a:xfrm>
            <a:off x="660380" y="3719048"/>
            <a:ext cx="2285909" cy="6309"/>
          </a:xfrm>
          <a:prstGeom prst="rect">
            <a:avLst/>
          </a:prstGeom>
          <a:solidFill>
            <a:srgbClr val="E3E6EA"/>
          </a:solidFill>
          <a:ln/>
        </p:spPr>
      </p:sp>
      <p:sp>
        <p:nvSpPr>
          <p:cNvPr id="36" name="Text 34"/>
          <p:cNvSpPr txBox="1"/>
          <p:nvPr/>
        </p:nvSpPr>
        <p:spPr>
          <a:xfrm>
            <a:off x="800100" y="3924605"/>
            <a:ext cx="1237000"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Chữ ký viết HOA</a:t>
            </a:r>
            <a:endParaRPr lang="en-US" sz="1150" dirty="0"/>
          </a:p>
        </p:txBody>
      </p:sp>
      <p:sp>
        <p:nvSpPr>
          <p:cNvPr id="37" name="Shape 35"/>
          <p:cNvSpPr/>
          <p:nvPr/>
        </p:nvSpPr>
        <p:spPr>
          <a:xfrm>
            <a:off x="2946288" y="3719048"/>
            <a:ext cx="1600200" cy="6309"/>
          </a:xfrm>
          <a:prstGeom prst="rect">
            <a:avLst/>
          </a:prstGeom>
          <a:solidFill>
            <a:srgbClr val="E3E6EA"/>
          </a:solidFill>
          <a:ln/>
        </p:spPr>
      </p:sp>
      <p:sp>
        <p:nvSpPr>
          <p:cNvPr id="38" name="Text 36"/>
          <p:cNvSpPr txBox="1"/>
          <p:nvPr/>
        </p:nvSpPr>
        <p:spPr>
          <a:xfrm>
            <a:off x="3086009" y="3798235"/>
            <a:ext cx="1360353" cy="493685"/>
          </a:xfrm>
          <a:prstGeom prst="rect">
            <a:avLst/>
          </a:prstGeom>
          <a:noFill/>
          <a:ln/>
        </p:spPr>
        <p:txBody>
          <a:bodyPr wrap="square" lIns="0" tIns="0" rIns="0" bIns="0" rtlCol="0" anchor="t"/>
          <a:lstStyle/>
          <a:p>
            <a:pPr algn="l" indent="0" marL="0">
              <a:lnSpc>
                <a:spcPts val="1730"/>
              </a:lnSpc>
              <a:buNone/>
            </a:pPr>
            <a:r>
              <a:rPr lang="en-US" sz="1150" dirty="0">
                <a:solidFill>
                  <a:srgbClr val="3F454D"/>
                </a:solidFill>
                <a:latin typeface="Arial" pitchFamily="34" charset="0"/>
                <a:ea typeface="Arial" pitchFamily="34" charset="-122"/>
                <a:cs typeface="Arial" pitchFamily="34" charset="-120"/>
              </a:rPr>
              <a:t>Mở trang thanh toán</a:t>
            </a:r>
            <a:endParaRPr lang="en-US" sz="1150" dirty="0"/>
          </a:p>
        </p:txBody>
      </p:sp>
      <p:sp>
        <p:nvSpPr>
          <p:cNvPr id="39" name="Shape 37"/>
          <p:cNvSpPr/>
          <p:nvPr/>
        </p:nvSpPr>
        <p:spPr>
          <a:xfrm>
            <a:off x="4546488" y="3719048"/>
            <a:ext cx="1828800" cy="6309"/>
          </a:xfrm>
          <a:prstGeom prst="rect">
            <a:avLst/>
          </a:prstGeom>
          <a:solidFill>
            <a:srgbClr val="E3E6EA"/>
          </a:solidFill>
          <a:ln/>
        </p:spPr>
      </p:sp>
      <p:sp>
        <p:nvSpPr>
          <p:cNvPr id="40" name="Text 38"/>
          <p:cNvSpPr txBox="1"/>
          <p:nvPr/>
        </p:nvSpPr>
        <p:spPr>
          <a:xfrm>
            <a:off x="4686209" y="3798235"/>
            <a:ext cx="1595811" cy="493685"/>
          </a:xfrm>
          <a:prstGeom prst="rect">
            <a:avLst/>
          </a:prstGeom>
          <a:noFill/>
          <a:ln/>
        </p:spPr>
        <p:txBody>
          <a:bodyPr wrap="square" lIns="0" tIns="0" rIns="0" bIns="0" rtlCol="0" anchor="t"/>
          <a:lstStyle/>
          <a:p>
            <a:pPr algn="l" indent="0" marL="0">
              <a:lnSpc>
                <a:spcPts val="1730"/>
              </a:lnSpc>
              <a:buNone/>
            </a:pPr>
            <a:r>
              <a:rPr lang="en-US" sz="1150" dirty="0">
                <a:solidFill>
                  <a:srgbClr val="3F454D"/>
                </a:solidFill>
                <a:latin typeface="Arial" pitchFamily="34" charset="0"/>
                <a:ea typeface="Arial" pitchFamily="34" charset="-122"/>
                <a:cs typeface="Arial" pitchFamily="34" charset="-120"/>
              </a:rPr>
              <a:t>Chữ thường không bắt buộc</a:t>
            </a:r>
            <a:endParaRPr lang="en-US" sz="1150" dirty="0"/>
          </a:p>
        </p:txBody>
      </p:sp>
      <p:pic>
        <p:nvPicPr>
          <p:cNvPr id="41" name="Image 0" descr="/Users/minhdang_work/vnpay-seminar/slides-html/vnpay-sai-chu-ky.png">    </p:cNvPr>
          <p:cNvPicPr>
            <a:picLocks noChangeAspect="1"/>
          </p:cNvPicPr>
          <p:nvPr/>
        </p:nvPicPr>
        <p:blipFill>
          <a:blip r:embed="rId1"/>
          <a:stretch>
            <a:fillRect/>
          </a:stretch>
        </p:blipFill>
        <p:spPr>
          <a:xfrm>
            <a:off x="6578468" y="1347368"/>
            <a:ext cx="4952848" cy="3977000"/>
          </a:xfrm>
          <a:prstGeom prst="rect">
            <a:avLst/>
          </a:prstGeom>
        </p:spPr>
      </p:pic>
      <p:sp>
        <p:nvSpPr>
          <p:cNvPr id="42" name="Shape 39"/>
          <p:cNvSpPr/>
          <p:nvPr/>
        </p:nvSpPr>
        <p:spPr>
          <a:xfrm>
            <a:off x="6578468" y="1347368"/>
            <a:ext cx="4952848" cy="3977000"/>
          </a:xfrm>
          <a:prstGeom prst="roundRect">
            <a:avLst>
              <a:gd name="adj" fmla="val 2235"/>
            </a:avLst>
          </a:prstGeom>
          <a:ln w="6350">
            <a:solidFill>
              <a:srgbClr val="E3E6EA"/>
            </a:solidFill>
            <a:prstDash val="solid"/>
          </a:ln>
        </p:spPr>
      </p:sp>
      <p:sp>
        <p:nvSpPr>
          <p:cNvPr id="43" name="Text 40"/>
          <p:cNvSpPr txBox="1"/>
          <p:nvPr/>
        </p:nvSpPr>
        <p:spPr>
          <a:xfrm>
            <a:off x="6578468" y="5531846"/>
            <a:ext cx="2214585" cy="209580"/>
          </a:xfrm>
          <a:prstGeom prst="rect">
            <a:avLst/>
          </a:prstGeom>
          <a:noFill/>
          <a:ln/>
        </p:spPr>
        <p:txBody>
          <a:bodyPr wrap="square" lIns="0" tIns="0" rIns="0" bIns="0" rtlCol="0" anchor="ctr"/>
          <a:lstStyle/>
          <a:p>
            <a:pPr algn="l" indent="0" marL="0">
              <a:buNone/>
            </a:pPr>
            <a:r>
              <a:rPr lang="en-US" sz="1100" dirty="0">
                <a:solidFill>
                  <a:srgbClr val="6B7280"/>
                </a:solidFill>
                <a:latin typeface="Arial" pitchFamily="34" charset="0"/>
                <a:ea typeface="Arial" pitchFamily="34" charset="-122"/>
                <a:cs typeface="Arial" pitchFamily="34" charset="-120"/>
              </a:rPr>
              <a:t>Kết quả khi sửa số tiền sau khi ký</a:t>
            </a:r>
            <a:endParaRPr lang="en-US" sz="1100" dirty="0"/>
          </a:p>
        </p:txBody>
      </p:sp>
      <p:sp>
        <p:nvSpPr>
          <p:cNvPr id="44" name="Text 41"/>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45" name="Text 42"/>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13</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906719"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Chứng minh</a:t>
            </a:r>
            <a:endParaRPr lang="en-US" sz="1100" dirty="0"/>
          </a:p>
        </p:txBody>
      </p:sp>
      <p:sp>
        <p:nvSpPr>
          <p:cNvPr id="3" name="Text 1"/>
          <p:cNvSpPr txBox="1"/>
          <p:nvPr/>
        </p:nvSpPr>
        <p:spPr>
          <a:xfrm>
            <a:off x="660380" y="643829"/>
            <a:ext cx="8661837"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Link do Payment Service tạo, mở trên sandbox</a:t>
            </a:r>
            <a:endParaRPr lang="en-US" sz="3000" dirty="0"/>
          </a:p>
        </p:txBody>
      </p:sp>
      <p:pic>
        <p:nvPicPr>
          <p:cNvPr id="4" name="Image 0" descr="/Users/minhdang_work/vnpay-seminar/slides-html/vnpay-pay.png">    </p:cNvPr>
          <p:cNvPicPr>
            <a:picLocks noChangeAspect="1"/>
          </p:cNvPicPr>
          <p:nvPr/>
        </p:nvPicPr>
        <p:blipFill>
          <a:blip r:embed="rId1"/>
          <a:stretch>
            <a:fillRect/>
          </a:stretch>
        </p:blipFill>
        <p:spPr>
          <a:xfrm>
            <a:off x="660380" y="1347368"/>
            <a:ext cx="5333878" cy="4292651"/>
          </a:xfrm>
          <a:prstGeom prst="rect">
            <a:avLst/>
          </a:prstGeom>
        </p:spPr>
      </p:pic>
      <p:sp>
        <p:nvSpPr>
          <p:cNvPr id="5" name="Shape 2"/>
          <p:cNvSpPr/>
          <p:nvPr/>
        </p:nvSpPr>
        <p:spPr>
          <a:xfrm>
            <a:off x="660380" y="1347368"/>
            <a:ext cx="5333878" cy="4292651"/>
          </a:xfrm>
          <a:prstGeom prst="roundRect">
            <a:avLst>
              <a:gd name="adj" fmla="val 2071"/>
            </a:avLst>
          </a:prstGeom>
          <a:ln w="6350">
            <a:solidFill>
              <a:srgbClr val="E3E6EA"/>
            </a:solidFill>
            <a:prstDash val="solid"/>
          </a:ln>
        </p:spPr>
      </p:sp>
      <p:sp>
        <p:nvSpPr>
          <p:cNvPr id="6" name="Text 3"/>
          <p:cNvSpPr txBox="1"/>
          <p:nvPr/>
        </p:nvSpPr>
        <p:spPr>
          <a:xfrm>
            <a:off x="660380" y="5717195"/>
            <a:ext cx="5493898" cy="473019"/>
          </a:xfrm>
          <a:prstGeom prst="rect">
            <a:avLst/>
          </a:prstGeom>
          <a:noFill/>
          <a:ln/>
        </p:spPr>
        <p:txBody>
          <a:bodyPr wrap="square" lIns="0" tIns="0" rIns="0" bIns="0" rtlCol="0" anchor="t"/>
          <a:lstStyle/>
          <a:p>
            <a:pPr algn="l" indent="0" marL="0">
              <a:lnSpc>
                <a:spcPts val="1650"/>
              </a:lnSpc>
              <a:buNone/>
            </a:pPr>
            <a:r>
              <a:rPr lang="en-US" sz="1100" dirty="0">
                <a:solidFill>
                  <a:srgbClr val="6B7280"/>
                </a:solidFill>
                <a:latin typeface="Arial" pitchFamily="34" charset="0"/>
                <a:ea typeface="Arial" pitchFamily="34" charset="-122"/>
                <a:cs typeface="Arial" pitchFamily="34" charset="-120"/>
              </a:rPr>
              <a:t>VNPAY đọc từ query string: số tiền 25.000 VND (vnp_Amount = 2500000), mã đơn (vnp_TxnRef), ngân hàng NCB (vnp_BankCode)</a:t>
            </a:r>
            <a:endParaRPr lang="en-US" sz="1100" dirty="0"/>
          </a:p>
        </p:txBody>
      </p:sp>
      <p:sp>
        <p:nvSpPr>
          <p:cNvPr id="7" name="Shape 4"/>
          <p:cNvSpPr/>
          <p:nvPr/>
        </p:nvSpPr>
        <p:spPr>
          <a:xfrm>
            <a:off x="6235568" y="1470264"/>
            <a:ext cx="63459" cy="63459"/>
          </a:xfrm>
          <a:prstGeom prst="ellipse">
            <a:avLst/>
          </a:prstGeom>
          <a:solidFill>
            <a:srgbClr val="0066FF"/>
          </a:solidFill>
          <a:ln/>
        </p:spPr>
      </p:sp>
      <p:sp>
        <p:nvSpPr>
          <p:cNvPr id="8" name="Text 5"/>
          <p:cNvSpPr txBox="1"/>
          <p:nvPr/>
        </p:nvSpPr>
        <p:spPr>
          <a:xfrm>
            <a:off x="6413327" y="1368400"/>
            <a:ext cx="4578675"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Đồng hồ đếm ngược 15 phút lấy từ </a:t>
            </a:r>
            <a:pPr algn="l" indent="0" marL="0">
              <a:buNone/>
            </a:pPr>
            <a:r>
              <a:rPr lang="en-US" sz="1400" dirty="0">
                <a:solidFill>
                  <a:srgbClr val="3F454D"/>
                </a:solidFill>
                <a:latin typeface="Courier New" pitchFamily="34" charset="0"/>
                <a:ea typeface="Courier New" pitchFamily="34" charset="-122"/>
                <a:cs typeface="Courier New" pitchFamily="34" charset="-120"/>
              </a:rPr>
              <a:t>vnp_ExpireDate</a:t>
            </a:r>
            <a:endParaRPr lang="en-US" sz="1400" dirty="0"/>
          </a:p>
        </p:txBody>
      </p:sp>
      <p:sp>
        <p:nvSpPr>
          <p:cNvPr id="9" name="Shape 6"/>
          <p:cNvSpPr/>
          <p:nvPr/>
        </p:nvSpPr>
        <p:spPr>
          <a:xfrm>
            <a:off x="6235568" y="1838584"/>
            <a:ext cx="63459" cy="63459"/>
          </a:xfrm>
          <a:prstGeom prst="ellipse">
            <a:avLst/>
          </a:prstGeom>
          <a:solidFill>
            <a:srgbClr val="0066FF"/>
          </a:solidFill>
          <a:ln/>
        </p:spPr>
      </p:sp>
      <p:sp>
        <p:nvSpPr>
          <p:cNvPr id="10" name="Text 7"/>
          <p:cNvSpPr txBox="1"/>
          <p:nvPr/>
        </p:nvSpPr>
        <p:spPr>
          <a:xfrm>
            <a:off x="6413327" y="1716237"/>
            <a:ext cx="5271516" cy="596920"/>
          </a:xfrm>
          <a:prstGeom prst="rect">
            <a:avLst/>
          </a:prstGeom>
          <a:noFill/>
          <a:ln/>
        </p:spPr>
        <p:txBody>
          <a:bodyPr wrap="square" lIns="0" tIns="0" rIns="0" bIns="0" rtlCol="0" anchor="t"/>
          <a:lstStyle/>
          <a:p>
            <a:pPr algn="l" indent="0" marL="0">
              <a:lnSpc>
                <a:spcPts val="2100"/>
              </a:lnSpc>
              <a:buNone/>
            </a:pPr>
            <a:r>
              <a:rPr lang="en-US" sz="1400" dirty="0">
                <a:solidFill>
                  <a:srgbClr val="3F454D"/>
                </a:solidFill>
                <a:latin typeface="Arial" pitchFamily="34" charset="0"/>
                <a:ea typeface="Arial" pitchFamily="34" charset="-122"/>
                <a:cs typeface="Arial" pitchFamily="34" charset="-120"/>
              </a:rPr>
              <a:t>Trang nhập thẻ thuộc VNPAY, Payment Service không nhận số thẻ</a:t>
            </a:r>
            <a:endParaRPr lang="en-US" sz="1400" dirty="0"/>
          </a:p>
        </p:txBody>
      </p:sp>
      <p:sp>
        <p:nvSpPr>
          <p:cNvPr id="11" name="Shape 8"/>
          <p:cNvSpPr/>
          <p:nvPr/>
        </p:nvSpPr>
        <p:spPr>
          <a:xfrm>
            <a:off x="6235568" y="2460833"/>
            <a:ext cx="63459" cy="63459"/>
          </a:xfrm>
          <a:prstGeom prst="ellipse">
            <a:avLst/>
          </a:prstGeom>
          <a:solidFill>
            <a:srgbClr val="0066FF"/>
          </a:solidFill>
          <a:ln/>
        </p:spPr>
      </p:sp>
      <p:sp>
        <p:nvSpPr>
          <p:cNvPr id="12" name="Text 9"/>
          <p:cNvSpPr txBox="1"/>
          <p:nvPr/>
        </p:nvSpPr>
        <p:spPr>
          <a:xfrm>
            <a:off x="6413327" y="2338578"/>
            <a:ext cx="5271516" cy="609539"/>
          </a:xfrm>
          <a:prstGeom prst="rect">
            <a:avLst/>
          </a:prstGeom>
          <a:noFill/>
          <a:ln/>
        </p:spPr>
        <p:txBody>
          <a:bodyPr wrap="square" lIns="0" tIns="0" rIns="0" bIns="0" rtlCol="0" anchor="t"/>
          <a:lstStyle/>
          <a:p>
            <a:pPr algn="l" indent="0" marL="0">
              <a:lnSpc>
                <a:spcPts val="2100"/>
              </a:lnSpc>
              <a:buNone/>
            </a:pPr>
            <a:r>
              <a:rPr lang="en-US" sz="1400" dirty="0">
                <a:solidFill>
                  <a:srgbClr val="3F454D"/>
                </a:solidFill>
                <a:latin typeface="Arial" pitchFamily="34" charset="0"/>
                <a:ea typeface="Arial" pitchFamily="34" charset="-122"/>
                <a:cs typeface="Arial" pitchFamily="34" charset="-120"/>
              </a:rPr>
              <a:t>Bấm Thanh toán xong, VNPAY gọi IPN và đưa khách về </a:t>
            </a:r>
            <a:pPr algn="l" indent="0" marL="0">
              <a:lnSpc>
                <a:spcPts val="2100"/>
              </a:lnSpc>
              <a:buNone/>
            </a:pPr>
            <a:r>
              <a:rPr lang="en-US" sz="1400" dirty="0">
                <a:solidFill>
                  <a:srgbClr val="3F454D"/>
                </a:solidFill>
                <a:latin typeface="Courier New" pitchFamily="34" charset="0"/>
                <a:ea typeface="Courier New" pitchFamily="34" charset="-122"/>
                <a:cs typeface="Courier New" pitchFamily="34" charset="-120"/>
              </a:rPr>
              <a:t>vnp_ReturnUrl</a:t>
            </a:r>
            <a:endParaRPr lang="en-US" sz="1400" dirty="0"/>
          </a:p>
        </p:txBody>
      </p:sp>
      <p:sp>
        <p:nvSpPr>
          <p:cNvPr id="13" name="Text 10"/>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14" name="Text 11"/>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14</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930128"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Kênh 3 – IPN</a:t>
            </a:r>
            <a:endParaRPr lang="en-US" sz="1100" dirty="0"/>
          </a:p>
        </p:txBody>
      </p:sp>
      <p:sp>
        <p:nvSpPr>
          <p:cNvPr id="3" name="Text 1"/>
          <p:cNvSpPr txBox="1"/>
          <p:nvPr/>
        </p:nvSpPr>
        <p:spPr>
          <a:xfrm>
            <a:off x="660380" y="643829"/>
            <a:ext cx="7697236"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IPN: VNPAY gửi gì, Payment Service trả gì</a:t>
            </a:r>
            <a:endParaRPr lang="en-US" sz="3000" dirty="0"/>
          </a:p>
        </p:txBody>
      </p:sp>
      <p:sp>
        <p:nvSpPr>
          <p:cNvPr id="4" name="Text 2"/>
          <p:cNvSpPr txBox="1"/>
          <p:nvPr/>
        </p:nvSpPr>
        <p:spPr>
          <a:xfrm>
            <a:off x="660380" y="1358798"/>
            <a:ext cx="2665933"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VNPAY gửi (GET, server to server)</a:t>
            </a:r>
            <a:endParaRPr lang="en-US" sz="1000" dirty="0"/>
          </a:p>
        </p:txBody>
      </p:sp>
      <p:sp>
        <p:nvSpPr>
          <p:cNvPr id="5" name="Shape 3"/>
          <p:cNvSpPr/>
          <p:nvPr/>
        </p:nvSpPr>
        <p:spPr>
          <a:xfrm>
            <a:off x="660380" y="1779148"/>
            <a:ext cx="10870936" cy="713964"/>
          </a:xfrm>
          <a:prstGeom prst="roundRect">
            <a:avLst>
              <a:gd name="adj" fmla="val 14229"/>
            </a:avLst>
          </a:prstGeom>
          <a:solidFill>
            <a:srgbClr val="0C131E"/>
          </a:solidFill>
          <a:ln/>
        </p:spPr>
      </p:sp>
      <p:sp>
        <p:nvSpPr>
          <p:cNvPr id="6" name="Text 4"/>
          <p:cNvSpPr txBox="1"/>
          <p:nvPr/>
        </p:nvSpPr>
        <p:spPr>
          <a:xfrm>
            <a:off x="907999" y="1962211"/>
            <a:ext cx="551346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GET /vnpay/ipn?vnp_Amount=2500000&amp;vnp_BankCode=NCB&amp;vnp_ResponseCode=00</a:t>
            </a:r>
            <a:endParaRPr lang="en-US" sz="980" dirty="0"/>
          </a:p>
        </p:txBody>
      </p:sp>
      <p:sp>
        <p:nvSpPr>
          <p:cNvPr id="7" name="Text 5"/>
          <p:cNvSpPr txBox="1"/>
          <p:nvPr/>
        </p:nvSpPr>
        <p:spPr>
          <a:xfrm>
            <a:off x="907999" y="2154052"/>
            <a:ext cx="7088703"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&amp;vnp_TransactionNo=15683165&amp;vnp_TransactionStatus=00&amp;vnp_TxnRef=...&amp;vnp_SecureHash=...</a:t>
            </a:r>
            <a:endParaRPr lang="en-US" sz="980" dirty="0"/>
          </a:p>
        </p:txBody>
      </p:sp>
      <p:sp>
        <p:nvSpPr>
          <p:cNvPr id="8" name="Text 6"/>
          <p:cNvSpPr txBox="1"/>
          <p:nvPr/>
        </p:nvSpPr>
        <p:spPr>
          <a:xfrm>
            <a:off x="660380" y="2682301"/>
            <a:ext cx="2423526"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Payment Service trả (HTTP 200)</a:t>
            </a:r>
            <a:endParaRPr lang="en-US" sz="1000" dirty="0"/>
          </a:p>
        </p:txBody>
      </p:sp>
      <p:sp>
        <p:nvSpPr>
          <p:cNvPr id="9" name="Shape 7"/>
          <p:cNvSpPr/>
          <p:nvPr/>
        </p:nvSpPr>
        <p:spPr>
          <a:xfrm>
            <a:off x="660380" y="3102651"/>
            <a:ext cx="10870936" cy="536844"/>
          </a:xfrm>
          <a:prstGeom prst="roundRect">
            <a:avLst>
              <a:gd name="adj" fmla="val 18924"/>
            </a:avLst>
          </a:prstGeom>
          <a:solidFill>
            <a:srgbClr val="0C131E"/>
          </a:solidFill>
          <a:ln/>
        </p:spPr>
      </p:sp>
      <p:sp>
        <p:nvSpPr>
          <p:cNvPr id="10" name="Text 8"/>
          <p:cNvSpPr txBox="1"/>
          <p:nvPr/>
        </p:nvSpPr>
        <p:spPr>
          <a:xfrm>
            <a:off x="907999" y="3285165"/>
            <a:ext cx="3732215"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{"RspCode":"00","Message":"Confirm Success"}</a:t>
            </a:r>
            <a:endParaRPr lang="en-US" sz="1050" dirty="0"/>
          </a:p>
        </p:txBody>
      </p:sp>
      <p:sp>
        <p:nvSpPr>
          <p:cNvPr id="11" name="Shape 9"/>
          <p:cNvSpPr/>
          <p:nvPr/>
        </p:nvSpPr>
        <p:spPr>
          <a:xfrm>
            <a:off x="660380" y="3817346"/>
            <a:ext cx="10870936" cy="400050"/>
          </a:xfrm>
          <a:prstGeom prst="roundRect">
            <a:avLst>
              <a:gd name="adj" fmla="val 19040"/>
            </a:avLst>
          </a:prstGeom>
          <a:solidFill>
            <a:srgbClr val="FFFFFF"/>
          </a:solidFill>
          <a:ln w="6350">
            <a:solidFill>
              <a:srgbClr val="E3E6EA"/>
            </a:solidFill>
            <a:prstDash val="solid"/>
          </a:ln>
        </p:spPr>
      </p:sp>
      <p:sp>
        <p:nvSpPr>
          <p:cNvPr id="12" name="Shape 10"/>
          <p:cNvSpPr/>
          <p:nvPr/>
        </p:nvSpPr>
        <p:spPr>
          <a:xfrm>
            <a:off x="780989" y="3912626"/>
            <a:ext cx="982614" cy="209580"/>
          </a:xfrm>
          <a:prstGeom prst="roundRect">
            <a:avLst>
              <a:gd name="adj" fmla="val 50000"/>
            </a:avLst>
          </a:prstGeom>
          <a:solidFill>
            <a:srgbClr val="FDE8E6"/>
          </a:solidFill>
          <a:ln/>
        </p:spPr>
      </p:sp>
      <p:sp>
        <p:nvSpPr>
          <p:cNvPr id="13" name="Text 11"/>
          <p:cNvSpPr txBox="1"/>
          <p:nvPr/>
        </p:nvSpPr>
        <p:spPr>
          <a:xfrm>
            <a:off x="857250" y="3943807"/>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14" name="Text 12"/>
          <p:cNvSpPr txBox="1"/>
          <p:nvPr/>
        </p:nvSpPr>
        <p:spPr>
          <a:xfrm>
            <a:off x="1865285" y="3916924"/>
            <a:ext cx="6640007"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IPN dùng cùng định dạng query string và cùng cách ký với link thanh toán, nên dùng lại được hàm ký</a:t>
            </a:r>
            <a:endParaRPr lang="en-US" sz="1100" dirty="0"/>
          </a:p>
        </p:txBody>
      </p:sp>
      <p:sp>
        <p:nvSpPr>
          <p:cNvPr id="15" name="Shape 13"/>
          <p:cNvSpPr/>
          <p:nvPr/>
        </p:nvSpPr>
        <p:spPr>
          <a:xfrm>
            <a:off x="660380" y="4293565"/>
            <a:ext cx="10870936" cy="400050"/>
          </a:xfrm>
          <a:prstGeom prst="roundRect">
            <a:avLst>
              <a:gd name="adj" fmla="val 19040"/>
            </a:avLst>
          </a:prstGeom>
          <a:solidFill>
            <a:srgbClr val="FFFFFF"/>
          </a:solidFill>
          <a:ln w="6350">
            <a:solidFill>
              <a:srgbClr val="E3E6EA"/>
            </a:solidFill>
            <a:prstDash val="solid"/>
          </a:ln>
        </p:spPr>
      </p:sp>
      <p:sp>
        <p:nvSpPr>
          <p:cNvPr id="16" name="Shape 14"/>
          <p:cNvSpPr/>
          <p:nvPr/>
        </p:nvSpPr>
        <p:spPr>
          <a:xfrm>
            <a:off x="780989" y="4388846"/>
            <a:ext cx="982614" cy="209580"/>
          </a:xfrm>
          <a:prstGeom prst="roundRect">
            <a:avLst>
              <a:gd name="adj" fmla="val 50000"/>
            </a:avLst>
          </a:prstGeom>
          <a:solidFill>
            <a:srgbClr val="FDE8E6"/>
          </a:solidFill>
          <a:ln/>
        </p:spPr>
      </p:sp>
      <p:sp>
        <p:nvSpPr>
          <p:cNvPr id="17" name="Text 15"/>
          <p:cNvSpPr txBox="1"/>
          <p:nvPr/>
        </p:nvSpPr>
        <p:spPr>
          <a:xfrm>
            <a:off x="857250" y="4420118"/>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18" name="Text 16"/>
          <p:cNvSpPr txBox="1"/>
          <p:nvPr/>
        </p:nvSpPr>
        <p:spPr>
          <a:xfrm>
            <a:off x="1865285" y="4393143"/>
            <a:ext cx="4707240"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Kết quả giao dịch được cập nhật tại IPN, không cập nhật tại ReturnURL</a:t>
            </a:r>
            <a:endParaRPr lang="en-US" sz="1100" dirty="0"/>
          </a:p>
        </p:txBody>
      </p:sp>
      <p:sp>
        <p:nvSpPr>
          <p:cNvPr id="19" name="Shape 17"/>
          <p:cNvSpPr/>
          <p:nvPr/>
        </p:nvSpPr>
        <p:spPr>
          <a:xfrm>
            <a:off x="660380" y="4769785"/>
            <a:ext cx="10870936" cy="400050"/>
          </a:xfrm>
          <a:prstGeom prst="roundRect">
            <a:avLst>
              <a:gd name="adj" fmla="val 19040"/>
            </a:avLst>
          </a:prstGeom>
          <a:solidFill>
            <a:srgbClr val="FFFFFF"/>
          </a:solidFill>
          <a:ln w="6350">
            <a:solidFill>
              <a:srgbClr val="E3E6EA"/>
            </a:solidFill>
            <a:prstDash val="solid"/>
          </a:ln>
        </p:spPr>
      </p:sp>
      <p:sp>
        <p:nvSpPr>
          <p:cNvPr id="20" name="Shape 18"/>
          <p:cNvSpPr/>
          <p:nvPr/>
        </p:nvSpPr>
        <p:spPr>
          <a:xfrm>
            <a:off x="780989" y="4865065"/>
            <a:ext cx="982614" cy="209580"/>
          </a:xfrm>
          <a:prstGeom prst="roundRect">
            <a:avLst>
              <a:gd name="adj" fmla="val 50000"/>
            </a:avLst>
          </a:prstGeom>
          <a:solidFill>
            <a:srgbClr val="FDE8E6"/>
          </a:solidFill>
          <a:ln/>
        </p:spPr>
      </p:sp>
      <p:sp>
        <p:nvSpPr>
          <p:cNvPr id="21" name="Text 19"/>
          <p:cNvSpPr txBox="1"/>
          <p:nvPr/>
        </p:nvSpPr>
        <p:spPr>
          <a:xfrm>
            <a:off x="857250" y="4896338"/>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22" name="Text 20"/>
          <p:cNvSpPr txBox="1"/>
          <p:nvPr/>
        </p:nvSpPr>
        <p:spPr>
          <a:xfrm>
            <a:off x="1865285" y="4869363"/>
            <a:ext cx="7852959"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Trả JSON có </a:t>
            </a:r>
            <a:pPr algn="l" indent="0" marL="0">
              <a:buNone/>
            </a:pPr>
            <a:r>
              <a:rPr lang="en-US" sz="1100" dirty="0">
                <a:solidFill>
                  <a:srgbClr val="3F454D"/>
                </a:solidFill>
                <a:latin typeface="Courier New" pitchFamily="34" charset="0"/>
                <a:ea typeface="Courier New" pitchFamily="34" charset="-122"/>
                <a:cs typeface="Courier New" pitchFamily="34" charset="-120"/>
              </a:rPr>
              <a:t>RspCode</a:t>
            </a:r>
            <a:pPr algn="l" indent="0" marL="0">
              <a:buNone/>
            </a:pPr>
            <a:r>
              <a:rPr lang="en-US" sz="1100" dirty="0">
                <a:solidFill>
                  <a:srgbClr val="3F454D"/>
                </a:solidFill>
                <a:latin typeface="Arial" pitchFamily="34" charset="0"/>
                <a:ea typeface="Arial" pitchFamily="34" charset="-122"/>
                <a:cs typeface="Arial" pitchFamily="34" charset="-120"/>
              </a:rPr>
              <a:t> để VNPAY biết đã nhận chưa: 00 hoặc 02 thì dừng, mã khác thì gọi lại tối đa 10 lần, cách 5 phút</a:t>
            </a:r>
            <a:endParaRPr lang="en-US" sz="1100" dirty="0"/>
          </a:p>
        </p:txBody>
      </p:sp>
      <p:sp>
        <p:nvSpPr>
          <p:cNvPr id="23" name="Text 21"/>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24" name="Text 22"/>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15</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930128"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Kênh 3 – IPN</a:t>
            </a:r>
            <a:endParaRPr lang="en-US" sz="1100" dirty="0"/>
          </a:p>
        </p:txBody>
      </p:sp>
      <p:sp>
        <p:nvSpPr>
          <p:cNvPr id="3" name="Text 1"/>
          <p:cNvSpPr txBox="1"/>
          <p:nvPr/>
        </p:nvSpPr>
        <p:spPr>
          <a:xfrm>
            <a:off x="660380" y="643829"/>
            <a:ext cx="6668353"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Thứ tự kiểm tra và ý nghĩa mã trả về</a:t>
            </a:r>
            <a:endParaRPr lang="en-US" sz="3000" dirty="0"/>
          </a:p>
        </p:txBody>
      </p:sp>
      <p:sp>
        <p:nvSpPr>
          <p:cNvPr id="4" name="Shape 2"/>
          <p:cNvSpPr/>
          <p:nvPr/>
        </p:nvSpPr>
        <p:spPr>
          <a:xfrm>
            <a:off x="660380" y="1347368"/>
            <a:ext cx="10870936" cy="2387498"/>
          </a:xfrm>
          <a:prstGeom prst="roundRect">
            <a:avLst>
              <a:gd name="adj" fmla="val 4255"/>
            </a:avLst>
          </a:prstGeom>
          <a:solidFill>
            <a:srgbClr val="FFFFFF"/>
          </a:solidFill>
          <a:ln/>
        </p:spPr>
      </p:sp>
      <p:sp>
        <p:nvSpPr>
          <p:cNvPr id="5" name="Shape 3"/>
          <p:cNvSpPr/>
          <p:nvPr/>
        </p:nvSpPr>
        <p:spPr>
          <a:xfrm>
            <a:off x="660380" y="1347368"/>
            <a:ext cx="1087039" cy="422270"/>
          </a:xfrm>
          <a:prstGeom prst="rect">
            <a:avLst/>
          </a:prstGeom>
          <a:solidFill>
            <a:srgbClr val="ECF2FF"/>
          </a:solidFill>
          <a:ln/>
        </p:spPr>
      </p:sp>
      <p:sp>
        <p:nvSpPr>
          <p:cNvPr id="6" name="Text 4"/>
          <p:cNvSpPr txBox="1"/>
          <p:nvPr/>
        </p:nvSpPr>
        <p:spPr>
          <a:xfrm>
            <a:off x="825520" y="1479408"/>
            <a:ext cx="607162"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THỨ TỰ</a:t>
            </a:r>
            <a:endParaRPr lang="en-US" sz="1000" dirty="0"/>
          </a:p>
        </p:txBody>
      </p:sp>
      <p:sp>
        <p:nvSpPr>
          <p:cNvPr id="7" name="Shape 5"/>
          <p:cNvSpPr/>
          <p:nvPr/>
        </p:nvSpPr>
        <p:spPr>
          <a:xfrm>
            <a:off x="1747418" y="1347368"/>
            <a:ext cx="4565691" cy="422270"/>
          </a:xfrm>
          <a:prstGeom prst="rect">
            <a:avLst/>
          </a:prstGeom>
          <a:solidFill>
            <a:srgbClr val="ECF2FF"/>
          </a:solidFill>
          <a:ln/>
        </p:spPr>
      </p:sp>
      <p:sp>
        <p:nvSpPr>
          <p:cNvPr id="8" name="Text 6"/>
          <p:cNvSpPr txBox="1"/>
          <p:nvPr/>
        </p:nvSpPr>
        <p:spPr>
          <a:xfrm>
            <a:off x="1912468" y="1479408"/>
            <a:ext cx="740847"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KIỂM TRA</a:t>
            </a:r>
            <a:endParaRPr lang="en-US" sz="1000" dirty="0"/>
          </a:p>
        </p:txBody>
      </p:sp>
      <p:sp>
        <p:nvSpPr>
          <p:cNvPr id="9" name="Shape 7"/>
          <p:cNvSpPr/>
          <p:nvPr/>
        </p:nvSpPr>
        <p:spPr>
          <a:xfrm>
            <a:off x="6313109" y="1347368"/>
            <a:ext cx="1739280" cy="422270"/>
          </a:xfrm>
          <a:prstGeom prst="rect">
            <a:avLst/>
          </a:prstGeom>
          <a:solidFill>
            <a:srgbClr val="ECF2FF"/>
          </a:solidFill>
          <a:ln/>
        </p:spPr>
      </p:sp>
      <p:sp>
        <p:nvSpPr>
          <p:cNvPr id="10" name="Text 8"/>
          <p:cNvSpPr txBox="1"/>
          <p:nvPr/>
        </p:nvSpPr>
        <p:spPr>
          <a:xfrm>
            <a:off x="6478250" y="1479408"/>
            <a:ext cx="893917"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SAI THÌ TRẢ</a:t>
            </a:r>
            <a:endParaRPr lang="en-US" sz="1000" dirty="0"/>
          </a:p>
        </p:txBody>
      </p:sp>
      <p:sp>
        <p:nvSpPr>
          <p:cNvPr id="11" name="Shape 9"/>
          <p:cNvSpPr/>
          <p:nvPr/>
        </p:nvSpPr>
        <p:spPr>
          <a:xfrm>
            <a:off x="8052389" y="1347368"/>
            <a:ext cx="3478926" cy="422270"/>
          </a:xfrm>
          <a:prstGeom prst="rect">
            <a:avLst/>
          </a:prstGeom>
          <a:solidFill>
            <a:srgbClr val="ECF2FF"/>
          </a:solidFill>
          <a:ln/>
        </p:spPr>
      </p:sp>
      <p:sp>
        <p:nvSpPr>
          <p:cNvPr id="12" name="Text 10"/>
          <p:cNvSpPr txBox="1"/>
          <p:nvPr/>
        </p:nvSpPr>
        <p:spPr>
          <a:xfrm>
            <a:off x="8217530" y="1479408"/>
            <a:ext cx="1332464"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VNPAY XỬ LÝ TIẾP</a:t>
            </a:r>
            <a:endParaRPr lang="en-US" sz="1000" dirty="0"/>
          </a:p>
        </p:txBody>
      </p:sp>
      <p:sp>
        <p:nvSpPr>
          <p:cNvPr id="13" name="Shape 11"/>
          <p:cNvSpPr/>
          <p:nvPr/>
        </p:nvSpPr>
        <p:spPr>
          <a:xfrm>
            <a:off x="660380" y="1769638"/>
            <a:ext cx="1087039" cy="6309"/>
          </a:xfrm>
          <a:prstGeom prst="rect">
            <a:avLst/>
          </a:prstGeom>
          <a:solidFill>
            <a:srgbClr val="E3E6EA"/>
          </a:solidFill>
          <a:ln/>
        </p:spPr>
      </p:sp>
      <p:sp>
        <p:nvSpPr>
          <p:cNvPr id="14" name="Text 12"/>
          <p:cNvSpPr txBox="1"/>
          <p:nvPr/>
        </p:nvSpPr>
        <p:spPr>
          <a:xfrm>
            <a:off x="800100" y="1873606"/>
            <a:ext cx="157460"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1</a:t>
            </a:r>
            <a:endParaRPr lang="en-US" sz="1150" dirty="0"/>
          </a:p>
        </p:txBody>
      </p:sp>
      <p:sp>
        <p:nvSpPr>
          <p:cNvPr id="15" name="Shape 13"/>
          <p:cNvSpPr/>
          <p:nvPr/>
        </p:nvSpPr>
        <p:spPr>
          <a:xfrm>
            <a:off x="1747418" y="1769638"/>
            <a:ext cx="4565691" cy="6309"/>
          </a:xfrm>
          <a:prstGeom prst="rect">
            <a:avLst/>
          </a:prstGeom>
          <a:solidFill>
            <a:srgbClr val="E3E6EA"/>
          </a:solidFill>
          <a:ln/>
        </p:spPr>
      </p:sp>
      <p:sp>
        <p:nvSpPr>
          <p:cNvPr id="16" name="Text 14"/>
          <p:cNvSpPr txBox="1"/>
          <p:nvPr/>
        </p:nvSpPr>
        <p:spPr>
          <a:xfrm>
            <a:off x="1887139" y="1873606"/>
            <a:ext cx="91275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Chữ ký đúng</a:t>
            </a:r>
            <a:endParaRPr lang="en-US" sz="1150" dirty="0"/>
          </a:p>
        </p:txBody>
      </p:sp>
      <p:sp>
        <p:nvSpPr>
          <p:cNvPr id="17" name="Shape 15"/>
          <p:cNvSpPr/>
          <p:nvPr/>
        </p:nvSpPr>
        <p:spPr>
          <a:xfrm>
            <a:off x="6313109" y="1769638"/>
            <a:ext cx="1739280" cy="6309"/>
          </a:xfrm>
          <a:prstGeom prst="rect">
            <a:avLst/>
          </a:prstGeom>
          <a:solidFill>
            <a:srgbClr val="E3E6EA"/>
          </a:solidFill>
          <a:ln/>
        </p:spPr>
      </p:sp>
      <p:sp>
        <p:nvSpPr>
          <p:cNvPr id="18" name="Text 16"/>
          <p:cNvSpPr txBox="1"/>
          <p:nvPr/>
        </p:nvSpPr>
        <p:spPr>
          <a:xfrm>
            <a:off x="6452829" y="1871594"/>
            <a:ext cx="259141"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97</a:t>
            </a:r>
            <a:endParaRPr lang="en-US" sz="1200" dirty="0"/>
          </a:p>
        </p:txBody>
      </p:sp>
      <p:sp>
        <p:nvSpPr>
          <p:cNvPr id="19" name="Shape 17"/>
          <p:cNvSpPr/>
          <p:nvPr/>
        </p:nvSpPr>
        <p:spPr>
          <a:xfrm>
            <a:off x="8052389" y="1769638"/>
            <a:ext cx="3478926" cy="6309"/>
          </a:xfrm>
          <a:prstGeom prst="rect">
            <a:avLst/>
          </a:prstGeom>
          <a:solidFill>
            <a:srgbClr val="E3E6EA"/>
          </a:solidFill>
          <a:ln/>
        </p:spPr>
      </p:sp>
      <p:sp>
        <p:nvSpPr>
          <p:cNvPr id="20" name="Text 18"/>
          <p:cNvSpPr txBox="1"/>
          <p:nvPr/>
        </p:nvSpPr>
        <p:spPr>
          <a:xfrm>
            <a:off x="8192110" y="1873606"/>
            <a:ext cx="49021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Gọi lại</a:t>
            </a:r>
            <a:endParaRPr lang="en-US" sz="1150" dirty="0"/>
          </a:p>
        </p:txBody>
      </p:sp>
      <p:sp>
        <p:nvSpPr>
          <p:cNvPr id="21" name="Shape 19"/>
          <p:cNvSpPr/>
          <p:nvPr/>
        </p:nvSpPr>
        <p:spPr>
          <a:xfrm>
            <a:off x="660380" y="2163288"/>
            <a:ext cx="1087039" cy="6309"/>
          </a:xfrm>
          <a:prstGeom prst="rect">
            <a:avLst/>
          </a:prstGeom>
          <a:solidFill>
            <a:srgbClr val="E3E6EA"/>
          </a:solidFill>
          <a:ln/>
        </p:spPr>
      </p:sp>
      <p:sp>
        <p:nvSpPr>
          <p:cNvPr id="22" name="Text 20"/>
          <p:cNvSpPr txBox="1"/>
          <p:nvPr/>
        </p:nvSpPr>
        <p:spPr>
          <a:xfrm>
            <a:off x="800100" y="2267255"/>
            <a:ext cx="157460"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2</a:t>
            </a:r>
            <a:endParaRPr lang="en-US" sz="1150" dirty="0"/>
          </a:p>
        </p:txBody>
      </p:sp>
      <p:sp>
        <p:nvSpPr>
          <p:cNvPr id="23" name="Shape 21"/>
          <p:cNvSpPr/>
          <p:nvPr/>
        </p:nvSpPr>
        <p:spPr>
          <a:xfrm>
            <a:off x="1747418" y="2163288"/>
            <a:ext cx="4565691" cy="6309"/>
          </a:xfrm>
          <a:prstGeom prst="rect">
            <a:avLst/>
          </a:prstGeom>
          <a:solidFill>
            <a:srgbClr val="E3E6EA"/>
          </a:solidFill>
          <a:ln/>
        </p:spPr>
      </p:sp>
      <p:sp>
        <p:nvSpPr>
          <p:cNvPr id="24" name="Text 22"/>
          <p:cNvSpPr txBox="1"/>
          <p:nvPr/>
        </p:nvSpPr>
        <p:spPr>
          <a:xfrm>
            <a:off x="1887139" y="2267255"/>
            <a:ext cx="164866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Có đơn với vnp_TxnRef</a:t>
            </a:r>
            <a:endParaRPr lang="en-US" sz="1150" dirty="0"/>
          </a:p>
        </p:txBody>
      </p:sp>
      <p:sp>
        <p:nvSpPr>
          <p:cNvPr id="25" name="Shape 23"/>
          <p:cNvSpPr/>
          <p:nvPr/>
        </p:nvSpPr>
        <p:spPr>
          <a:xfrm>
            <a:off x="6313109" y="2163288"/>
            <a:ext cx="1739280" cy="6309"/>
          </a:xfrm>
          <a:prstGeom prst="rect">
            <a:avLst/>
          </a:prstGeom>
          <a:solidFill>
            <a:srgbClr val="E3E6EA"/>
          </a:solidFill>
          <a:ln/>
        </p:spPr>
      </p:sp>
      <p:sp>
        <p:nvSpPr>
          <p:cNvPr id="26" name="Text 24"/>
          <p:cNvSpPr txBox="1"/>
          <p:nvPr/>
        </p:nvSpPr>
        <p:spPr>
          <a:xfrm>
            <a:off x="6452829" y="2265335"/>
            <a:ext cx="259141"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01</a:t>
            </a:r>
            <a:endParaRPr lang="en-US" sz="1200" dirty="0"/>
          </a:p>
        </p:txBody>
      </p:sp>
      <p:sp>
        <p:nvSpPr>
          <p:cNvPr id="27" name="Shape 25"/>
          <p:cNvSpPr/>
          <p:nvPr/>
        </p:nvSpPr>
        <p:spPr>
          <a:xfrm>
            <a:off x="8052389" y="2163288"/>
            <a:ext cx="3478926" cy="6309"/>
          </a:xfrm>
          <a:prstGeom prst="rect">
            <a:avLst/>
          </a:prstGeom>
          <a:solidFill>
            <a:srgbClr val="E3E6EA"/>
          </a:solidFill>
          <a:ln/>
        </p:spPr>
      </p:sp>
      <p:sp>
        <p:nvSpPr>
          <p:cNvPr id="28" name="Text 26"/>
          <p:cNvSpPr txBox="1"/>
          <p:nvPr/>
        </p:nvSpPr>
        <p:spPr>
          <a:xfrm>
            <a:off x="8192110" y="2267255"/>
            <a:ext cx="49021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Gọi lại</a:t>
            </a:r>
            <a:endParaRPr lang="en-US" sz="1150" dirty="0"/>
          </a:p>
        </p:txBody>
      </p:sp>
      <p:sp>
        <p:nvSpPr>
          <p:cNvPr id="29" name="Shape 27"/>
          <p:cNvSpPr/>
          <p:nvPr/>
        </p:nvSpPr>
        <p:spPr>
          <a:xfrm>
            <a:off x="660380" y="2557028"/>
            <a:ext cx="1087039" cy="6309"/>
          </a:xfrm>
          <a:prstGeom prst="rect">
            <a:avLst/>
          </a:prstGeom>
          <a:solidFill>
            <a:srgbClr val="E3E6EA"/>
          </a:solidFill>
          <a:ln/>
        </p:spPr>
      </p:sp>
      <p:sp>
        <p:nvSpPr>
          <p:cNvPr id="30" name="Text 28"/>
          <p:cNvSpPr txBox="1"/>
          <p:nvPr/>
        </p:nvSpPr>
        <p:spPr>
          <a:xfrm>
            <a:off x="800100" y="2660904"/>
            <a:ext cx="157460"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3</a:t>
            </a:r>
            <a:endParaRPr lang="en-US" sz="1150" dirty="0"/>
          </a:p>
        </p:txBody>
      </p:sp>
      <p:sp>
        <p:nvSpPr>
          <p:cNvPr id="31" name="Shape 29"/>
          <p:cNvSpPr/>
          <p:nvPr/>
        </p:nvSpPr>
        <p:spPr>
          <a:xfrm>
            <a:off x="1747418" y="2557028"/>
            <a:ext cx="4565691" cy="6309"/>
          </a:xfrm>
          <a:prstGeom prst="rect">
            <a:avLst/>
          </a:prstGeom>
          <a:solidFill>
            <a:srgbClr val="E3E6EA"/>
          </a:solidFill>
          <a:ln/>
        </p:spPr>
      </p:sp>
      <p:sp>
        <p:nvSpPr>
          <p:cNvPr id="32" name="Text 30"/>
          <p:cNvSpPr txBox="1"/>
          <p:nvPr/>
        </p:nvSpPr>
        <p:spPr>
          <a:xfrm>
            <a:off x="1887139" y="2660904"/>
            <a:ext cx="250719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vnp_Amount bằng số tiền đơn × 100</a:t>
            </a:r>
            <a:endParaRPr lang="en-US" sz="1150" dirty="0"/>
          </a:p>
        </p:txBody>
      </p:sp>
      <p:sp>
        <p:nvSpPr>
          <p:cNvPr id="33" name="Shape 31"/>
          <p:cNvSpPr/>
          <p:nvPr/>
        </p:nvSpPr>
        <p:spPr>
          <a:xfrm>
            <a:off x="6313109" y="2557028"/>
            <a:ext cx="1739280" cy="6309"/>
          </a:xfrm>
          <a:prstGeom prst="rect">
            <a:avLst/>
          </a:prstGeom>
          <a:solidFill>
            <a:srgbClr val="E3E6EA"/>
          </a:solidFill>
          <a:ln/>
        </p:spPr>
      </p:sp>
      <p:sp>
        <p:nvSpPr>
          <p:cNvPr id="34" name="Text 32"/>
          <p:cNvSpPr txBox="1"/>
          <p:nvPr/>
        </p:nvSpPr>
        <p:spPr>
          <a:xfrm>
            <a:off x="6452829" y="2658984"/>
            <a:ext cx="259141"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04</a:t>
            </a:r>
            <a:endParaRPr lang="en-US" sz="1200" dirty="0"/>
          </a:p>
        </p:txBody>
      </p:sp>
      <p:sp>
        <p:nvSpPr>
          <p:cNvPr id="35" name="Shape 33"/>
          <p:cNvSpPr/>
          <p:nvPr/>
        </p:nvSpPr>
        <p:spPr>
          <a:xfrm>
            <a:off x="8052389" y="2557028"/>
            <a:ext cx="3478926" cy="6309"/>
          </a:xfrm>
          <a:prstGeom prst="rect">
            <a:avLst/>
          </a:prstGeom>
          <a:solidFill>
            <a:srgbClr val="E3E6EA"/>
          </a:solidFill>
          <a:ln/>
        </p:spPr>
      </p:sp>
      <p:sp>
        <p:nvSpPr>
          <p:cNvPr id="36" name="Text 34"/>
          <p:cNvSpPr txBox="1"/>
          <p:nvPr/>
        </p:nvSpPr>
        <p:spPr>
          <a:xfrm>
            <a:off x="8192110" y="2660904"/>
            <a:ext cx="49021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Gọi lại</a:t>
            </a:r>
            <a:endParaRPr lang="en-US" sz="1150" dirty="0"/>
          </a:p>
        </p:txBody>
      </p:sp>
      <p:sp>
        <p:nvSpPr>
          <p:cNvPr id="37" name="Shape 35"/>
          <p:cNvSpPr/>
          <p:nvPr/>
        </p:nvSpPr>
        <p:spPr>
          <a:xfrm>
            <a:off x="660380" y="2950677"/>
            <a:ext cx="1087039" cy="6309"/>
          </a:xfrm>
          <a:prstGeom prst="rect">
            <a:avLst/>
          </a:prstGeom>
          <a:solidFill>
            <a:srgbClr val="E3E6EA"/>
          </a:solidFill>
          <a:ln/>
        </p:spPr>
      </p:sp>
      <p:sp>
        <p:nvSpPr>
          <p:cNvPr id="38" name="Text 36"/>
          <p:cNvSpPr txBox="1"/>
          <p:nvPr/>
        </p:nvSpPr>
        <p:spPr>
          <a:xfrm>
            <a:off x="800100" y="3054645"/>
            <a:ext cx="157460"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4</a:t>
            </a:r>
            <a:endParaRPr lang="en-US" sz="1150" dirty="0"/>
          </a:p>
        </p:txBody>
      </p:sp>
      <p:sp>
        <p:nvSpPr>
          <p:cNvPr id="39" name="Shape 37"/>
          <p:cNvSpPr/>
          <p:nvPr/>
        </p:nvSpPr>
        <p:spPr>
          <a:xfrm>
            <a:off x="1747418" y="2950677"/>
            <a:ext cx="4565691" cy="6309"/>
          </a:xfrm>
          <a:prstGeom prst="rect">
            <a:avLst/>
          </a:prstGeom>
          <a:solidFill>
            <a:srgbClr val="E3E6EA"/>
          </a:solidFill>
          <a:ln/>
        </p:spPr>
      </p:sp>
      <p:sp>
        <p:nvSpPr>
          <p:cNvPr id="40" name="Text 38"/>
          <p:cNvSpPr txBox="1"/>
          <p:nvPr/>
        </p:nvSpPr>
        <p:spPr>
          <a:xfrm>
            <a:off x="1887139" y="3054645"/>
            <a:ext cx="134069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Đơn còn PENDING</a:t>
            </a:r>
            <a:endParaRPr lang="en-US" sz="1150" dirty="0"/>
          </a:p>
        </p:txBody>
      </p:sp>
      <p:sp>
        <p:nvSpPr>
          <p:cNvPr id="41" name="Shape 39"/>
          <p:cNvSpPr/>
          <p:nvPr/>
        </p:nvSpPr>
        <p:spPr>
          <a:xfrm>
            <a:off x="6313109" y="2950677"/>
            <a:ext cx="1739280" cy="6309"/>
          </a:xfrm>
          <a:prstGeom prst="rect">
            <a:avLst/>
          </a:prstGeom>
          <a:solidFill>
            <a:srgbClr val="E3E6EA"/>
          </a:solidFill>
          <a:ln/>
        </p:spPr>
      </p:sp>
      <p:sp>
        <p:nvSpPr>
          <p:cNvPr id="42" name="Text 40"/>
          <p:cNvSpPr txBox="1"/>
          <p:nvPr/>
        </p:nvSpPr>
        <p:spPr>
          <a:xfrm>
            <a:off x="6452829" y="3052633"/>
            <a:ext cx="259141"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02</a:t>
            </a:r>
            <a:endParaRPr lang="en-US" sz="1200" dirty="0"/>
          </a:p>
        </p:txBody>
      </p:sp>
      <p:sp>
        <p:nvSpPr>
          <p:cNvPr id="43" name="Shape 41"/>
          <p:cNvSpPr/>
          <p:nvPr/>
        </p:nvSpPr>
        <p:spPr>
          <a:xfrm>
            <a:off x="8052389" y="2950677"/>
            <a:ext cx="3478926" cy="6309"/>
          </a:xfrm>
          <a:prstGeom prst="rect">
            <a:avLst/>
          </a:prstGeom>
          <a:solidFill>
            <a:srgbClr val="E3E6EA"/>
          </a:solidFill>
          <a:ln/>
        </p:spPr>
      </p:sp>
      <p:sp>
        <p:nvSpPr>
          <p:cNvPr id="44" name="Text 42"/>
          <p:cNvSpPr txBox="1"/>
          <p:nvPr/>
        </p:nvSpPr>
        <p:spPr>
          <a:xfrm>
            <a:off x="8192110" y="3054645"/>
            <a:ext cx="44193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Dừng</a:t>
            </a:r>
            <a:endParaRPr lang="en-US" sz="1150" dirty="0"/>
          </a:p>
        </p:txBody>
      </p:sp>
      <p:sp>
        <p:nvSpPr>
          <p:cNvPr id="45" name="Shape 43"/>
          <p:cNvSpPr/>
          <p:nvPr/>
        </p:nvSpPr>
        <p:spPr>
          <a:xfrm>
            <a:off x="660380" y="3344418"/>
            <a:ext cx="1087039" cy="6309"/>
          </a:xfrm>
          <a:prstGeom prst="rect">
            <a:avLst/>
          </a:prstGeom>
          <a:solidFill>
            <a:srgbClr val="E3E6EA"/>
          </a:solidFill>
          <a:ln/>
        </p:spPr>
      </p:sp>
      <p:sp>
        <p:nvSpPr>
          <p:cNvPr id="46" name="Text 44"/>
          <p:cNvSpPr txBox="1"/>
          <p:nvPr/>
        </p:nvSpPr>
        <p:spPr>
          <a:xfrm>
            <a:off x="800100" y="3448294"/>
            <a:ext cx="157460"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5</a:t>
            </a:r>
            <a:endParaRPr lang="en-US" sz="1150" dirty="0"/>
          </a:p>
        </p:txBody>
      </p:sp>
      <p:sp>
        <p:nvSpPr>
          <p:cNvPr id="47" name="Shape 45"/>
          <p:cNvSpPr/>
          <p:nvPr/>
        </p:nvSpPr>
        <p:spPr>
          <a:xfrm>
            <a:off x="1747418" y="3344418"/>
            <a:ext cx="4565691" cy="6309"/>
          </a:xfrm>
          <a:prstGeom prst="rect">
            <a:avLst/>
          </a:prstGeom>
          <a:solidFill>
            <a:srgbClr val="E3E6EA"/>
          </a:solidFill>
          <a:ln/>
        </p:spPr>
      </p:sp>
      <p:sp>
        <p:nvSpPr>
          <p:cNvPr id="48" name="Text 46"/>
          <p:cNvSpPr txBox="1"/>
          <p:nvPr/>
        </p:nvSpPr>
        <p:spPr>
          <a:xfrm>
            <a:off x="1887139" y="3448294"/>
            <a:ext cx="197638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Cập nhật PAID hoặc FAILED</a:t>
            </a:r>
            <a:endParaRPr lang="en-US" sz="1150" dirty="0"/>
          </a:p>
        </p:txBody>
      </p:sp>
      <p:sp>
        <p:nvSpPr>
          <p:cNvPr id="49" name="Shape 47"/>
          <p:cNvSpPr/>
          <p:nvPr/>
        </p:nvSpPr>
        <p:spPr>
          <a:xfrm>
            <a:off x="6313109" y="3344418"/>
            <a:ext cx="1739280" cy="6309"/>
          </a:xfrm>
          <a:prstGeom prst="rect">
            <a:avLst/>
          </a:prstGeom>
          <a:solidFill>
            <a:srgbClr val="E3E6EA"/>
          </a:solidFill>
          <a:ln/>
        </p:spPr>
      </p:sp>
      <p:sp>
        <p:nvSpPr>
          <p:cNvPr id="50" name="Text 48"/>
          <p:cNvSpPr txBox="1"/>
          <p:nvPr/>
        </p:nvSpPr>
        <p:spPr>
          <a:xfrm>
            <a:off x="6452829" y="3446374"/>
            <a:ext cx="259141"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00</a:t>
            </a:r>
            <a:endParaRPr lang="en-US" sz="1200" dirty="0"/>
          </a:p>
        </p:txBody>
      </p:sp>
      <p:sp>
        <p:nvSpPr>
          <p:cNvPr id="51" name="Shape 49"/>
          <p:cNvSpPr/>
          <p:nvPr/>
        </p:nvSpPr>
        <p:spPr>
          <a:xfrm>
            <a:off x="8052389" y="3344418"/>
            <a:ext cx="3478926" cy="6309"/>
          </a:xfrm>
          <a:prstGeom prst="rect">
            <a:avLst/>
          </a:prstGeom>
          <a:solidFill>
            <a:srgbClr val="E3E6EA"/>
          </a:solidFill>
          <a:ln/>
        </p:spPr>
      </p:sp>
      <p:sp>
        <p:nvSpPr>
          <p:cNvPr id="52" name="Text 50"/>
          <p:cNvSpPr txBox="1"/>
          <p:nvPr/>
        </p:nvSpPr>
        <p:spPr>
          <a:xfrm>
            <a:off x="8192110" y="3448294"/>
            <a:ext cx="44193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Dừng</a:t>
            </a:r>
            <a:endParaRPr lang="en-US" sz="1150" dirty="0"/>
          </a:p>
        </p:txBody>
      </p:sp>
      <p:sp>
        <p:nvSpPr>
          <p:cNvPr id="53" name="Shape 51"/>
          <p:cNvSpPr/>
          <p:nvPr/>
        </p:nvSpPr>
        <p:spPr>
          <a:xfrm>
            <a:off x="660380" y="3912718"/>
            <a:ext cx="10870936" cy="400050"/>
          </a:xfrm>
          <a:prstGeom prst="roundRect">
            <a:avLst>
              <a:gd name="adj" fmla="val 19040"/>
            </a:avLst>
          </a:prstGeom>
          <a:solidFill>
            <a:srgbClr val="FFFFFF"/>
          </a:solidFill>
          <a:ln w="6350">
            <a:solidFill>
              <a:srgbClr val="E3E6EA"/>
            </a:solidFill>
            <a:prstDash val="solid"/>
          </a:ln>
        </p:spPr>
      </p:sp>
      <p:sp>
        <p:nvSpPr>
          <p:cNvPr id="54" name="Shape 52"/>
          <p:cNvSpPr/>
          <p:nvPr/>
        </p:nvSpPr>
        <p:spPr>
          <a:xfrm>
            <a:off x="780989" y="4007907"/>
            <a:ext cx="982614" cy="209580"/>
          </a:xfrm>
          <a:prstGeom prst="roundRect">
            <a:avLst>
              <a:gd name="adj" fmla="val 50000"/>
            </a:avLst>
          </a:prstGeom>
          <a:solidFill>
            <a:srgbClr val="FDE8E6"/>
          </a:solidFill>
          <a:ln/>
        </p:spPr>
      </p:sp>
      <p:sp>
        <p:nvSpPr>
          <p:cNvPr id="55" name="Text 53"/>
          <p:cNvSpPr txBox="1"/>
          <p:nvPr/>
        </p:nvSpPr>
        <p:spPr>
          <a:xfrm>
            <a:off x="857250" y="4039179"/>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56" name="Text 54"/>
          <p:cNvSpPr txBox="1"/>
          <p:nvPr/>
        </p:nvSpPr>
        <p:spPr>
          <a:xfrm>
            <a:off x="1865285" y="4012296"/>
            <a:ext cx="2848082"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Mã trả về và cách VNPAY xử lý theo tài liệu</a:t>
            </a:r>
            <a:endParaRPr lang="en-US" sz="1100" dirty="0"/>
          </a:p>
        </p:txBody>
      </p:sp>
      <p:sp>
        <p:nvSpPr>
          <p:cNvPr id="57" name="Shape 55"/>
          <p:cNvSpPr/>
          <p:nvPr/>
        </p:nvSpPr>
        <p:spPr>
          <a:xfrm>
            <a:off x="660380" y="4388937"/>
            <a:ext cx="10870936" cy="400050"/>
          </a:xfrm>
          <a:prstGeom prst="roundRect">
            <a:avLst>
              <a:gd name="adj" fmla="val 19040"/>
            </a:avLst>
          </a:prstGeom>
          <a:solidFill>
            <a:srgbClr val="FFFFFF"/>
          </a:solidFill>
          <a:ln w="6350">
            <a:solidFill>
              <a:srgbClr val="E3E6EA"/>
            </a:solidFill>
            <a:prstDash val="solid"/>
          </a:ln>
        </p:spPr>
      </p:sp>
      <p:sp>
        <p:nvSpPr>
          <p:cNvPr id="58" name="Shape 56"/>
          <p:cNvSpPr/>
          <p:nvPr/>
        </p:nvSpPr>
        <p:spPr>
          <a:xfrm>
            <a:off x="780989" y="4484218"/>
            <a:ext cx="723748" cy="209580"/>
          </a:xfrm>
          <a:prstGeom prst="roundRect">
            <a:avLst>
              <a:gd name="adj" fmla="val 50000"/>
            </a:avLst>
          </a:prstGeom>
          <a:solidFill>
            <a:srgbClr val="DEF3E8"/>
          </a:solidFill>
          <a:ln/>
        </p:spPr>
      </p:sp>
      <p:sp>
        <p:nvSpPr>
          <p:cNvPr id="59" name="Text 57"/>
          <p:cNvSpPr txBox="1"/>
          <p:nvPr/>
        </p:nvSpPr>
        <p:spPr>
          <a:xfrm>
            <a:off x="857250" y="4515399"/>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60" name="Text 58"/>
          <p:cNvSpPr txBox="1"/>
          <p:nvPr/>
        </p:nvSpPr>
        <p:spPr>
          <a:xfrm>
            <a:off x="1606418" y="4488515"/>
            <a:ext cx="4782129"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Kiểm tra chữ ký đầu tiên: chưa xác thực thì không đọc dữ liệu để tra đơn</a:t>
            </a:r>
            <a:endParaRPr lang="en-US" sz="1100" dirty="0"/>
          </a:p>
        </p:txBody>
      </p:sp>
      <p:sp>
        <p:nvSpPr>
          <p:cNvPr id="61" name="Shape 59"/>
          <p:cNvSpPr/>
          <p:nvPr/>
        </p:nvSpPr>
        <p:spPr>
          <a:xfrm>
            <a:off x="660380" y="4865157"/>
            <a:ext cx="10870936" cy="400050"/>
          </a:xfrm>
          <a:prstGeom prst="roundRect">
            <a:avLst>
              <a:gd name="adj" fmla="val 19040"/>
            </a:avLst>
          </a:prstGeom>
          <a:solidFill>
            <a:srgbClr val="FFFFFF"/>
          </a:solidFill>
          <a:ln w="6350">
            <a:solidFill>
              <a:srgbClr val="E3E6EA"/>
            </a:solidFill>
            <a:prstDash val="solid"/>
          </a:ln>
        </p:spPr>
      </p:sp>
      <p:sp>
        <p:nvSpPr>
          <p:cNvPr id="62" name="Shape 60"/>
          <p:cNvSpPr/>
          <p:nvPr/>
        </p:nvSpPr>
        <p:spPr>
          <a:xfrm>
            <a:off x="780989" y="4960437"/>
            <a:ext cx="723748" cy="209580"/>
          </a:xfrm>
          <a:prstGeom prst="roundRect">
            <a:avLst>
              <a:gd name="adj" fmla="val 50000"/>
            </a:avLst>
          </a:prstGeom>
          <a:solidFill>
            <a:srgbClr val="DEF3E8"/>
          </a:solidFill>
          <a:ln/>
        </p:spPr>
      </p:sp>
      <p:sp>
        <p:nvSpPr>
          <p:cNvPr id="63" name="Text 61"/>
          <p:cNvSpPr txBox="1"/>
          <p:nvPr/>
        </p:nvSpPr>
        <p:spPr>
          <a:xfrm>
            <a:off x="857250" y="4991618"/>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64" name="Text 62"/>
          <p:cNvSpPr txBox="1"/>
          <p:nvPr/>
        </p:nvSpPr>
        <p:spPr>
          <a:xfrm>
            <a:off x="1606418" y="4964735"/>
            <a:ext cx="5653827"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Mã 02 giúp xử lý idempotent: VNPAY gọi lại nhiều lần thì đơn vẫn chỉ cập nhật một lần</a:t>
            </a:r>
            <a:endParaRPr lang="en-US" sz="1100" dirty="0"/>
          </a:p>
        </p:txBody>
      </p:sp>
      <p:sp>
        <p:nvSpPr>
          <p:cNvPr id="65" name="Text 63"/>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66" name="Text 64"/>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16</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217341"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Kênh 4 – querydr</a:t>
            </a:r>
            <a:endParaRPr lang="en-US" sz="1100" dirty="0"/>
          </a:p>
        </p:txBody>
      </p:sp>
      <p:sp>
        <p:nvSpPr>
          <p:cNvPr id="3" name="Text 1"/>
          <p:cNvSpPr txBox="1"/>
          <p:nvPr/>
        </p:nvSpPr>
        <p:spPr>
          <a:xfrm>
            <a:off x="660380" y="643829"/>
            <a:ext cx="6712702"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querydr: vì sao dùng POST và JSON</a:t>
            </a:r>
            <a:endParaRPr lang="en-US" sz="3000" dirty="0"/>
          </a:p>
        </p:txBody>
      </p:sp>
      <p:sp>
        <p:nvSpPr>
          <p:cNvPr id="4" name="Text 2"/>
          <p:cNvSpPr txBox="1"/>
          <p:nvPr/>
        </p:nvSpPr>
        <p:spPr>
          <a:xfrm>
            <a:off x="660380" y="1358798"/>
            <a:ext cx="2181210"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Request thật gửi ngày 10/10</a:t>
            </a:r>
            <a:endParaRPr lang="en-US" sz="1000" dirty="0"/>
          </a:p>
        </p:txBody>
      </p:sp>
      <p:sp>
        <p:nvSpPr>
          <p:cNvPr id="5" name="Shape 3"/>
          <p:cNvSpPr/>
          <p:nvPr/>
        </p:nvSpPr>
        <p:spPr>
          <a:xfrm>
            <a:off x="660380" y="1601389"/>
            <a:ext cx="5587898" cy="1481511"/>
          </a:xfrm>
          <a:prstGeom prst="roundRect">
            <a:avLst>
              <a:gd name="adj" fmla="val 6857"/>
            </a:avLst>
          </a:prstGeom>
          <a:solidFill>
            <a:srgbClr val="0C131E"/>
          </a:solidFill>
          <a:ln/>
        </p:spPr>
      </p:sp>
      <p:sp>
        <p:nvSpPr>
          <p:cNvPr id="6" name="Text 4"/>
          <p:cNvSpPr txBox="1"/>
          <p:nvPr/>
        </p:nvSpPr>
        <p:spPr>
          <a:xfrm>
            <a:off x="907999" y="1784452"/>
            <a:ext cx="291437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POST /merchant_webapi/api/transaction</a:t>
            </a:r>
            <a:endParaRPr lang="en-US" sz="980" dirty="0"/>
          </a:p>
        </p:txBody>
      </p:sp>
      <p:sp>
        <p:nvSpPr>
          <p:cNvPr id="7" name="Text 5"/>
          <p:cNvSpPr txBox="1"/>
          <p:nvPr/>
        </p:nvSpPr>
        <p:spPr>
          <a:xfrm>
            <a:off x="907999" y="1976293"/>
            <a:ext cx="2362901"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Content-Type: application/json</a:t>
            </a:r>
            <a:endParaRPr lang="en-US" sz="980" dirty="0"/>
          </a:p>
        </p:txBody>
      </p:sp>
      <p:sp>
        <p:nvSpPr>
          <p:cNvPr id="8" name="Text 6"/>
          <p:cNvSpPr txBox="1"/>
          <p:nvPr/>
        </p:nvSpPr>
        <p:spPr>
          <a:xfrm>
            <a:off x="907999" y="2168225"/>
            <a:ext cx="196916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{"vnp_Command":"querydr",</a:t>
            </a:r>
            <a:endParaRPr lang="en-US" sz="980" dirty="0"/>
          </a:p>
        </p:txBody>
      </p:sp>
      <p:sp>
        <p:nvSpPr>
          <p:cNvPr id="9" name="Text 7"/>
          <p:cNvSpPr txBox="1"/>
          <p:nvPr/>
        </p:nvSpPr>
        <p:spPr>
          <a:xfrm>
            <a:off x="907999" y="2360066"/>
            <a:ext cx="291437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"vnp_TxnRef":"20260920125606777443",</a:t>
            </a:r>
            <a:endParaRPr lang="en-US" sz="980" dirty="0"/>
          </a:p>
        </p:txBody>
      </p:sp>
      <p:sp>
        <p:nvSpPr>
          <p:cNvPr id="10" name="Text 8"/>
          <p:cNvSpPr txBox="1"/>
          <p:nvPr/>
        </p:nvSpPr>
        <p:spPr>
          <a:xfrm>
            <a:off x="907999" y="2551999"/>
            <a:ext cx="3544397"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"vnp_TransactionDate":"20260920125606", ...,</a:t>
            </a:r>
            <a:endParaRPr lang="en-US" sz="980" dirty="0"/>
          </a:p>
        </p:txBody>
      </p:sp>
      <p:sp>
        <p:nvSpPr>
          <p:cNvPr id="11" name="Text 9"/>
          <p:cNvSpPr txBox="1"/>
          <p:nvPr/>
        </p:nvSpPr>
        <p:spPr>
          <a:xfrm>
            <a:off x="907999" y="2743840"/>
            <a:ext cx="2205441"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"vnp_SecureHash":"7276..."}</a:t>
            </a:r>
            <a:endParaRPr lang="en-US" sz="980" dirty="0"/>
          </a:p>
        </p:txBody>
      </p:sp>
      <p:sp>
        <p:nvSpPr>
          <p:cNvPr id="12" name="Text 10"/>
          <p:cNvSpPr txBox="1"/>
          <p:nvPr/>
        </p:nvSpPr>
        <p:spPr>
          <a:xfrm>
            <a:off x="660380" y="3094238"/>
            <a:ext cx="990752"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VNPAY trả về</a:t>
            </a:r>
            <a:endParaRPr lang="en-US" sz="1000" dirty="0"/>
          </a:p>
        </p:txBody>
      </p:sp>
      <p:sp>
        <p:nvSpPr>
          <p:cNvPr id="13" name="Shape 11"/>
          <p:cNvSpPr/>
          <p:nvPr/>
        </p:nvSpPr>
        <p:spPr>
          <a:xfrm>
            <a:off x="660380" y="3336828"/>
            <a:ext cx="5587898" cy="1097737"/>
          </a:xfrm>
          <a:prstGeom prst="roundRect">
            <a:avLst>
              <a:gd name="adj" fmla="val 9254"/>
            </a:avLst>
          </a:prstGeom>
          <a:solidFill>
            <a:srgbClr val="0C131E"/>
          </a:solidFill>
          <a:ln/>
        </p:spPr>
      </p:sp>
      <p:sp>
        <p:nvSpPr>
          <p:cNvPr id="14" name="Text 12"/>
          <p:cNvSpPr txBox="1"/>
          <p:nvPr/>
        </p:nvSpPr>
        <p:spPr>
          <a:xfrm>
            <a:off x="907999" y="3519891"/>
            <a:ext cx="204789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HTTP 200  application/json</a:t>
            </a:r>
            <a:endParaRPr lang="en-US" sz="980" dirty="0"/>
          </a:p>
        </p:txBody>
      </p:sp>
      <p:sp>
        <p:nvSpPr>
          <p:cNvPr id="15" name="Text 13"/>
          <p:cNvSpPr txBox="1"/>
          <p:nvPr/>
        </p:nvSpPr>
        <p:spPr>
          <a:xfrm>
            <a:off x="907999" y="3711824"/>
            <a:ext cx="4568342"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{"vnp_ResponseCode":"00", "vnp_Message":"QueryDR success",</a:t>
            </a:r>
            <a:endParaRPr lang="en-US" sz="980" dirty="0"/>
          </a:p>
        </p:txBody>
      </p:sp>
      <p:sp>
        <p:nvSpPr>
          <p:cNvPr id="16" name="Shape 14"/>
          <p:cNvSpPr/>
          <p:nvPr/>
        </p:nvSpPr>
        <p:spPr>
          <a:xfrm>
            <a:off x="660380" y="3885743"/>
            <a:ext cx="5587898" cy="191841"/>
          </a:xfrm>
          <a:prstGeom prst="rect">
            <a:avLst/>
          </a:prstGeom>
          <a:solidFill>
            <a:srgbClr val="FFD479">
              <a:alpha val="13000"/>
            </a:srgbClr>
          </a:solidFill>
          <a:ln/>
        </p:spPr>
      </p:sp>
      <p:sp>
        <p:nvSpPr>
          <p:cNvPr id="17" name="Shape 15"/>
          <p:cNvSpPr/>
          <p:nvPr/>
        </p:nvSpPr>
        <p:spPr>
          <a:xfrm>
            <a:off x="660380" y="3885743"/>
            <a:ext cx="31730" cy="191841"/>
          </a:xfrm>
          <a:prstGeom prst="rect">
            <a:avLst/>
          </a:prstGeom>
          <a:solidFill>
            <a:srgbClr val="FFD479"/>
          </a:solidFill>
          <a:ln/>
        </p:spPr>
      </p:sp>
      <p:sp>
        <p:nvSpPr>
          <p:cNvPr id="18" name="Text 16"/>
          <p:cNvSpPr txBox="1"/>
          <p:nvPr/>
        </p:nvSpPr>
        <p:spPr>
          <a:xfrm>
            <a:off x="907999" y="3903665"/>
            <a:ext cx="425324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"vnp_TransactionStatus":"00", "vnp_Amount":"2500000",</a:t>
            </a:r>
            <a:endParaRPr lang="en-US" sz="980" dirty="0"/>
          </a:p>
        </p:txBody>
      </p:sp>
      <p:sp>
        <p:nvSpPr>
          <p:cNvPr id="19" name="Text 17"/>
          <p:cNvSpPr txBox="1"/>
          <p:nvPr/>
        </p:nvSpPr>
        <p:spPr>
          <a:xfrm>
            <a:off x="907999" y="4095598"/>
            <a:ext cx="4725894"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"vnp_TransactionNo":"15683165", "vnp_SecureHash":"8e52..."}</a:t>
            </a:r>
            <a:endParaRPr lang="en-US" sz="980" dirty="0"/>
          </a:p>
        </p:txBody>
      </p:sp>
      <p:sp>
        <p:nvSpPr>
          <p:cNvPr id="20" name="Shape 18"/>
          <p:cNvSpPr/>
          <p:nvPr/>
        </p:nvSpPr>
        <p:spPr>
          <a:xfrm>
            <a:off x="6451458" y="1347368"/>
            <a:ext cx="5079858" cy="594269"/>
          </a:xfrm>
          <a:prstGeom prst="roundRect">
            <a:avLst>
              <a:gd name="adj" fmla="val 12817"/>
            </a:avLst>
          </a:prstGeom>
          <a:solidFill>
            <a:srgbClr val="FFFFFF"/>
          </a:solidFill>
          <a:ln w="6350">
            <a:solidFill>
              <a:srgbClr val="E3E6EA"/>
            </a:solidFill>
            <a:prstDash val="solid"/>
          </a:ln>
        </p:spPr>
      </p:sp>
      <p:sp>
        <p:nvSpPr>
          <p:cNvPr id="21" name="Shape 19"/>
          <p:cNvSpPr/>
          <p:nvPr/>
        </p:nvSpPr>
        <p:spPr>
          <a:xfrm>
            <a:off x="6572067" y="1442649"/>
            <a:ext cx="982614" cy="209580"/>
          </a:xfrm>
          <a:prstGeom prst="roundRect">
            <a:avLst>
              <a:gd name="adj" fmla="val 50000"/>
            </a:avLst>
          </a:prstGeom>
          <a:solidFill>
            <a:srgbClr val="FDE8E6"/>
          </a:solidFill>
          <a:ln/>
        </p:spPr>
      </p:sp>
      <p:sp>
        <p:nvSpPr>
          <p:cNvPr id="22" name="Text 20"/>
          <p:cNvSpPr txBox="1"/>
          <p:nvPr/>
        </p:nvSpPr>
        <p:spPr>
          <a:xfrm>
            <a:off x="6648328" y="1473830"/>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23" name="Text 21"/>
          <p:cNvSpPr txBox="1"/>
          <p:nvPr/>
        </p:nvSpPr>
        <p:spPr>
          <a:xfrm>
            <a:off x="7656363" y="1437803"/>
            <a:ext cx="3866998" cy="464790"/>
          </a:xfrm>
          <a:prstGeom prst="rect">
            <a:avLst/>
          </a:prstGeom>
          <a:noFill/>
          <a:ln/>
        </p:spPr>
        <p:txBody>
          <a:bodyPr wrap="square" lIns="0" tIns="0" rIns="0" bIns="0" rtlCol="0" anchor="t"/>
          <a:lstStyle/>
          <a:p>
            <a:pPr algn="l" indent="0" marL="0">
              <a:lnSpc>
                <a:spcPts val="1540"/>
              </a:lnSpc>
              <a:buNone/>
            </a:pPr>
            <a:r>
              <a:rPr lang="en-US" sz="1100" dirty="0">
                <a:solidFill>
                  <a:srgbClr val="3F454D"/>
                </a:solidFill>
                <a:latin typeface="Arial" pitchFamily="34" charset="0"/>
                <a:ea typeface="Arial" pitchFamily="34" charset="-122"/>
                <a:cs typeface="Arial" pitchFamily="34" charset="-120"/>
              </a:rPr>
              <a:t>POST, body JSON, gửi tới </a:t>
            </a:r>
            <a:pPr algn="l" indent="0" marL="0">
              <a:lnSpc>
                <a:spcPts val="1540"/>
              </a:lnSpc>
              <a:buNone/>
            </a:pPr>
            <a:r>
              <a:rPr lang="en-US" sz="1100" dirty="0">
                <a:solidFill>
                  <a:srgbClr val="3F454D"/>
                </a:solidFill>
                <a:latin typeface="Courier New" pitchFamily="34" charset="0"/>
                <a:ea typeface="Courier New" pitchFamily="34" charset="-122"/>
                <a:cs typeface="Courier New" pitchFamily="34" charset="-120"/>
              </a:rPr>
              <a:t>merchant_webapi/api/transaction</a:t>
            </a:r>
            <a:endParaRPr lang="en-US" sz="1100" dirty="0"/>
          </a:p>
        </p:txBody>
      </p:sp>
      <p:sp>
        <p:nvSpPr>
          <p:cNvPr id="24" name="Shape 22"/>
          <p:cNvSpPr/>
          <p:nvPr/>
        </p:nvSpPr>
        <p:spPr>
          <a:xfrm>
            <a:off x="6451458" y="2017898"/>
            <a:ext cx="5079858" cy="594269"/>
          </a:xfrm>
          <a:prstGeom prst="roundRect">
            <a:avLst>
              <a:gd name="adj" fmla="val 12817"/>
            </a:avLst>
          </a:prstGeom>
          <a:solidFill>
            <a:srgbClr val="FFFFFF"/>
          </a:solidFill>
          <a:ln w="6350">
            <a:solidFill>
              <a:srgbClr val="E3E6EA"/>
            </a:solidFill>
            <a:prstDash val="solid"/>
          </a:ln>
        </p:spPr>
      </p:sp>
      <p:sp>
        <p:nvSpPr>
          <p:cNvPr id="25" name="Shape 23"/>
          <p:cNvSpPr/>
          <p:nvPr/>
        </p:nvSpPr>
        <p:spPr>
          <a:xfrm>
            <a:off x="6572067" y="2113087"/>
            <a:ext cx="982614" cy="209580"/>
          </a:xfrm>
          <a:prstGeom prst="roundRect">
            <a:avLst>
              <a:gd name="adj" fmla="val 50000"/>
            </a:avLst>
          </a:prstGeom>
          <a:solidFill>
            <a:srgbClr val="FDE8E6"/>
          </a:solidFill>
          <a:ln/>
        </p:spPr>
      </p:sp>
      <p:sp>
        <p:nvSpPr>
          <p:cNvPr id="26" name="Text 24"/>
          <p:cNvSpPr txBox="1"/>
          <p:nvPr/>
        </p:nvSpPr>
        <p:spPr>
          <a:xfrm>
            <a:off x="6648328" y="2144359"/>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27" name="Text 25"/>
          <p:cNvSpPr txBox="1"/>
          <p:nvPr/>
        </p:nvSpPr>
        <p:spPr>
          <a:xfrm>
            <a:off x="7656363" y="2108332"/>
            <a:ext cx="3866998" cy="464790"/>
          </a:xfrm>
          <a:prstGeom prst="rect">
            <a:avLst/>
          </a:prstGeom>
          <a:noFill/>
          <a:ln/>
        </p:spPr>
        <p:txBody>
          <a:bodyPr wrap="square" lIns="0" tIns="0" rIns="0" bIns="0" rtlCol="0" anchor="t"/>
          <a:lstStyle/>
          <a:p>
            <a:pPr algn="l" indent="0" marL="0">
              <a:lnSpc>
                <a:spcPts val="1540"/>
              </a:lnSpc>
              <a:buNone/>
            </a:pPr>
            <a:r>
              <a:rPr lang="en-US" sz="1100" dirty="0">
                <a:solidFill>
                  <a:srgbClr val="3F454D"/>
                </a:solidFill>
                <a:latin typeface="Arial" pitchFamily="34" charset="0"/>
                <a:ea typeface="Arial" pitchFamily="34" charset="-122"/>
                <a:cs typeface="Arial" pitchFamily="34" charset="-120"/>
              </a:rPr>
              <a:t>Chữ ký nối các trường bằng </a:t>
            </a:r>
            <a:pPr algn="l" indent="0" marL="0">
              <a:lnSpc>
                <a:spcPts val="1540"/>
              </a:lnSpc>
              <a:buNone/>
            </a:pPr>
            <a:r>
              <a:rPr lang="en-US" sz="1100" dirty="0">
                <a:solidFill>
                  <a:srgbClr val="3F454D"/>
                </a:solidFill>
                <a:latin typeface="Courier New" pitchFamily="34" charset="0"/>
                <a:ea typeface="Courier New" pitchFamily="34" charset="-122"/>
                <a:cs typeface="Courier New" pitchFamily="34" charset="-120"/>
              </a:rPr>
              <a:t>|</a:t>
            </a:r>
            <a:pPr algn="l" indent="0" marL="0">
              <a:lnSpc>
                <a:spcPts val="1540"/>
              </a:lnSpc>
              <a:buNone/>
            </a:pPr>
            <a:r>
              <a:rPr lang="en-US" sz="1100" dirty="0">
                <a:solidFill>
                  <a:srgbClr val="3F454D"/>
                </a:solidFill>
                <a:latin typeface="Arial" pitchFamily="34" charset="0"/>
                <a:ea typeface="Arial" pitchFamily="34" charset="-122"/>
                <a:cs typeface="Arial" pitchFamily="34" charset="-120"/>
              </a:rPr>
              <a:t> theo thứ tự cố định, không sắp xếp</a:t>
            </a:r>
            <a:endParaRPr lang="en-US" sz="1100" dirty="0"/>
          </a:p>
        </p:txBody>
      </p:sp>
      <p:sp>
        <p:nvSpPr>
          <p:cNvPr id="28" name="Shape 26"/>
          <p:cNvSpPr/>
          <p:nvPr/>
        </p:nvSpPr>
        <p:spPr>
          <a:xfrm>
            <a:off x="6451458" y="2688336"/>
            <a:ext cx="5079858" cy="606979"/>
          </a:xfrm>
          <a:prstGeom prst="roundRect">
            <a:avLst>
              <a:gd name="adj" fmla="val 12549"/>
            </a:avLst>
          </a:prstGeom>
          <a:solidFill>
            <a:srgbClr val="FFFFFF"/>
          </a:solidFill>
          <a:ln w="6350">
            <a:solidFill>
              <a:srgbClr val="E3E6EA"/>
            </a:solidFill>
            <a:prstDash val="solid"/>
          </a:ln>
        </p:spPr>
      </p:sp>
      <p:sp>
        <p:nvSpPr>
          <p:cNvPr id="29" name="Shape 27"/>
          <p:cNvSpPr/>
          <p:nvPr/>
        </p:nvSpPr>
        <p:spPr>
          <a:xfrm>
            <a:off x="6572067" y="2783616"/>
            <a:ext cx="982614" cy="209580"/>
          </a:xfrm>
          <a:prstGeom prst="roundRect">
            <a:avLst>
              <a:gd name="adj" fmla="val 50000"/>
            </a:avLst>
          </a:prstGeom>
          <a:solidFill>
            <a:srgbClr val="FDE8E6"/>
          </a:solidFill>
          <a:ln/>
        </p:spPr>
      </p:sp>
      <p:sp>
        <p:nvSpPr>
          <p:cNvPr id="30" name="Text 28"/>
          <p:cNvSpPr txBox="1"/>
          <p:nvPr/>
        </p:nvSpPr>
        <p:spPr>
          <a:xfrm>
            <a:off x="6648328" y="2814889"/>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31" name="Text 29"/>
          <p:cNvSpPr txBox="1"/>
          <p:nvPr/>
        </p:nvSpPr>
        <p:spPr>
          <a:xfrm>
            <a:off x="7656363" y="2778862"/>
            <a:ext cx="3866998" cy="477500"/>
          </a:xfrm>
          <a:prstGeom prst="rect">
            <a:avLst/>
          </a:prstGeom>
          <a:noFill/>
          <a:ln/>
        </p:spPr>
        <p:txBody>
          <a:bodyPr wrap="square" lIns="0" tIns="0" rIns="0" bIns="0" rtlCol="0" anchor="t"/>
          <a:lstStyle/>
          <a:p>
            <a:pPr algn="l" indent="0" marL="0">
              <a:lnSpc>
                <a:spcPts val="1540"/>
              </a:lnSpc>
              <a:buNone/>
            </a:pPr>
            <a:r>
              <a:rPr lang="en-US" sz="1100" dirty="0">
                <a:solidFill>
                  <a:srgbClr val="3F454D"/>
                </a:solidFill>
                <a:latin typeface="Courier New" pitchFamily="34" charset="0"/>
                <a:ea typeface="Courier New" pitchFamily="34" charset="-122"/>
                <a:cs typeface="Courier New" pitchFamily="34" charset="-120"/>
              </a:rPr>
              <a:t>ResponseCode</a:t>
            </a:r>
            <a:pPr algn="l" indent="0" marL="0">
              <a:lnSpc>
                <a:spcPts val="1540"/>
              </a:lnSpc>
              <a:buNone/>
            </a:pPr>
            <a:r>
              <a:rPr lang="en-US" sz="1100" dirty="0">
                <a:solidFill>
                  <a:srgbClr val="3F454D"/>
                </a:solidFill>
                <a:latin typeface="Arial" pitchFamily="34" charset="0"/>
                <a:ea typeface="Arial" pitchFamily="34" charset="-122"/>
                <a:cs typeface="Arial" pitchFamily="34" charset="-120"/>
              </a:rPr>
              <a:t> là kết quả của lần hỏi. </a:t>
            </a:r>
            <a:pPr algn="l" indent="0" marL="0">
              <a:lnSpc>
                <a:spcPts val="1540"/>
              </a:lnSpc>
              <a:buNone/>
            </a:pPr>
            <a:r>
              <a:rPr lang="en-US" sz="1100" dirty="0">
                <a:solidFill>
                  <a:srgbClr val="3F454D"/>
                </a:solidFill>
                <a:latin typeface="Courier New" pitchFamily="34" charset="0"/>
                <a:ea typeface="Courier New" pitchFamily="34" charset="-122"/>
                <a:cs typeface="Courier New" pitchFamily="34" charset="-120"/>
              </a:rPr>
              <a:t>TransactionStatus</a:t>
            </a:r>
            <a:pPr algn="l" indent="0" marL="0">
              <a:lnSpc>
                <a:spcPts val="1540"/>
              </a:lnSpc>
              <a:buNone/>
            </a:pPr>
            <a:r>
              <a:rPr lang="en-US" sz="1100" dirty="0">
                <a:solidFill>
                  <a:srgbClr val="3F454D"/>
                </a:solidFill>
                <a:latin typeface="Arial" pitchFamily="34" charset="0"/>
                <a:ea typeface="Arial" pitchFamily="34" charset="-122"/>
                <a:cs typeface="Arial" pitchFamily="34" charset="-120"/>
              </a:rPr>
              <a:t> là trạng thái giao dịch</a:t>
            </a:r>
            <a:endParaRPr lang="en-US" sz="1100" dirty="0"/>
          </a:p>
        </p:txBody>
      </p:sp>
      <p:sp>
        <p:nvSpPr>
          <p:cNvPr id="32" name="Shape 30"/>
          <p:cNvSpPr/>
          <p:nvPr/>
        </p:nvSpPr>
        <p:spPr>
          <a:xfrm>
            <a:off x="6451458" y="3371576"/>
            <a:ext cx="5079858" cy="400050"/>
          </a:xfrm>
          <a:prstGeom prst="roundRect">
            <a:avLst>
              <a:gd name="adj" fmla="val 19040"/>
            </a:avLst>
          </a:prstGeom>
          <a:solidFill>
            <a:srgbClr val="FFFFFF"/>
          </a:solidFill>
          <a:ln w="6350">
            <a:solidFill>
              <a:srgbClr val="E3E6EA"/>
            </a:solidFill>
            <a:prstDash val="solid"/>
          </a:ln>
        </p:spPr>
      </p:sp>
      <p:sp>
        <p:nvSpPr>
          <p:cNvPr id="33" name="Shape 31"/>
          <p:cNvSpPr/>
          <p:nvPr/>
        </p:nvSpPr>
        <p:spPr>
          <a:xfrm>
            <a:off x="6572067" y="3466856"/>
            <a:ext cx="723748" cy="209580"/>
          </a:xfrm>
          <a:prstGeom prst="roundRect">
            <a:avLst>
              <a:gd name="adj" fmla="val 50000"/>
            </a:avLst>
          </a:prstGeom>
          <a:solidFill>
            <a:srgbClr val="DEF3E8"/>
          </a:solidFill>
          <a:ln/>
        </p:spPr>
      </p:sp>
      <p:sp>
        <p:nvSpPr>
          <p:cNvPr id="34" name="Text 32"/>
          <p:cNvSpPr txBox="1"/>
          <p:nvPr/>
        </p:nvSpPr>
        <p:spPr>
          <a:xfrm>
            <a:off x="6648328" y="3498037"/>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35" name="Text 33"/>
          <p:cNvSpPr txBox="1"/>
          <p:nvPr/>
        </p:nvSpPr>
        <p:spPr>
          <a:xfrm>
            <a:off x="7397496" y="3471154"/>
            <a:ext cx="3150657"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Gọi khi trang kết quả hỏi mà đơn còn PENDING</a:t>
            </a:r>
            <a:endParaRPr lang="en-US" sz="1100" dirty="0"/>
          </a:p>
        </p:txBody>
      </p:sp>
      <p:sp>
        <p:nvSpPr>
          <p:cNvPr id="36" name="Text 34"/>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37" name="Text 35"/>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17</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425470"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Code</a:t>
            </a:r>
            <a:endParaRPr lang="en-US" sz="1100" dirty="0"/>
          </a:p>
        </p:txBody>
      </p:sp>
      <p:sp>
        <p:nvSpPr>
          <p:cNvPr id="3" name="Text 1"/>
          <p:cNvSpPr txBox="1"/>
          <p:nvPr/>
        </p:nvSpPr>
        <p:spPr>
          <a:xfrm>
            <a:off x="660380" y="643829"/>
            <a:ext cx="7354976"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File PaymentService.java gồm những gì</a:t>
            </a:r>
            <a:endParaRPr lang="en-US" sz="3000" dirty="0"/>
          </a:p>
        </p:txBody>
      </p:sp>
      <p:sp>
        <p:nvSpPr>
          <p:cNvPr id="4" name="Shape 2"/>
          <p:cNvSpPr/>
          <p:nvPr/>
        </p:nvSpPr>
        <p:spPr>
          <a:xfrm>
            <a:off x="660380" y="1347368"/>
            <a:ext cx="10870936" cy="3174888"/>
          </a:xfrm>
          <a:prstGeom prst="roundRect">
            <a:avLst>
              <a:gd name="adj" fmla="val 3200"/>
            </a:avLst>
          </a:prstGeom>
          <a:solidFill>
            <a:srgbClr val="FFFFFF"/>
          </a:solidFill>
          <a:ln/>
        </p:spPr>
      </p:sp>
      <p:sp>
        <p:nvSpPr>
          <p:cNvPr id="5" name="Shape 3"/>
          <p:cNvSpPr/>
          <p:nvPr/>
        </p:nvSpPr>
        <p:spPr>
          <a:xfrm>
            <a:off x="660380" y="1347368"/>
            <a:ext cx="2174169" cy="422270"/>
          </a:xfrm>
          <a:prstGeom prst="rect">
            <a:avLst/>
          </a:prstGeom>
          <a:solidFill>
            <a:srgbClr val="ECF2FF"/>
          </a:solidFill>
          <a:ln/>
        </p:spPr>
      </p:sp>
      <p:sp>
        <p:nvSpPr>
          <p:cNvPr id="6" name="Text 4"/>
          <p:cNvSpPr txBox="1"/>
          <p:nvPr/>
        </p:nvSpPr>
        <p:spPr>
          <a:xfrm>
            <a:off x="825520" y="1479408"/>
            <a:ext cx="461498"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PHẦN</a:t>
            </a:r>
            <a:endParaRPr lang="en-US" sz="1000" dirty="0"/>
          </a:p>
        </p:txBody>
      </p:sp>
      <p:sp>
        <p:nvSpPr>
          <p:cNvPr id="7" name="Shape 5"/>
          <p:cNvSpPr/>
          <p:nvPr/>
        </p:nvSpPr>
        <p:spPr>
          <a:xfrm>
            <a:off x="2834549" y="1347368"/>
            <a:ext cx="6087709" cy="422270"/>
          </a:xfrm>
          <a:prstGeom prst="rect">
            <a:avLst/>
          </a:prstGeom>
          <a:solidFill>
            <a:srgbClr val="ECF2FF"/>
          </a:solidFill>
          <a:ln/>
        </p:spPr>
      </p:sp>
      <p:sp>
        <p:nvSpPr>
          <p:cNvPr id="8" name="Text 6"/>
          <p:cNvSpPr txBox="1"/>
          <p:nvPr/>
        </p:nvSpPr>
        <p:spPr>
          <a:xfrm>
            <a:off x="2999598" y="1479408"/>
            <a:ext cx="979231"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THÀNH PHẦN</a:t>
            </a:r>
            <a:endParaRPr lang="en-US" sz="1000" dirty="0"/>
          </a:p>
        </p:txBody>
      </p:sp>
      <p:sp>
        <p:nvSpPr>
          <p:cNvPr id="9" name="Shape 7"/>
          <p:cNvSpPr/>
          <p:nvPr/>
        </p:nvSpPr>
        <p:spPr>
          <a:xfrm>
            <a:off x="8922258" y="1347368"/>
            <a:ext cx="2609058" cy="422270"/>
          </a:xfrm>
          <a:prstGeom prst="rect">
            <a:avLst/>
          </a:prstGeom>
          <a:solidFill>
            <a:srgbClr val="ECF2FF"/>
          </a:solidFill>
          <a:ln/>
        </p:spPr>
      </p:sp>
      <p:sp>
        <p:nvSpPr>
          <p:cNvPr id="10" name="Text 8"/>
          <p:cNvSpPr txBox="1"/>
          <p:nvPr/>
        </p:nvSpPr>
        <p:spPr>
          <a:xfrm>
            <a:off x="9087307" y="1479408"/>
            <a:ext cx="818479"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DÙNG CHO</a:t>
            </a:r>
            <a:endParaRPr lang="en-US" sz="1000" dirty="0"/>
          </a:p>
        </p:txBody>
      </p:sp>
      <p:sp>
        <p:nvSpPr>
          <p:cNvPr id="11" name="Shape 9"/>
          <p:cNvSpPr/>
          <p:nvPr/>
        </p:nvSpPr>
        <p:spPr>
          <a:xfrm>
            <a:off x="660380" y="1769638"/>
            <a:ext cx="2174169" cy="6309"/>
          </a:xfrm>
          <a:prstGeom prst="rect">
            <a:avLst/>
          </a:prstGeom>
          <a:solidFill>
            <a:srgbClr val="E3E6EA"/>
          </a:solidFill>
          <a:ln/>
        </p:spPr>
      </p:sp>
      <p:sp>
        <p:nvSpPr>
          <p:cNvPr id="12" name="Text 10"/>
          <p:cNvSpPr txBox="1"/>
          <p:nvPr/>
        </p:nvSpPr>
        <p:spPr>
          <a:xfrm>
            <a:off x="800100" y="1873606"/>
            <a:ext cx="700979"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Cấu hình</a:t>
            </a:r>
            <a:endParaRPr lang="en-US" sz="1150" dirty="0"/>
          </a:p>
        </p:txBody>
      </p:sp>
      <p:sp>
        <p:nvSpPr>
          <p:cNvPr id="13" name="Shape 11"/>
          <p:cNvSpPr/>
          <p:nvPr/>
        </p:nvSpPr>
        <p:spPr>
          <a:xfrm>
            <a:off x="2834549" y="1769638"/>
            <a:ext cx="6087709" cy="6309"/>
          </a:xfrm>
          <a:prstGeom prst="rect">
            <a:avLst/>
          </a:prstGeom>
          <a:solidFill>
            <a:srgbClr val="E3E6EA"/>
          </a:solidFill>
          <a:ln/>
        </p:spPr>
      </p:sp>
      <p:sp>
        <p:nvSpPr>
          <p:cNvPr id="14" name="Text 12"/>
          <p:cNvSpPr txBox="1"/>
          <p:nvPr/>
        </p:nvSpPr>
        <p:spPr>
          <a:xfrm>
            <a:off x="2974177" y="1871594"/>
            <a:ext cx="4168475"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TMN_CODE, HASH_SECRET, RETURN_URL, VN, TIME</a:t>
            </a:r>
            <a:endParaRPr lang="en-US" sz="1200" dirty="0"/>
          </a:p>
        </p:txBody>
      </p:sp>
      <p:sp>
        <p:nvSpPr>
          <p:cNvPr id="15" name="Shape 13"/>
          <p:cNvSpPr/>
          <p:nvPr/>
        </p:nvSpPr>
        <p:spPr>
          <a:xfrm>
            <a:off x="8922258" y="1769638"/>
            <a:ext cx="2609058" cy="6309"/>
          </a:xfrm>
          <a:prstGeom prst="rect">
            <a:avLst/>
          </a:prstGeom>
          <a:solidFill>
            <a:srgbClr val="E3E6EA"/>
          </a:solidFill>
          <a:ln/>
        </p:spPr>
      </p:sp>
      <p:sp>
        <p:nvSpPr>
          <p:cNvPr id="16" name="Text 14"/>
          <p:cNvSpPr txBox="1"/>
          <p:nvPr/>
        </p:nvSpPr>
        <p:spPr>
          <a:xfrm>
            <a:off x="9061887" y="1873606"/>
            <a:ext cx="110715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Tất cả các kênh</a:t>
            </a:r>
            <a:endParaRPr lang="en-US" sz="1150" dirty="0"/>
          </a:p>
        </p:txBody>
      </p:sp>
      <p:sp>
        <p:nvSpPr>
          <p:cNvPr id="17" name="Shape 15"/>
          <p:cNvSpPr/>
          <p:nvPr/>
        </p:nvSpPr>
        <p:spPr>
          <a:xfrm>
            <a:off x="660380" y="2163288"/>
            <a:ext cx="2174169" cy="6309"/>
          </a:xfrm>
          <a:prstGeom prst="rect">
            <a:avLst/>
          </a:prstGeom>
          <a:solidFill>
            <a:srgbClr val="E3E6EA"/>
          </a:solidFill>
          <a:ln/>
        </p:spPr>
      </p:sp>
      <p:sp>
        <p:nvSpPr>
          <p:cNvPr id="18" name="Text 16"/>
          <p:cNvSpPr txBox="1"/>
          <p:nvPr/>
        </p:nvSpPr>
        <p:spPr>
          <a:xfrm>
            <a:off x="800100" y="2267255"/>
            <a:ext cx="579730"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Chữ ký</a:t>
            </a:r>
            <a:endParaRPr lang="en-US" sz="1150" dirty="0"/>
          </a:p>
        </p:txBody>
      </p:sp>
      <p:sp>
        <p:nvSpPr>
          <p:cNvPr id="19" name="Shape 17"/>
          <p:cNvSpPr/>
          <p:nvPr/>
        </p:nvSpPr>
        <p:spPr>
          <a:xfrm>
            <a:off x="2834549" y="2163288"/>
            <a:ext cx="6087709" cy="6309"/>
          </a:xfrm>
          <a:prstGeom prst="rect">
            <a:avLst/>
          </a:prstGeom>
          <a:solidFill>
            <a:srgbClr val="E3E6EA"/>
          </a:solidFill>
          <a:ln/>
        </p:spPr>
      </p:sp>
      <p:sp>
        <p:nvSpPr>
          <p:cNvPr id="20" name="Text 18"/>
          <p:cNvSpPr txBox="1"/>
          <p:nvPr/>
        </p:nvSpPr>
        <p:spPr>
          <a:xfrm>
            <a:off x="2974177" y="2265335"/>
            <a:ext cx="4459254"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hmacSHA512, buildQueryString, isValidSignature</a:t>
            </a:r>
            <a:endParaRPr lang="en-US" sz="1200" dirty="0"/>
          </a:p>
        </p:txBody>
      </p:sp>
      <p:sp>
        <p:nvSpPr>
          <p:cNvPr id="21" name="Shape 19"/>
          <p:cNvSpPr/>
          <p:nvPr/>
        </p:nvSpPr>
        <p:spPr>
          <a:xfrm>
            <a:off x="8922258" y="2163288"/>
            <a:ext cx="2609058" cy="6309"/>
          </a:xfrm>
          <a:prstGeom prst="rect">
            <a:avLst/>
          </a:prstGeom>
          <a:solidFill>
            <a:srgbClr val="E3E6EA"/>
          </a:solidFill>
          <a:ln/>
        </p:spPr>
      </p:sp>
      <p:sp>
        <p:nvSpPr>
          <p:cNvPr id="22" name="Text 20"/>
          <p:cNvSpPr txBox="1"/>
          <p:nvPr/>
        </p:nvSpPr>
        <p:spPr>
          <a:xfrm>
            <a:off x="9061887" y="2267255"/>
            <a:ext cx="86383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Kênh 1, 2, 3</a:t>
            </a:r>
            <a:endParaRPr lang="en-US" sz="1150" dirty="0"/>
          </a:p>
        </p:txBody>
      </p:sp>
      <p:sp>
        <p:nvSpPr>
          <p:cNvPr id="23" name="Shape 21"/>
          <p:cNvSpPr/>
          <p:nvPr/>
        </p:nvSpPr>
        <p:spPr>
          <a:xfrm>
            <a:off x="660380" y="2557028"/>
            <a:ext cx="2174169" cy="6309"/>
          </a:xfrm>
          <a:prstGeom prst="rect">
            <a:avLst/>
          </a:prstGeom>
          <a:solidFill>
            <a:srgbClr val="E3E6EA"/>
          </a:solidFill>
          <a:ln/>
        </p:spPr>
      </p:sp>
      <p:sp>
        <p:nvSpPr>
          <p:cNvPr id="24" name="Text 22"/>
          <p:cNvSpPr txBox="1"/>
          <p:nvPr/>
        </p:nvSpPr>
        <p:spPr>
          <a:xfrm>
            <a:off x="800100" y="2660904"/>
            <a:ext cx="1122792"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Tạo thanh toán</a:t>
            </a:r>
            <a:endParaRPr lang="en-US" sz="1150" dirty="0"/>
          </a:p>
        </p:txBody>
      </p:sp>
      <p:sp>
        <p:nvSpPr>
          <p:cNvPr id="25" name="Shape 23"/>
          <p:cNvSpPr/>
          <p:nvPr/>
        </p:nvSpPr>
        <p:spPr>
          <a:xfrm>
            <a:off x="2834549" y="2557028"/>
            <a:ext cx="6087709" cy="6309"/>
          </a:xfrm>
          <a:prstGeom prst="rect">
            <a:avLst/>
          </a:prstGeom>
          <a:solidFill>
            <a:srgbClr val="E3E6EA"/>
          </a:solidFill>
          <a:ln/>
        </p:spPr>
      </p:sp>
      <p:sp>
        <p:nvSpPr>
          <p:cNvPr id="26" name="Text 24"/>
          <p:cNvSpPr txBox="1"/>
          <p:nvPr/>
        </p:nvSpPr>
        <p:spPr>
          <a:xfrm>
            <a:off x="2974177" y="2652674"/>
            <a:ext cx="3246029"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createPayment</a:t>
            </a:r>
            <a:pPr algn="l" indent="0" marL="0">
              <a:buNone/>
            </a:pPr>
            <a:r>
              <a:rPr lang="en-US" sz="1150" dirty="0">
                <a:solidFill>
                  <a:srgbClr val="3F454D"/>
                </a:solidFill>
                <a:latin typeface="Arial" pitchFamily="34" charset="0"/>
                <a:ea typeface="Arial" pitchFamily="34" charset="-122"/>
                <a:cs typeface="Arial" pitchFamily="34" charset="-120"/>
              </a:rPr>
              <a:t> ← </a:t>
            </a:r>
            <a:pPr algn="l" indent="0" marL="0">
              <a:buNone/>
            </a:pPr>
            <a:r>
              <a:rPr lang="en-US" sz="1200" dirty="0">
                <a:solidFill>
                  <a:srgbClr val="3F454D"/>
                </a:solidFill>
                <a:latin typeface="Courier New" pitchFamily="34" charset="0"/>
                <a:ea typeface="Courier New" pitchFamily="34" charset="-122"/>
                <a:cs typeface="Courier New" pitchFamily="34" charset="-120"/>
              </a:rPr>
              <a:t>POST /api/payments</a:t>
            </a:r>
            <a:endParaRPr lang="en-US" sz="1200" dirty="0"/>
          </a:p>
        </p:txBody>
      </p:sp>
      <p:sp>
        <p:nvSpPr>
          <p:cNvPr id="27" name="Shape 25"/>
          <p:cNvSpPr/>
          <p:nvPr/>
        </p:nvSpPr>
        <p:spPr>
          <a:xfrm>
            <a:off x="8922258" y="2557028"/>
            <a:ext cx="2609058" cy="6309"/>
          </a:xfrm>
          <a:prstGeom prst="rect">
            <a:avLst/>
          </a:prstGeom>
          <a:solidFill>
            <a:srgbClr val="E3E6EA"/>
          </a:solidFill>
          <a:ln/>
        </p:spPr>
      </p:sp>
      <p:sp>
        <p:nvSpPr>
          <p:cNvPr id="28" name="Text 26"/>
          <p:cNvSpPr txBox="1"/>
          <p:nvPr/>
        </p:nvSpPr>
        <p:spPr>
          <a:xfrm>
            <a:off x="9061887" y="2660904"/>
            <a:ext cx="53913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Kênh 1</a:t>
            </a:r>
            <a:endParaRPr lang="en-US" sz="1150" dirty="0"/>
          </a:p>
        </p:txBody>
      </p:sp>
      <p:sp>
        <p:nvSpPr>
          <p:cNvPr id="29" name="Shape 27"/>
          <p:cNvSpPr/>
          <p:nvPr/>
        </p:nvSpPr>
        <p:spPr>
          <a:xfrm>
            <a:off x="660380" y="2950677"/>
            <a:ext cx="2174169" cy="6309"/>
          </a:xfrm>
          <a:prstGeom prst="rect">
            <a:avLst/>
          </a:prstGeom>
          <a:solidFill>
            <a:srgbClr val="E3E6EA"/>
          </a:solidFill>
          <a:ln/>
        </p:spPr>
      </p:sp>
      <p:sp>
        <p:nvSpPr>
          <p:cNvPr id="30" name="Text 28"/>
          <p:cNvSpPr txBox="1"/>
          <p:nvPr/>
        </p:nvSpPr>
        <p:spPr>
          <a:xfrm>
            <a:off x="800100" y="3054645"/>
            <a:ext cx="1163574"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Hiển thị kết quả</a:t>
            </a:r>
            <a:endParaRPr lang="en-US" sz="1150" dirty="0"/>
          </a:p>
        </p:txBody>
      </p:sp>
      <p:sp>
        <p:nvSpPr>
          <p:cNvPr id="31" name="Shape 29"/>
          <p:cNvSpPr/>
          <p:nvPr/>
        </p:nvSpPr>
        <p:spPr>
          <a:xfrm>
            <a:off x="2834549" y="2950677"/>
            <a:ext cx="6087709" cy="6309"/>
          </a:xfrm>
          <a:prstGeom prst="rect">
            <a:avLst/>
          </a:prstGeom>
          <a:solidFill>
            <a:srgbClr val="E3E6EA"/>
          </a:solidFill>
          <a:ln/>
        </p:spPr>
      </p:sp>
      <p:sp>
        <p:nvSpPr>
          <p:cNvPr id="32" name="Text 30"/>
          <p:cNvSpPr txBox="1"/>
          <p:nvPr/>
        </p:nvSpPr>
        <p:spPr>
          <a:xfrm>
            <a:off x="2974177" y="3052633"/>
            <a:ext cx="1648023"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GET /vnpay/return</a:t>
            </a:r>
            <a:endParaRPr lang="en-US" sz="1200" dirty="0"/>
          </a:p>
        </p:txBody>
      </p:sp>
      <p:sp>
        <p:nvSpPr>
          <p:cNvPr id="33" name="Shape 31"/>
          <p:cNvSpPr/>
          <p:nvPr/>
        </p:nvSpPr>
        <p:spPr>
          <a:xfrm>
            <a:off x="8922258" y="2950677"/>
            <a:ext cx="2609058" cy="6309"/>
          </a:xfrm>
          <a:prstGeom prst="rect">
            <a:avLst/>
          </a:prstGeom>
          <a:solidFill>
            <a:srgbClr val="E3E6EA"/>
          </a:solidFill>
          <a:ln/>
        </p:spPr>
      </p:sp>
      <p:sp>
        <p:nvSpPr>
          <p:cNvPr id="34" name="Text 32"/>
          <p:cNvSpPr txBox="1"/>
          <p:nvPr/>
        </p:nvSpPr>
        <p:spPr>
          <a:xfrm>
            <a:off x="9061887" y="3054645"/>
            <a:ext cx="53913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Kênh 2</a:t>
            </a:r>
            <a:endParaRPr lang="en-US" sz="1150" dirty="0"/>
          </a:p>
        </p:txBody>
      </p:sp>
      <p:sp>
        <p:nvSpPr>
          <p:cNvPr id="35" name="Shape 33"/>
          <p:cNvSpPr/>
          <p:nvPr/>
        </p:nvSpPr>
        <p:spPr>
          <a:xfrm>
            <a:off x="660380" y="3344418"/>
            <a:ext cx="2174169" cy="6309"/>
          </a:xfrm>
          <a:prstGeom prst="rect">
            <a:avLst/>
          </a:prstGeom>
          <a:solidFill>
            <a:srgbClr val="E3E6EA"/>
          </a:solidFill>
          <a:ln/>
        </p:spPr>
      </p:sp>
      <p:sp>
        <p:nvSpPr>
          <p:cNvPr id="36" name="Text 34"/>
          <p:cNvSpPr txBox="1"/>
          <p:nvPr/>
        </p:nvSpPr>
        <p:spPr>
          <a:xfrm>
            <a:off x="800100" y="3448294"/>
            <a:ext cx="993221"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Nhận kết quả</a:t>
            </a:r>
            <a:endParaRPr lang="en-US" sz="1150" dirty="0"/>
          </a:p>
        </p:txBody>
      </p:sp>
      <p:sp>
        <p:nvSpPr>
          <p:cNvPr id="37" name="Shape 35"/>
          <p:cNvSpPr/>
          <p:nvPr/>
        </p:nvSpPr>
        <p:spPr>
          <a:xfrm>
            <a:off x="2834549" y="3344418"/>
            <a:ext cx="6087709" cy="6309"/>
          </a:xfrm>
          <a:prstGeom prst="rect">
            <a:avLst/>
          </a:prstGeom>
          <a:solidFill>
            <a:srgbClr val="E3E6EA"/>
          </a:solidFill>
          <a:ln/>
        </p:spPr>
      </p:sp>
      <p:sp>
        <p:nvSpPr>
          <p:cNvPr id="38" name="Text 36"/>
          <p:cNvSpPr txBox="1"/>
          <p:nvPr/>
        </p:nvSpPr>
        <p:spPr>
          <a:xfrm>
            <a:off x="2974177" y="3439973"/>
            <a:ext cx="2470526"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handleIpn</a:t>
            </a:r>
            <a:pPr algn="l" indent="0" marL="0">
              <a:buNone/>
            </a:pPr>
            <a:r>
              <a:rPr lang="en-US" sz="1150" dirty="0">
                <a:solidFill>
                  <a:srgbClr val="3F454D"/>
                </a:solidFill>
                <a:latin typeface="Arial" pitchFamily="34" charset="0"/>
                <a:ea typeface="Arial" pitchFamily="34" charset="-122"/>
                <a:cs typeface="Arial" pitchFamily="34" charset="-120"/>
              </a:rPr>
              <a:t> ← </a:t>
            </a:r>
            <a:pPr algn="l" indent="0" marL="0">
              <a:buNone/>
            </a:pPr>
            <a:r>
              <a:rPr lang="en-US" sz="1200" dirty="0">
                <a:solidFill>
                  <a:srgbClr val="3F454D"/>
                </a:solidFill>
                <a:latin typeface="Courier New" pitchFamily="34" charset="0"/>
                <a:ea typeface="Courier New" pitchFamily="34" charset="-122"/>
                <a:cs typeface="Courier New" pitchFamily="34" charset="-120"/>
              </a:rPr>
              <a:t>GET /vnpay/ipn</a:t>
            </a:r>
            <a:endParaRPr lang="en-US" sz="1200" dirty="0"/>
          </a:p>
        </p:txBody>
      </p:sp>
      <p:sp>
        <p:nvSpPr>
          <p:cNvPr id="39" name="Shape 37"/>
          <p:cNvSpPr/>
          <p:nvPr/>
        </p:nvSpPr>
        <p:spPr>
          <a:xfrm>
            <a:off x="8922258" y="3344418"/>
            <a:ext cx="2609058" cy="6309"/>
          </a:xfrm>
          <a:prstGeom prst="rect">
            <a:avLst/>
          </a:prstGeom>
          <a:solidFill>
            <a:srgbClr val="E3E6EA"/>
          </a:solidFill>
          <a:ln/>
        </p:spPr>
      </p:sp>
      <p:sp>
        <p:nvSpPr>
          <p:cNvPr id="40" name="Text 38"/>
          <p:cNvSpPr txBox="1"/>
          <p:nvPr/>
        </p:nvSpPr>
        <p:spPr>
          <a:xfrm>
            <a:off x="9061887" y="3448294"/>
            <a:ext cx="53913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Kênh 3</a:t>
            </a:r>
            <a:endParaRPr lang="en-US" sz="1150" dirty="0"/>
          </a:p>
        </p:txBody>
      </p:sp>
      <p:sp>
        <p:nvSpPr>
          <p:cNvPr id="41" name="Shape 39"/>
          <p:cNvSpPr/>
          <p:nvPr/>
        </p:nvSpPr>
        <p:spPr>
          <a:xfrm>
            <a:off x="660380" y="3738067"/>
            <a:ext cx="2174169" cy="6309"/>
          </a:xfrm>
          <a:prstGeom prst="rect">
            <a:avLst/>
          </a:prstGeom>
          <a:solidFill>
            <a:srgbClr val="E3E6EA"/>
          </a:solidFill>
          <a:ln/>
        </p:spPr>
      </p:sp>
      <p:sp>
        <p:nvSpPr>
          <p:cNvPr id="42" name="Text 40"/>
          <p:cNvSpPr txBox="1"/>
          <p:nvPr/>
        </p:nvSpPr>
        <p:spPr>
          <a:xfrm>
            <a:off x="800100" y="3842034"/>
            <a:ext cx="652333"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Đối soát</a:t>
            </a:r>
            <a:endParaRPr lang="en-US" sz="1150" dirty="0"/>
          </a:p>
        </p:txBody>
      </p:sp>
      <p:sp>
        <p:nvSpPr>
          <p:cNvPr id="43" name="Shape 41"/>
          <p:cNvSpPr/>
          <p:nvPr/>
        </p:nvSpPr>
        <p:spPr>
          <a:xfrm>
            <a:off x="2834549" y="3738067"/>
            <a:ext cx="6087709" cy="6309"/>
          </a:xfrm>
          <a:prstGeom prst="rect">
            <a:avLst/>
          </a:prstGeom>
          <a:solidFill>
            <a:srgbClr val="E3E6EA"/>
          </a:solidFill>
          <a:ln/>
        </p:spPr>
      </p:sp>
      <p:sp>
        <p:nvSpPr>
          <p:cNvPr id="44" name="Text 42"/>
          <p:cNvSpPr txBox="1"/>
          <p:nvPr/>
        </p:nvSpPr>
        <p:spPr>
          <a:xfrm>
            <a:off x="2974177" y="3833713"/>
            <a:ext cx="2567452"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reconcile</a:t>
            </a:r>
            <a:pPr algn="l" indent="0" marL="0">
              <a:buNone/>
            </a:pPr>
            <a:r>
              <a:rPr lang="en-US" sz="1150" dirty="0">
                <a:solidFill>
                  <a:srgbClr val="3F454D"/>
                </a:solidFill>
                <a:latin typeface="Arial" pitchFamily="34" charset="0"/>
                <a:ea typeface="Arial" pitchFamily="34" charset="-122"/>
                <a:cs typeface="Arial" pitchFamily="34" charset="-120"/>
              </a:rPr>
              <a:t> ← </a:t>
            </a:r>
            <a:pPr algn="l" indent="0" marL="0">
              <a:buNone/>
            </a:pPr>
            <a:r>
              <a:rPr lang="en-US" sz="1200" dirty="0">
                <a:solidFill>
                  <a:srgbClr val="3F454D"/>
                </a:solidFill>
                <a:latin typeface="Courier New" pitchFamily="34" charset="0"/>
                <a:ea typeface="Courier New" pitchFamily="34" charset="-122"/>
                <a:cs typeface="Courier New" pitchFamily="34" charset="-120"/>
              </a:rPr>
              <a:t>GET /api/orders</a:t>
            </a:r>
            <a:endParaRPr lang="en-US" sz="1200" dirty="0"/>
          </a:p>
        </p:txBody>
      </p:sp>
      <p:sp>
        <p:nvSpPr>
          <p:cNvPr id="45" name="Shape 43"/>
          <p:cNvSpPr/>
          <p:nvPr/>
        </p:nvSpPr>
        <p:spPr>
          <a:xfrm>
            <a:off x="8922258" y="3738067"/>
            <a:ext cx="2609058" cy="6309"/>
          </a:xfrm>
          <a:prstGeom prst="rect">
            <a:avLst/>
          </a:prstGeom>
          <a:solidFill>
            <a:srgbClr val="E3E6EA"/>
          </a:solidFill>
          <a:ln/>
        </p:spPr>
      </p:sp>
      <p:sp>
        <p:nvSpPr>
          <p:cNvPr id="46" name="Text 44"/>
          <p:cNvSpPr txBox="1"/>
          <p:nvPr/>
        </p:nvSpPr>
        <p:spPr>
          <a:xfrm>
            <a:off x="9061887" y="3842034"/>
            <a:ext cx="53913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Kênh 4</a:t>
            </a:r>
            <a:endParaRPr lang="en-US" sz="1150" dirty="0"/>
          </a:p>
        </p:txBody>
      </p:sp>
      <p:sp>
        <p:nvSpPr>
          <p:cNvPr id="47" name="Shape 45"/>
          <p:cNvSpPr/>
          <p:nvPr/>
        </p:nvSpPr>
        <p:spPr>
          <a:xfrm>
            <a:off x="660380" y="4131808"/>
            <a:ext cx="2174169" cy="6309"/>
          </a:xfrm>
          <a:prstGeom prst="rect">
            <a:avLst/>
          </a:prstGeom>
          <a:solidFill>
            <a:srgbClr val="E3E6EA"/>
          </a:solidFill>
          <a:ln/>
        </p:spPr>
      </p:sp>
      <p:sp>
        <p:nvSpPr>
          <p:cNvPr id="48" name="Text 46"/>
          <p:cNvSpPr txBox="1"/>
          <p:nvPr/>
        </p:nvSpPr>
        <p:spPr>
          <a:xfrm>
            <a:off x="800100" y="4235684"/>
            <a:ext cx="683240"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Lưu đơn</a:t>
            </a:r>
            <a:endParaRPr lang="en-US" sz="1150" dirty="0"/>
          </a:p>
        </p:txBody>
      </p:sp>
      <p:sp>
        <p:nvSpPr>
          <p:cNvPr id="49" name="Shape 47"/>
          <p:cNvSpPr/>
          <p:nvPr/>
        </p:nvSpPr>
        <p:spPr>
          <a:xfrm>
            <a:off x="2834549" y="4131808"/>
            <a:ext cx="6087709" cy="6309"/>
          </a:xfrm>
          <a:prstGeom prst="rect">
            <a:avLst/>
          </a:prstGeom>
          <a:solidFill>
            <a:srgbClr val="E3E6EA"/>
          </a:solidFill>
          <a:ln/>
        </p:spPr>
      </p:sp>
      <p:sp>
        <p:nvSpPr>
          <p:cNvPr id="50" name="Text 48"/>
          <p:cNvSpPr txBox="1"/>
          <p:nvPr/>
        </p:nvSpPr>
        <p:spPr>
          <a:xfrm>
            <a:off x="2974177" y="4233763"/>
            <a:ext cx="1265072" cy="219090"/>
          </a:xfrm>
          <a:prstGeom prst="rect">
            <a:avLst/>
          </a:prstGeom>
          <a:noFill/>
          <a:ln/>
        </p:spPr>
        <p:txBody>
          <a:bodyPr wrap="square" lIns="0" tIns="0" rIns="0" bIns="0" rtlCol="0" anchor="ctr"/>
          <a:lstStyle/>
          <a:p>
            <a:pPr algn="l" indent="0" marL="0">
              <a:buNone/>
            </a:pPr>
            <a:r>
              <a:rPr lang="en-US" sz="1200" dirty="0">
                <a:solidFill>
                  <a:srgbClr val="3F454D"/>
                </a:solidFill>
                <a:latin typeface="Courier New" pitchFamily="34" charset="0"/>
                <a:ea typeface="Courier New" pitchFamily="34" charset="-122"/>
                <a:cs typeface="Courier New" pitchFamily="34" charset="-120"/>
              </a:rPr>
              <a:t>Order, ORDERS</a:t>
            </a:r>
            <a:endParaRPr lang="en-US" sz="1200" dirty="0"/>
          </a:p>
        </p:txBody>
      </p:sp>
      <p:sp>
        <p:nvSpPr>
          <p:cNvPr id="51" name="Shape 49"/>
          <p:cNvSpPr/>
          <p:nvPr/>
        </p:nvSpPr>
        <p:spPr>
          <a:xfrm>
            <a:off x="8922258" y="4131808"/>
            <a:ext cx="2609058" cy="6309"/>
          </a:xfrm>
          <a:prstGeom prst="rect">
            <a:avLst/>
          </a:prstGeom>
          <a:solidFill>
            <a:srgbClr val="E3E6EA"/>
          </a:solidFill>
          <a:ln/>
        </p:spPr>
      </p:sp>
      <p:sp>
        <p:nvSpPr>
          <p:cNvPr id="52" name="Text 50"/>
          <p:cNvSpPr txBox="1"/>
          <p:nvPr/>
        </p:nvSpPr>
        <p:spPr>
          <a:xfrm>
            <a:off x="9061887" y="4235684"/>
            <a:ext cx="95417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Trong bộ nhớ</a:t>
            </a:r>
            <a:endParaRPr lang="en-US" sz="1150" dirty="0"/>
          </a:p>
        </p:txBody>
      </p:sp>
      <p:sp>
        <p:nvSpPr>
          <p:cNvPr id="53" name="Shape 51"/>
          <p:cNvSpPr/>
          <p:nvPr/>
        </p:nvSpPr>
        <p:spPr>
          <a:xfrm>
            <a:off x="660380" y="4700107"/>
            <a:ext cx="10870936" cy="400050"/>
          </a:xfrm>
          <a:prstGeom prst="roundRect">
            <a:avLst>
              <a:gd name="adj" fmla="val 19040"/>
            </a:avLst>
          </a:prstGeom>
          <a:solidFill>
            <a:srgbClr val="FFFFFF"/>
          </a:solidFill>
          <a:ln w="6350">
            <a:solidFill>
              <a:srgbClr val="E3E6EA"/>
            </a:solidFill>
            <a:prstDash val="solid"/>
          </a:ln>
        </p:spPr>
      </p:sp>
      <p:sp>
        <p:nvSpPr>
          <p:cNvPr id="54" name="Shape 52"/>
          <p:cNvSpPr/>
          <p:nvPr/>
        </p:nvSpPr>
        <p:spPr>
          <a:xfrm>
            <a:off x="780989" y="4795296"/>
            <a:ext cx="723748" cy="209580"/>
          </a:xfrm>
          <a:prstGeom prst="roundRect">
            <a:avLst>
              <a:gd name="adj" fmla="val 50000"/>
            </a:avLst>
          </a:prstGeom>
          <a:solidFill>
            <a:srgbClr val="DEF3E8"/>
          </a:solidFill>
          <a:ln/>
        </p:spPr>
      </p:sp>
      <p:sp>
        <p:nvSpPr>
          <p:cNvPr id="55" name="Text 53"/>
          <p:cNvSpPr txBox="1"/>
          <p:nvPr/>
        </p:nvSpPr>
        <p:spPr>
          <a:xfrm>
            <a:off x="857250" y="4826569"/>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56" name="Text 54"/>
          <p:cNvSpPr txBox="1"/>
          <p:nvPr/>
        </p:nvSpPr>
        <p:spPr>
          <a:xfrm>
            <a:off x="1606418" y="4799594"/>
            <a:ext cx="7836774"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Một file, dùng </a:t>
            </a:r>
            <a:pPr algn="l" indent="0" marL="0">
              <a:buNone/>
            </a:pPr>
            <a:r>
              <a:rPr lang="en-US" sz="1100" dirty="0">
                <a:solidFill>
                  <a:srgbClr val="3F454D"/>
                </a:solidFill>
                <a:latin typeface="Courier New" pitchFamily="34" charset="0"/>
                <a:ea typeface="Courier New" pitchFamily="34" charset="-122"/>
                <a:cs typeface="Courier New" pitchFamily="34" charset="-120"/>
              </a:rPr>
              <a:t>HttpServer</a:t>
            </a:r>
            <a:pPr algn="l" indent="0" marL="0">
              <a:buNone/>
            </a:pPr>
            <a:r>
              <a:rPr lang="en-US" sz="1100" dirty="0">
                <a:solidFill>
                  <a:srgbClr val="3F454D"/>
                </a:solidFill>
                <a:latin typeface="Arial" pitchFamily="34" charset="0"/>
                <a:ea typeface="Arial" pitchFamily="34" charset="-122"/>
                <a:cs typeface="Arial" pitchFamily="34" charset="-120"/>
              </a:rPr>
              <a:t> có sẵn của JDK, không cần Maven hay Spring, chạy bằng </a:t>
            </a:r>
            <a:pPr algn="l" indent="0" marL="0">
              <a:buNone/>
            </a:pPr>
            <a:r>
              <a:rPr lang="en-US" sz="1100" dirty="0">
                <a:solidFill>
                  <a:srgbClr val="3F454D"/>
                </a:solidFill>
                <a:latin typeface="Courier New" pitchFamily="34" charset="0"/>
                <a:ea typeface="Courier New" pitchFamily="34" charset="-122"/>
                <a:cs typeface="Courier New" pitchFamily="34" charset="-120"/>
              </a:rPr>
              <a:t>java PaymentService.java</a:t>
            </a:r>
            <a:endParaRPr lang="en-US" sz="1100" dirty="0"/>
          </a:p>
        </p:txBody>
      </p:sp>
      <p:sp>
        <p:nvSpPr>
          <p:cNvPr id="57" name="Text 55"/>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58" name="Text 56"/>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18</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425470"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Code</a:t>
            </a:r>
            <a:endParaRPr lang="en-US" sz="1100" dirty="0"/>
          </a:p>
        </p:txBody>
      </p:sp>
      <p:sp>
        <p:nvSpPr>
          <p:cNvPr id="3" name="Text 1"/>
          <p:cNvSpPr txBox="1"/>
          <p:nvPr/>
        </p:nvSpPr>
        <p:spPr>
          <a:xfrm>
            <a:off x="660380" y="643829"/>
            <a:ext cx="5376855"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Cấu hình: vì sao viết như vậy</a:t>
            </a:r>
            <a:endParaRPr lang="en-US" sz="3000" dirty="0"/>
          </a:p>
        </p:txBody>
      </p:sp>
      <p:sp>
        <p:nvSpPr>
          <p:cNvPr id="4" name="Text 2"/>
          <p:cNvSpPr txBox="1"/>
          <p:nvPr/>
        </p:nvSpPr>
        <p:spPr>
          <a:xfrm>
            <a:off x="660380" y="1358798"/>
            <a:ext cx="1534912"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PaymentService.java</a:t>
            </a:r>
            <a:endParaRPr lang="en-US" sz="1000" dirty="0"/>
          </a:p>
        </p:txBody>
      </p:sp>
      <p:sp>
        <p:nvSpPr>
          <p:cNvPr id="5" name="Shape 3"/>
          <p:cNvSpPr/>
          <p:nvPr/>
        </p:nvSpPr>
        <p:spPr>
          <a:xfrm>
            <a:off x="660380" y="1779148"/>
            <a:ext cx="10870936" cy="1570208"/>
          </a:xfrm>
          <a:prstGeom prst="roundRect">
            <a:avLst>
              <a:gd name="adj" fmla="val 6470"/>
            </a:avLst>
          </a:prstGeom>
          <a:solidFill>
            <a:srgbClr val="0C131E"/>
          </a:solidFill>
          <a:ln/>
        </p:spPr>
      </p:sp>
      <p:sp>
        <p:nvSpPr>
          <p:cNvPr id="6" name="Text 4"/>
          <p:cNvSpPr txBox="1"/>
          <p:nvPr/>
        </p:nvSpPr>
        <p:spPr>
          <a:xfrm>
            <a:off x="907999" y="1961662"/>
            <a:ext cx="4665635" cy="206654"/>
          </a:xfrm>
          <a:prstGeom prst="rect">
            <a:avLst/>
          </a:prstGeom>
          <a:noFill/>
          <a:ln/>
        </p:spPr>
        <p:txBody>
          <a:bodyPr wrap="none" lIns="0" tIns="0" rIns="0" bIns="0" rtlCol="0" anchor="ctr"/>
          <a:lstStyle/>
          <a:p>
            <a:pPr algn="l" indent="0" marL="0">
              <a:buNone/>
            </a:pPr>
            <a:r>
              <a:rPr lang="en-US" sz="1050" dirty="0">
                <a:solidFill>
                  <a:srgbClr val="7FC2FF"/>
                </a:solidFill>
                <a:latin typeface="Courier New" pitchFamily="34" charset="0"/>
                <a:ea typeface="Courier New" pitchFamily="34" charset="-122"/>
                <a:cs typeface="Courier New" pitchFamily="34" charset="-120"/>
              </a:rPr>
              <a:t>static</a:t>
            </a:r>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7FC2FF"/>
                </a:solidFill>
                <a:latin typeface="Courier New" pitchFamily="34" charset="0"/>
                <a:ea typeface="Courier New" pitchFamily="34" charset="-122"/>
                <a:cs typeface="Courier New" pitchFamily="34" charset="-120"/>
              </a:rPr>
              <a:t>final</a:t>
            </a:r>
            <a:pPr algn="l" indent="0" marL="0">
              <a:buNone/>
            </a:pPr>
            <a:r>
              <a:rPr lang="en-US" sz="1050" dirty="0">
                <a:solidFill>
                  <a:srgbClr val="E6EDF7"/>
                </a:solidFill>
                <a:latin typeface="Courier New" pitchFamily="34" charset="0"/>
                <a:ea typeface="Courier New" pitchFamily="34" charset="-122"/>
                <a:cs typeface="Courier New" pitchFamily="34" charset="-120"/>
              </a:rPr>
              <a:t> ZoneId VN = ZoneId.of(</a:t>
            </a:r>
            <a:pPr algn="l" indent="0" marL="0">
              <a:buNone/>
            </a:pPr>
            <a:r>
              <a:rPr lang="en-US" sz="1050" dirty="0">
                <a:solidFill>
                  <a:srgbClr val="9BE3B4"/>
                </a:solidFill>
                <a:latin typeface="Courier New" pitchFamily="34" charset="0"/>
                <a:ea typeface="Courier New" pitchFamily="34" charset="-122"/>
                <a:cs typeface="Courier New" pitchFamily="34" charset="-120"/>
              </a:rPr>
              <a:t>"Asia/Ho_Chi_Minh"</a:t>
            </a:r>
            <a:pPr algn="l" indent="0" marL="0">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p:txBody>
      </p:sp>
      <p:sp>
        <p:nvSpPr>
          <p:cNvPr id="7" name="Text 5"/>
          <p:cNvSpPr txBox="1"/>
          <p:nvPr/>
        </p:nvSpPr>
        <p:spPr>
          <a:xfrm>
            <a:off x="907999" y="2168317"/>
            <a:ext cx="7125462" cy="206654"/>
          </a:xfrm>
          <a:prstGeom prst="rect">
            <a:avLst/>
          </a:prstGeom>
          <a:noFill/>
          <a:ln/>
        </p:spPr>
        <p:txBody>
          <a:bodyPr wrap="none" lIns="0" tIns="0" rIns="0" bIns="0" rtlCol="0" anchor="ctr"/>
          <a:lstStyle/>
          <a:p>
            <a:pPr algn="l" indent="0" marL="0">
              <a:buNone/>
            </a:pPr>
            <a:r>
              <a:rPr lang="en-US" sz="1050" dirty="0">
                <a:solidFill>
                  <a:srgbClr val="7FC2FF"/>
                </a:solidFill>
                <a:latin typeface="Courier New" pitchFamily="34" charset="0"/>
                <a:ea typeface="Courier New" pitchFamily="34" charset="-122"/>
                <a:cs typeface="Courier New" pitchFamily="34" charset="-120"/>
              </a:rPr>
              <a:t>static</a:t>
            </a:r>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7FC2FF"/>
                </a:solidFill>
                <a:latin typeface="Courier New" pitchFamily="34" charset="0"/>
                <a:ea typeface="Courier New" pitchFamily="34" charset="-122"/>
                <a:cs typeface="Courier New" pitchFamily="34" charset="-120"/>
              </a:rPr>
              <a:t>final</a:t>
            </a:r>
            <a:pPr algn="l" indent="0" marL="0">
              <a:buNone/>
            </a:pPr>
            <a:r>
              <a:rPr lang="en-US" sz="1050" dirty="0">
                <a:solidFill>
                  <a:srgbClr val="E6EDF7"/>
                </a:solidFill>
                <a:latin typeface="Courier New" pitchFamily="34" charset="0"/>
                <a:ea typeface="Courier New" pitchFamily="34" charset="-122"/>
                <a:cs typeface="Courier New" pitchFamily="34" charset="-120"/>
              </a:rPr>
              <a:t> DateTimeFormatter TIME = DateTimeFormatter.ofPattern(</a:t>
            </a:r>
            <a:pPr algn="l" indent="0" marL="0">
              <a:buNone/>
            </a:pPr>
            <a:r>
              <a:rPr lang="en-US" sz="1050" dirty="0">
                <a:solidFill>
                  <a:srgbClr val="9BE3B4"/>
                </a:solidFill>
                <a:latin typeface="Courier New" pitchFamily="34" charset="0"/>
                <a:ea typeface="Courier New" pitchFamily="34" charset="-122"/>
                <a:cs typeface="Courier New" pitchFamily="34" charset="-120"/>
              </a:rPr>
              <a:t>"yyyyMMddHHmmss"</a:t>
            </a:r>
            <a:pPr algn="l" indent="0" marL="0">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p:txBody>
      </p:sp>
      <p:sp>
        <p:nvSpPr>
          <p:cNvPr id="8" name="Shape 6"/>
          <p:cNvSpPr/>
          <p:nvPr/>
        </p:nvSpPr>
        <p:spPr>
          <a:xfrm>
            <a:off x="660380" y="2564252"/>
            <a:ext cx="10870936" cy="206654"/>
          </a:xfrm>
          <a:prstGeom prst="rect">
            <a:avLst/>
          </a:prstGeom>
          <a:solidFill>
            <a:srgbClr val="FFD479">
              <a:alpha val="13000"/>
            </a:srgbClr>
          </a:solidFill>
          <a:ln/>
        </p:spPr>
      </p:sp>
      <p:sp>
        <p:nvSpPr>
          <p:cNvPr id="9" name="Shape 7"/>
          <p:cNvSpPr/>
          <p:nvPr/>
        </p:nvSpPr>
        <p:spPr>
          <a:xfrm>
            <a:off x="660380" y="2564252"/>
            <a:ext cx="31730" cy="206654"/>
          </a:xfrm>
          <a:prstGeom prst="rect">
            <a:avLst/>
          </a:prstGeom>
          <a:solidFill>
            <a:srgbClr val="FFD479"/>
          </a:solidFill>
          <a:ln/>
        </p:spPr>
      </p:sp>
      <p:sp>
        <p:nvSpPr>
          <p:cNvPr id="10" name="Text 8"/>
          <p:cNvSpPr txBox="1"/>
          <p:nvPr/>
        </p:nvSpPr>
        <p:spPr>
          <a:xfrm>
            <a:off x="907999" y="2581626"/>
            <a:ext cx="5089916" cy="206654"/>
          </a:xfrm>
          <a:prstGeom prst="rect">
            <a:avLst/>
          </a:prstGeom>
          <a:noFill/>
          <a:ln/>
        </p:spPr>
        <p:txBody>
          <a:bodyPr wrap="none" lIns="0" tIns="0" rIns="0" bIns="0" rtlCol="0" anchor="ctr"/>
          <a:lstStyle/>
          <a:p>
            <a:pPr algn="l" indent="0" marL="0">
              <a:buNone/>
            </a:pPr>
            <a:r>
              <a:rPr lang="en-US" sz="1050" dirty="0">
                <a:solidFill>
                  <a:srgbClr val="7FC2FF"/>
                </a:solidFill>
                <a:latin typeface="Courier New" pitchFamily="34" charset="0"/>
                <a:ea typeface="Courier New" pitchFamily="34" charset="-122"/>
                <a:cs typeface="Courier New" pitchFamily="34" charset="-120"/>
              </a:rPr>
              <a:t>static</a:t>
            </a:r>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7FC2FF"/>
                </a:solidFill>
                <a:latin typeface="Courier New" pitchFamily="34" charset="0"/>
                <a:ea typeface="Courier New" pitchFamily="34" charset="-122"/>
                <a:cs typeface="Courier New" pitchFamily="34" charset="-120"/>
              </a:rPr>
              <a:t>final</a:t>
            </a:r>
            <a:pPr algn="l" indent="0" marL="0">
              <a:buNone/>
            </a:pPr>
            <a:r>
              <a:rPr lang="en-US" sz="1050" dirty="0">
                <a:solidFill>
                  <a:srgbClr val="E6EDF7"/>
                </a:solidFill>
                <a:latin typeface="Courier New" pitchFamily="34" charset="0"/>
                <a:ea typeface="Courier New" pitchFamily="34" charset="-122"/>
                <a:cs typeface="Courier New" pitchFamily="34" charset="-120"/>
              </a:rPr>
              <a:t> String TMN_CODE    = env(</a:t>
            </a:r>
            <a:pPr algn="l" indent="0" marL="0">
              <a:buNone/>
            </a:pPr>
            <a:r>
              <a:rPr lang="en-US" sz="1050" dirty="0">
                <a:solidFill>
                  <a:srgbClr val="9BE3B4"/>
                </a:solidFill>
                <a:latin typeface="Courier New" pitchFamily="34" charset="0"/>
                <a:ea typeface="Courier New" pitchFamily="34" charset="-122"/>
                <a:cs typeface="Courier New" pitchFamily="34" charset="-120"/>
              </a:rPr>
              <a:t>"VNPAY_TMN_CODE"</a:t>
            </a:r>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9BE3B4"/>
                </a:solidFill>
                <a:latin typeface="Courier New" pitchFamily="34" charset="0"/>
                <a:ea typeface="Courier New" pitchFamily="34" charset="-122"/>
                <a:cs typeface="Courier New" pitchFamily="34" charset="-120"/>
              </a:rPr>
              <a:t>""</a:t>
            </a:r>
            <a:pPr algn="l" indent="0" marL="0">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p:txBody>
      </p:sp>
      <p:sp>
        <p:nvSpPr>
          <p:cNvPr id="11" name="Shape 9"/>
          <p:cNvSpPr/>
          <p:nvPr/>
        </p:nvSpPr>
        <p:spPr>
          <a:xfrm>
            <a:off x="660380" y="2770906"/>
            <a:ext cx="10870936" cy="206654"/>
          </a:xfrm>
          <a:prstGeom prst="rect">
            <a:avLst/>
          </a:prstGeom>
          <a:solidFill>
            <a:srgbClr val="FFD479">
              <a:alpha val="13000"/>
            </a:srgbClr>
          </a:solidFill>
          <a:ln/>
        </p:spPr>
      </p:sp>
      <p:sp>
        <p:nvSpPr>
          <p:cNvPr id="12" name="Shape 10"/>
          <p:cNvSpPr/>
          <p:nvPr/>
        </p:nvSpPr>
        <p:spPr>
          <a:xfrm>
            <a:off x="660380" y="2770906"/>
            <a:ext cx="31730" cy="206654"/>
          </a:xfrm>
          <a:prstGeom prst="rect">
            <a:avLst/>
          </a:prstGeom>
          <a:solidFill>
            <a:srgbClr val="FFD479"/>
          </a:solidFill>
          <a:ln/>
        </p:spPr>
      </p:sp>
      <p:sp>
        <p:nvSpPr>
          <p:cNvPr id="13" name="Text 11"/>
          <p:cNvSpPr txBox="1"/>
          <p:nvPr/>
        </p:nvSpPr>
        <p:spPr>
          <a:xfrm>
            <a:off x="907999" y="2788280"/>
            <a:ext cx="5344394" cy="206654"/>
          </a:xfrm>
          <a:prstGeom prst="rect">
            <a:avLst/>
          </a:prstGeom>
          <a:noFill/>
          <a:ln/>
        </p:spPr>
        <p:txBody>
          <a:bodyPr wrap="none" lIns="0" tIns="0" rIns="0" bIns="0" rtlCol="0" anchor="ctr"/>
          <a:lstStyle/>
          <a:p>
            <a:pPr algn="l" indent="0" marL="0">
              <a:buNone/>
            </a:pPr>
            <a:r>
              <a:rPr lang="en-US" sz="1050" dirty="0">
                <a:solidFill>
                  <a:srgbClr val="7FC2FF"/>
                </a:solidFill>
                <a:latin typeface="Courier New" pitchFamily="34" charset="0"/>
                <a:ea typeface="Courier New" pitchFamily="34" charset="-122"/>
                <a:cs typeface="Courier New" pitchFamily="34" charset="-120"/>
              </a:rPr>
              <a:t>static</a:t>
            </a:r>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7FC2FF"/>
                </a:solidFill>
                <a:latin typeface="Courier New" pitchFamily="34" charset="0"/>
                <a:ea typeface="Courier New" pitchFamily="34" charset="-122"/>
                <a:cs typeface="Courier New" pitchFamily="34" charset="-120"/>
              </a:rPr>
              <a:t>final</a:t>
            </a:r>
            <a:pPr algn="l" indent="0" marL="0">
              <a:buNone/>
            </a:pPr>
            <a:r>
              <a:rPr lang="en-US" sz="1050" dirty="0">
                <a:solidFill>
                  <a:srgbClr val="E6EDF7"/>
                </a:solidFill>
                <a:latin typeface="Courier New" pitchFamily="34" charset="0"/>
                <a:ea typeface="Courier New" pitchFamily="34" charset="-122"/>
                <a:cs typeface="Courier New" pitchFamily="34" charset="-120"/>
              </a:rPr>
              <a:t> String HASH_SECRET = env(</a:t>
            </a:r>
            <a:pPr algn="l" indent="0" marL="0">
              <a:buNone/>
            </a:pPr>
            <a:r>
              <a:rPr lang="en-US" sz="1050" dirty="0">
                <a:solidFill>
                  <a:srgbClr val="9BE3B4"/>
                </a:solidFill>
                <a:latin typeface="Courier New" pitchFamily="34" charset="0"/>
                <a:ea typeface="Courier New" pitchFamily="34" charset="-122"/>
                <a:cs typeface="Courier New" pitchFamily="34" charset="-120"/>
              </a:rPr>
              <a:t>"VNPAY_HASH_SECRET"</a:t>
            </a:r>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9BE3B4"/>
                </a:solidFill>
                <a:latin typeface="Courier New" pitchFamily="34" charset="0"/>
                <a:ea typeface="Courier New" pitchFamily="34" charset="-122"/>
                <a:cs typeface="Courier New" pitchFamily="34" charset="-120"/>
              </a:rPr>
              <a:t>""</a:t>
            </a:r>
            <a:pPr algn="l" indent="0" marL="0">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p:txBody>
      </p:sp>
      <p:sp>
        <p:nvSpPr>
          <p:cNvPr id="14" name="Text 12"/>
          <p:cNvSpPr txBox="1"/>
          <p:nvPr/>
        </p:nvSpPr>
        <p:spPr>
          <a:xfrm>
            <a:off x="907999" y="2994934"/>
            <a:ext cx="8822131" cy="206654"/>
          </a:xfrm>
          <a:prstGeom prst="rect">
            <a:avLst/>
          </a:prstGeom>
          <a:noFill/>
          <a:ln/>
        </p:spPr>
        <p:txBody>
          <a:bodyPr wrap="none" lIns="0" tIns="0" rIns="0" bIns="0" rtlCol="0" anchor="ctr"/>
          <a:lstStyle/>
          <a:p>
            <a:pPr algn="l" indent="0" marL="0">
              <a:buNone/>
            </a:pPr>
            <a:r>
              <a:rPr lang="en-US" sz="1050" dirty="0">
                <a:solidFill>
                  <a:srgbClr val="7FC2FF"/>
                </a:solidFill>
                <a:latin typeface="Courier New" pitchFamily="34" charset="0"/>
                <a:ea typeface="Courier New" pitchFamily="34" charset="-122"/>
                <a:cs typeface="Courier New" pitchFamily="34" charset="-120"/>
              </a:rPr>
              <a:t>static</a:t>
            </a:r>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7FC2FF"/>
                </a:solidFill>
                <a:latin typeface="Courier New" pitchFamily="34" charset="0"/>
                <a:ea typeface="Courier New" pitchFamily="34" charset="-122"/>
                <a:cs typeface="Courier New" pitchFamily="34" charset="-120"/>
              </a:rPr>
              <a:t>final</a:t>
            </a:r>
            <a:pPr algn="l" indent="0" marL="0">
              <a:buNone/>
            </a:pPr>
            <a:r>
              <a:rPr lang="en-US" sz="1050" dirty="0">
                <a:solidFill>
                  <a:srgbClr val="E6EDF7"/>
                </a:solidFill>
                <a:latin typeface="Courier New" pitchFamily="34" charset="0"/>
                <a:ea typeface="Courier New" pitchFamily="34" charset="-122"/>
                <a:cs typeface="Courier New" pitchFamily="34" charset="-120"/>
              </a:rPr>
              <a:t> String RETURN_URL  = env(</a:t>
            </a:r>
            <a:pPr algn="l" indent="0" marL="0">
              <a:buNone/>
            </a:pPr>
            <a:r>
              <a:rPr lang="en-US" sz="1050" dirty="0">
                <a:solidFill>
                  <a:srgbClr val="9BE3B4"/>
                </a:solidFill>
                <a:latin typeface="Courier New" pitchFamily="34" charset="0"/>
                <a:ea typeface="Courier New" pitchFamily="34" charset="-122"/>
                <a:cs typeface="Courier New" pitchFamily="34" charset="-120"/>
              </a:rPr>
              <a:t>"VNPAY_RETURN_URL"</a:t>
            </a:r>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9BE3B4"/>
                </a:solidFill>
                <a:latin typeface="Courier New" pitchFamily="34" charset="0"/>
                <a:ea typeface="Courier New" pitchFamily="34" charset="-122"/>
                <a:cs typeface="Courier New" pitchFamily="34" charset="-120"/>
              </a:rPr>
              <a:t>"http://localhost:"</a:t>
            </a:r>
            <a:pPr algn="l" indent="0" marL="0">
              <a:buNone/>
            </a:pPr>
            <a:r>
              <a:rPr lang="en-US" sz="1050" dirty="0">
                <a:solidFill>
                  <a:srgbClr val="E6EDF7"/>
                </a:solidFill>
                <a:latin typeface="Courier New" pitchFamily="34" charset="0"/>
                <a:ea typeface="Courier New" pitchFamily="34" charset="-122"/>
                <a:cs typeface="Courier New" pitchFamily="34" charset="-120"/>
              </a:rPr>
              <a:t> + PORT + </a:t>
            </a:r>
            <a:pPr algn="l" indent="0" marL="0">
              <a:buNone/>
            </a:pPr>
            <a:r>
              <a:rPr lang="en-US" sz="1050" dirty="0">
                <a:solidFill>
                  <a:srgbClr val="9BE3B4"/>
                </a:solidFill>
                <a:latin typeface="Courier New" pitchFamily="34" charset="0"/>
                <a:ea typeface="Courier New" pitchFamily="34" charset="-122"/>
                <a:cs typeface="Courier New" pitchFamily="34" charset="-120"/>
              </a:rPr>
              <a:t>"/vnpay/return"</a:t>
            </a:r>
            <a:pPr algn="l" indent="0" marL="0">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p:txBody>
      </p:sp>
      <p:sp>
        <p:nvSpPr>
          <p:cNvPr id="15" name="Shape 13"/>
          <p:cNvSpPr/>
          <p:nvPr/>
        </p:nvSpPr>
        <p:spPr>
          <a:xfrm>
            <a:off x="660380" y="3527115"/>
            <a:ext cx="10870936" cy="400050"/>
          </a:xfrm>
          <a:prstGeom prst="roundRect">
            <a:avLst>
              <a:gd name="adj" fmla="val 19040"/>
            </a:avLst>
          </a:prstGeom>
          <a:solidFill>
            <a:srgbClr val="FFFFFF"/>
          </a:solidFill>
          <a:ln w="6350">
            <a:solidFill>
              <a:srgbClr val="E3E6EA"/>
            </a:solidFill>
            <a:prstDash val="solid"/>
          </a:ln>
        </p:spPr>
      </p:sp>
      <p:sp>
        <p:nvSpPr>
          <p:cNvPr id="16" name="Shape 14"/>
          <p:cNvSpPr/>
          <p:nvPr/>
        </p:nvSpPr>
        <p:spPr>
          <a:xfrm>
            <a:off x="780989" y="3622396"/>
            <a:ext cx="982614" cy="209580"/>
          </a:xfrm>
          <a:prstGeom prst="roundRect">
            <a:avLst>
              <a:gd name="adj" fmla="val 50000"/>
            </a:avLst>
          </a:prstGeom>
          <a:solidFill>
            <a:srgbClr val="FDE8E6"/>
          </a:solidFill>
          <a:ln/>
        </p:spPr>
      </p:sp>
      <p:sp>
        <p:nvSpPr>
          <p:cNvPr id="17" name="Text 15"/>
          <p:cNvSpPr txBox="1"/>
          <p:nvPr/>
        </p:nvSpPr>
        <p:spPr>
          <a:xfrm>
            <a:off x="857250" y="3653668"/>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18" name="Text 16"/>
          <p:cNvSpPr txBox="1"/>
          <p:nvPr/>
        </p:nvSpPr>
        <p:spPr>
          <a:xfrm>
            <a:off x="1865285" y="3626693"/>
            <a:ext cx="3510382"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Thời gian theo GMT+7, định dạng </a:t>
            </a:r>
            <a:pPr algn="l" indent="0" marL="0">
              <a:buNone/>
            </a:pPr>
            <a:r>
              <a:rPr lang="en-US" sz="1100" dirty="0">
                <a:solidFill>
                  <a:srgbClr val="3F454D"/>
                </a:solidFill>
                <a:latin typeface="Courier New" pitchFamily="34" charset="0"/>
                <a:ea typeface="Courier New" pitchFamily="34" charset="-122"/>
                <a:cs typeface="Courier New" pitchFamily="34" charset="-120"/>
              </a:rPr>
              <a:t>yyyyMMddHHmmss</a:t>
            </a:r>
            <a:endParaRPr lang="en-US" sz="1100" dirty="0"/>
          </a:p>
        </p:txBody>
      </p:sp>
      <p:sp>
        <p:nvSpPr>
          <p:cNvPr id="19" name="Shape 17"/>
          <p:cNvSpPr/>
          <p:nvPr/>
        </p:nvSpPr>
        <p:spPr>
          <a:xfrm>
            <a:off x="660380" y="4003335"/>
            <a:ext cx="10870936" cy="400050"/>
          </a:xfrm>
          <a:prstGeom prst="roundRect">
            <a:avLst>
              <a:gd name="adj" fmla="val 19040"/>
            </a:avLst>
          </a:prstGeom>
          <a:solidFill>
            <a:srgbClr val="FFFFFF"/>
          </a:solidFill>
          <a:ln w="6350">
            <a:solidFill>
              <a:srgbClr val="E3E6EA"/>
            </a:solidFill>
            <a:prstDash val="solid"/>
          </a:ln>
        </p:spPr>
      </p:sp>
      <p:sp>
        <p:nvSpPr>
          <p:cNvPr id="20" name="Shape 18"/>
          <p:cNvSpPr/>
          <p:nvPr/>
        </p:nvSpPr>
        <p:spPr>
          <a:xfrm>
            <a:off x="780989" y="4098615"/>
            <a:ext cx="723748" cy="209580"/>
          </a:xfrm>
          <a:prstGeom prst="roundRect">
            <a:avLst>
              <a:gd name="adj" fmla="val 50000"/>
            </a:avLst>
          </a:prstGeom>
          <a:solidFill>
            <a:srgbClr val="DEF3E8"/>
          </a:solidFill>
          <a:ln/>
        </p:spPr>
      </p:sp>
      <p:sp>
        <p:nvSpPr>
          <p:cNvPr id="21" name="Text 19"/>
          <p:cNvSpPr txBox="1"/>
          <p:nvPr/>
        </p:nvSpPr>
        <p:spPr>
          <a:xfrm>
            <a:off x="857250" y="4129888"/>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22" name="Text 20"/>
          <p:cNvSpPr txBox="1"/>
          <p:nvPr/>
        </p:nvSpPr>
        <p:spPr>
          <a:xfrm>
            <a:off x="1606418" y="4102913"/>
            <a:ext cx="9193195"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TmnCode và HashSecret đọc từ biến môi trường: key không nằm trong code, không bị đẩy lên Git. Microservice thật đọc từ Secret Manager</a:t>
            </a:r>
            <a:endParaRPr lang="en-US" sz="1100" dirty="0"/>
          </a:p>
        </p:txBody>
      </p:sp>
      <p:sp>
        <p:nvSpPr>
          <p:cNvPr id="23" name="Shape 21"/>
          <p:cNvSpPr/>
          <p:nvPr/>
        </p:nvSpPr>
        <p:spPr>
          <a:xfrm>
            <a:off x="660380" y="4479646"/>
            <a:ext cx="10870936" cy="400050"/>
          </a:xfrm>
          <a:prstGeom prst="roundRect">
            <a:avLst>
              <a:gd name="adj" fmla="val 19040"/>
            </a:avLst>
          </a:prstGeom>
          <a:solidFill>
            <a:srgbClr val="FFFFFF"/>
          </a:solidFill>
          <a:ln w="6350">
            <a:solidFill>
              <a:srgbClr val="E3E6EA"/>
            </a:solidFill>
            <a:prstDash val="solid"/>
          </a:ln>
        </p:spPr>
      </p:sp>
      <p:sp>
        <p:nvSpPr>
          <p:cNvPr id="24" name="Shape 22"/>
          <p:cNvSpPr/>
          <p:nvPr/>
        </p:nvSpPr>
        <p:spPr>
          <a:xfrm>
            <a:off x="780989" y="4574835"/>
            <a:ext cx="723748" cy="209580"/>
          </a:xfrm>
          <a:prstGeom prst="roundRect">
            <a:avLst>
              <a:gd name="adj" fmla="val 50000"/>
            </a:avLst>
          </a:prstGeom>
          <a:solidFill>
            <a:srgbClr val="DEF3E8"/>
          </a:solidFill>
          <a:ln/>
        </p:spPr>
      </p:sp>
      <p:sp>
        <p:nvSpPr>
          <p:cNvPr id="25" name="Text 23"/>
          <p:cNvSpPr txBox="1"/>
          <p:nvPr/>
        </p:nvSpPr>
        <p:spPr>
          <a:xfrm>
            <a:off x="857250" y="4606107"/>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26" name="Text 24"/>
          <p:cNvSpPr txBox="1"/>
          <p:nvPr/>
        </p:nvSpPr>
        <p:spPr>
          <a:xfrm>
            <a:off x="1606418" y="4579224"/>
            <a:ext cx="6469289"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ReturnUrl đọc từ biến môi trường: chạy localhost, ngrok hay domain thật đều không phải sửa code</a:t>
            </a:r>
            <a:endParaRPr lang="en-US" sz="1100" dirty="0"/>
          </a:p>
        </p:txBody>
      </p:sp>
      <p:sp>
        <p:nvSpPr>
          <p:cNvPr id="27" name="Text 25"/>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28" name="Text 26"/>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19</a:t>
            </a:r>
            <a:endParaRPr lang="en-US" sz="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425470"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Code</a:t>
            </a:r>
            <a:endParaRPr lang="en-US" sz="1100" dirty="0"/>
          </a:p>
        </p:txBody>
      </p:sp>
      <p:sp>
        <p:nvSpPr>
          <p:cNvPr id="3" name="Text 1"/>
          <p:cNvSpPr txBox="1"/>
          <p:nvPr/>
        </p:nvSpPr>
        <p:spPr>
          <a:xfrm>
            <a:off x="660380" y="643829"/>
            <a:ext cx="6214811"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hmacSHA512: vì sao viết như vậy</a:t>
            </a:r>
            <a:endParaRPr lang="en-US" sz="3000" dirty="0"/>
          </a:p>
        </p:txBody>
      </p:sp>
      <p:sp>
        <p:nvSpPr>
          <p:cNvPr id="4" name="Text 2"/>
          <p:cNvSpPr txBox="1"/>
          <p:nvPr/>
        </p:nvSpPr>
        <p:spPr>
          <a:xfrm>
            <a:off x="660380" y="1358798"/>
            <a:ext cx="1534912"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PaymentService.java</a:t>
            </a:r>
            <a:endParaRPr lang="en-US" sz="1000" dirty="0"/>
          </a:p>
        </p:txBody>
      </p:sp>
      <p:sp>
        <p:nvSpPr>
          <p:cNvPr id="5" name="Shape 3"/>
          <p:cNvSpPr/>
          <p:nvPr/>
        </p:nvSpPr>
        <p:spPr>
          <a:xfrm>
            <a:off x="660380" y="1601389"/>
            <a:ext cx="6145317" cy="3016880"/>
          </a:xfrm>
          <a:prstGeom prst="roundRect">
            <a:avLst>
              <a:gd name="adj" fmla="val 3367"/>
            </a:avLst>
          </a:prstGeom>
          <a:solidFill>
            <a:srgbClr val="0C131E"/>
          </a:solidFill>
          <a:ln/>
        </p:spPr>
      </p:sp>
      <p:sp>
        <p:nvSpPr>
          <p:cNvPr id="6" name="Text 4"/>
          <p:cNvSpPr txBox="1"/>
          <p:nvPr/>
        </p:nvSpPr>
        <p:spPr>
          <a:xfrm>
            <a:off x="907999" y="1783812"/>
            <a:ext cx="4326026" cy="206654"/>
          </a:xfrm>
          <a:prstGeom prst="rect">
            <a:avLst/>
          </a:prstGeom>
          <a:noFill/>
          <a:ln/>
        </p:spPr>
        <p:txBody>
          <a:bodyPr wrap="none" lIns="0" tIns="0" rIns="0" bIns="0" rtlCol="0" anchor="ctr"/>
          <a:lstStyle/>
          <a:p>
            <a:pPr algn="l" indent="0" marL="0">
              <a:buNone/>
            </a:pPr>
            <a:r>
              <a:rPr lang="en-US" sz="1050" dirty="0">
                <a:solidFill>
                  <a:srgbClr val="7FC2FF"/>
                </a:solidFill>
                <a:latin typeface="Courier New" pitchFamily="34" charset="0"/>
                <a:ea typeface="Courier New" pitchFamily="34" charset="-122"/>
                <a:cs typeface="Courier New" pitchFamily="34" charset="-120"/>
              </a:rPr>
              <a:t>static</a:t>
            </a:r>
            <a:pPr algn="l" indent="0" marL="0">
              <a:buNone/>
            </a:pPr>
            <a:r>
              <a:rPr lang="en-US" sz="1050" dirty="0">
                <a:solidFill>
                  <a:srgbClr val="E6EDF7"/>
                </a:solidFill>
                <a:latin typeface="Courier New" pitchFamily="34" charset="0"/>
                <a:ea typeface="Courier New" pitchFamily="34" charset="-122"/>
                <a:cs typeface="Courier New" pitchFamily="34" charset="-120"/>
              </a:rPr>
              <a:t> String hmacSHA512(String key, String data) {</a:t>
            </a:r>
            <a:endParaRPr lang="en-US" sz="1050" dirty="0"/>
          </a:p>
        </p:txBody>
      </p:sp>
      <p:sp>
        <p:nvSpPr>
          <p:cNvPr id="7" name="Text 5"/>
          <p:cNvSpPr txBox="1"/>
          <p:nvPr/>
        </p:nvSpPr>
        <p:spPr>
          <a:xfrm>
            <a:off x="907999" y="1990557"/>
            <a:ext cx="796625"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7FC2FF"/>
                </a:solidFill>
                <a:latin typeface="Courier New" pitchFamily="34" charset="0"/>
                <a:ea typeface="Courier New" pitchFamily="34" charset="-122"/>
                <a:cs typeface="Courier New" pitchFamily="34" charset="-120"/>
              </a:rPr>
              <a:t>try</a:t>
            </a:r>
            <a:pPr algn="l" indent="0" marL="0">
              <a:buNone/>
            </a:pPr>
            <a:r>
              <a:rPr lang="en-US" sz="1050" dirty="0">
                <a:solidFill>
                  <a:srgbClr val="E6EDF7"/>
                </a:solidFill>
                <a:latin typeface="Courier New" pitchFamily="34" charset="0"/>
                <a:ea typeface="Courier New" pitchFamily="34" charset="-122"/>
                <a:cs typeface="Courier New" pitchFamily="34" charset="-120"/>
              </a:rPr>
              <a:t> {</a:t>
            </a:r>
            <a:endParaRPr lang="en-US" sz="1050" dirty="0"/>
          </a:p>
        </p:txBody>
      </p:sp>
      <p:sp>
        <p:nvSpPr>
          <p:cNvPr id="8" name="Text 6"/>
          <p:cNvSpPr txBox="1"/>
          <p:nvPr/>
        </p:nvSpPr>
        <p:spPr>
          <a:xfrm>
            <a:off x="907999" y="2197212"/>
            <a:ext cx="4071732"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Mac mac = Mac.getInstance(</a:t>
            </a:r>
            <a:pPr algn="l" indent="0" marL="0">
              <a:buNone/>
            </a:pPr>
            <a:r>
              <a:rPr lang="en-US" sz="1050" dirty="0">
                <a:solidFill>
                  <a:srgbClr val="9BE3B4"/>
                </a:solidFill>
                <a:latin typeface="Courier New" pitchFamily="34" charset="0"/>
                <a:ea typeface="Courier New" pitchFamily="34" charset="-122"/>
                <a:cs typeface="Courier New" pitchFamily="34" charset="-120"/>
              </a:rPr>
              <a:t>"HmacSHA512"</a:t>
            </a:r>
            <a:pPr algn="l" indent="0" marL="0">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p:txBody>
      </p:sp>
      <p:sp>
        <p:nvSpPr>
          <p:cNvPr id="9" name="Text 7"/>
          <p:cNvSpPr txBox="1"/>
          <p:nvPr/>
        </p:nvSpPr>
        <p:spPr>
          <a:xfrm>
            <a:off x="907999" y="2403866"/>
            <a:ext cx="6022696"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mac.init(</a:t>
            </a:r>
            <a:pPr algn="l" indent="0" marL="0">
              <a:buNone/>
            </a:pPr>
            <a:r>
              <a:rPr lang="en-US" sz="1050" dirty="0">
                <a:solidFill>
                  <a:srgbClr val="7FC2FF"/>
                </a:solidFill>
                <a:latin typeface="Courier New" pitchFamily="34" charset="0"/>
                <a:ea typeface="Courier New" pitchFamily="34" charset="-122"/>
                <a:cs typeface="Courier New" pitchFamily="34" charset="-120"/>
              </a:rPr>
              <a:t>new</a:t>
            </a:r>
            <a:pPr algn="l" indent="0" marL="0">
              <a:buNone/>
            </a:pPr>
            <a:r>
              <a:rPr lang="en-US" sz="1050" dirty="0">
                <a:solidFill>
                  <a:srgbClr val="E6EDF7"/>
                </a:solidFill>
                <a:latin typeface="Courier New" pitchFamily="34" charset="0"/>
                <a:ea typeface="Courier New" pitchFamily="34" charset="-122"/>
                <a:cs typeface="Courier New" pitchFamily="34" charset="-120"/>
              </a:rPr>
              <a:t> SecretKeySpec(key.getBytes(UTF_8), </a:t>
            </a:r>
            <a:pPr algn="l" indent="0" marL="0">
              <a:buNone/>
            </a:pPr>
            <a:r>
              <a:rPr lang="en-US" sz="1050" dirty="0">
                <a:solidFill>
                  <a:srgbClr val="9BE3B4"/>
                </a:solidFill>
                <a:latin typeface="Courier New" pitchFamily="34" charset="0"/>
                <a:ea typeface="Courier New" pitchFamily="34" charset="-122"/>
                <a:cs typeface="Courier New" pitchFamily="34" charset="-120"/>
              </a:rPr>
              <a:t>"HmacSHA512"</a:t>
            </a:r>
            <a:pPr algn="l" indent="0" marL="0">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p:txBody>
      </p:sp>
      <p:sp>
        <p:nvSpPr>
          <p:cNvPr id="10" name="Text 8"/>
          <p:cNvSpPr txBox="1"/>
          <p:nvPr/>
        </p:nvSpPr>
        <p:spPr>
          <a:xfrm>
            <a:off x="907999" y="2610521"/>
            <a:ext cx="4835073"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7FC2FF"/>
                </a:solidFill>
                <a:latin typeface="Courier New" pitchFamily="34" charset="0"/>
                <a:ea typeface="Courier New" pitchFamily="34" charset="-122"/>
                <a:cs typeface="Courier New" pitchFamily="34" charset="-120"/>
              </a:rPr>
              <a:t>byte</a:t>
            </a:r>
            <a:pPr algn="l" indent="0" marL="0">
              <a:buNone/>
            </a:pPr>
            <a:r>
              <a:rPr lang="en-US" sz="1050" dirty="0">
                <a:solidFill>
                  <a:srgbClr val="E6EDF7"/>
                </a:solidFill>
                <a:latin typeface="Courier New" pitchFamily="34" charset="0"/>
                <a:ea typeface="Courier New" pitchFamily="34" charset="-122"/>
                <a:cs typeface="Courier New" pitchFamily="34" charset="-120"/>
              </a:rPr>
              <a:t>[] bytes = mac.doFinal(data.getBytes(UTF_8));</a:t>
            </a:r>
            <a:endParaRPr lang="en-US" sz="1050" dirty="0"/>
          </a:p>
        </p:txBody>
      </p:sp>
      <p:sp>
        <p:nvSpPr>
          <p:cNvPr id="11" name="Text 9"/>
          <p:cNvSpPr txBox="1"/>
          <p:nvPr/>
        </p:nvSpPr>
        <p:spPr>
          <a:xfrm>
            <a:off x="907999" y="3023829"/>
            <a:ext cx="5428701"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StringBuilder hex = </a:t>
            </a:r>
            <a:pPr algn="l" indent="0" marL="0">
              <a:buNone/>
            </a:pPr>
            <a:r>
              <a:rPr lang="en-US" sz="1050" dirty="0">
                <a:solidFill>
                  <a:srgbClr val="7FC2FF"/>
                </a:solidFill>
                <a:latin typeface="Courier New" pitchFamily="34" charset="0"/>
                <a:ea typeface="Courier New" pitchFamily="34" charset="-122"/>
                <a:cs typeface="Courier New" pitchFamily="34" charset="-120"/>
              </a:rPr>
              <a:t>new</a:t>
            </a:r>
            <a:pPr algn="l" indent="0" marL="0">
              <a:buNone/>
            </a:pPr>
            <a:r>
              <a:rPr lang="en-US" sz="1050" dirty="0">
                <a:solidFill>
                  <a:srgbClr val="E6EDF7"/>
                </a:solidFill>
                <a:latin typeface="Courier New" pitchFamily="34" charset="0"/>
                <a:ea typeface="Courier New" pitchFamily="34" charset="-122"/>
                <a:cs typeface="Courier New" pitchFamily="34" charset="-120"/>
              </a:rPr>
              <a:t> StringBuilder(bytes.length * 2);</a:t>
            </a:r>
            <a:endParaRPr lang="en-US" sz="1050" dirty="0"/>
          </a:p>
        </p:txBody>
      </p:sp>
      <p:sp>
        <p:nvSpPr>
          <p:cNvPr id="12" name="Shape 10"/>
          <p:cNvSpPr/>
          <p:nvPr/>
        </p:nvSpPr>
        <p:spPr>
          <a:xfrm>
            <a:off x="660380" y="3213110"/>
            <a:ext cx="6145317" cy="206654"/>
          </a:xfrm>
          <a:prstGeom prst="rect">
            <a:avLst/>
          </a:prstGeom>
          <a:solidFill>
            <a:srgbClr val="FFD479">
              <a:alpha val="13000"/>
            </a:srgbClr>
          </a:solidFill>
          <a:ln/>
        </p:spPr>
      </p:sp>
      <p:sp>
        <p:nvSpPr>
          <p:cNvPr id="13" name="Shape 11"/>
          <p:cNvSpPr/>
          <p:nvPr/>
        </p:nvSpPr>
        <p:spPr>
          <a:xfrm>
            <a:off x="660380" y="3213110"/>
            <a:ext cx="31730" cy="206654"/>
          </a:xfrm>
          <a:prstGeom prst="rect">
            <a:avLst/>
          </a:prstGeom>
          <a:solidFill>
            <a:srgbClr val="FFD479"/>
          </a:solidFill>
          <a:ln/>
        </p:spPr>
      </p:sp>
      <p:sp>
        <p:nvSpPr>
          <p:cNvPr id="14" name="Text 12"/>
          <p:cNvSpPr txBox="1"/>
          <p:nvPr/>
        </p:nvSpPr>
        <p:spPr>
          <a:xfrm>
            <a:off x="907999" y="3230484"/>
            <a:ext cx="5598780"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7FC2FF"/>
                </a:solidFill>
                <a:latin typeface="Courier New" pitchFamily="34" charset="0"/>
                <a:ea typeface="Courier New" pitchFamily="34" charset="-122"/>
                <a:cs typeface="Courier New" pitchFamily="34" charset="-120"/>
              </a:rPr>
              <a:t>for</a:t>
            </a:r>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7FC2FF"/>
                </a:solidFill>
                <a:latin typeface="Courier New" pitchFamily="34" charset="0"/>
                <a:ea typeface="Courier New" pitchFamily="34" charset="-122"/>
                <a:cs typeface="Courier New" pitchFamily="34" charset="-120"/>
              </a:rPr>
              <a:t>byte</a:t>
            </a:r>
            <a:pPr algn="l" indent="0" marL="0">
              <a:buNone/>
            </a:pPr>
            <a:r>
              <a:rPr lang="en-US" sz="1050" dirty="0">
                <a:solidFill>
                  <a:srgbClr val="E6EDF7"/>
                </a:solidFill>
                <a:latin typeface="Courier New" pitchFamily="34" charset="0"/>
                <a:ea typeface="Courier New" pitchFamily="34" charset="-122"/>
                <a:cs typeface="Courier New" pitchFamily="34" charset="-120"/>
              </a:rPr>
              <a:t> b : bytes) hex.append(String.format(</a:t>
            </a:r>
            <a:pPr algn="l" indent="0" marL="0">
              <a:buNone/>
            </a:pPr>
            <a:r>
              <a:rPr lang="en-US" sz="1050" dirty="0">
                <a:solidFill>
                  <a:srgbClr val="9BE3B4"/>
                </a:solidFill>
                <a:latin typeface="Courier New" pitchFamily="34" charset="0"/>
                <a:ea typeface="Courier New" pitchFamily="34" charset="-122"/>
                <a:cs typeface="Courier New" pitchFamily="34" charset="-120"/>
              </a:rPr>
              <a:t>"%02x"</a:t>
            </a:r>
            <a:pPr algn="l" indent="0" marL="0">
              <a:buNone/>
            </a:pPr>
            <a:r>
              <a:rPr lang="en-US" sz="1050" dirty="0">
                <a:solidFill>
                  <a:srgbClr val="E6EDF7"/>
                </a:solidFill>
                <a:latin typeface="Courier New" pitchFamily="34" charset="0"/>
                <a:ea typeface="Courier New" pitchFamily="34" charset="-122"/>
                <a:cs typeface="Courier New" pitchFamily="34" charset="-120"/>
              </a:rPr>
              <a:t>, b));</a:t>
            </a:r>
            <a:endParaRPr lang="en-US" sz="1050" dirty="0"/>
          </a:p>
        </p:txBody>
      </p:sp>
      <p:sp>
        <p:nvSpPr>
          <p:cNvPr id="15" name="Text 13"/>
          <p:cNvSpPr txBox="1"/>
          <p:nvPr/>
        </p:nvSpPr>
        <p:spPr>
          <a:xfrm>
            <a:off x="907999" y="3437230"/>
            <a:ext cx="2544867"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7FC2FF"/>
                </a:solidFill>
                <a:latin typeface="Courier New" pitchFamily="34" charset="0"/>
                <a:ea typeface="Courier New" pitchFamily="34" charset="-122"/>
                <a:cs typeface="Courier New" pitchFamily="34" charset="-120"/>
              </a:rPr>
              <a:t>return</a:t>
            </a:r>
            <a:pPr algn="l" indent="0" marL="0">
              <a:buNone/>
            </a:pPr>
            <a:r>
              <a:rPr lang="en-US" sz="1050" dirty="0">
                <a:solidFill>
                  <a:srgbClr val="E6EDF7"/>
                </a:solidFill>
                <a:latin typeface="Courier New" pitchFamily="34" charset="0"/>
                <a:ea typeface="Courier New" pitchFamily="34" charset="-122"/>
                <a:cs typeface="Courier New" pitchFamily="34" charset="-120"/>
              </a:rPr>
              <a:t> hex.toString();</a:t>
            </a:r>
            <a:endParaRPr lang="en-US" sz="1050" dirty="0"/>
          </a:p>
        </p:txBody>
      </p:sp>
      <p:sp>
        <p:nvSpPr>
          <p:cNvPr id="16" name="Text 14"/>
          <p:cNvSpPr txBox="1"/>
          <p:nvPr/>
        </p:nvSpPr>
        <p:spPr>
          <a:xfrm>
            <a:off x="907999" y="3643884"/>
            <a:ext cx="2290389"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 </a:t>
            </a:r>
            <a:pPr algn="l" indent="0" marL="0">
              <a:buNone/>
            </a:pPr>
            <a:r>
              <a:rPr lang="en-US" sz="1050" dirty="0">
                <a:solidFill>
                  <a:srgbClr val="7FC2FF"/>
                </a:solidFill>
                <a:latin typeface="Courier New" pitchFamily="34" charset="0"/>
                <a:ea typeface="Courier New" pitchFamily="34" charset="-122"/>
                <a:cs typeface="Courier New" pitchFamily="34" charset="-120"/>
              </a:rPr>
              <a:t>catch</a:t>
            </a:r>
            <a:pPr algn="l" indent="0" marL="0">
              <a:buNone/>
            </a:pPr>
            <a:r>
              <a:rPr lang="en-US" sz="1050" dirty="0">
                <a:solidFill>
                  <a:srgbClr val="E6EDF7"/>
                </a:solidFill>
                <a:latin typeface="Courier New" pitchFamily="34" charset="0"/>
                <a:ea typeface="Courier New" pitchFamily="34" charset="-122"/>
                <a:cs typeface="Courier New" pitchFamily="34" charset="-120"/>
              </a:rPr>
              <a:t> (Exception e) {</a:t>
            </a:r>
            <a:endParaRPr lang="en-US" sz="1050" dirty="0"/>
          </a:p>
        </p:txBody>
      </p:sp>
      <p:sp>
        <p:nvSpPr>
          <p:cNvPr id="17" name="Text 15"/>
          <p:cNvSpPr txBox="1"/>
          <p:nvPr/>
        </p:nvSpPr>
        <p:spPr>
          <a:xfrm>
            <a:off x="907999" y="3850538"/>
            <a:ext cx="4920021"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7FC2FF"/>
                </a:solidFill>
                <a:latin typeface="Courier New" pitchFamily="34" charset="0"/>
                <a:ea typeface="Courier New" pitchFamily="34" charset="-122"/>
                <a:cs typeface="Courier New" pitchFamily="34" charset="-120"/>
              </a:rPr>
              <a:t>throw</a:t>
            </a:r>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7FC2FF"/>
                </a:solidFill>
                <a:latin typeface="Courier New" pitchFamily="34" charset="0"/>
                <a:ea typeface="Courier New" pitchFamily="34" charset="-122"/>
                <a:cs typeface="Courier New" pitchFamily="34" charset="-120"/>
              </a:rPr>
              <a:t>new</a:t>
            </a:r>
            <a:pPr algn="l" indent="0" marL="0">
              <a:buNone/>
            </a:pPr>
            <a:r>
              <a:rPr lang="en-US" sz="1050" dirty="0">
                <a:solidFill>
                  <a:srgbClr val="E6EDF7"/>
                </a:solidFill>
                <a:latin typeface="Courier New" pitchFamily="34" charset="0"/>
                <a:ea typeface="Courier New" pitchFamily="34" charset="-122"/>
                <a:cs typeface="Courier New" pitchFamily="34" charset="-120"/>
              </a:rPr>
              <a:t> IllegalStateException(</a:t>
            </a:r>
            <a:pPr algn="l" indent="0" marL="0">
              <a:buNone/>
            </a:pPr>
            <a:r>
              <a:rPr lang="en-US" sz="1050" dirty="0">
                <a:solidFill>
                  <a:srgbClr val="9BE3B4"/>
                </a:solidFill>
                <a:latin typeface="Courier New" pitchFamily="34" charset="0"/>
                <a:ea typeface="Courier New" pitchFamily="34" charset="-122"/>
                <a:cs typeface="Courier New" pitchFamily="34" charset="-120"/>
              </a:rPr>
              <a:t>"HMAC-SHA512"</a:t>
            </a:r>
            <a:pPr algn="l" indent="0" marL="0">
              <a:buNone/>
            </a:pPr>
            <a:r>
              <a:rPr lang="en-US" sz="1050" dirty="0">
                <a:solidFill>
                  <a:srgbClr val="E6EDF7"/>
                </a:solidFill>
                <a:latin typeface="Courier New" pitchFamily="34" charset="0"/>
                <a:ea typeface="Courier New" pitchFamily="34" charset="-122"/>
                <a:cs typeface="Courier New" pitchFamily="34" charset="-120"/>
              </a:rPr>
              <a:t>, e);</a:t>
            </a:r>
            <a:endParaRPr lang="en-US" sz="1050" dirty="0"/>
          </a:p>
        </p:txBody>
      </p:sp>
      <p:sp>
        <p:nvSpPr>
          <p:cNvPr id="18" name="Text 16"/>
          <p:cNvSpPr txBox="1"/>
          <p:nvPr/>
        </p:nvSpPr>
        <p:spPr>
          <a:xfrm>
            <a:off x="907999" y="4057193"/>
            <a:ext cx="476311"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a:t>
            </a:r>
            <a:endParaRPr lang="en-US" sz="1050" dirty="0"/>
          </a:p>
        </p:txBody>
      </p:sp>
      <p:sp>
        <p:nvSpPr>
          <p:cNvPr id="19" name="Text 17"/>
          <p:cNvSpPr txBox="1"/>
          <p:nvPr/>
        </p:nvSpPr>
        <p:spPr>
          <a:xfrm>
            <a:off x="907999" y="4263847"/>
            <a:ext cx="156271"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p:txBody>
      </p:sp>
      <p:sp>
        <p:nvSpPr>
          <p:cNvPr id="20" name="Shape 18"/>
          <p:cNvSpPr/>
          <p:nvPr/>
        </p:nvSpPr>
        <p:spPr>
          <a:xfrm>
            <a:off x="7008967" y="1347368"/>
            <a:ext cx="4522348" cy="400050"/>
          </a:xfrm>
          <a:prstGeom prst="roundRect">
            <a:avLst>
              <a:gd name="adj" fmla="val 19040"/>
            </a:avLst>
          </a:prstGeom>
          <a:solidFill>
            <a:srgbClr val="FFFFFF"/>
          </a:solidFill>
          <a:ln w="6350">
            <a:solidFill>
              <a:srgbClr val="E3E6EA"/>
            </a:solidFill>
            <a:prstDash val="solid"/>
          </a:ln>
        </p:spPr>
      </p:sp>
      <p:sp>
        <p:nvSpPr>
          <p:cNvPr id="21" name="Shape 19"/>
          <p:cNvSpPr/>
          <p:nvPr/>
        </p:nvSpPr>
        <p:spPr>
          <a:xfrm>
            <a:off x="7129577" y="1442649"/>
            <a:ext cx="982614" cy="209580"/>
          </a:xfrm>
          <a:prstGeom prst="roundRect">
            <a:avLst>
              <a:gd name="adj" fmla="val 50000"/>
            </a:avLst>
          </a:prstGeom>
          <a:solidFill>
            <a:srgbClr val="FDE8E6"/>
          </a:solidFill>
          <a:ln/>
        </p:spPr>
      </p:sp>
      <p:sp>
        <p:nvSpPr>
          <p:cNvPr id="22" name="Text 20"/>
          <p:cNvSpPr txBox="1"/>
          <p:nvPr/>
        </p:nvSpPr>
        <p:spPr>
          <a:xfrm>
            <a:off x="7205746" y="1473830"/>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23" name="Text 21"/>
          <p:cNvSpPr txBox="1"/>
          <p:nvPr/>
        </p:nvSpPr>
        <p:spPr>
          <a:xfrm>
            <a:off x="8213781" y="1446947"/>
            <a:ext cx="3004444"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Thuật toán HMAC-SHA512, kết quả dạng hex</a:t>
            </a:r>
            <a:endParaRPr lang="en-US" sz="1100" dirty="0"/>
          </a:p>
        </p:txBody>
      </p:sp>
      <p:sp>
        <p:nvSpPr>
          <p:cNvPr id="24" name="Shape 22"/>
          <p:cNvSpPr/>
          <p:nvPr/>
        </p:nvSpPr>
        <p:spPr>
          <a:xfrm>
            <a:off x="7008967" y="1823588"/>
            <a:ext cx="4522348" cy="400050"/>
          </a:xfrm>
          <a:prstGeom prst="roundRect">
            <a:avLst>
              <a:gd name="adj" fmla="val 19040"/>
            </a:avLst>
          </a:prstGeom>
          <a:solidFill>
            <a:srgbClr val="FFFFFF"/>
          </a:solidFill>
          <a:ln w="6350">
            <a:solidFill>
              <a:srgbClr val="E3E6EA"/>
            </a:solidFill>
            <a:prstDash val="solid"/>
          </a:ln>
        </p:spPr>
      </p:sp>
      <p:sp>
        <p:nvSpPr>
          <p:cNvPr id="25" name="Shape 23"/>
          <p:cNvSpPr/>
          <p:nvPr/>
        </p:nvSpPr>
        <p:spPr>
          <a:xfrm>
            <a:off x="7129577" y="1918868"/>
            <a:ext cx="982614" cy="209580"/>
          </a:xfrm>
          <a:prstGeom prst="roundRect">
            <a:avLst>
              <a:gd name="adj" fmla="val 50000"/>
            </a:avLst>
          </a:prstGeom>
          <a:solidFill>
            <a:srgbClr val="FDE8E6"/>
          </a:solidFill>
          <a:ln/>
        </p:spPr>
      </p:sp>
      <p:sp>
        <p:nvSpPr>
          <p:cNvPr id="26" name="Text 24"/>
          <p:cNvSpPr txBox="1"/>
          <p:nvPr/>
        </p:nvSpPr>
        <p:spPr>
          <a:xfrm>
            <a:off x="7205746" y="1950049"/>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27" name="Text 25"/>
          <p:cNvSpPr txBox="1"/>
          <p:nvPr/>
        </p:nvSpPr>
        <p:spPr>
          <a:xfrm>
            <a:off x="8213781" y="1923166"/>
            <a:ext cx="2637861" cy="195590"/>
          </a:xfrm>
          <a:prstGeom prst="rect">
            <a:avLst/>
          </a:prstGeom>
          <a:noFill/>
          <a:ln/>
        </p:spPr>
        <p:txBody>
          <a:bodyPr wrap="square" lIns="0" tIns="0" rIns="0" bIns="0" rtlCol="0" anchor="ctr"/>
          <a:lstStyle/>
          <a:p>
            <a:pPr algn="l" indent="0" marL="0">
              <a:buNone/>
            </a:pPr>
            <a:r>
              <a:rPr lang="en-US" sz="1100" dirty="0">
                <a:solidFill>
                  <a:srgbClr val="3F454D"/>
                </a:solidFill>
                <a:latin typeface="Courier New" pitchFamily="34" charset="0"/>
                <a:ea typeface="Courier New" pitchFamily="34" charset="-122"/>
                <a:cs typeface="Courier New" pitchFamily="34" charset="-120"/>
              </a:rPr>
              <a:t>%02</a:t>
            </a:r>
            <a:pPr algn="l" indent="0" marL="0">
              <a:buNone/>
            </a:pPr>
            <a:r>
              <a:rPr lang="en-US" sz="1100" dirty="0">
                <a:solidFill>
                  <a:srgbClr val="3F454D"/>
                </a:solidFill>
                <a:latin typeface="Arial" pitchFamily="34" charset="0"/>
                <a:ea typeface="Arial" pitchFamily="34" charset="-122"/>
                <a:cs typeface="Arial" pitchFamily="34" charset="-120"/>
              </a:rPr>
              <a:t>: mỗi byte đủ 2 ký tự, tổng 128 ký tự</a:t>
            </a:r>
            <a:endParaRPr lang="en-US" sz="1100" dirty="0"/>
          </a:p>
        </p:txBody>
      </p:sp>
      <p:sp>
        <p:nvSpPr>
          <p:cNvPr id="28" name="Shape 26"/>
          <p:cNvSpPr/>
          <p:nvPr/>
        </p:nvSpPr>
        <p:spPr>
          <a:xfrm>
            <a:off x="7008967" y="2299807"/>
            <a:ext cx="4522348" cy="400050"/>
          </a:xfrm>
          <a:prstGeom prst="roundRect">
            <a:avLst>
              <a:gd name="adj" fmla="val 19040"/>
            </a:avLst>
          </a:prstGeom>
          <a:solidFill>
            <a:srgbClr val="FFFFFF"/>
          </a:solidFill>
          <a:ln w="6350">
            <a:solidFill>
              <a:srgbClr val="E3E6EA"/>
            </a:solidFill>
            <a:prstDash val="solid"/>
          </a:ln>
        </p:spPr>
      </p:sp>
      <p:sp>
        <p:nvSpPr>
          <p:cNvPr id="29" name="Shape 27"/>
          <p:cNvSpPr/>
          <p:nvPr/>
        </p:nvSpPr>
        <p:spPr>
          <a:xfrm>
            <a:off x="7129577" y="2395088"/>
            <a:ext cx="723748" cy="209580"/>
          </a:xfrm>
          <a:prstGeom prst="roundRect">
            <a:avLst>
              <a:gd name="adj" fmla="val 50000"/>
            </a:avLst>
          </a:prstGeom>
          <a:solidFill>
            <a:srgbClr val="DEF3E8"/>
          </a:solidFill>
          <a:ln/>
        </p:spPr>
      </p:sp>
      <p:sp>
        <p:nvSpPr>
          <p:cNvPr id="30" name="Text 28"/>
          <p:cNvSpPr txBox="1"/>
          <p:nvPr/>
        </p:nvSpPr>
        <p:spPr>
          <a:xfrm>
            <a:off x="7205746" y="2426360"/>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31" name="Text 29"/>
          <p:cNvSpPr txBox="1"/>
          <p:nvPr/>
        </p:nvSpPr>
        <p:spPr>
          <a:xfrm>
            <a:off x="7955006" y="2399386"/>
            <a:ext cx="3287725"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Class </a:t>
            </a:r>
            <a:pPr algn="l" indent="0" marL="0">
              <a:buNone/>
            </a:pPr>
            <a:r>
              <a:rPr lang="en-US" sz="1100" dirty="0">
                <a:solidFill>
                  <a:srgbClr val="3F454D"/>
                </a:solidFill>
                <a:latin typeface="Courier New" pitchFamily="34" charset="0"/>
                <a:ea typeface="Courier New" pitchFamily="34" charset="-122"/>
                <a:cs typeface="Courier New" pitchFamily="34" charset="-120"/>
              </a:rPr>
              <a:t>Mac</a:t>
            </a:r>
            <a:pPr algn="l" indent="0" marL="0">
              <a:buNone/>
            </a:pPr>
            <a:r>
              <a:rPr lang="en-US" sz="1100" dirty="0">
                <a:solidFill>
                  <a:srgbClr val="3F454D"/>
                </a:solidFill>
                <a:latin typeface="Arial" pitchFamily="34" charset="0"/>
                <a:ea typeface="Arial" pitchFamily="34" charset="-122"/>
                <a:cs typeface="Arial" pitchFamily="34" charset="-120"/>
              </a:rPr>
              <a:t> có sẵn trong JDK, không thêm thư viện</a:t>
            </a:r>
            <a:endParaRPr lang="en-US" sz="1100" dirty="0"/>
          </a:p>
        </p:txBody>
      </p:sp>
      <p:sp>
        <p:nvSpPr>
          <p:cNvPr id="32" name="Shape 30"/>
          <p:cNvSpPr/>
          <p:nvPr/>
        </p:nvSpPr>
        <p:spPr>
          <a:xfrm>
            <a:off x="7008967" y="2776027"/>
            <a:ext cx="4522348" cy="581650"/>
          </a:xfrm>
          <a:prstGeom prst="roundRect">
            <a:avLst>
              <a:gd name="adj" fmla="val 13095"/>
            </a:avLst>
          </a:prstGeom>
          <a:solidFill>
            <a:srgbClr val="FFFFFF"/>
          </a:solidFill>
          <a:ln w="6350">
            <a:solidFill>
              <a:srgbClr val="E3E6EA"/>
            </a:solidFill>
            <a:prstDash val="solid"/>
          </a:ln>
        </p:spPr>
      </p:sp>
      <p:sp>
        <p:nvSpPr>
          <p:cNvPr id="33" name="Shape 31"/>
          <p:cNvSpPr/>
          <p:nvPr/>
        </p:nvSpPr>
        <p:spPr>
          <a:xfrm>
            <a:off x="7129577" y="2871307"/>
            <a:ext cx="723748" cy="209580"/>
          </a:xfrm>
          <a:prstGeom prst="roundRect">
            <a:avLst>
              <a:gd name="adj" fmla="val 50000"/>
            </a:avLst>
          </a:prstGeom>
          <a:solidFill>
            <a:srgbClr val="DEF3E8"/>
          </a:solidFill>
          <a:ln/>
        </p:spPr>
      </p:sp>
      <p:sp>
        <p:nvSpPr>
          <p:cNvPr id="34" name="Text 32"/>
          <p:cNvSpPr txBox="1"/>
          <p:nvPr/>
        </p:nvSpPr>
        <p:spPr>
          <a:xfrm>
            <a:off x="7205746" y="2902580"/>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35" name="Text 33"/>
          <p:cNvSpPr txBox="1"/>
          <p:nvPr/>
        </p:nvSpPr>
        <p:spPr>
          <a:xfrm>
            <a:off x="7955006" y="2866553"/>
            <a:ext cx="3559393" cy="452079"/>
          </a:xfrm>
          <a:prstGeom prst="rect">
            <a:avLst/>
          </a:prstGeom>
          <a:noFill/>
          <a:ln/>
        </p:spPr>
        <p:txBody>
          <a:bodyPr wrap="square" lIns="0" tIns="0" rIns="0" bIns="0" rtlCol="0" anchor="t"/>
          <a:lstStyle/>
          <a:p>
            <a:pPr algn="l" indent="0" marL="0">
              <a:lnSpc>
                <a:spcPts val="1540"/>
              </a:lnSpc>
              <a:buNone/>
            </a:pPr>
            <a:r>
              <a:rPr lang="en-US" sz="1100" dirty="0">
                <a:solidFill>
                  <a:srgbClr val="3F454D"/>
                </a:solidFill>
                <a:latin typeface="Arial" pitchFamily="34" charset="0"/>
                <a:ea typeface="Arial" pitchFamily="34" charset="-122"/>
                <a:cs typeface="Arial" pitchFamily="34" charset="-120"/>
              </a:rPr>
              <a:t>Lấy byte theo UTF-8 để chuỗi có ký tự đặc biệt vẫn ra cùng kết quả</a:t>
            </a:r>
            <a:endParaRPr lang="en-US" sz="1100" dirty="0"/>
          </a:p>
        </p:txBody>
      </p:sp>
      <p:sp>
        <p:nvSpPr>
          <p:cNvPr id="36" name="Shape 34"/>
          <p:cNvSpPr/>
          <p:nvPr/>
        </p:nvSpPr>
        <p:spPr>
          <a:xfrm>
            <a:off x="7008967" y="3433846"/>
            <a:ext cx="4522348" cy="400050"/>
          </a:xfrm>
          <a:prstGeom prst="roundRect">
            <a:avLst>
              <a:gd name="adj" fmla="val 19040"/>
            </a:avLst>
          </a:prstGeom>
          <a:solidFill>
            <a:srgbClr val="FFFFFF"/>
          </a:solidFill>
          <a:ln w="6350">
            <a:solidFill>
              <a:srgbClr val="E3E6EA"/>
            </a:solidFill>
            <a:prstDash val="solid"/>
          </a:ln>
        </p:spPr>
      </p:sp>
      <p:sp>
        <p:nvSpPr>
          <p:cNvPr id="37" name="Shape 35"/>
          <p:cNvSpPr/>
          <p:nvPr/>
        </p:nvSpPr>
        <p:spPr>
          <a:xfrm>
            <a:off x="7129577" y="3529127"/>
            <a:ext cx="723748" cy="209580"/>
          </a:xfrm>
          <a:prstGeom prst="roundRect">
            <a:avLst>
              <a:gd name="adj" fmla="val 50000"/>
            </a:avLst>
          </a:prstGeom>
          <a:solidFill>
            <a:srgbClr val="DEF3E8"/>
          </a:solidFill>
          <a:ln/>
        </p:spPr>
      </p:sp>
      <p:sp>
        <p:nvSpPr>
          <p:cNvPr id="38" name="Text 36"/>
          <p:cNvSpPr txBox="1"/>
          <p:nvPr/>
        </p:nvSpPr>
        <p:spPr>
          <a:xfrm>
            <a:off x="7205746" y="3560399"/>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39" name="Text 37"/>
          <p:cNvSpPr txBox="1"/>
          <p:nvPr/>
        </p:nvSpPr>
        <p:spPr>
          <a:xfrm>
            <a:off x="7955006" y="3533424"/>
            <a:ext cx="3644524" cy="195590"/>
          </a:xfrm>
          <a:prstGeom prst="rect">
            <a:avLst/>
          </a:prstGeom>
          <a:noFill/>
          <a:ln/>
        </p:spPr>
        <p:txBody>
          <a:bodyPr wrap="square" lIns="0" tIns="0" rIns="0" bIns="0" rtlCol="0" anchor="ctr"/>
          <a:lstStyle/>
          <a:p>
            <a:pPr algn="l" indent="0" marL="0">
              <a:buNone/>
            </a:pPr>
            <a:r>
              <a:rPr lang="en-US" sz="1100" dirty="0">
                <a:solidFill>
                  <a:srgbClr val="3F454D"/>
                </a:solidFill>
                <a:latin typeface="Courier New" pitchFamily="34" charset="0"/>
                <a:ea typeface="Courier New" pitchFamily="34" charset="-122"/>
                <a:cs typeface="Courier New" pitchFamily="34" charset="-120"/>
              </a:rPr>
              <a:t>x</a:t>
            </a:r>
            <a:pPr algn="l" indent="0" marL="0">
              <a:buNone/>
            </a:pPr>
            <a:r>
              <a:rPr lang="en-US" sz="1100" dirty="0">
                <a:solidFill>
                  <a:srgbClr val="3F454D"/>
                </a:solidFill>
                <a:latin typeface="Arial" pitchFamily="34" charset="0"/>
                <a:ea typeface="Arial" pitchFamily="34" charset="-122"/>
                <a:cs typeface="Arial" pitchFamily="34" charset="-120"/>
              </a:rPr>
              <a:t> chữ thường theo code mẫu, VNPAY nhận cả chữ hoa</a:t>
            </a:r>
            <a:endParaRPr lang="en-US" sz="1100" dirty="0"/>
          </a:p>
        </p:txBody>
      </p:sp>
      <p:sp>
        <p:nvSpPr>
          <p:cNvPr id="40" name="Text 38"/>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41" name="Text 39"/>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20</a:t>
            </a:r>
            <a:endParaRPr lang="en-US" sz="9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425470"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Code</a:t>
            </a:r>
            <a:endParaRPr lang="en-US" sz="1100" dirty="0"/>
          </a:p>
        </p:txBody>
      </p:sp>
      <p:sp>
        <p:nvSpPr>
          <p:cNvPr id="3" name="Text 1"/>
          <p:cNvSpPr txBox="1"/>
          <p:nvPr/>
        </p:nvSpPr>
        <p:spPr>
          <a:xfrm>
            <a:off x="660380" y="643829"/>
            <a:ext cx="6883146"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buildQueryString: vì sao viết như vậy</a:t>
            </a:r>
            <a:endParaRPr lang="en-US" sz="3000" dirty="0"/>
          </a:p>
        </p:txBody>
      </p:sp>
      <p:sp>
        <p:nvSpPr>
          <p:cNvPr id="4" name="Text 2"/>
          <p:cNvSpPr txBox="1"/>
          <p:nvPr/>
        </p:nvSpPr>
        <p:spPr>
          <a:xfrm>
            <a:off x="660380" y="1358798"/>
            <a:ext cx="1534912"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PaymentService.java</a:t>
            </a:r>
            <a:endParaRPr lang="en-US" sz="1000" dirty="0"/>
          </a:p>
        </p:txBody>
      </p:sp>
      <p:sp>
        <p:nvSpPr>
          <p:cNvPr id="5" name="Shape 3"/>
          <p:cNvSpPr/>
          <p:nvPr/>
        </p:nvSpPr>
        <p:spPr>
          <a:xfrm>
            <a:off x="660380" y="1601389"/>
            <a:ext cx="6385255" cy="2396825"/>
          </a:xfrm>
          <a:prstGeom prst="roundRect">
            <a:avLst>
              <a:gd name="adj" fmla="val 4239"/>
            </a:avLst>
          </a:prstGeom>
          <a:solidFill>
            <a:srgbClr val="0C131E"/>
          </a:solidFill>
          <a:ln/>
        </p:spPr>
      </p:sp>
      <p:sp>
        <p:nvSpPr>
          <p:cNvPr id="6" name="Text 4"/>
          <p:cNvSpPr txBox="1"/>
          <p:nvPr/>
        </p:nvSpPr>
        <p:spPr>
          <a:xfrm>
            <a:off x="907999" y="1783812"/>
            <a:ext cx="5089459" cy="206654"/>
          </a:xfrm>
          <a:prstGeom prst="rect">
            <a:avLst/>
          </a:prstGeom>
          <a:noFill/>
          <a:ln/>
        </p:spPr>
        <p:txBody>
          <a:bodyPr wrap="none" lIns="0" tIns="0" rIns="0" bIns="0" rtlCol="0" anchor="ctr"/>
          <a:lstStyle/>
          <a:p>
            <a:pPr algn="l" indent="0" marL="0">
              <a:buNone/>
            </a:pPr>
            <a:r>
              <a:rPr lang="en-US" sz="1050" dirty="0">
                <a:solidFill>
                  <a:srgbClr val="7FC2FF"/>
                </a:solidFill>
                <a:latin typeface="Courier New" pitchFamily="34" charset="0"/>
                <a:ea typeface="Courier New" pitchFamily="34" charset="-122"/>
                <a:cs typeface="Courier New" pitchFamily="34" charset="-120"/>
              </a:rPr>
              <a:t>static</a:t>
            </a:r>
            <a:pPr algn="l" indent="0" marL="0">
              <a:buNone/>
            </a:pPr>
            <a:r>
              <a:rPr lang="en-US" sz="1050" dirty="0">
                <a:solidFill>
                  <a:srgbClr val="E6EDF7"/>
                </a:solidFill>
                <a:latin typeface="Courier New" pitchFamily="34" charset="0"/>
                <a:ea typeface="Courier New" pitchFamily="34" charset="-122"/>
                <a:cs typeface="Courier New" pitchFamily="34" charset="-120"/>
              </a:rPr>
              <a:t> String buildQueryString(Map&lt;String, String&gt; params) {</a:t>
            </a:r>
            <a:endParaRPr lang="en-US" sz="1050" dirty="0"/>
          </a:p>
        </p:txBody>
      </p:sp>
      <p:sp>
        <p:nvSpPr>
          <p:cNvPr id="7" name="Text 5"/>
          <p:cNvSpPr txBox="1"/>
          <p:nvPr/>
        </p:nvSpPr>
        <p:spPr>
          <a:xfrm>
            <a:off x="907999" y="1990557"/>
            <a:ext cx="3647542"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StringBuilder sb = </a:t>
            </a:r>
            <a:pPr algn="l" indent="0" marL="0">
              <a:buNone/>
            </a:pPr>
            <a:r>
              <a:rPr lang="en-US" sz="1050" dirty="0">
                <a:solidFill>
                  <a:srgbClr val="7FC2FF"/>
                </a:solidFill>
                <a:latin typeface="Courier New" pitchFamily="34" charset="0"/>
                <a:ea typeface="Courier New" pitchFamily="34" charset="-122"/>
                <a:cs typeface="Courier New" pitchFamily="34" charset="-120"/>
              </a:rPr>
              <a:t>new</a:t>
            </a:r>
            <a:pPr algn="l" indent="0" marL="0">
              <a:buNone/>
            </a:pPr>
            <a:r>
              <a:rPr lang="en-US" sz="1050" dirty="0">
                <a:solidFill>
                  <a:srgbClr val="E6EDF7"/>
                </a:solidFill>
                <a:latin typeface="Courier New" pitchFamily="34" charset="0"/>
                <a:ea typeface="Courier New" pitchFamily="34" charset="-122"/>
                <a:cs typeface="Courier New" pitchFamily="34" charset="-120"/>
              </a:rPr>
              <a:t> StringBuilder();</a:t>
            </a:r>
            <a:endParaRPr lang="en-US" sz="1050" dirty="0"/>
          </a:p>
        </p:txBody>
      </p:sp>
      <p:sp>
        <p:nvSpPr>
          <p:cNvPr id="8" name="Shape 6"/>
          <p:cNvSpPr/>
          <p:nvPr/>
        </p:nvSpPr>
        <p:spPr>
          <a:xfrm>
            <a:off x="660380" y="2179747"/>
            <a:ext cx="6385255" cy="206654"/>
          </a:xfrm>
          <a:prstGeom prst="rect">
            <a:avLst/>
          </a:prstGeom>
          <a:solidFill>
            <a:srgbClr val="FFD479">
              <a:alpha val="13000"/>
            </a:srgbClr>
          </a:solidFill>
          <a:ln/>
        </p:spPr>
      </p:sp>
      <p:sp>
        <p:nvSpPr>
          <p:cNvPr id="9" name="Shape 7"/>
          <p:cNvSpPr/>
          <p:nvPr/>
        </p:nvSpPr>
        <p:spPr>
          <a:xfrm>
            <a:off x="660380" y="2179747"/>
            <a:ext cx="31730" cy="206654"/>
          </a:xfrm>
          <a:prstGeom prst="rect">
            <a:avLst/>
          </a:prstGeom>
          <a:solidFill>
            <a:srgbClr val="FFD479"/>
          </a:solidFill>
          <a:ln/>
        </p:spPr>
      </p:sp>
      <p:sp>
        <p:nvSpPr>
          <p:cNvPr id="10" name="Text 8"/>
          <p:cNvSpPr txBox="1"/>
          <p:nvPr/>
        </p:nvSpPr>
        <p:spPr>
          <a:xfrm>
            <a:off x="907999" y="2197212"/>
            <a:ext cx="6276990"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7FC2FF"/>
                </a:solidFill>
                <a:latin typeface="Courier New" pitchFamily="34" charset="0"/>
                <a:ea typeface="Courier New" pitchFamily="34" charset="-122"/>
                <a:cs typeface="Courier New" pitchFamily="34" charset="-120"/>
              </a:rPr>
              <a:t>for</a:t>
            </a:r>
            <a:pPr algn="l" indent="0" marL="0">
              <a:buNone/>
            </a:pPr>
            <a:r>
              <a:rPr lang="en-US" sz="1050" dirty="0">
                <a:solidFill>
                  <a:srgbClr val="E6EDF7"/>
                </a:solidFill>
                <a:latin typeface="Courier New" pitchFamily="34" charset="0"/>
                <a:ea typeface="Courier New" pitchFamily="34" charset="-122"/>
                <a:cs typeface="Courier New" pitchFamily="34" charset="-120"/>
              </a:rPr>
              <a:t> (Map.Entry&lt;String, String&gt; e : </a:t>
            </a:r>
            <a:pPr algn="l" indent="0" marL="0">
              <a:buNone/>
            </a:pPr>
            <a:r>
              <a:rPr lang="en-US" sz="1050" dirty="0">
                <a:solidFill>
                  <a:srgbClr val="7FC2FF"/>
                </a:solidFill>
                <a:latin typeface="Courier New" pitchFamily="34" charset="0"/>
                <a:ea typeface="Courier New" pitchFamily="34" charset="-122"/>
                <a:cs typeface="Courier New" pitchFamily="34" charset="-120"/>
              </a:rPr>
              <a:t>new</a:t>
            </a:r>
            <a:pPr algn="l" indent="0" marL="0">
              <a:buNone/>
            </a:pPr>
            <a:r>
              <a:rPr lang="en-US" sz="1050" dirty="0">
                <a:solidFill>
                  <a:srgbClr val="E6EDF7"/>
                </a:solidFill>
                <a:latin typeface="Courier New" pitchFamily="34" charset="0"/>
                <a:ea typeface="Courier New" pitchFamily="34" charset="-122"/>
                <a:cs typeface="Courier New" pitchFamily="34" charset="-120"/>
              </a:rPr>
              <a:t> TreeMap&lt;&gt;(params).entrySet()) {</a:t>
            </a:r>
            <a:endParaRPr lang="en-US" sz="1050" dirty="0"/>
          </a:p>
        </p:txBody>
      </p:sp>
      <p:sp>
        <p:nvSpPr>
          <p:cNvPr id="11" name="Shape 9"/>
          <p:cNvSpPr/>
          <p:nvPr/>
        </p:nvSpPr>
        <p:spPr>
          <a:xfrm>
            <a:off x="660380" y="2386493"/>
            <a:ext cx="6385255" cy="206654"/>
          </a:xfrm>
          <a:prstGeom prst="rect">
            <a:avLst/>
          </a:prstGeom>
          <a:solidFill>
            <a:srgbClr val="FFD479">
              <a:alpha val="13000"/>
            </a:srgbClr>
          </a:solidFill>
          <a:ln/>
        </p:spPr>
      </p:sp>
      <p:sp>
        <p:nvSpPr>
          <p:cNvPr id="12" name="Shape 10"/>
          <p:cNvSpPr/>
          <p:nvPr/>
        </p:nvSpPr>
        <p:spPr>
          <a:xfrm>
            <a:off x="660380" y="2386493"/>
            <a:ext cx="31730" cy="206654"/>
          </a:xfrm>
          <a:prstGeom prst="rect">
            <a:avLst/>
          </a:prstGeom>
          <a:solidFill>
            <a:srgbClr val="FFD479"/>
          </a:solidFill>
          <a:ln/>
        </p:spPr>
      </p:sp>
      <p:sp>
        <p:nvSpPr>
          <p:cNvPr id="13" name="Text 11"/>
          <p:cNvSpPr txBox="1"/>
          <p:nvPr/>
        </p:nvSpPr>
        <p:spPr>
          <a:xfrm>
            <a:off x="907999" y="2403866"/>
            <a:ext cx="5853166"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7FC2FF"/>
                </a:solidFill>
                <a:latin typeface="Courier New" pitchFamily="34" charset="0"/>
                <a:ea typeface="Courier New" pitchFamily="34" charset="-122"/>
                <a:cs typeface="Courier New" pitchFamily="34" charset="-120"/>
              </a:rPr>
              <a:t>if</a:t>
            </a:r>
            <a:pPr algn="l" indent="0" marL="0">
              <a:buNone/>
            </a:pPr>
            <a:r>
              <a:rPr lang="en-US" sz="1050" dirty="0">
                <a:solidFill>
                  <a:srgbClr val="E6EDF7"/>
                </a:solidFill>
                <a:latin typeface="Courier New" pitchFamily="34" charset="0"/>
                <a:ea typeface="Courier New" pitchFamily="34" charset="-122"/>
                <a:cs typeface="Courier New" pitchFamily="34" charset="-120"/>
              </a:rPr>
              <a:t> (e.getValue() == </a:t>
            </a:r>
            <a:pPr algn="l" indent="0" marL="0">
              <a:buNone/>
            </a:pPr>
            <a:r>
              <a:rPr lang="en-US" sz="1050" dirty="0">
                <a:solidFill>
                  <a:srgbClr val="7FC2FF"/>
                </a:solidFill>
                <a:latin typeface="Courier New" pitchFamily="34" charset="0"/>
                <a:ea typeface="Courier New" pitchFamily="34" charset="-122"/>
                <a:cs typeface="Courier New" pitchFamily="34" charset="-120"/>
              </a:rPr>
              <a:t>null</a:t>
            </a:r>
            <a:pPr algn="l" indent="0" marL="0">
              <a:buNone/>
            </a:pPr>
            <a:r>
              <a:rPr lang="en-US" sz="1050" dirty="0">
                <a:solidFill>
                  <a:srgbClr val="E6EDF7"/>
                </a:solidFill>
                <a:latin typeface="Courier New" pitchFamily="34" charset="0"/>
                <a:ea typeface="Courier New" pitchFamily="34" charset="-122"/>
                <a:cs typeface="Courier New" pitchFamily="34" charset="-120"/>
              </a:rPr>
              <a:t> || e.getValue().isEmpty()) </a:t>
            </a:r>
            <a:pPr algn="l" indent="0" marL="0">
              <a:buNone/>
            </a:pPr>
            <a:r>
              <a:rPr lang="en-US" sz="1050" dirty="0">
                <a:solidFill>
                  <a:srgbClr val="7FC2FF"/>
                </a:solidFill>
                <a:latin typeface="Courier New" pitchFamily="34" charset="0"/>
                <a:ea typeface="Courier New" pitchFamily="34" charset="-122"/>
                <a:cs typeface="Courier New" pitchFamily="34" charset="-120"/>
              </a:rPr>
              <a:t>continue</a:t>
            </a:r>
            <a:pPr algn="l" indent="0" marL="0">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p:txBody>
      </p:sp>
      <p:sp>
        <p:nvSpPr>
          <p:cNvPr id="14" name="Text 12"/>
          <p:cNvSpPr txBox="1"/>
          <p:nvPr/>
        </p:nvSpPr>
        <p:spPr>
          <a:xfrm>
            <a:off x="907999" y="2610521"/>
            <a:ext cx="3732581"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7FC2FF"/>
                </a:solidFill>
                <a:latin typeface="Courier New" pitchFamily="34" charset="0"/>
                <a:ea typeface="Courier New" pitchFamily="34" charset="-122"/>
                <a:cs typeface="Courier New" pitchFamily="34" charset="-120"/>
              </a:rPr>
              <a:t>if</a:t>
            </a:r>
            <a:pPr algn="l" indent="0" marL="0">
              <a:buNone/>
            </a:pPr>
            <a:r>
              <a:rPr lang="en-US" sz="1050" dirty="0">
                <a:solidFill>
                  <a:srgbClr val="E6EDF7"/>
                </a:solidFill>
                <a:latin typeface="Courier New" pitchFamily="34" charset="0"/>
                <a:ea typeface="Courier New" pitchFamily="34" charset="-122"/>
                <a:cs typeface="Courier New" pitchFamily="34" charset="-120"/>
              </a:rPr>
              <a:t> (sb.length() &gt; 0) sb.append(</a:t>
            </a:r>
            <a:pPr algn="l" indent="0" marL="0">
              <a:buNone/>
            </a:pPr>
            <a:r>
              <a:rPr lang="en-US" sz="1050" dirty="0">
                <a:solidFill>
                  <a:srgbClr val="9BE3B4"/>
                </a:solidFill>
                <a:latin typeface="Courier New" pitchFamily="34" charset="0"/>
                <a:ea typeface="Courier New" pitchFamily="34" charset="-122"/>
                <a:cs typeface="Courier New" pitchFamily="34" charset="-120"/>
              </a:rPr>
              <a:t>'&amp;'</a:t>
            </a:r>
            <a:pPr algn="l" indent="0" marL="0">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p:txBody>
      </p:sp>
      <p:sp>
        <p:nvSpPr>
          <p:cNvPr id="15" name="Text 13"/>
          <p:cNvSpPr txBox="1"/>
          <p:nvPr/>
        </p:nvSpPr>
        <p:spPr>
          <a:xfrm>
            <a:off x="907999" y="2817175"/>
            <a:ext cx="5683270"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sb.append(URLEncoder.encode(e.getKey(), ASCII)).append(</a:t>
            </a:r>
            <a:pPr algn="l" indent="0" marL="0">
              <a:buNone/>
            </a:pPr>
            <a:r>
              <a:rPr lang="en-US" sz="1050" dirty="0">
                <a:solidFill>
                  <a:srgbClr val="9BE3B4"/>
                </a:solidFill>
                <a:latin typeface="Courier New" pitchFamily="34" charset="0"/>
                <a:ea typeface="Courier New" pitchFamily="34" charset="-122"/>
                <a:cs typeface="Courier New" pitchFamily="34" charset="-120"/>
              </a:rPr>
              <a:t>'='</a:t>
            </a:r>
            <a:pPr algn="l" indent="0" marL="0">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p:txBody>
      </p:sp>
      <p:sp>
        <p:nvSpPr>
          <p:cNvPr id="16" name="Shape 14"/>
          <p:cNvSpPr/>
          <p:nvPr/>
        </p:nvSpPr>
        <p:spPr>
          <a:xfrm>
            <a:off x="660380" y="3006456"/>
            <a:ext cx="6385255" cy="206654"/>
          </a:xfrm>
          <a:prstGeom prst="rect">
            <a:avLst/>
          </a:prstGeom>
          <a:solidFill>
            <a:srgbClr val="FFD479">
              <a:alpha val="13000"/>
            </a:srgbClr>
          </a:solidFill>
          <a:ln/>
        </p:spPr>
      </p:sp>
      <p:sp>
        <p:nvSpPr>
          <p:cNvPr id="17" name="Shape 15"/>
          <p:cNvSpPr/>
          <p:nvPr/>
        </p:nvSpPr>
        <p:spPr>
          <a:xfrm>
            <a:off x="660380" y="3006456"/>
            <a:ext cx="31730" cy="206654"/>
          </a:xfrm>
          <a:prstGeom prst="rect">
            <a:avLst/>
          </a:prstGeom>
          <a:solidFill>
            <a:srgbClr val="FFD479"/>
          </a:solidFill>
          <a:ln/>
        </p:spPr>
      </p:sp>
      <p:sp>
        <p:nvSpPr>
          <p:cNvPr id="18" name="Text 16"/>
          <p:cNvSpPr txBox="1"/>
          <p:nvPr/>
        </p:nvSpPr>
        <p:spPr>
          <a:xfrm>
            <a:off x="907999" y="3023829"/>
            <a:ext cx="4919746"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.append(URLEncoder.encode(e.getValue(), ASCII));</a:t>
            </a:r>
            <a:endParaRPr lang="en-US" sz="1050" dirty="0"/>
          </a:p>
        </p:txBody>
      </p:sp>
      <p:sp>
        <p:nvSpPr>
          <p:cNvPr id="19" name="Text 17"/>
          <p:cNvSpPr txBox="1"/>
          <p:nvPr/>
        </p:nvSpPr>
        <p:spPr>
          <a:xfrm>
            <a:off x="907999" y="3230484"/>
            <a:ext cx="476311"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a:t>
            </a:r>
            <a:endParaRPr lang="en-US" sz="1050" dirty="0"/>
          </a:p>
        </p:txBody>
      </p:sp>
      <p:sp>
        <p:nvSpPr>
          <p:cNvPr id="20" name="Text 18"/>
          <p:cNvSpPr txBox="1"/>
          <p:nvPr/>
        </p:nvSpPr>
        <p:spPr>
          <a:xfrm>
            <a:off x="907999" y="3437230"/>
            <a:ext cx="2120768"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7FC2FF"/>
                </a:solidFill>
                <a:latin typeface="Courier New" pitchFamily="34" charset="0"/>
                <a:ea typeface="Courier New" pitchFamily="34" charset="-122"/>
                <a:cs typeface="Courier New" pitchFamily="34" charset="-120"/>
              </a:rPr>
              <a:t>return</a:t>
            </a:r>
            <a:pPr algn="l" indent="0" marL="0">
              <a:buNone/>
            </a:pPr>
            <a:r>
              <a:rPr lang="en-US" sz="1050" dirty="0">
                <a:solidFill>
                  <a:srgbClr val="E6EDF7"/>
                </a:solidFill>
                <a:latin typeface="Courier New" pitchFamily="34" charset="0"/>
                <a:ea typeface="Courier New" pitchFamily="34" charset="-122"/>
                <a:cs typeface="Courier New" pitchFamily="34" charset="-120"/>
              </a:rPr>
              <a:t> sb.toString();</a:t>
            </a:r>
            <a:endParaRPr lang="en-US" sz="1050" dirty="0"/>
          </a:p>
        </p:txBody>
      </p:sp>
      <p:sp>
        <p:nvSpPr>
          <p:cNvPr id="21" name="Text 19"/>
          <p:cNvSpPr txBox="1"/>
          <p:nvPr/>
        </p:nvSpPr>
        <p:spPr>
          <a:xfrm>
            <a:off x="907999" y="3643884"/>
            <a:ext cx="156271"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p:txBody>
      </p:sp>
      <p:sp>
        <p:nvSpPr>
          <p:cNvPr id="22" name="Shape 20"/>
          <p:cNvSpPr/>
          <p:nvPr/>
        </p:nvSpPr>
        <p:spPr>
          <a:xfrm>
            <a:off x="7248815" y="1347368"/>
            <a:ext cx="4282501" cy="400050"/>
          </a:xfrm>
          <a:prstGeom prst="roundRect">
            <a:avLst>
              <a:gd name="adj" fmla="val 19040"/>
            </a:avLst>
          </a:prstGeom>
          <a:solidFill>
            <a:srgbClr val="FFFFFF"/>
          </a:solidFill>
          <a:ln w="6350">
            <a:solidFill>
              <a:srgbClr val="E3E6EA"/>
            </a:solidFill>
            <a:prstDash val="solid"/>
          </a:ln>
        </p:spPr>
      </p:sp>
      <p:sp>
        <p:nvSpPr>
          <p:cNvPr id="23" name="Shape 21"/>
          <p:cNvSpPr/>
          <p:nvPr/>
        </p:nvSpPr>
        <p:spPr>
          <a:xfrm>
            <a:off x="7369515" y="1442649"/>
            <a:ext cx="982614" cy="209580"/>
          </a:xfrm>
          <a:prstGeom prst="roundRect">
            <a:avLst>
              <a:gd name="adj" fmla="val 50000"/>
            </a:avLst>
          </a:prstGeom>
          <a:solidFill>
            <a:srgbClr val="FDE8E6"/>
          </a:solidFill>
          <a:ln/>
        </p:spPr>
      </p:sp>
      <p:sp>
        <p:nvSpPr>
          <p:cNvPr id="24" name="Text 22"/>
          <p:cNvSpPr txBox="1"/>
          <p:nvPr/>
        </p:nvSpPr>
        <p:spPr>
          <a:xfrm>
            <a:off x="7445685" y="1473830"/>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25" name="Text 23"/>
          <p:cNvSpPr txBox="1"/>
          <p:nvPr/>
        </p:nvSpPr>
        <p:spPr>
          <a:xfrm>
            <a:off x="8453719" y="1446947"/>
            <a:ext cx="3078785"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Sắp xếp theo tên, bỏ giá trị rỗng, encode giá trị</a:t>
            </a:r>
            <a:endParaRPr lang="en-US" sz="1100" dirty="0"/>
          </a:p>
        </p:txBody>
      </p:sp>
      <p:sp>
        <p:nvSpPr>
          <p:cNvPr id="26" name="Shape 24"/>
          <p:cNvSpPr/>
          <p:nvPr/>
        </p:nvSpPr>
        <p:spPr>
          <a:xfrm>
            <a:off x="7248815" y="1823588"/>
            <a:ext cx="4282501" cy="400050"/>
          </a:xfrm>
          <a:prstGeom prst="roundRect">
            <a:avLst>
              <a:gd name="adj" fmla="val 19040"/>
            </a:avLst>
          </a:prstGeom>
          <a:solidFill>
            <a:srgbClr val="FFFFFF"/>
          </a:solidFill>
          <a:ln w="6350">
            <a:solidFill>
              <a:srgbClr val="E3E6EA"/>
            </a:solidFill>
            <a:prstDash val="solid"/>
          </a:ln>
        </p:spPr>
      </p:sp>
      <p:sp>
        <p:nvSpPr>
          <p:cNvPr id="27" name="Shape 25"/>
          <p:cNvSpPr/>
          <p:nvPr/>
        </p:nvSpPr>
        <p:spPr>
          <a:xfrm>
            <a:off x="7369515" y="1918868"/>
            <a:ext cx="723748" cy="209580"/>
          </a:xfrm>
          <a:prstGeom prst="roundRect">
            <a:avLst>
              <a:gd name="adj" fmla="val 50000"/>
            </a:avLst>
          </a:prstGeom>
          <a:solidFill>
            <a:srgbClr val="DEF3E8"/>
          </a:solidFill>
          <a:ln/>
        </p:spPr>
      </p:sp>
      <p:sp>
        <p:nvSpPr>
          <p:cNvPr id="28" name="Text 26"/>
          <p:cNvSpPr txBox="1"/>
          <p:nvPr/>
        </p:nvSpPr>
        <p:spPr>
          <a:xfrm>
            <a:off x="7445685" y="1950049"/>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29" name="Text 27"/>
          <p:cNvSpPr txBox="1"/>
          <p:nvPr/>
        </p:nvSpPr>
        <p:spPr>
          <a:xfrm>
            <a:off x="8194853" y="1923166"/>
            <a:ext cx="2916204" cy="195590"/>
          </a:xfrm>
          <a:prstGeom prst="rect">
            <a:avLst/>
          </a:prstGeom>
          <a:noFill/>
          <a:ln/>
        </p:spPr>
        <p:txBody>
          <a:bodyPr wrap="square" lIns="0" tIns="0" rIns="0" bIns="0" rtlCol="0" anchor="ctr"/>
          <a:lstStyle/>
          <a:p>
            <a:pPr algn="l" indent="0" marL="0">
              <a:buNone/>
            </a:pPr>
            <a:r>
              <a:rPr lang="en-US" sz="1100" dirty="0">
                <a:solidFill>
                  <a:srgbClr val="3F454D"/>
                </a:solidFill>
                <a:latin typeface="Courier New" pitchFamily="34" charset="0"/>
                <a:ea typeface="Courier New" pitchFamily="34" charset="-122"/>
                <a:cs typeface="Courier New" pitchFamily="34" charset="-120"/>
              </a:rPr>
              <a:t>TreeMap</a:t>
            </a:r>
            <a:pPr algn="l" indent="0" marL="0">
              <a:buNone/>
            </a:pPr>
            <a:r>
              <a:rPr lang="en-US" sz="1100" dirty="0">
                <a:solidFill>
                  <a:srgbClr val="3F454D"/>
                </a:solidFill>
                <a:latin typeface="Arial" pitchFamily="34" charset="0"/>
                <a:ea typeface="Arial" pitchFamily="34" charset="-122"/>
                <a:cs typeface="Arial" pitchFamily="34" charset="-120"/>
              </a:rPr>
              <a:t> tự sắp xếp key, không cần gọi sort</a:t>
            </a:r>
            <a:endParaRPr lang="en-US" sz="1100" dirty="0"/>
          </a:p>
        </p:txBody>
      </p:sp>
      <p:sp>
        <p:nvSpPr>
          <p:cNvPr id="30" name="Shape 28"/>
          <p:cNvSpPr/>
          <p:nvPr/>
        </p:nvSpPr>
        <p:spPr>
          <a:xfrm>
            <a:off x="7248815" y="2299807"/>
            <a:ext cx="4282501" cy="581650"/>
          </a:xfrm>
          <a:prstGeom prst="roundRect">
            <a:avLst>
              <a:gd name="adj" fmla="val 13095"/>
            </a:avLst>
          </a:prstGeom>
          <a:solidFill>
            <a:srgbClr val="FFFFFF"/>
          </a:solidFill>
          <a:ln w="6350">
            <a:solidFill>
              <a:srgbClr val="E3E6EA"/>
            </a:solidFill>
            <a:prstDash val="solid"/>
          </a:ln>
        </p:spPr>
      </p:sp>
      <p:sp>
        <p:nvSpPr>
          <p:cNvPr id="31" name="Shape 29"/>
          <p:cNvSpPr/>
          <p:nvPr/>
        </p:nvSpPr>
        <p:spPr>
          <a:xfrm>
            <a:off x="7369515" y="2395088"/>
            <a:ext cx="723748" cy="209580"/>
          </a:xfrm>
          <a:prstGeom prst="roundRect">
            <a:avLst>
              <a:gd name="adj" fmla="val 50000"/>
            </a:avLst>
          </a:prstGeom>
          <a:solidFill>
            <a:srgbClr val="DEF3E8"/>
          </a:solidFill>
          <a:ln/>
        </p:spPr>
      </p:sp>
      <p:sp>
        <p:nvSpPr>
          <p:cNvPr id="32" name="Text 30"/>
          <p:cNvSpPr txBox="1"/>
          <p:nvPr/>
        </p:nvSpPr>
        <p:spPr>
          <a:xfrm>
            <a:off x="7445685" y="2426360"/>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33" name="Text 31"/>
          <p:cNvSpPr txBox="1"/>
          <p:nvPr/>
        </p:nvSpPr>
        <p:spPr>
          <a:xfrm>
            <a:off x="8194853" y="2390333"/>
            <a:ext cx="3312231" cy="452079"/>
          </a:xfrm>
          <a:prstGeom prst="rect">
            <a:avLst/>
          </a:prstGeom>
          <a:noFill/>
          <a:ln/>
        </p:spPr>
        <p:txBody>
          <a:bodyPr wrap="square" lIns="0" tIns="0" rIns="0" bIns="0" rtlCol="0" anchor="t"/>
          <a:lstStyle/>
          <a:p>
            <a:pPr algn="l" indent="0" marL="0">
              <a:lnSpc>
                <a:spcPts val="1540"/>
              </a:lnSpc>
              <a:buNone/>
            </a:pPr>
            <a:r>
              <a:rPr lang="en-US" sz="1100" dirty="0">
                <a:solidFill>
                  <a:srgbClr val="3F454D"/>
                </a:solidFill>
                <a:latin typeface="Arial" pitchFamily="34" charset="0"/>
                <a:ea typeface="Arial" pitchFamily="34" charset="-122"/>
                <a:cs typeface="Arial" pitchFamily="34" charset="-120"/>
              </a:rPr>
              <a:t>Một hàm dùng cho cả chuỗi để ký và query string gắn lên link, nên hai chuỗi luôn giống nhau</a:t>
            </a:r>
            <a:endParaRPr lang="en-US" sz="1100" dirty="0"/>
          </a:p>
        </p:txBody>
      </p:sp>
      <p:sp>
        <p:nvSpPr>
          <p:cNvPr id="34" name="Shape 32"/>
          <p:cNvSpPr/>
          <p:nvPr/>
        </p:nvSpPr>
        <p:spPr>
          <a:xfrm>
            <a:off x="7248815" y="2957627"/>
            <a:ext cx="4282501" cy="594269"/>
          </a:xfrm>
          <a:prstGeom prst="roundRect">
            <a:avLst>
              <a:gd name="adj" fmla="val 12817"/>
            </a:avLst>
          </a:prstGeom>
          <a:solidFill>
            <a:srgbClr val="FFFFFF"/>
          </a:solidFill>
          <a:ln w="6350">
            <a:solidFill>
              <a:srgbClr val="E3E6EA"/>
            </a:solidFill>
            <a:prstDash val="solid"/>
          </a:ln>
        </p:spPr>
      </p:sp>
      <p:sp>
        <p:nvSpPr>
          <p:cNvPr id="35" name="Shape 33"/>
          <p:cNvSpPr/>
          <p:nvPr/>
        </p:nvSpPr>
        <p:spPr>
          <a:xfrm>
            <a:off x="7369515" y="3052907"/>
            <a:ext cx="723748" cy="209580"/>
          </a:xfrm>
          <a:prstGeom prst="roundRect">
            <a:avLst>
              <a:gd name="adj" fmla="val 50000"/>
            </a:avLst>
          </a:prstGeom>
          <a:solidFill>
            <a:srgbClr val="DEF3E8"/>
          </a:solidFill>
          <a:ln/>
        </p:spPr>
      </p:sp>
      <p:sp>
        <p:nvSpPr>
          <p:cNvPr id="36" name="Text 34"/>
          <p:cNvSpPr txBox="1"/>
          <p:nvPr/>
        </p:nvSpPr>
        <p:spPr>
          <a:xfrm>
            <a:off x="7445685" y="3084088"/>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37" name="Text 35"/>
          <p:cNvSpPr txBox="1"/>
          <p:nvPr/>
        </p:nvSpPr>
        <p:spPr>
          <a:xfrm>
            <a:off x="8194853" y="3048152"/>
            <a:ext cx="3312231" cy="464790"/>
          </a:xfrm>
          <a:prstGeom prst="rect">
            <a:avLst/>
          </a:prstGeom>
          <a:noFill/>
          <a:ln/>
        </p:spPr>
        <p:txBody>
          <a:bodyPr wrap="square" lIns="0" tIns="0" rIns="0" bIns="0" rtlCol="0" anchor="t"/>
          <a:lstStyle/>
          <a:p>
            <a:pPr algn="l" indent="0" marL="0">
              <a:lnSpc>
                <a:spcPts val="1540"/>
              </a:lnSpc>
              <a:buNone/>
            </a:pPr>
            <a:r>
              <a:rPr lang="en-US" sz="1100" dirty="0">
                <a:solidFill>
                  <a:srgbClr val="3F454D"/>
                </a:solidFill>
                <a:latin typeface="Courier New" pitchFamily="34" charset="0"/>
                <a:ea typeface="Courier New" pitchFamily="34" charset="-122"/>
                <a:cs typeface="Courier New" pitchFamily="34" charset="-120"/>
              </a:rPr>
              <a:t>URLEncoder</a:t>
            </a:r>
            <a:pPr algn="l" indent="0" marL="0">
              <a:lnSpc>
                <a:spcPts val="1540"/>
              </a:lnSpc>
              <a:buNone/>
            </a:pPr>
            <a:r>
              <a:rPr lang="en-US" sz="1100" dirty="0">
                <a:solidFill>
                  <a:srgbClr val="3F454D"/>
                </a:solidFill>
                <a:latin typeface="Arial" pitchFamily="34" charset="0"/>
                <a:ea typeface="Arial" pitchFamily="34" charset="-122"/>
                <a:cs typeface="Arial" pitchFamily="34" charset="-120"/>
              </a:rPr>
              <a:t> với US_ASCII, dấu cách thành </a:t>
            </a:r>
            <a:pPr algn="l" indent="0" marL="0">
              <a:lnSpc>
                <a:spcPts val="1540"/>
              </a:lnSpc>
              <a:buNone/>
            </a:pPr>
            <a:r>
              <a:rPr lang="en-US" sz="1100" dirty="0">
                <a:solidFill>
                  <a:srgbClr val="3F454D"/>
                </a:solidFill>
                <a:latin typeface="Courier New" pitchFamily="34" charset="0"/>
                <a:ea typeface="Courier New" pitchFamily="34" charset="-122"/>
                <a:cs typeface="Courier New" pitchFamily="34" charset="-120"/>
              </a:rPr>
              <a:t>+</a:t>
            </a:r>
            <a:pPr algn="l" indent="0" marL="0">
              <a:lnSpc>
                <a:spcPts val="1540"/>
              </a:lnSpc>
              <a:buNone/>
            </a:pPr>
            <a:r>
              <a:rPr lang="en-US" sz="1100" dirty="0">
                <a:solidFill>
                  <a:srgbClr val="3F454D"/>
                </a:solidFill>
                <a:latin typeface="Arial" pitchFamily="34" charset="0"/>
                <a:ea typeface="Arial" pitchFamily="34" charset="-122"/>
                <a:cs typeface="Arial" pitchFamily="34" charset="-120"/>
              </a:rPr>
              <a:t>, giống code mẫu Java của VNPAY</a:t>
            </a:r>
            <a:endParaRPr lang="en-US" sz="1100" dirty="0"/>
          </a:p>
        </p:txBody>
      </p:sp>
      <p:sp>
        <p:nvSpPr>
          <p:cNvPr id="38" name="Text 36"/>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39" name="Text 37"/>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21</a:t>
            </a:r>
            <a:endParaRPr lang="en-US" sz="9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425470"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Code</a:t>
            </a:r>
            <a:endParaRPr lang="en-US" sz="1100" dirty="0"/>
          </a:p>
        </p:txBody>
      </p:sp>
      <p:sp>
        <p:nvSpPr>
          <p:cNvPr id="3" name="Text 1"/>
          <p:cNvSpPr txBox="1"/>
          <p:nvPr/>
        </p:nvSpPr>
        <p:spPr>
          <a:xfrm>
            <a:off x="660380" y="643829"/>
            <a:ext cx="6726966"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isValidSignature: vì sao viết như vậy</a:t>
            </a:r>
            <a:endParaRPr lang="en-US" sz="3000" dirty="0"/>
          </a:p>
        </p:txBody>
      </p:sp>
      <p:sp>
        <p:nvSpPr>
          <p:cNvPr id="4" name="Text 2"/>
          <p:cNvSpPr txBox="1"/>
          <p:nvPr/>
        </p:nvSpPr>
        <p:spPr>
          <a:xfrm>
            <a:off x="660380" y="1358798"/>
            <a:ext cx="1534912"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PaymentService.java</a:t>
            </a:r>
            <a:endParaRPr lang="en-US" sz="1000" dirty="0"/>
          </a:p>
        </p:txBody>
      </p:sp>
      <p:sp>
        <p:nvSpPr>
          <p:cNvPr id="5" name="Shape 3"/>
          <p:cNvSpPr/>
          <p:nvPr/>
        </p:nvSpPr>
        <p:spPr>
          <a:xfrm>
            <a:off x="660380" y="1601389"/>
            <a:ext cx="6928134" cy="2249058"/>
          </a:xfrm>
          <a:prstGeom prst="roundRect">
            <a:avLst>
              <a:gd name="adj" fmla="val 4517"/>
            </a:avLst>
          </a:prstGeom>
          <a:solidFill>
            <a:srgbClr val="0C131E"/>
          </a:solidFill>
          <a:ln/>
        </p:spPr>
      </p:sp>
      <p:sp>
        <p:nvSpPr>
          <p:cNvPr id="6" name="Text 4"/>
          <p:cNvSpPr txBox="1"/>
          <p:nvPr/>
        </p:nvSpPr>
        <p:spPr>
          <a:xfrm>
            <a:off x="907999" y="1784452"/>
            <a:ext cx="4804806" cy="191933"/>
          </a:xfrm>
          <a:prstGeom prst="rect">
            <a:avLst/>
          </a:prstGeom>
          <a:noFill/>
          <a:ln/>
        </p:spPr>
        <p:txBody>
          <a:bodyPr wrap="none" lIns="0" tIns="0" rIns="0" bIns="0" rtlCol="0" anchor="ctr"/>
          <a:lstStyle/>
          <a:p>
            <a:pPr algn="l" indent="0" marL="0">
              <a:buNone/>
            </a:pPr>
            <a:r>
              <a:rPr lang="en-US" sz="980" dirty="0">
                <a:solidFill>
                  <a:srgbClr val="7FC2FF"/>
                </a:solidFill>
                <a:latin typeface="Courier New" pitchFamily="34" charset="0"/>
                <a:ea typeface="Courier New" pitchFamily="34" charset="-122"/>
                <a:cs typeface="Courier New" pitchFamily="34" charset="-120"/>
              </a:rPr>
              <a:t>static</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boolean</a:t>
            </a:r>
            <a:pPr algn="l" indent="0" marL="0">
              <a:buNone/>
            </a:pPr>
            <a:r>
              <a:rPr lang="en-US" sz="980" dirty="0">
                <a:solidFill>
                  <a:srgbClr val="E6EDF7"/>
                </a:solidFill>
                <a:latin typeface="Courier New" pitchFamily="34" charset="0"/>
                <a:ea typeface="Courier New" pitchFamily="34" charset="-122"/>
                <a:cs typeface="Courier New" pitchFamily="34" charset="-120"/>
              </a:rPr>
              <a:t> isValidSignature(Map&lt;String, String&gt; params) {</a:t>
            </a:r>
            <a:endParaRPr lang="en-US" sz="980" dirty="0"/>
          </a:p>
        </p:txBody>
      </p:sp>
      <p:sp>
        <p:nvSpPr>
          <p:cNvPr id="7" name="Text 5"/>
          <p:cNvSpPr txBox="1"/>
          <p:nvPr/>
        </p:nvSpPr>
        <p:spPr>
          <a:xfrm>
            <a:off x="907999" y="1976293"/>
            <a:ext cx="4017051"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String received = params.get(</a:t>
            </a:r>
            <a:pPr algn="l" indent="0" marL="0">
              <a:buNone/>
            </a:pPr>
            <a:r>
              <a:rPr lang="en-US" sz="980" dirty="0">
                <a:solidFill>
                  <a:srgbClr val="9BE3B4"/>
                </a:solidFill>
                <a:latin typeface="Courier New" pitchFamily="34" charset="0"/>
                <a:ea typeface="Courier New" pitchFamily="34" charset="-122"/>
                <a:cs typeface="Courier New" pitchFamily="34" charset="-120"/>
              </a:rPr>
              <a:t>"vnp_SecureHash"</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8" name="Text 6"/>
          <p:cNvSpPr txBox="1"/>
          <p:nvPr/>
        </p:nvSpPr>
        <p:spPr>
          <a:xfrm>
            <a:off x="907999" y="2168225"/>
            <a:ext cx="4804898"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if</a:t>
            </a:r>
            <a:pPr algn="l" indent="0" marL="0">
              <a:buNone/>
            </a:pPr>
            <a:r>
              <a:rPr lang="en-US" sz="980" dirty="0">
                <a:solidFill>
                  <a:srgbClr val="E6EDF7"/>
                </a:solidFill>
                <a:latin typeface="Courier New" pitchFamily="34" charset="0"/>
                <a:ea typeface="Courier New" pitchFamily="34" charset="-122"/>
                <a:cs typeface="Courier New" pitchFamily="34" charset="-120"/>
              </a:rPr>
              <a:t> (received == </a:t>
            </a:r>
            <a:pPr algn="l" indent="0" marL="0">
              <a:buNone/>
            </a:pPr>
            <a:r>
              <a:rPr lang="en-US" sz="980" dirty="0">
                <a:solidFill>
                  <a:srgbClr val="7FC2FF"/>
                </a:solidFill>
                <a:latin typeface="Courier New" pitchFamily="34" charset="0"/>
                <a:ea typeface="Courier New" pitchFamily="34" charset="-122"/>
                <a:cs typeface="Courier New" pitchFamily="34" charset="-120"/>
              </a:rPr>
              <a:t>null</a:t>
            </a:r>
            <a:pPr algn="l" indent="0" marL="0">
              <a:buNone/>
            </a:pPr>
            <a:r>
              <a:rPr lang="en-US" sz="980" dirty="0">
                <a:solidFill>
                  <a:srgbClr val="E6EDF7"/>
                </a:solidFill>
                <a:latin typeface="Courier New" pitchFamily="34" charset="0"/>
                <a:ea typeface="Courier New" pitchFamily="34" charset="-122"/>
                <a:cs typeface="Courier New" pitchFamily="34" charset="-120"/>
              </a:rPr>
              <a:t> || received.isBlank()) </a:t>
            </a:r>
            <a:pPr algn="l" indent="0" marL="0">
              <a:buNone/>
            </a:pPr>
            <a:r>
              <a:rPr lang="en-US" sz="980" dirty="0">
                <a:solidFill>
                  <a:srgbClr val="7FC2FF"/>
                </a:solidFill>
                <a:latin typeface="Courier New" pitchFamily="34" charset="0"/>
                <a:ea typeface="Courier New" pitchFamily="34" charset="-122"/>
                <a:cs typeface="Courier New" pitchFamily="34" charset="-120"/>
              </a:rPr>
              <a:t>return</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false</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9" name="Shape 7"/>
          <p:cNvSpPr/>
          <p:nvPr/>
        </p:nvSpPr>
        <p:spPr>
          <a:xfrm>
            <a:off x="660380" y="2533985"/>
            <a:ext cx="6928134" cy="191841"/>
          </a:xfrm>
          <a:prstGeom prst="rect">
            <a:avLst/>
          </a:prstGeom>
          <a:solidFill>
            <a:srgbClr val="FFD479">
              <a:alpha val="13000"/>
            </a:srgbClr>
          </a:solidFill>
          <a:ln/>
        </p:spPr>
      </p:sp>
      <p:sp>
        <p:nvSpPr>
          <p:cNvPr id="10" name="Shape 8"/>
          <p:cNvSpPr/>
          <p:nvPr/>
        </p:nvSpPr>
        <p:spPr>
          <a:xfrm>
            <a:off x="660380" y="2533985"/>
            <a:ext cx="31730" cy="191841"/>
          </a:xfrm>
          <a:prstGeom prst="rect">
            <a:avLst/>
          </a:prstGeom>
          <a:solidFill>
            <a:srgbClr val="FFD479"/>
          </a:solidFill>
          <a:ln/>
        </p:spPr>
      </p:sp>
      <p:sp>
        <p:nvSpPr>
          <p:cNvPr id="11" name="Text 9"/>
          <p:cNvSpPr txBox="1"/>
          <p:nvPr/>
        </p:nvSpPr>
        <p:spPr>
          <a:xfrm>
            <a:off x="907999" y="2551999"/>
            <a:ext cx="4253332"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Map&lt;String, String&gt; clone = </a:t>
            </a:r>
            <a:pPr algn="l" indent="0" marL="0">
              <a:buNone/>
            </a:pPr>
            <a:r>
              <a:rPr lang="en-US" sz="980" dirty="0">
                <a:solidFill>
                  <a:srgbClr val="7FC2FF"/>
                </a:solidFill>
                <a:latin typeface="Courier New" pitchFamily="34" charset="0"/>
                <a:ea typeface="Courier New" pitchFamily="34" charset="-122"/>
                <a:cs typeface="Courier New" pitchFamily="34" charset="-120"/>
              </a:rPr>
              <a:t>new</a:t>
            </a:r>
            <a:pPr algn="l" indent="0" marL="0">
              <a:buNone/>
            </a:pPr>
            <a:r>
              <a:rPr lang="en-US" sz="980" dirty="0">
                <a:solidFill>
                  <a:srgbClr val="E6EDF7"/>
                </a:solidFill>
                <a:latin typeface="Courier New" pitchFamily="34" charset="0"/>
                <a:ea typeface="Courier New" pitchFamily="34" charset="-122"/>
                <a:cs typeface="Courier New" pitchFamily="34" charset="-120"/>
              </a:rPr>
              <a:t> TreeMap&lt;&gt;(params);</a:t>
            </a:r>
            <a:endParaRPr lang="en-US" sz="980" dirty="0"/>
          </a:p>
        </p:txBody>
      </p:sp>
      <p:sp>
        <p:nvSpPr>
          <p:cNvPr id="12" name="Shape 10"/>
          <p:cNvSpPr/>
          <p:nvPr/>
        </p:nvSpPr>
        <p:spPr>
          <a:xfrm>
            <a:off x="660380" y="2725826"/>
            <a:ext cx="6928134" cy="191841"/>
          </a:xfrm>
          <a:prstGeom prst="rect">
            <a:avLst/>
          </a:prstGeom>
          <a:solidFill>
            <a:srgbClr val="FFD479">
              <a:alpha val="13000"/>
            </a:srgbClr>
          </a:solidFill>
          <a:ln/>
        </p:spPr>
      </p:sp>
      <p:sp>
        <p:nvSpPr>
          <p:cNvPr id="13" name="Shape 11"/>
          <p:cNvSpPr/>
          <p:nvPr/>
        </p:nvSpPr>
        <p:spPr>
          <a:xfrm>
            <a:off x="660380" y="2725826"/>
            <a:ext cx="31730" cy="191841"/>
          </a:xfrm>
          <a:prstGeom prst="rect">
            <a:avLst/>
          </a:prstGeom>
          <a:solidFill>
            <a:srgbClr val="FFD479"/>
          </a:solidFill>
          <a:ln/>
        </p:spPr>
      </p:sp>
      <p:sp>
        <p:nvSpPr>
          <p:cNvPr id="14" name="Text 12"/>
          <p:cNvSpPr txBox="1"/>
          <p:nvPr/>
        </p:nvSpPr>
        <p:spPr>
          <a:xfrm>
            <a:off x="907999" y="2743840"/>
            <a:ext cx="2756825"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clone.remove(</a:t>
            </a:r>
            <a:pPr algn="l" indent="0" marL="0">
              <a:buNone/>
            </a:pPr>
            <a:r>
              <a:rPr lang="en-US" sz="980" dirty="0">
                <a:solidFill>
                  <a:srgbClr val="9BE3B4"/>
                </a:solidFill>
                <a:latin typeface="Courier New" pitchFamily="34" charset="0"/>
                <a:ea typeface="Courier New" pitchFamily="34" charset="-122"/>
                <a:cs typeface="Courier New" pitchFamily="34" charset="-120"/>
              </a:rPr>
              <a:t>"vnp_SecureHash"</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5" name="Shape 13"/>
          <p:cNvSpPr/>
          <p:nvPr/>
        </p:nvSpPr>
        <p:spPr>
          <a:xfrm>
            <a:off x="660380" y="2917759"/>
            <a:ext cx="6928134" cy="191841"/>
          </a:xfrm>
          <a:prstGeom prst="rect">
            <a:avLst/>
          </a:prstGeom>
          <a:solidFill>
            <a:srgbClr val="FFD479">
              <a:alpha val="13000"/>
            </a:srgbClr>
          </a:solidFill>
          <a:ln/>
        </p:spPr>
      </p:sp>
      <p:sp>
        <p:nvSpPr>
          <p:cNvPr id="16" name="Shape 14"/>
          <p:cNvSpPr/>
          <p:nvPr/>
        </p:nvSpPr>
        <p:spPr>
          <a:xfrm>
            <a:off x="660380" y="2917759"/>
            <a:ext cx="31730" cy="191841"/>
          </a:xfrm>
          <a:prstGeom prst="rect">
            <a:avLst/>
          </a:prstGeom>
          <a:solidFill>
            <a:srgbClr val="FFD479"/>
          </a:solidFill>
          <a:ln/>
        </p:spPr>
      </p:sp>
      <p:sp>
        <p:nvSpPr>
          <p:cNvPr id="17" name="Text 15"/>
          <p:cNvSpPr txBox="1"/>
          <p:nvPr/>
        </p:nvSpPr>
        <p:spPr>
          <a:xfrm>
            <a:off x="907999" y="2935681"/>
            <a:ext cx="3071927"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clone.remove(</a:t>
            </a:r>
            <a:pPr algn="l" indent="0" marL="0">
              <a:buNone/>
            </a:pPr>
            <a:r>
              <a:rPr lang="en-US" sz="980" dirty="0">
                <a:solidFill>
                  <a:srgbClr val="9BE3B4"/>
                </a:solidFill>
                <a:latin typeface="Courier New" pitchFamily="34" charset="0"/>
                <a:ea typeface="Courier New" pitchFamily="34" charset="-122"/>
                <a:cs typeface="Courier New" pitchFamily="34" charset="-120"/>
              </a:rPr>
              <a:t>"vnp_SecureHashType"</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8" name="Text 16"/>
          <p:cNvSpPr txBox="1"/>
          <p:nvPr/>
        </p:nvSpPr>
        <p:spPr>
          <a:xfrm>
            <a:off x="907999" y="3319455"/>
            <a:ext cx="6852514"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return</a:t>
            </a:r>
            <a:pPr algn="l" indent="0" marL="0">
              <a:buNone/>
            </a:pPr>
            <a:r>
              <a:rPr lang="en-US" sz="980" dirty="0">
                <a:solidFill>
                  <a:srgbClr val="E6EDF7"/>
                </a:solidFill>
                <a:latin typeface="Courier New" pitchFamily="34" charset="0"/>
                <a:ea typeface="Courier New" pitchFamily="34" charset="-122"/>
                <a:cs typeface="Courier New" pitchFamily="34" charset="-120"/>
              </a:rPr>
              <a:t> hmacSHA512(HASH_SECRET, buildQueryString(clone)).equalsIgnoreCase(received);</a:t>
            </a:r>
            <a:endParaRPr lang="en-US" sz="980" dirty="0"/>
          </a:p>
        </p:txBody>
      </p:sp>
      <p:sp>
        <p:nvSpPr>
          <p:cNvPr id="19" name="Text 17"/>
          <p:cNvSpPr txBox="1"/>
          <p:nvPr/>
        </p:nvSpPr>
        <p:spPr>
          <a:xfrm>
            <a:off x="907999" y="3511387"/>
            <a:ext cx="15051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0" name="Shape 18"/>
          <p:cNvSpPr/>
          <p:nvPr/>
        </p:nvSpPr>
        <p:spPr>
          <a:xfrm>
            <a:off x="7791785" y="1347368"/>
            <a:ext cx="3739530" cy="581650"/>
          </a:xfrm>
          <a:prstGeom prst="roundRect">
            <a:avLst>
              <a:gd name="adj" fmla="val 13095"/>
            </a:avLst>
          </a:prstGeom>
          <a:solidFill>
            <a:srgbClr val="FFFFFF"/>
          </a:solidFill>
          <a:ln w="6350">
            <a:solidFill>
              <a:srgbClr val="E3E6EA"/>
            </a:solidFill>
            <a:prstDash val="solid"/>
          </a:ln>
        </p:spPr>
      </p:sp>
      <p:sp>
        <p:nvSpPr>
          <p:cNvPr id="21" name="Shape 19"/>
          <p:cNvSpPr/>
          <p:nvPr/>
        </p:nvSpPr>
        <p:spPr>
          <a:xfrm>
            <a:off x="7912395" y="1442649"/>
            <a:ext cx="982614" cy="209580"/>
          </a:xfrm>
          <a:prstGeom prst="roundRect">
            <a:avLst>
              <a:gd name="adj" fmla="val 50000"/>
            </a:avLst>
          </a:prstGeom>
          <a:solidFill>
            <a:srgbClr val="FDE8E6"/>
          </a:solidFill>
          <a:ln/>
        </p:spPr>
      </p:sp>
      <p:sp>
        <p:nvSpPr>
          <p:cNvPr id="22" name="Text 20"/>
          <p:cNvSpPr txBox="1"/>
          <p:nvPr/>
        </p:nvSpPr>
        <p:spPr>
          <a:xfrm>
            <a:off x="7988564" y="1473830"/>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23" name="Text 21"/>
          <p:cNvSpPr txBox="1"/>
          <p:nvPr/>
        </p:nvSpPr>
        <p:spPr>
          <a:xfrm>
            <a:off x="8996599" y="1437803"/>
            <a:ext cx="2486436" cy="452079"/>
          </a:xfrm>
          <a:prstGeom prst="rect">
            <a:avLst/>
          </a:prstGeom>
          <a:noFill/>
          <a:ln/>
        </p:spPr>
        <p:txBody>
          <a:bodyPr wrap="square" lIns="0" tIns="0" rIns="0" bIns="0" rtlCol="0" anchor="t"/>
          <a:lstStyle/>
          <a:p>
            <a:pPr algn="l" indent="0" marL="0">
              <a:lnSpc>
                <a:spcPts val="1540"/>
              </a:lnSpc>
              <a:buNone/>
            </a:pPr>
            <a:r>
              <a:rPr lang="en-US" sz="1100" dirty="0">
                <a:solidFill>
                  <a:srgbClr val="3F454D"/>
                </a:solidFill>
                <a:latin typeface="Arial" pitchFamily="34" charset="0"/>
                <a:ea typeface="Arial" pitchFamily="34" charset="-122"/>
                <a:cs typeface="Arial" pitchFamily="34" charset="-120"/>
              </a:rPr>
              <a:t>Kiểm tra chữ ký trước khi xử lý dữ liệu VNPAY gửi về</a:t>
            </a:r>
            <a:endParaRPr lang="en-US" sz="1100" dirty="0"/>
          </a:p>
        </p:txBody>
      </p:sp>
      <p:sp>
        <p:nvSpPr>
          <p:cNvPr id="24" name="Shape 22"/>
          <p:cNvSpPr/>
          <p:nvPr/>
        </p:nvSpPr>
        <p:spPr>
          <a:xfrm>
            <a:off x="7791785" y="2005188"/>
            <a:ext cx="3739530" cy="802569"/>
          </a:xfrm>
          <a:prstGeom prst="roundRect">
            <a:avLst>
              <a:gd name="adj" fmla="val 9491"/>
            </a:avLst>
          </a:prstGeom>
          <a:solidFill>
            <a:srgbClr val="FFFFFF"/>
          </a:solidFill>
          <a:ln w="6350">
            <a:solidFill>
              <a:srgbClr val="E3E6EA"/>
            </a:solidFill>
            <a:prstDash val="solid"/>
          </a:ln>
        </p:spPr>
      </p:sp>
      <p:sp>
        <p:nvSpPr>
          <p:cNvPr id="25" name="Shape 23"/>
          <p:cNvSpPr/>
          <p:nvPr/>
        </p:nvSpPr>
        <p:spPr>
          <a:xfrm>
            <a:off x="7912395" y="2100377"/>
            <a:ext cx="982614" cy="209580"/>
          </a:xfrm>
          <a:prstGeom prst="roundRect">
            <a:avLst>
              <a:gd name="adj" fmla="val 50000"/>
            </a:avLst>
          </a:prstGeom>
          <a:solidFill>
            <a:srgbClr val="FDE8E6"/>
          </a:solidFill>
          <a:ln/>
        </p:spPr>
      </p:sp>
      <p:sp>
        <p:nvSpPr>
          <p:cNvPr id="26" name="Text 24"/>
          <p:cNvSpPr txBox="1"/>
          <p:nvPr/>
        </p:nvSpPr>
        <p:spPr>
          <a:xfrm>
            <a:off x="7988564" y="2131649"/>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27" name="Text 25"/>
          <p:cNvSpPr txBox="1"/>
          <p:nvPr/>
        </p:nvSpPr>
        <p:spPr>
          <a:xfrm>
            <a:off x="8996599" y="2095622"/>
            <a:ext cx="2486436" cy="672998"/>
          </a:xfrm>
          <a:prstGeom prst="rect">
            <a:avLst/>
          </a:prstGeom>
          <a:noFill/>
          <a:ln/>
        </p:spPr>
        <p:txBody>
          <a:bodyPr wrap="square" lIns="0" tIns="0" rIns="0" bIns="0" rtlCol="0" anchor="t"/>
          <a:lstStyle/>
          <a:p>
            <a:pPr algn="l" indent="0" marL="0">
              <a:lnSpc>
                <a:spcPts val="1540"/>
              </a:lnSpc>
              <a:buNone/>
            </a:pPr>
            <a:r>
              <a:rPr lang="en-US" sz="1100" dirty="0">
                <a:solidFill>
                  <a:srgbClr val="3F454D"/>
                </a:solidFill>
                <a:latin typeface="Arial" pitchFamily="34" charset="0"/>
                <a:ea typeface="Arial" pitchFamily="34" charset="-122"/>
                <a:cs typeface="Arial" pitchFamily="34" charset="-120"/>
              </a:rPr>
              <a:t>Bỏ </a:t>
            </a:r>
            <a:pPr algn="l" indent="0" marL="0">
              <a:lnSpc>
                <a:spcPts val="1540"/>
              </a:lnSpc>
              <a:buNone/>
            </a:pPr>
            <a:r>
              <a:rPr lang="en-US" sz="1100" dirty="0">
                <a:solidFill>
                  <a:srgbClr val="3F454D"/>
                </a:solidFill>
                <a:latin typeface="Courier New" pitchFamily="34" charset="0"/>
                <a:ea typeface="Courier New" pitchFamily="34" charset="-122"/>
                <a:cs typeface="Courier New" pitchFamily="34" charset="-120"/>
              </a:rPr>
              <a:t>vnp_SecureHash</a:t>
            </a:r>
            <a:pPr algn="l" indent="0" marL="0">
              <a:lnSpc>
                <a:spcPts val="1540"/>
              </a:lnSpc>
              <a:buNone/>
            </a:pPr>
            <a:r>
              <a:rPr lang="en-US" sz="1100" dirty="0">
                <a:solidFill>
                  <a:srgbClr val="3F454D"/>
                </a:solidFill>
                <a:latin typeface="Arial" pitchFamily="34" charset="0"/>
                <a:ea typeface="Arial" pitchFamily="34" charset="-122"/>
                <a:cs typeface="Arial" pitchFamily="34" charset="-120"/>
              </a:rPr>
              <a:t> và </a:t>
            </a:r>
            <a:pPr algn="l" indent="0" marL="0">
              <a:lnSpc>
                <a:spcPts val="1540"/>
              </a:lnSpc>
              <a:buNone/>
            </a:pPr>
            <a:r>
              <a:rPr lang="en-US" sz="1100" dirty="0">
                <a:solidFill>
                  <a:srgbClr val="3F454D"/>
                </a:solidFill>
                <a:latin typeface="Courier New" pitchFamily="34" charset="0"/>
                <a:ea typeface="Courier New" pitchFamily="34" charset="-122"/>
                <a:cs typeface="Courier New" pitchFamily="34" charset="-120"/>
              </a:rPr>
              <a:t>vnp_SecureHashType</a:t>
            </a:r>
            <a:pPr algn="l" indent="0" marL="0">
              <a:lnSpc>
                <a:spcPts val="1540"/>
              </a:lnSpc>
              <a:buNone/>
            </a:pPr>
            <a:r>
              <a:rPr lang="en-US" sz="1100" dirty="0">
                <a:solidFill>
                  <a:srgbClr val="3F454D"/>
                </a:solidFill>
                <a:latin typeface="Arial" pitchFamily="34" charset="0"/>
                <a:ea typeface="Arial" pitchFamily="34" charset="-122"/>
                <a:cs typeface="Arial" pitchFamily="34" charset="-120"/>
              </a:rPr>
              <a:t> rồi ký lại phần còn lại</a:t>
            </a:r>
            <a:endParaRPr lang="en-US" sz="1100" dirty="0"/>
          </a:p>
        </p:txBody>
      </p:sp>
      <p:sp>
        <p:nvSpPr>
          <p:cNvPr id="28" name="Shape 26"/>
          <p:cNvSpPr/>
          <p:nvPr/>
        </p:nvSpPr>
        <p:spPr>
          <a:xfrm>
            <a:off x="7791785" y="2883926"/>
            <a:ext cx="3739530" cy="400050"/>
          </a:xfrm>
          <a:prstGeom prst="roundRect">
            <a:avLst>
              <a:gd name="adj" fmla="val 19040"/>
            </a:avLst>
          </a:prstGeom>
          <a:solidFill>
            <a:srgbClr val="FFFFFF"/>
          </a:solidFill>
          <a:ln w="6350">
            <a:solidFill>
              <a:srgbClr val="E3E6EA"/>
            </a:solidFill>
            <a:prstDash val="solid"/>
          </a:ln>
        </p:spPr>
      </p:sp>
      <p:sp>
        <p:nvSpPr>
          <p:cNvPr id="29" name="Shape 27"/>
          <p:cNvSpPr/>
          <p:nvPr/>
        </p:nvSpPr>
        <p:spPr>
          <a:xfrm>
            <a:off x="7912395" y="2979207"/>
            <a:ext cx="723748" cy="209580"/>
          </a:xfrm>
          <a:prstGeom prst="roundRect">
            <a:avLst>
              <a:gd name="adj" fmla="val 50000"/>
            </a:avLst>
          </a:prstGeom>
          <a:solidFill>
            <a:srgbClr val="DEF3E8"/>
          </a:solidFill>
          <a:ln/>
        </p:spPr>
      </p:sp>
      <p:sp>
        <p:nvSpPr>
          <p:cNvPr id="30" name="Text 28"/>
          <p:cNvSpPr txBox="1"/>
          <p:nvPr/>
        </p:nvSpPr>
        <p:spPr>
          <a:xfrm>
            <a:off x="7988564" y="3010388"/>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31" name="Text 29"/>
          <p:cNvSpPr txBox="1"/>
          <p:nvPr/>
        </p:nvSpPr>
        <p:spPr>
          <a:xfrm>
            <a:off x="8737824" y="2983504"/>
            <a:ext cx="2749784"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Copy sang </a:t>
            </a:r>
            <a:pPr algn="l" indent="0" marL="0">
              <a:buNone/>
            </a:pPr>
            <a:r>
              <a:rPr lang="en-US" sz="1100" dirty="0">
                <a:solidFill>
                  <a:srgbClr val="3F454D"/>
                </a:solidFill>
                <a:latin typeface="Courier New" pitchFamily="34" charset="0"/>
                <a:ea typeface="Courier New" pitchFamily="34" charset="-122"/>
                <a:cs typeface="Courier New" pitchFamily="34" charset="-120"/>
              </a:rPr>
              <a:t>clone</a:t>
            </a:r>
            <a:pPr algn="l" indent="0" marL="0">
              <a:buNone/>
            </a:pPr>
            <a:r>
              <a:rPr lang="en-US" sz="1100" dirty="0">
                <a:solidFill>
                  <a:srgbClr val="3F454D"/>
                </a:solidFill>
                <a:latin typeface="Arial" pitchFamily="34" charset="0"/>
                <a:ea typeface="Arial" pitchFamily="34" charset="-122"/>
                <a:cs typeface="Arial" pitchFamily="34" charset="-120"/>
              </a:rPr>
              <a:t> để không sửa map gốc</a:t>
            </a:r>
            <a:endParaRPr lang="en-US" sz="1100" dirty="0"/>
          </a:p>
        </p:txBody>
      </p:sp>
      <p:sp>
        <p:nvSpPr>
          <p:cNvPr id="32" name="Shape 30"/>
          <p:cNvSpPr/>
          <p:nvPr/>
        </p:nvSpPr>
        <p:spPr>
          <a:xfrm>
            <a:off x="7791785" y="3360146"/>
            <a:ext cx="3739530" cy="594269"/>
          </a:xfrm>
          <a:prstGeom prst="roundRect">
            <a:avLst>
              <a:gd name="adj" fmla="val 12817"/>
            </a:avLst>
          </a:prstGeom>
          <a:solidFill>
            <a:srgbClr val="FFFFFF"/>
          </a:solidFill>
          <a:ln w="6350">
            <a:solidFill>
              <a:srgbClr val="E3E6EA"/>
            </a:solidFill>
            <a:prstDash val="solid"/>
          </a:ln>
        </p:spPr>
      </p:sp>
      <p:sp>
        <p:nvSpPr>
          <p:cNvPr id="33" name="Shape 31"/>
          <p:cNvSpPr/>
          <p:nvPr/>
        </p:nvSpPr>
        <p:spPr>
          <a:xfrm>
            <a:off x="7912395" y="3455426"/>
            <a:ext cx="723748" cy="209580"/>
          </a:xfrm>
          <a:prstGeom prst="roundRect">
            <a:avLst>
              <a:gd name="adj" fmla="val 50000"/>
            </a:avLst>
          </a:prstGeom>
          <a:solidFill>
            <a:srgbClr val="DEF3E8"/>
          </a:solidFill>
          <a:ln/>
        </p:spPr>
      </p:sp>
      <p:sp>
        <p:nvSpPr>
          <p:cNvPr id="34" name="Text 32"/>
          <p:cNvSpPr txBox="1"/>
          <p:nvPr/>
        </p:nvSpPr>
        <p:spPr>
          <a:xfrm>
            <a:off x="7988564" y="3486607"/>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35" name="Text 33"/>
          <p:cNvSpPr txBox="1"/>
          <p:nvPr/>
        </p:nvSpPr>
        <p:spPr>
          <a:xfrm>
            <a:off x="8737824" y="3450671"/>
            <a:ext cx="2753076" cy="464790"/>
          </a:xfrm>
          <a:prstGeom prst="rect">
            <a:avLst/>
          </a:prstGeom>
          <a:noFill/>
          <a:ln/>
        </p:spPr>
        <p:txBody>
          <a:bodyPr wrap="square" lIns="0" tIns="0" rIns="0" bIns="0" rtlCol="0" anchor="t"/>
          <a:lstStyle/>
          <a:p>
            <a:pPr algn="l" indent="0" marL="0">
              <a:lnSpc>
                <a:spcPts val="1540"/>
              </a:lnSpc>
              <a:buNone/>
            </a:pPr>
            <a:r>
              <a:rPr lang="en-US" sz="1100" dirty="0">
                <a:solidFill>
                  <a:srgbClr val="3F454D"/>
                </a:solidFill>
                <a:latin typeface="Arial" pitchFamily="34" charset="0"/>
                <a:ea typeface="Arial" pitchFamily="34" charset="-122"/>
                <a:cs typeface="Arial" pitchFamily="34" charset="-120"/>
              </a:rPr>
              <a:t>So bằng </a:t>
            </a:r>
            <a:pPr algn="l" indent="0" marL="0">
              <a:lnSpc>
                <a:spcPts val="1540"/>
              </a:lnSpc>
              <a:buNone/>
            </a:pPr>
            <a:r>
              <a:rPr lang="en-US" sz="1100" dirty="0">
                <a:solidFill>
                  <a:srgbClr val="3F454D"/>
                </a:solidFill>
                <a:latin typeface="Courier New" pitchFamily="34" charset="0"/>
                <a:ea typeface="Courier New" pitchFamily="34" charset="-122"/>
                <a:cs typeface="Courier New" pitchFamily="34" charset="-120"/>
              </a:rPr>
              <a:t>equalsIgnoreCase</a:t>
            </a:r>
            <a:pPr algn="l" indent="0" marL="0">
              <a:lnSpc>
                <a:spcPts val="1540"/>
              </a:lnSpc>
              <a:buNone/>
            </a:pPr>
            <a:r>
              <a:rPr lang="en-US" sz="1100" dirty="0">
                <a:solidFill>
                  <a:srgbClr val="3F454D"/>
                </a:solidFill>
                <a:latin typeface="Arial" pitchFamily="34" charset="0"/>
                <a:ea typeface="Arial" pitchFamily="34" charset="-122"/>
                <a:cs typeface="Arial" pitchFamily="34" charset="-120"/>
              </a:rPr>
              <a:t>, vì VNPAY không phân biệt hoa thường</a:t>
            </a:r>
            <a:endParaRPr lang="en-US" sz="1100" dirty="0"/>
          </a:p>
        </p:txBody>
      </p:sp>
      <p:sp>
        <p:nvSpPr>
          <p:cNvPr id="36" name="Text 34"/>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37" name="Text 35"/>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22</a:t>
            </a:r>
            <a:endParaRPr lang="en-US" sz="9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425470"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Code</a:t>
            </a:r>
            <a:endParaRPr lang="en-US" sz="1100" dirty="0"/>
          </a:p>
        </p:txBody>
      </p:sp>
      <p:sp>
        <p:nvSpPr>
          <p:cNvPr id="3" name="Text 1"/>
          <p:cNvSpPr txBox="1"/>
          <p:nvPr/>
        </p:nvSpPr>
        <p:spPr>
          <a:xfrm>
            <a:off x="660380" y="643829"/>
            <a:ext cx="7376739"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createPayment (1/2): vì sao viết như vậy</a:t>
            </a:r>
            <a:endParaRPr lang="en-US" sz="3000" dirty="0"/>
          </a:p>
        </p:txBody>
      </p:sp>
      <p:sp>
        <p:nvSpPr>
          <p:cNvPr id="4" name="Text 2"/>
          <p:cNvSpPr txBox="1"/>
          <p:nvPr/>
        </p:nvSpPr>
        <p:spPr>
          <a:xfrm>
            <a:off x="660380" y="1358798"/>
            <a:ext cx="1534912"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PaymentService.java</a:t>
            </a:r>
            <a:endParaRPr lang="en-US" sz="1000" dirty="0"/>
          </a:p>
        </p:txBody>
      </p:sp>
      <p:sp>
        <p:nvSpPr>
          <p:cNvPr id="5" name="Shape 3"/>
          <p:cNvSpPr/>
          <p:nvPr/>
        </p:nvSpPr>
        <p:spPr>
          <a:xfrm>
            <a:off x="660380" y="1601389"/>
            <a:ext cx="6482456" cy="4359768"/>
          </a:xfrm>
          <a:prstGeom prst="roundRect">
            <a:avLst>
              <a:gd name="adj" fmla="val 2330"/>
            </a:avLst>
          </a:prstGeom>
          <a:solidFill>
            <a:srgbClr val="0C131E"/>
          </a:solidFill>
          <a:ln/>
        </p:spPr>
      </p:sp>
      <p:sp>
        <p:nvSpPr>
          <p:cNvPr id="6" name="Text 4"/>
          <p:cNvSpPr txBox="1"/>
          <p:nvPr/>
        </p:nvSpPr>
        <p:spPr>
          <a:xfrm>
            <a:off x="907999" y="1784452"/>
            <a:ext cx="6065032" cy="191933"/>
          </a:xfrm>
          <a:prstGeom prst="rect">
            <a:avLst/>
          </a:prstGeom>
          <a:noFill/>
          <a:ln/>
        </p:spPr>
        <p:txBody>
          <a:bodyPr wrap="none" lIns="0" tIns="0" rIns="0" bIns="0" rtlCol="0" anchor="ctr"/>
          <a:lstStyle/>
          <a:p>
            <a:pPr algn="l" indent="0" marL="0">
              <a:buNone/>
            </a:pPr>
            <a:r>
              <a:rPr lang="en-US" sz="980" dirty="0">
                <a:solidFill>
                  <a:srgbClr val="7FC2FF"/>
                </a:solidFill>
                <a:latin typeface="Courier New" pitchFamily="34" charset="0"/>
                <a:ea typeface="Courier New" pitchFamily="34" charset="-122"/>
                <a:cs typeface="Courier New" pitchFamily="34" charset="-120"/>
              </a:rPr>
              <a:t>static</a:t>
            </a:r>
            <a:pPr algn="l" indent="0" marL="0">
              <a:buNone/>
            </a:pPr>
            <a:r>
              <a:rPr lang="en-US" sz="980" dirty="0">
                <a:solidFill>
                  <a:srgbClr val="E6EDF7"/>
                </a:solidFill>
                <a:latin typeface="Courier New" pitchFamily="34" charset="0"/>
                <a:ea typeface="Courier New" pitchFamily="34" charset="-122"/>
                <a:cs typeface="Courier New" pitchFamily="34" charset="-120"/>
              </a:rPr>
              <a:t> String createPayment(</a:t>
            </a:r>
            <a:pPr algn="l" indent="0" marL="0">
              <a:buNone/>
            </a:pPr>
            <a:r>
              <a:rPr lang="en-US" sz="980" dirty="0">
                <a:solidFill>
                  <a:srgbClr val="7FC2FF"/>
                </a:solidFill>
                <a:latin typeface="Courier New" pitchFamily="34" charset="0"/>
                <a:ea typeface="Courier New" pitchFamily="34" charset="-122"/>
                <a:cs typeface="Courier New" pitchFamily="34" charset="-120"/>
              </a:rPr>
              <a:t>long</a:t>
            </a:r>
            <a:pPr algn="l" indent="0" marL="0">
              <a:buNone/>
            </a:pPr>
            <a:r>
              <a:rPr lang="en-US" sz="980" dirty="0">
                <a:solidFill>
                  <a:srgbClr val="E6EDF7"/>
                </a:solidFill>
                <a:latin typeface="Courier New" pitchFamily="34" charset="0"/>
                <a:ea typeface="Courier New" pitchFamily="34" charset="-122"/>
                <a:cs typeface="Courier New" pitchFamily="34" charset="-120"/>
              </a:rPr>
              <a:t> amount, String orderInfo, String bankCode) {</a:t>
            </a:r>
            <a:endParaRPr lang="en-US" sz="980" dirty="0"/>
          </a:p>
        </p:txBody>
      </p:sp>
      <p:sp>
        <p:nvSpPr>
          <p:cNvPr id="7" name="Text 5"/>
          <p:cNvSpPr txBox="1"/>
          <p:nvPr/>
        </p:nvSpPr>
        <p:spPr>
          <a:xfrm>
            <a:off x="907999" y="1976293"/>
            <a:ext cx="3623219"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LocalDateTime now = LocalDateTime.now(VN);</a:t>
            </a:r>
            <a:endParaRPr lang="en-US" sz="980" dirty="0"/>
          </a:p>
        </p:txBody>
      </p:sp>
      <p:sp>
        <p:nvSpPr>
          <p:cNvPr id="8" name="Text 6"/>
          <p:cNvSpPr txBox="1"/>
          <p:nvPr/>
        </p:nvSpPr>
        <p:spPr>
          <a:xfrm>
            <a:off x="907999" y="2168225"/>
            <a:ext cx="3229295"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String createDate = now.format(TIME);</a:t>
            </a:r>
            <a:endParaRPr lang="en-US" sz="980" dirty="0"/>
          </a:p>
        </p:txBody>
      </p:sp>
      <p:sp>
        <p:nvSpPr>
          <p:cNvPr id="9" name="Shape 7"/>
          <p:cNvSpPr/>
          <p:nvPr/>
        </p:nvSpPr>
        <p:spPr>
          <a:xfrm>
            <a:off x="660380" y="2342144"/>
            <a:ext cx="6482456" cy="191841"/>
          </a:xfrm>
          <a:prstGeom prst="rect">
            <a:avLst/>
          </a:prstGeom>
          <a:solidFill>
            <a:srgbClr val="FFD479">
              <a:alpha val="13000"/>
            </a:srgbClr>
          </a:solidFill>
          <a:ln/>
        </p:spPr>
      </p:sp>
      <p:sp>
        <p:nvSpPr>
          <p:cNvPr id="10" name="Shape 8"/>
          <p:cNvSpPr/>
          <p:nvPr/>
        </p:nvSpPr>
        <p:spPr>
          <a:xfrm>
            <a:off x="660380" y="2342144"/>
            <a:ext cx="31730" cy="191841"/>
          </a:xfrm>
          <a:prstGeom prst="rect">
            <a:avLst/>
          </a:prstGeom>
          <a:solidFill>
            <a:srgbClr val="FFD479"/>
          </a:solidFill>
          <a:ln/>
        </p:spPr>
      </p:sp>
      <p:sp>
        <p:nvSpPr>
          <p:cNvPr id="11" name="Text 9"/>
          <p:cNvSpPr txBox="1"/>
          <p:nvPr/>
        </p:nvSpPr>
        <p:spPr>
          <a:xfrm>
            <a:off x="907999" y="2360066"/>
            <a:ext cx="330811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String txnRef = newTxnRef(createDate);</a:t>
            </a:r>
            <a:endParaRPr lang="en-US" sz="980" dirty="0"/>
          </a:p>
        </p:txBody>
      </p:sp>
      <p:sp>
        <p:nvSpPr>
          <p:cNvPr id="12" name="Shape 10"/>
          <p:cNvSpPr/>
          <p:nvPr/>
        </p:nvSpPr>
        <p:spPr>
          <a:xfrm>
            <a:off x="660380" y="2533985"/>
            <a:ext cx="6482456" cy="191841"/>
          </a:xfrm>
          <a:prstGeom prst="rect">
            <a:avLst/>
          </a:prstGeom>
          <a:solidFill>
            <a:srgbClr val="FFD479">
              <a:alpha val="13000"/>
            </a:srgbClr>
          </a:solidFill>
          <a:ln/>
        </p:spPr>
      </p:sp>
      <p:sp>
        <p:nvSpPr>
          <p:cNvPr id="13" name="Shape 11"/>
          <p:cNvSpPr/>
          <p:nvPr/>
        </p:nvSpPr>
        <p:spPr>
          <a:xfrm>
            <a:off x="660380" y="2533985"/>
            <a:ext cx="31730" cy="191841"/>
          </a:xfrm>
          <a:prstGeom prst="rect">
            <a:avLst/>
          </a:prstGeom>
          <a:solidFill>
            <a:srgbClr val="FFD479"/>
          </a:solidFill>
          <a:ln/>
        </p:spPr>
      </p:sp>
      <p:sp>
        <p:nvSpPr>
          <p:cNvPr id="14" name="Text 12"/>
          <p:cNvSpPr txBox="1"/>
          <p:nvPr/>
        </p:nvSpPr>
        <p:spPr>
          <a:xfrm>
            <a:off x="907999" y="2551999"/>
            <a:ext cx="574993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ORDERS.put(txnRef, </a:t>
            </a:r>
            <a:pPr algn="l" indent="0" marL="0">
              <a:buNone/>
            </a:pPr>
            <a:r>
              <a:rPr lang="en-US" sz="980" dirty="0">
                <a:solidFill>
                  <a:srgbClr val="7FC2FF"/>
                </a:solidFill>
                <a:latin typeface="Courier New" pitchFamily="34" charset="0"/>
                <a:ea typeface="Courier New" pitchFamily="34" charset="-122"/>
                <a:cs typeface="Courier New" pitchFamily="34" charset="-120"/>
              </a:rPr>
              <a:t>new</a:t>
            </a:r>
            <a:pPr algn="l" indent="0" marL="0">
              <a:buNone/>
            </a:pPr>
            <a:r>
              <a:rPr lang="en-US" sz="980" dirty="0">
                <a:solidFill>
                  <a:srgbClr val="E6EDF7"/>
                </a:solidFill>
                <a:latin typeface="Courier New" pitchFamily="34" charset="0"/>
                <a:ea typeface="Courier New" pitchFamily="34" charset="-122"/>
                <a:cs typeface="Courier New" pitchFamily="34" charset="-120"/>
              </a:rPr>
              <a:t> Order(txnRef, amount, orderInfo, createDate));</a:t>
            </a:r>
            <a:endParaRPr lang="en-US" sz="980" dirty="0"/>
          </a:p>
        </p:txBody>
      </p:sp>
      <p:sp>
        <p:nvSpPr>
          <p:cNvPr id="15" name="Text 13"/>
          <p:cNvSpPr txBox="1"/>
          <p:nvPr/>
        </p:nvSpPr>
        <p:spPr>
          <a:xfrm>
            <a:off x="907999" y="2935681"/>
            <a:ext cx="3465667"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Map&lt;String, String&gt; p = </a:t>
            </a:r>
            <a:pPr algn="l" indent="0" marL="0">
              <a:buNone/>
            </a:pPr>
            <a:r>
              <a:rPr lang="en-US" sz="980" dirty="0">
                <a:solidFill>
                  <a:srgbClr val="7FC2FF"/>
                </a:solidFill>
                <a:latin typeface="Courier New" pitchFamily="34" charset="0"/>
                <a:ea typeface="Courier New" pitchFamily="34" charset="-122"/>
                <a:cs typeface="Courier New" pitchFamily="34" charset="-120"/>
              </a:rPr>
              <a:t>new</a:t>
            </a:r>
            <a:pPr algn="l" indent="0" marL="0">
              <a:buNone/>
            </a:pPr>
            <a:r>
              <a:rPr lang="en-US" sz="980" dirty="0">
                <a:solidFill>
                  <a:srgbClr val="E6EDF7"/>
                </a:solidFill>
                <a:latin typeface="Courier New" pitchFamily="34" charset="0"/>
                <a:ea typeface="Courier New" pitchFamily="34" charset="-122"/>
                <a:cs typeface="Courier New" pitchFamily="34" charset="-120"/>
              </a:rPr>
              <a:t> HashMap&lt;&gt;();</a:t>
            </a:r>
            <a:endParaRPr lang="en-US" sz="980" dirty="0"/>
          </a:p>
        </p:txBody>
      </p:sp>
      <p:sp>
        <p:nvSpPr>
          <p:cNvPr id="16" name="Text 14"/>
          <p:cNvSpPr txBox="1"/>
          <p:nvPr/>
        </p:nvSpPr>
        <p:spPr>
          <a:xfrm>
            <a:off x="907999" y="3127614"/>
            <a:ext cx="2678095"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p.put(</a:t>
            </a:r>
            <a:pPr algn="l" indent="0" marL="0">
              <a:buNone/>
            </a:pPr>
            <a:r>
              <a:rPr lang="en-US" sz="980" dirty="0">
                <a:solidFill>
                  <a:srgbClr val="9BE3B4"/>
                </a:solidFill>
                <a:latin typeface="Courier New" pitchFamily="34" charset="0"/>
                <a:ea typeface="Courier New" pitchFamily="34" charset="-122"/>
                <a:cs typeface="Courier New" pitchFamily="34" charset="-120"/>
              </a:rPr>
              <a:t>"vnp_Version"</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"2.1.0"</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7" name="Text 15"/>
          <p:cNvSpPr txBox="1"/>
          <p:nvPr/>
        </p:nvSpPr>
        <p:spPr>
          <a:xfrm>
            <a:off x="907999" y="3319455"/>
            <a:ext cx="2520635"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p.put(</a:t>
            </a:r>
            <a:pPr algn="l" indent="0" marL="0">
              <a:buNone/>
            </a:pPr>
            <a:r>
              <a:rPr lang="en-US" sz="980" dirty="0">
                <a:solidFill>
                  <a:srgbClr val="9BE3B4"/>
                </a:solidFill>
                <a:latin typeface="Courier New" pitchFamily="34" charset="0"/>
                <a:ea typeface="Courier New" pitchFamily="34" charset="-122"/>
                <a:cs typeface="Courier New" pitchFamily="34" charset="-120"/>
              </a:rPr>
              <a:t>"vnp_Command"</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"pay"</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8" name="Text 16"/>
          <p:cNvSpPr txBox="1"/>
          <p:nvPr/>
        </p:nvSpPr>
        <p:spPr>
          <a:xfrm>
            <a:off x="907999" y="3511387"/>
            <a:ext cx="275691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p.put(</a:t>
            </a:r>
            <a:pPr algn="l" indent="0" marL="0">
              <a:buNone/>
            </a:pPr>
            <a:r>
              <a:rPr lang="en-US" sz="980" dirty="0">
                <a:solidFill>
                  <a:srgbClr val="9BE3B4"/>
                </a:solidFill>
                <a:latin typeface="Courier New" pitchFamily="34" charset="0"/>
                <a:ea typeface="Courier New" pitchFamily="34" charset="-122"/>
                <a:cs typeface="Courier New" pitchFamily="34" charset="-120"/>
              </a:rPr>
              <a:t>"vnp_TmnCode"</a:t>
            </a:r>
            <a:pPr algn="l" indent="0" marL="0">
              <a:buNone/>
            </a:pPr>
            <a:r>
              <a:rPr lang="en-US" sz="980" dirty="0">
                <a:solidFill>
                  <a:srgbClr val="E6EDF7"/>
                </a:solidFill>
                <a:latin typeface="Courier New" pitchFamily="34" charset="0"/>
                <a:ea typeface="Courier New" pitchFamily="34" charset="-122"/>
                <a:cs typeface="Courier New" pitchFamily="34" charset="-120"/>
              </a:rPr>
              <a:t>, TMN_CODE);</a:t>
            </a:r>
            <a:endParaRPr lang="en-US" sz="980" dirty="0"/>
          </a:p>
        </p:txBody>
      </p:sp>
      <p:sp>
        <p:nvSpPr>
          <p:cNvPr id="19" name="Shape 17"/>
          <p:cNvSpPr/>
          <p:nvPr/>
        </p:nvSpPr>
        <p:spPr>
          <a:xfrm>
            <a:off x="660380" y="3685306"/>
            <a:ext cx="6482456" cy="191841"/>
          </a:xfrm>
          <a:prstGeom prst="rect">
            <a:avLst/>
          </a:prstGeom>
          <a:solidFill>
            <a:srgbClr val="FFD479">
              <a:alpha val="13000"/>
            </a:srgbClr>
          </a:solidFill>
          <a:ln/>
        </p:spPr>
      </p:sp>
      <p:sp>
        <p:nvSpPr>
          <p:cNvPr id="20" name="Shape 18"/>
          <p:cNvSpPr/>
          <p:nvPr/>
        </p:nvSpPr>
        <p:spPr>
          <a:xfrm>
            <a:off x="660380" y="3685306"/>
            <a:ext cx="31730" cy="191841"/>
          </a:xfrm>
          <a:prstGeom prst="rect">
            <a:avLst/>
          </a:prstGeom>
          <a:solidFill>
            <a:srgbClr val="FFD479"/>
          </a:solidFill>
          <a:ln/>
        </p:spPr>
      </p:sp>
      <p:sp>
        <p:nvSpPr>
          <p:cNvPr id="21" name="Text 19"/>
          <p:cNvSpPr txBox="1"/>
          <p:nvPr/>
        </p:nvSpPr>
        <p:spPr>
          <a:xfrm>
            <a:off x="907999" y="3703229"/>
            <a:ext cx="4253423"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p.put(</a:t>
            </a:r>
            <a:pPr algn="l" indent="0" marL="0">
              <a:buNone/>
            </a:pPr>
            <a:r>
              <a:rPr lang="en-US" sz="980" dirty="0">
                <a:solidFill>
                  <a:srgbClr val="9BE3B4"/>
                </a:solidFill>
                <a:latin typeface="Courier New" pitchFamily="34" charset="0"/>
                <a:ea typeface="Courier New" pitchFamily="34" charset="-122"/>
                <a:cs typeface="Courier New" pitchFamily="34" charset="-120"/>
              </a:rPr>
              <a:t>"vnp_Amount"</a:t>
            </a:r>
            <a:pPr algn="l" indent="0" marL="0">
              <a:buNone/>
            </a:pPr>
            <a:r>
              <a:rPr lang="en-US" sz="980" dirty="0">
                <a:solidFill>
                  <a:srgbClr val="E6EDF7"/>
                </a:solidFill>
                <a:latin typeface="Courier New" pitchFamily="34" charset="0"/>
                <a:ea typeface="Courier New" pitchFamily="34" charset="-122"/>
                <a:cs typeface="Courier New" pitchFamily="34" charset="-120"/>
              </a:rPr>
              <a:t>, String.valueOf(amount * 100));</a:t>
            </a:r>
            <a:endParaRPr lang="en-US" sz="980" dirty="0"/>
          </a:p>
        </p:txBody>
      </p:sp>
      <p:sp>
        <p:nvSpPr>
          <p:cNvPr id="22" name="Text 20"/>
          <p:cNvSpPr txBox="1"/>
          <p:nvPr/>
        </p:nvSpPr>
        <p:spPr>
          <a:xfrm>
            <a:off x="907999" y="3895161"/>
            <a:ext cx="2599365"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p.put(</a:t>
            </a:r>
            <a:pPr algn="l" indent="0" marL="0">
              <a:buNone/>
            </a:pPr>
            <a:r>
              <a:rPr lang="en-US" sz="980" dirty="0">
                <a:solidFill>
                  <a:srgbClr val="9BE3B4"/>
                </a:solidFill>
                <a:latin typeface="Courier New" pitchFamily="34" charset="0"/>
                <a:ea typeface="Courier New" pitchFamily="34" charset="-122"/>
                <a:cs typeface="Courier New" pitchFamily="34" charset="-120"/>
              </a:rPr>
              <a:t>"vnp_CurrCode"</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"VND"</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3" name="Text 21"/>
          <p:cNvSpPr txBox="1"/>
          <p:nvPr/>
        </p:nvSpPr>
        <p:spPr>
          <a:xfrm>
            <a:off x="907999" y="4087002"/>
            <a:ext cx="252072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p.put(</a:t>
            </a:r>
            <a:pPr algn="l" indent="0" marL="0">
              <a:buNone/>
            </a:pPr>
            <a:r>
              <a:rPr lang="en-US" sz="980" dirty="0">
                <a:solidFill>
                  <a:srgbClr val="9BE3B4"/>
                </a:solidFill>
                <a:latin typeface="Courier New" pitchFamily="34" charset="0"/>
                <a:ea typeface="Courier New" pitchFamily="34" charset="-122"/>
                <a:cs typeface="Courier New" pitchFamily="34" charset="-120"/>
              </a:rPr>
              <a:t>"vnp_TxnRef"</a:t>
            </a:r>
            <a:pPr algn="l" indent="0" marL="0">
              <a:buNone/>
            </a:pPr>
            <a:r>
              <a:rPr lang="en-US" sz="980" dirty="0">
                <a:solidFill>
                  <a:srgbClr val="E6EDF7"/>
                </a:solidFill>
                <a:latin typeface="Courier New" pitchFamily="34" charset="0"/>
                <a:ea typeface="Courier New" pitchFamily="34" charset="-122"/>
                <a:cs typeface="Courier New" pitchFamily="34" charset="-120"/>
              </a:rPr>
              <a:t>, txnRef);</a:t>
            </a:r>
            <a:endParaRPr lang="en-US" sz="980" dirty="0"/>
          </a:p>
        </p:txBody>
      </p:sp>
      <p:sp>
        <p:nvSpPr>
          <p:cNvPr id="24" name="Text 22"/>
          <p:cNvSpPr txBox="1"/>
          <p:nvPr/>
        </p:nvSpPr>
        <p:spPr>
          <a:xfrm>
            <a:off x="907999" y="4278935"/>
            <a:ext cx="299310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p.put(</a:t>
            </a:r>
            <a:pPr algn="l" indent="0" marL="0">
              <a:buNone/>
            </a:pPr>
            <a:r>
              <a:rPr lang="en-US" sz="980" dirty="0">
                <a:solidFill>
                  <a:srgbClr val="9BE3B4"/>
                </a:solidFill>
                <a:latin typeface="Courier New" pitchFamily="34" charset="0"/>
                <a:ea typeface="Courier New" pitchFamily="34" charset="-122"/>
                <a:cs typeface="Courier New" pitchFamily="34" charset="-120"/>
              </a:rPr>
              <a:t>"vnp_OrderInfo"</a:t>
            </a:r>
            <a:pPr algn="l" indent="0" marL="0">
              <a:buNone/>
            </a:pPr>
            <a:r>
              <a:rPr lang="en-US" sz="980" dirty="0">
                <a:solidFill>
                  <a:srgbClr val="E6EDF7"/>
                </a:solidFill>
                <a:latin typeface="Courier New" pitchFamily="34" charset="0"/>
                <a:ea typeface="Courier New" pitchFamily="34" charset="-122"/>
                <a:cs typeface="Courier New" pitchFamily="34" charset="-120"/>
              </a:rPr>
              <a:t>, orderInfo);</a:t>
            </a:r>
            <a:endParaRPr lang="en-US" sz="980" dirty="0"/>
          </a:p>
        </p:txBody>
      </p:sp>
      <p:sp>
        <p:nvSpPr>
          <p:cNvPr id="25" name="Text 23"/>
          <p:cNvSpPr txBox="1"/>
          <p:nvPr/>
        </p:nvSpPr>
        <p:spPr>
          <a:xfrm>
            <a:off x="907999" y="4470776"/>
            <a:ext cx="283564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p.put(</a:t>
            </a:r>
            <a:pPr algn="l" indent="0" marL="0">
              <a:buNone/>
            </a:pPr>
            <a:r>
              <a:rPr lang="en-US" sz="980" dirty="0">
                <a:solidFill>
                  <a:srgbClr val="9BE3B4"/>
                </a:solidFill>
                <a:latin typeface="Courier New" pitchFamily="34" charset="0"/>
                <a:ea typeface="Courier New" pitchFamily="34" charset="-122"/>
                <a:cs typeface="Courier New" pitchFamily="34" charset="-120"/>
              </a:rPr>
              <a:t>"vnp_OrderType"</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"other"</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6" name="Text 24"/>
          <p:cNvSpPr txBox="1"/>
          <p:nvPr/>
        </p:nvSpPr>
        <p:spPr>
          <a:xfrm>
            <a:off x="907999" y="4662708"/>
            <a:ext cx="2363175"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p.put(</a:t>
            </a:r>
            <a:pPr algn="l" indent="0" marL="0">
              <a:buNone/>
            </a:pPr>
            <a:r>
              <a:rPr lang="en-US" sz="980" dirty="0">
                <a:solidFill>
                  <a:srgbClr val="9BE3B4"/>
                </a:solidFill>
                <a:latin typeface="Courier New" pitchFamily="34" charset="0"/>
                <a:ea typeface="Courier New" pitchFamily="34" charset="-122"/>
                <a:cs typeface="Courier New" pitchFamily="34" charset="-120"/>
              </a:rPr>
              <a:t>"vnp_Locale"</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"vn"</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7" name="Text 25"/>
          <p:cNvSpPr txBox="1"/>
          <p:nvPr/>
        </p:nvSpPr>
        <p:spPr>
          <a:xfrm>
            <a:off x="907999" y="4854550"/>
            <a:ext cx="3071927"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p.put(</a:t>
            </a:r>
            <a:pPr algn="l" indent="0" marL="0">
              <a:buNone/>
            </a:pPr>
            <a:r>
              <a:rPr lang="en-US" sz="980" dirty="0">
                <a:solidFill>
                  <a:srgbClr val="9BE3B4"/>
                </a:solidFill>
                <a:latin typeface="Courier New" pitchFamily="34" charset="0"/>
                <a:ea typeface="Courier New" pitchFamily="34" charset="-122"/>
                <a:cs typeface="Courier New" pitchFamily="34" charset="-120"/>
              </a:rPr>
              <a:t>"vnp_ReturnUrl"</a:t>
            </a:r>
            <a:pPr algn="l" indent="0" marL="0">
              <a:buNone/>
            </a:pPr>
            <a:r>
              <a:rPr lang="en-US" sz="980" dirty="0">
                <a:solidFill>
                  <a:srgbClr val="E6EDF7"/>
                </a:solidFill>
                <a:latin typeface="Courier New" pitchFamily="34" charset="0"/>
                <a:ea typeface="Courier New" pitchFamily="34" charset="-122"/>
                <a:cs typeface="Courier New" pitchFamily="34" charset="-120"/>
              </a:rPr>
              <a:t>, RETURN_URL);</a:t>
            </a:r>
            <a:endParaRPr lang="en-US" sz="980" dirty="0"/>
          </a:p>
        </p:txBody>
      </p:sp>
      <p:sp>
        <p:nvSpPr>
          <p:cNvPr id="28" name="Text 26"/>
          <p:cNvSpPr txBox="1"/>
          <p:nvPr/>
        </p:nvSpPr>
        <p:spPr>
          <a:xfrm>
            <a:off x="907999" y="5046482"/>
            <a:ext cx="2914559"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p.put(</a:t>
            </a:r>
            <a:pPr algn="l" indent="0" marL="0">
              <a:buNone/>
            </a:pPr>
            <a:r>
              <a:rPr lang="en-US" sz="980" dirty="0">
                <a:solidFill>
                  <a:srgbClr val="9BE3B4"/>
                </a:solidFill>
                <a:latin typeface="Courier New" pitchFamily="34" charset="0"/>
                <a:ea typeface="Courier New" pitchFamily="34" charset="-122"/>
                <a:cs typeface="Courier New" pitchFamily="34" charset="-120"/>
              </a:rPr>
              <a:t>"vnp_IpAddr"</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"127.0.0.1"</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9" name="Text 27"/>
          <p:cNvSpPr txBox="1"/>
          <p:nvPr/>
        </p:nvSpPr>
        <p:spPr>
          <a:xfrm>
            <a:off x="907999" y="5238323"/>
            <a:ext cx="3150657"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p.put(</a:t>
            </a:r>
            <a:pPr algn="l" indent="0" marL="0">
              <a:buNone/>
            </a:pPr>
            <a:r>
              <a:rPr lang="en-US" sz="980" dirty="0">
                <a:solidFill>
                  <a:srgbClr val="9BE3B4"/>
                </a:solidFill>
                <a:latin typeface="Courier New" pitchFamily="34" charset="0"/>
                <a:ea typeface="Courier New" pitchFamily="34" charset="-122"/>
                <a:cs typeface="Courier New" pitchFamily="34" charset="-120"/>
              </a:rPr>
              <a:t>"vnp_CreateDate"</a:t>
            </a:r>
            <a:pPr algn="l" indent="0" marL="0">
              <a:buNone/>
            </a:pPr>
            <a:r>
              <a:rPr lang="en-US" sz="980" dirty="0">
                <a:solidFill>
                  <a:srgbClr val="E6EDF7"/>
                </a:solidFill>
                <a:latin typeface="Courier New" pitchFamily="34" charset="0"/>
                <a:ea typeface="Courier New" pitchFamily="34" charset="-122"/>
                <a:cs typeface="Courier New" pitchFamily="34" charset="-120"/>
              </a:rPr>
              <a:t>, createDate);</a:t>
            </a:r>
            <a:endParaRPr lang="en-US" sz="980" dirty="0"/>
          </a:p>
        </p:txBody>
      </p:sp>
      <p:sp>
        <p:nvSpPr>
          <p:cNvPr id="30" name="Shape 28"/>
          <p:cNvSpPr/>
          <p:nvPr/>
        </p:nvSpPr>
        <p:spPr>
          <a:xfrm>
            <a:off x="660380" y="5412242"/>
            <a:ext cx="6482456" cy="191841"/>
          </a:xfrm>
          <a:prstGeom prst="rect">
            <a:avLst/>
          </a:prstGeom>
          <a:solidFill>
            <a:srgbClr val="FFD479">
              <a:alpha val="13000"/>
            </a:srgbClr>
          </a:solidFill>
          <a:ln/>
        </p:spPr>
      </p:sp>
      <p:sp>
        <p:nvSpPr>
          <p:cNvPr id="31" name="Shape 29"/>
          <p:cNvSpPr/>
          <p:nvPr/>
        </p:nvSpPr>
        <p:spPr>
          <a:xfrm>
            <a:off x="660380" y="5412242"/>
            <a:ext cx="31730" cy="191841"/>
          </a:xfrm>
          <a:prstGeom prst="rect">
            <a:avLst/>
          </a:prstGeom>
          <a:solidFill>
            <a:srgbClr val="FFD479"/>
          </a:solidFill>
          <a:ln/>
        </p:spPr>
      </p:sp>
      <p:sp>
        <p:nvSpPr>
          <p:cNvPr id="32" name="Text 30"/>
          <p:cNvSpPr txBox="1"/>
          <p:nvPr/>
        </p:nvSpPr>
        <p:spPr>
          <a:xfrm>
            <a:off x="907999" y="5430256"/>
            <a:ext cx="488353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p.put(</a:t>
            </a:r>
            <a:pPr algn="l" indent="0" marL="0">
              <a:buNone/>
            </a:pPr>
            <a:r>
              <a:rPr lang="en-US" sz="980" dirty="0">
                <a:solidFill>
                  <a:srgbClr val="9BE3B4"/>
                </a:solidFill>
                <a:latin typeface="Courier New" pitchFamily="34" charset="0"/>
                <a:ea typeface="Courier New" pitchFamily="34" charset="-122"/>
                <a:cs typeface="Courier New" pitchFamily="34" charset="-120"/>
              </a:rPr>
              <a:t>"vnp_ExpireDate"</a:t>
            </a:r>
            <a:pPr algn="l" indent="0" marL="0">
              <a:buNone/>
            </a:pPr>
            <a:r>
              <a:rPr lang="en-US" sz="980" dirty="0">
                <a:solidFill>
                  <a:srgbClr val="E6EDF7"/>
                </a:solidFill>
                <a:latin typeface="Courier New" pitchFamily="34" charset="0"/>
                <a:ea typeface="Courier New" pitchFamily="34" charset="-122"/>
                <a:cs typeface="Courier New" pitchFamily="34" charset="-120"/>
              </a:rPr>
              <a:t>, now.plusMinutes(15).format(TIME));</a:t>
            </a:r>
            <a:endParaRPr lang="en-US" sz="980" dirty="0"/>
          </a:p>
        </p:txBody>
      </p:sp>
      <p:sp>
        <p:nvSpPr>
          <p:cNvPr id="33" name="Text 31"/>
          <p:cNvSpPr txBox="1"/>
          <p:nvPr/>
        </p:nvSpPr>
        <p:spPr>
          <a:xfrm>
            <a:off x="907999" y="5622097"/>
            <a:ext cx="6380135"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if</a:t>
            </a:r>
            <a:pPr algn="l" indent="0" marL="0">
              <a:buNone/>
            </a:pPr>
            <a:r>
              <a:rPr lang="en-US" sz="980" dirty="0">
                <a:solidFill>
                  <a:srgbClr val="E6EDF7"/>
                </a:solidFill>
                <a:latin typeface="Courier New" pitchFamily="34" charset="0"/>
                <a:ea typeface="Courier New" pitchFamily="34" charset="-122"/>
                <a:cs typeface="Courier New" pitchFamily="34" charset="-120"/>
              </a:rPr>
              <a:t> (bankCode != </a:t>
            </a:r>
            <a:pPr algn="l" indent="0" marL="0">
              <a:buNone/>
            </a:pPr>
            <a:r>
              <a:rPr lang="en-US" sz="980" dirty="0">
                <a:solidFill>
                  <a:srgbClr val="7FC2FF"/>
                </a:solidFill>
                <a:latin typeface="Courier New" pitchFamily="34" charset="0"/>
                <a:ea typeface="Courier New" pitchFamily="34" charset="-122"/>
                <a:cs typeface="Courier New" pitchFamily="34" charset="-120"/>
              </a:rPr>
              <a:t>null</a:t>
            </a:r>
            <a:pPr algn="l" indent="0" marL="0">
              <a:buNone/>
            </a:pPr>
            <a:r>
              <a:rPr lang="en-US" sz="980" dirty="0">
                <a:solidFill>
                  <a:srgbClr val="E6EDF7"/>
                </a:solidFill>
                <a:latin typeface="Courier New" pitchFamily="34" charset="0"/>
                <a:ea typeface="Courier New" pitchFamily="34" charset="-122"/>
                <a:cs typeface="Courier New" pitchFamily="34" charset="-120"/>
              </a:rPr>
              <a:t> &amp;&amp; !bankCode.isBlank()) p.put(</a:t>
            </a:r>
            <a:pPr algn="l" indent="0" marL="0">
              <a:buNone/>
            </a:pPr>
            <a:r>
              <a:rPr lang="en-US" sz="980" dirty="0">
                <a:solidFill>
                  <a:srgbClr val="9BE3B4"/>
                </a:solidFill>
                <a:latin typeface="Courier New" pitchFamily="34" charset="0"/>
                <a:ea typeface="Courier New" pitchFamily="34" charset="-122"/>
                <a:cs typeface="Courier New" pitchFamily="34" charset="-120"/>
              </a:rPr>
              <a:t>"vnp_BankCode"</a:t>
            </a:r>
            <a:pPr algn="l" indent="0" marL="0">
              <a:buNone/>
            </a:pPr>
            <a:r>
              <a:rPr lang="en-US" sz="980" dirty="0">
                <a:solidFill>
                  <a:srgbClr val="E6EDF7"/>
                </a:solidFill>
                <a:latin typeface="Courier New" pitchFamily="34" charset="0"/>
                <a:ea typeface="Courier New" pitchFamily="34" charset="-122"/>
                <a:cs typeface="Courier New" pitchFamily="34" charset="-120"/>
              </a:rPr>
              <a:t>, bankCode);</a:t>
            </a:r>
            <a:endParaRPr lang="en-US" sz="980" dirty="0"/>
          </a:p>
        </p:txBody>
      </p:sp>
      <p:sp>
        <p:nvSpPr>
          <p:cNvPr id="34" name="Shape 32"/>
          <p:cNvSpPr/>
          <p:nvPr/>
        </p:nvSpPr>
        <p:spPr>
          <a:xfrm>
            <a:off x="7346107" y="1347368"/>
            <a:ext cx="4185209" cy="594269"/>
          </a:xfrm>
          <a:prstGeom prst="roundRect">
            <a:avLst>
              <a:gd name="adj" fmla="val 12817"/>
            </a:avLst>
          </a:prstGeom>
          <a:solidFill>
            <a:srgbClr val="FFFFFF"/>
          </a:solidFill>
          <a:ln w="6350">
            <a:solidFill>
              <a:srgbClr val="E3E6EA"/>
            </a:solidFill>
            <a:prstDash val="solid"/>
          </a:ln>
        </p:spPr>
      </p:sp>
      <p:sp>
        <p:nvSpPr>
          <p:cNvPr id="35" name="Shape 33"/>
          <p:cNvSpPr/>
          <p:nvPr/>
        </p:nvSpPr>
        <p:spPr>
          <a:xfrm>
            <a:off x="7466716" y="1442649"/>
            <a:ext cx="723748" cy="209580"/>
          </a:xfrm>
          <a:prstGeom prst="roundRect">
            <a:avLst>
              <a:gd name="adj" fmla="val 50000"/>
            </a:avLst>
          </a:prstGeom>
          <a:solidFill>
            <a:srgbClr val="DEF3E8"/>
          </a:solidFill>
          <a:ln/>
        </p:spPr>
      </p:sp>
      <p:sp>
        <p:nvSpPr>
          <p:cNvPr id="36" name="Text 34"/>
          <p:cNvSpPr txBox="1"/>
          <p:nvPr/>
        </p:nvSpPr>
        <p:spPr>
          <a:xfrm>
            <a:off x="7542886" y="1473830"/>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37" name="Text 35"/>
          <p:cNvSpPr txBox="1"/>
          <p:nvPr/>
        </p:nvSpPr>
        <p:spPr>
          <a:xfrm>
            <a:off x="8292054" y="1437803"/>
            <a:ext cx="3212104" cy="464790"/>
          </a:xfrm>
          <a:prstGeom prst="rect">
            <a:avLst/>
          </a:prstGeom>
          <a:noFill/>
          <a:ln/>
        </p:spPr>
        <p:txBody>
          <a:bodyPr wrap="square" lIns="0" tIns="0" rIns="0" bIns="0" rtlCol="0" anchor="t"/>
          <a:lstStyle/>
          <a:p>
            <a:pPr algn="l" indent="0" marL="0">
              <a:lnSpc>
                <a:spcPts val="1540"/>
              </a:lnSpc>
              <a:buNone/>
            </a:pPr>
            <a:r>
              <a:rPr lang="en-US" sz="1100" dirty="0">
                <a:solidFill>
                  <a:srgbClr val="3F454D"/>
                </a:solidFill>
                <a:latin typeface="Courier New" pitchFamily="34" charset="0"/>
                <a:ea typeface="Courier New" pitchFamily="34" charset="-122"/>
                <a:cs typeface="Courier New" pitchFamily="34" charset="-120"/>
              </a:rPr>
              <a:t>txnRef</a:t>
            </a:r>
            <a:pPr algn="l" indent="0" marL="0">
              <a:lnSpc>
                <a:spcPts val="1540"/>
              </a:lnSpc>
              <a:buNone/>
            </a:pPr>
            <a:r>
              <a:rPr lang="en-US" sz="1100" dirty="0">
                <a:solidFill>
                  <a:srgbClr val="3F454D"/>
                </a:solidFill>
                <a:latin typeface="Arial" pitchFamily="34" charset="0"/>
                <a:ea typeface="Arial" pitchFamily="34" charset="-122"/>
                <a:cs typeface="Arial" pitchFamily="34" charset="-120"/>
              </a:rPr>
              <a:t> = thời điểm tạo + 6 số ngẫu nhiên, gần như không trùng</a:t>
            </a:r>
            <a:endParaRPr lang="en-US" sz="1100" dirty="0"/>
          </a:p>
        </p:txBody>
      </p:sp>
      <p:sp>
        <p:nvSpPr>
          <p:cNvPr id="38" name="Shape 36"/>
          <p:cNvSpPr/>
          <p:nvPr/>
        </p:nvSpPr>
        <p:spPr>
          <a:xfrm>
            <a:off x="7346107" y="2017898"/>
            <a:ext cx="4185209" cy="581650"/>
          </a:xfrm>
          <a:prstGeom prst="roundRect">
            <a:avLst>
              <a:gd name="adj" fmla="val 13095"/>
            </a:avLst>
          </a:prstGeom>
          <a:solidFill>
            <a:srgbClr val="FFFFFF"/>
          </a:solidFill>
          <a:ln w="6350">
            <a:solidFill>
              <a:srgbClr val="E3E6EA"/>
            </a:solidFill>
            <a:prstDash val="solid"/>
          </a:ln>
        </p:spPr>
      </p:sp>
      <p:sp>
        <p:nvSpPr>
          <p:cNvPr id="39" name="Shape 37"/>
          <p:cNvSpPr/>
          <p:nvPr/>
        </p:nvSpPr>
        <p:spPr>
          <a:xfrm>
            <a:off x="7466716" y="2113087"/>
            <a:ext cx="723748" cy="209580"/>
          </a:xfrm>
          <a:prstGeom prst="roundRect">
            <a:avLst>
              <a:gd name="adj" fmla="val 50000"/>
            </a:avLst>
          </a:prstGeom>
          <a:solidFill>
            <a:srgbClr val="DEF3E8"/>
          </a:solidFill>
          <a:ln/>
        </p:spPr>
      </p:sp>
      <p:sp>
        <p:nvSpPr>
          <p:cNvPr id="40" name="Text 38"/>
          <p:cNvSpPr txBox="1"/>
          <p:nvPr/>
        </p:nvSpPr>
        <p:spPr>
          <a:xfrm>
            <a:off x="7542886" y="2144359"/>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41" name="Text 39"/>
          <p:cNvSpPr txBox="1"/>
          <p:nvPr/>
        </p:nvSpPr>
        <p:spPr>
          <a:xfrm>
            <a:off x="8292054" y="2108332"/>
            <a:ext cx="3212104" cy="452079"/>
          </a:xfrm>
          <a:prstGeom prst="rect">
            <a:avLst/>
          </a:prstGeom>
          <a:noFill/>
          <a:ln/>
        </p:spPr>
        <p:txBody>
          <a:bodyPr wrap="square" lIns="0" tIns="0" rIns="0" bIns="0" rtlCol="0" anchor="t"/>
          <a:lstStyle/>
          <a:p>
            <a:pPr algn="l" indent="0" marL="0">
              <a:lnSpc>
                <a:spcPts val="1540"/>
              </a:lnSpc>
              <a:buNone/>
            </a:pPr>
            <a:r>
              <a:rPr lang="en-US" sz="1100" dirty="0">
                <a:solidFill>
                  <a:srgbClr val="3F454D"/>
                </a:solidFill>
                <a:latin typeface="Arial" pitchFamily="34" charset="0"/>
                <a:ea typeface="Arial" pitchFamily="34" charset="-122"/>
                <a:cs typeface="Arial" pitchFamily="34" charset="-120"/>
              </a:rPr>
              <a:t>Lưu đơn PENDING trước khi tạo link, để IPN về tìm được đơn</a:t>
            </a:r>
            <a:endParaRPr lang="en-US" sz="1100" dirty="0"/>
          </a:p>
        </p:txBody>
      </p:sp>
      <p:sp>
        <p:nvSpPr>
          <p:cNvPr id="42" name="Shape 40"/>
          <p:cNvSpPr/>
          <p:nvPr/>
        </p:nvSpPr>
        <p:spPr>
          <a:xfrm>
            <a:off x="7346107" y="2675626"/>
            <a:ext cx="4185209" cy="400050"/>
          </a:xfrm>
          <a:prstGeom prst="roundRect">
            <a:avLst>
              <a:gd name="adj" fmla="val 19040"/>
            </a:avLst>
          </a:prstGeom>
          <a:solidFill>
            <a:srgbClr val="FFFFFF"/>
          </a:solidFill>
          <a:ln w="6350">
            <a:solidFill>
              <a:srgbClr val="E3E6EA"/>
            </a:solidFill>
            <a:prstDash val="solid"/>
          </a:ln>
        </p:spPr>
      </p:sp>
      <p:sp>
        <p:nvSpPr>
          <p:cNvPr id="43" name="Shape 41"/>
          <p:cNvSpPr/>
          <p:nvPr/>
        </p:nvSpPr>
        <p:spPr>
          <a:xfrm>
            <a:off x="7466716" y="2770906"/>
            <a:ext cx="723748" cy="209580"/>
          </a:xfrm>
          <a:prstGeom prst="roundRect">
            <a:avLst>
              <a:gd name="adj" fmla="val 50000"/>
            </a:avLst>
          </a:prstGeom>
          <a:solidFill>
            <a:srgbClr val="DEF3E8"/>
          </a:solidFill>
          <a:ln/>
        </p:spPr>
      </p:sp>
      <p:sp>
        <p:nvSpPr>
          <p:cNvPr id="44" name="Text 42"/>
          <p:cNvSpPr txBox="1"/>
          <p:nvPr/>
        </p:nvSpPr>
        <p:spPr>
          <a:xfrm>
            <a:off x="7542886" y="2802179"/>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45" name="Text 43"/>
          <p:cNvSpPr txBox="1"/>
          <p:nvPr/>
        </p:nvSpPr>
        <p:spPr>
          <a:xfrm>
            <a:off x="8292054" y="2775204"/>
            <a:ext cx="3031053" cy="195590"/>
          </a:xfrm>
          <a:prstGeom prst="rect">
            <a:avLst/>
          </a:prstGeom>
          <a:noFill/>
          <a:ln/>
        </p:spPr>
        <p:txBody>
          <a:bodyPr wrap="square" lIns="0" tIns="0" rIns="0" bIns="0" rtlCol="0" anchor="ctr"/>
          <a:lstStyle/>
          <a:p>
            <a:pPr algn="l" indent="0" marL="0">
              <a:buNone/>
            </a:pPr>
            <a:r>
              <a:rPr lang="en-US" sz="1100" dirty="0">
                <a:solidFill>
                  <a:srgbClr val="3F454D"/>
                </a:solidFill>
                <a:latin typeface="Courier New" pitchFamily="34" charset="0"/>
                <a:ea typeface="Courier New" pitchFamily="34" charset="-122"/>
                <a:cs typeface="Courier New" pitchFamily="34" charset="-120"/>
              </a:rPr>
              <a:t>long</a:t>
            </a:r>
            <a:pPr algn="l" indent="0" marL="0">
              <a:buNone/>
            </a:pPr>
            <a:r>
              <a:rPr lang="en-US" sz="1100" dirty="0">
                <a:solidFill>
                  <a:srgbClr val="3F454D"/>
                </a:solidFill>
                <a:latin typeface="Arial" pitchFamily="34" charset="0"/>
                <a:ea typeface="Arial" pitchFamily="34" charset="-122"/>
                <a:cs typeface="Arial" pitchFamily="34" charset="-120"/>
              </a:rPr>
              <a:t> cho số tiền, nhân 100 vẫn không tràn số</a:t>
            </a:r>
            <a:endParaRPr lang="en-US" sz="1100" dirty="0"/>
          </a:p>
        </p:txBody>
      </p:sp>
      <p:sp>
        <p:nvSpPr>
          <p:cNvPr id="46" name="Shape 44"/>
          <p:cNvSpPr/>
          <p:nvPr/>
        </p:nvSpPr>
        <p:spPr>
          <a:xfrm>
            <a:off x="7346107" y="3151937"/>
            <a:ext cx="4185209" cy="400050"/>
          </a:xfrm>
          <a:prstGeom prst="roundRect">
            <a:avLst>
              <a:gd name="adj" fmla="val 19040"/>
            </a:avLst>
          </a:prstGeom>
          <a:solidFill>
            <a:srgbClr val="FFFFFF"/>
          </a:solidFill>
          <a:ln w="6350">
            <a:solidFill>
              <a:srgbClr val="E3E6EA"/>
            </a:solidFill>
            <a:prstDash val="solid"/>
          </a:ln>
        </p:spPr>
      </p:sp>
      <p:sp>
        <p:nvSpPr>
          <p:cNvPr id="47" name="Shape 45"/>
          <p:cNvSpPr/>
          <p:nvPr/>
        </p:nvSpPr>
        <p:spPr>
          <a:xfrm>
            <a:off x="7466716" y="3247126"/>
            <a:ext cx="723748" cy="209580"/>
          </a:xfrm>
          <a:prstGeom prst="roundRect">
            <a:avLst>
              <a:gd name="adj" fmla="val 50000"/>
            </a:avLst>
          </a:prstGeom>
          <a:solidFill>
            <a:srgbClr val="DEF3E8"/>
          </a:solidFill>
          <a:ln/>
        </p:spPr>
      </p:sp>
      <p:sp>
        <p:nvSpPr>
          <p:cNvPr id="48" name="Text 46"/>
          <p:cNvSpPr txBox="1"/>
          <p:nvPr/>
        </p:nvSpPr>
        <p:spPr>
          <a:xfrm>
            <a:off x="7542886" y="3278398"/>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49" name="Text 47"/>
          <p:cNvSpPr txBox="1"/>
          <p:nvPr/>
        </p:nvSpPr>
        <p:spPr>
          <a:xfrm>
            <a:off x="8292054" y="3251424"/>
            <a:ext cx="3128437"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Hết hạn sau 15 phút, đủ cho một lần thanh toán</a:t>
            </a:r>
            <a:endParaRPr lang="en-US" sz="1100" dirty="0"/>
          </a:p>
        </p:txBody>
      </p:sp>
      <p:sp>
        <p:nvSpPr>
          <p:cNvPr id="50" name="Shape 48"/>
          <p:cNvSpPr/>
          <p:nvPr/>
        </p:nvSpPr>
        <p:spPr>
          <a:xfrm>
            <a:off x="7346107" y="3628156"/>
            <a:ext cx="4185209" cy="581650"/>
          </a:xfrm>
          <a:prstGeom prst="roundRect">
            <a:avLst>
              <a:gd name="adj" fmla="val 13095"/>
            </a:avLst>
          </a:prstGeom>
          <a:solidFill>
            <a:srgbClr val="FFFFFF"/>
          </a:solidFill>
          <a:ln w="6350">
            <a:solidFill>
              <a:srgbClr val="E3E6EA"/>
            </a:solidFill>
            <a:prstDash val="solid"/>
          </a:ln>
        </p:spPr>
      </p:sp>
      <p:sp>
        <p:nvSpPr>
          <p:cNvPr id="51" name="Shape 49"/>
          <p:cNvSpPr/>
          <p:nvPr/>
        </p:nvSpPr>
        <p:spPr>
          <a:xfrm>
            <a:off x="7466716" y="3723345"/>
            <a:ext cx="723748" cy="209580"/>
          </a:xfrm>
          <a:prstGeom prst="roundRect">
            <a:avLst>
              <a:gd name="adj" fmla="val 50000"/>
            </a:avLst>
          </a:prstGeom>
          <a:solidFill>
            <a:srgbClr val="DEF3E8"/>
          </a:solidFill>
          <a:ln/>
        </p:spPr>
      </p:sp>
      <p:sp>
        <p:nvSpPr>
          <p:cNvPr id="52" name="Text 50"/>
          <p:cNvSpPr txBox="1"/>
          <p:nvPr/>
        </p:nvSpPr>
        <p:spPr>
          <a:xfrm>
            <a:off x="7542886" y="3754618"/>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53" name="Text 51"/>
          <p:cNvSpPr txBox="1"/>
          <p:nvPr/>
        </p:nvSpPr>
        <p:spPr>
          <a:xfrm>
            <a:off x="8292054" y="3718590"/>
            <a:ext cx="3212104" cy="452079"/>
          </a:xfrm>
          <a:prstGeom prst="rect">
            <a:avLst/>
          </a:prstGeom>
          <a:noFill/>
          <a:ln/>
        </p:spPr>
        <p:txBody>
          <a:bodyPr wrap="square" lIns="0" tIns="0" rIns="0" bIns="0" rtlCol="0" anchor="t"/>
          <a:lstStyle/>
          <a:p>
            <a:pPr algn="l" indent="0" marL="0">
              <a:lnSpc>
                <a:spcPts val="1540"/>
              </a:lnSpc>
              <a:buNone/>
            </a:pPr>
            <a:r>
              <a:rPr lang="en-US" sz="1100" dirty="0">
                <a:solidFill>
                  <a:srgbClr val="3F454D"/>
                </a:solidFill>
                <a:latin typeface="Arial" pitchFamily="34" charset="0"/>
                <a:ea typeface="Arial" pitchFamily="34" charset="-122"/>
                <a:cs typeface="Arial" pitchFamily="34" charset="-120"/>
              </a:rPr>
              <a:t>BankCode chỉ gửi khi có giá trị, vì là tham số tuỳ chọn</a:t>
            </a:r>
            <a:endParaRPr lang="en-US" sz="1100" dirty="0"/>
          </a:p>
        </p:txBody>
      </p:sp>
      <p:sp>
        <p:nvSpPr>
          <p:cNvPr id="54" name="Text 52"/>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55" name="Text 53"/>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23</a:t>
            </a:r>
            <a:endParaRPr lang="en-US" sz="9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425470"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Code</a:t>
            </a:r>
            <a:endParaRPr lang="en-US" sz="1100" dirty="0"/>
          </a:p>
        </p:txBody>
      </p:sp>
      <p:sp>
        <p:nvSpPr>
          <p:cNvPr id="3" name="Text 1"/>
          <p:cNvSpPr txBox="1"/>
          <p:nvPr/>
        </p:nvSpPr>
        <p:spPr>
          <a:xfrm>
            <a:off x="660380" y="643829"/>
            <a:ext cx="7376739"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createPayment (2/2): vì sao viết như vậy</a:t>
            </a:r>
            <a:endParaRPr lang="en-US" sz="3000" dirty="0"/>
          </a:p>
        </p:txBody>
      </p:sp>
      <p:sp>
        <p:nvSpPr>
          <p:cNvPr id="4" name="Text 2"/>
          <p:cNvSpPr txBox="1"/>
          <p:nvPr/>
        </p:nvSpPr>
        <p:spPr>
          <a:xfrm>
            <a:off x="660380" y="1358798"/>
            <a:ext cx="2100468"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PaymentService.java (tiếp)</a:t>
            </a:r>
            <a:endParaRPr lang="en-US" sz="1000" dirty="0"/>
          </a:p>
        </p:txBody>
      </p:sp>
      <p:sp>
        <p:nvSpPr>
          <p:cNvPr id="5" name="Shape 3"/>
          <p:cNvSpPr/>
          <p:nvPr/>
        </p:nvSpPr>
        <p:spPr>
          <a:xfrm>
            <a:off x="660380" y="1779148"/>
            <a:ext cx="10870936" cy="1156899"/>
          </a:xfrm>
          <a:prstGeom prst="roundRect">
            <a:avLst>
              <a:gd name="adj" fmla="val 8781"/>
            </a:avLst>
          </a:prstGeom>
          <a:solidFill>
            <a:srgbClr val="0C131E"/>
          </a:solidFill>
          <a:ln/>
        </p:spPr>
      </p:sp>
      <p:sp>
        <p:nvSpPr>
          <p:cNvPr id="6" name="Shape 4"/>
          <p:cNvSpPr/>
          <p:nvPr/>
        </p:nvSpPr>
        <p:spPr>
          <a:xfrm>
            <a:off x="660380" y="1944197"/>
            <a:ext cx="10870936" cy="206654"/>
          </a:xfrm>
          <a:prstGeom prst="rect">
            <a:avLst/>
          </a:prstGeom>
          <a:solidFill>
            <a:srgbClr val="FFD479">
              <a:alpha val="13000"/>
            </a:srgbClr>
          </a:solidFill>
          <a:ln/>
        </p:spPr>
      </p:sp>
      <p:sp>
        <p:nvSpPr>
          <p:cNvPr id="7" name="Shape 5"/>
          <p:cNvSpPr/>
          <p:nvPr/>
        </p:nvSpPr>
        <p:spPr>
          <a:xfrm>
            <a:off x="660380" y="1944197"/>
            <a:ext cx="31730" cy="206654"/>
          </a:xfrm>
          <a:prstGeom prst="rect">
            <a:avLst/>
          </a:prstGeom>
          <a:solidFill>
            <a:srgbClr val="FFD479"/>
          </a:solidFill>
          <a:ln/>
        </p:spPr>
      </p:sp>
      <p:sp>
        <p:nvSpPr>
          <p:cNvPr id="8" name="Text 6"/>
          <p:cNvSpPr txBox="1"/>
          <p:nvPr/>
        </p:nvSpPr>
        <p:spPr>
          <a:xfrm>
            <a:off x="907999" y="1961662"/>
            <a:ext cx="3308116"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String query = buildQueryString(p);</a:t>
            </a:r>
            <a:endParaRPr lang="en-US" sz="1050" dirty="0"/>
          </a:p>
        </p:txBody>
      </p:sp>
      <p:sp>
        <p:nvSpPr>
          <p:cNvPr id="9" name="Shape 7"/>
          <p:cNvSpPr/>
          <p:nvPr/>
        </p:nvSpPr>
        <p:spPr>
          <a:xfrm>
            <a:off x="660380" y="2150943"/>
            <a:ext cx="10870936" cy="206654"/>
          </a:xfrm>
          <a:prstGeom prst="rect">
            <a:avLst/>
          </a:prstGeom>
          <a:solidFill>
            <a:srgbClr val="FFD479">
              <a:alpha val="13000"/>
            </a:srgbClr>
          </a:solidFill>
          <a:ln/>
        </p:spPr>
      </p:sp>
      <p:sp>
        <p:nvSpPr>
          <p:cNvPr id="10" name="Shape 8"/>
          <p:cNvSpPr/>
          <p:nvPr/>
        </p:nvSpPr>
        <p:spPr>
          <a:xfrm>
            <a:off x="660380" y="2150943"/>
            <a:ext cx="31730" cy="206654"/>
          </a:xfrm>
          <a:prstGeom prst="rect">
            <a:avLst/>
          </a:prstGeom>
          <a:solidFill>
            <a:srgbClr val="FFD479"/>
          </a:solidFill>
          <a:ln/>
        </p:spPr>
      </p:sp>
      <p:sp>
        <p:nvSpPr>
          <p:cNvPr id="11" name="Text 9"/>
          <p:cNvSpPr txBox="1"/>
          <p:nvPr/>
        </p:nvSpPr>
        <p:spPr>
          <a:xfrm>
            <a:off x="907999" y="2168317"/>
            <a:ext cx="7888712"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String url = PAY_URL + </a:t>
            </a:r>
            <a:pPr algn="l" indent="0" marL="0">
              <a:buNone/>
            </a:pPr>
            <a:r>
              <a:rPr lang="en-US" sz="1050" dirty="0">
                <a:solidFill>
                  <a:srgbClr val="9BE3B4"/>
                </a:solidFill>
                <a:latin typeface="Courier New" pitchFamily="34" charset="0"/>
                <a:ea typeface="Courier New" pitchFamily="34" charset="-122"/>
                <a:cs typeface="Courier New" pitchFamily="34" charset="-120"/>
              </a:rPr>
              <a:t>"?"</a:t>
            </a:r>
            <a:pPr algn="l" indent="0" marL="0">
              <a:buNone/>
            </a:pPr>
            <a:r>
              <a:rPr lang="en-US" sz="1050" dirty="0">
                <a:solidFill>
                  <a:srgbClr val="E6EDF7"/>
                </a:solidFill>
                <a:latin typeface="Courier New" pitchFamily="34" charset="0"/>
                <a:ea typeface="Courier New" pitchFamily="34" charset="-122"/>
                <a:cs typeface="Courier New" pitchFamily="34" charset="-120"/>
              </a:rPr>
              <a:t> + query + </a:t>
            </a:r>
            <a:pPr algn="l" indent="0" marL="0">
              <a:buNone/>
            </a:pPr>
            <a:r>
              <a:rPr lang="en-US" sz="1050" dirty="0">
                <a:solidFill>
                  <a:srgbClr val="9BE3B4"/>
                </a:solidFill>
                <a:latin typeface="Courier New" pitchFamily="34" charset="0"/>
                <a:ea typeface="Courier New" pitchFamily="34" charset="-122"/>
                <a:cs typeface="Courier New" pitchFamily="34" charset="-120"/>
              </a:rPr>
              <a:t>"&amp;vnp_SecureHash="</a:t>
            </a:r>
            <a:pPr algn="l" indent="0" marL="0">
              <a:buNone/>
            </a:pPr>
            <a:r>
              <a:rPr lang="en-US" sz="1050" dirty="0">
                <a:solidFill>
                  <a:srgbClr val="E6EDF7"/>
                </a:solidFill>
                <a:latin typeface="Courier New" pitchFamily="34" charset="0"/>
                <a:ea typeface="Courier New" pitchFamily="34" charset="-122"/>
                <a:cs typeface="Courier New" pitchFamily="34" charset="-120"/>
              </a:rPr>
              <a:t> + hmacSHA512(HASH_SECRET, query);</a:t>
            </a:r>
            <a:endParaRPr lang="en-US" sz="1050" dirty="0"/>
          </a:p>
        </p:txBody>
      </p:sp>
      <p:sp>
        <p:nvSpPr>
          <p:cNvPr id="12" name="Text 10"/>
          <p:cNvSpPr txBox="1"/>
          <p:nvPr/>
        </p:nvSpPr>
        <p:spPr>
          <a:xfrm>
            <a:off x="907999" y="2374971"/>
            <a:ext cx="6446977"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7FC2FF"/>
                </a:solidFill>
                <a:latin typeface="Courier New" pitchFamily="34" charset="0"/>
                <a:ea typeface="Courier New" pitchFamily="34" charset="-122"/>
                <a:cs typeface="Courier New" pitchFamily="34" charset="-120"/>
              </a:rPr>
              <a:t>return</a:t>
            </a:r>
            <a:pPr algn="l" indent="0" marL="0">
              <a:buNone/>
            </a:pPr>
            <a:r>
              <a:rPr lang="en-US" sz="1050" dirty="0">
                <a:solidFill>
                  <a:srgbClr val="E6EDF7"/>
                </a:solidFill>
                <a:latin typeface="Courier New" pitchFamily="34" charset="0"/>
                <a:ea typeface="Courier New" pitchFamily="34" charset="-122"/>
                <a:cs typeface="Courier New" pitchFamily="34" charset="-120"/>
              </a:rPr>
              <a:t> </a:t>
            </a:r>
            <a:pPr algn="l" indent="0" marL="0">
              <a:buNone/>
            </a:pPr>
            <a:r>
              <a:rPr lang="en-US" sz="1050" dirty="0">
                <a:solidFill>
                  <a:srgbClr val="9BE3B4"/>
                </a:solidFill>
                <a:latin typeface="Courier New" pitchFamily="34" charset="0"/>
                <a:ea typeface="Courier New" pitchFamily="34" charset="-122"/>
                <a:cs typeface="Courier New" pitchFamily="34" charset="-120"/>
              </a:rPr>
              <a:t>"{\"txnRef\":\""</a:t>
            </a:r>
            <a:pPr algn="l" indent="0" marL="0">
              <a:buNone/>
            </a:pPr>
            <a:r>
              <a:rPr lang="en-US" sz="1050" dirty="0">
                <a:solidFill>
                  <a:srgbClr val="E6EDF7"/>
                </a:solidFill>
                <a:latin typeface="Courier New" pitchFamily="34" charset="0"/>
                <a:ea typeface="Courier New" pitchFamily="34" charset="-122"/>
                <a:cs typeface="Courier New" pitchFamily="34" charset="-120"/>
              </a:rPr>
              <a:t> + txnRef + </a:t>
            </a:r>
            <a:pPr algn="l" indent="0" marL="0">
              <a:buNone/>
            </a:pPr>
            <a:r>
              <a:rPr lang="en-US" sz="1050" dirty="0">
                <a:solidFill>
                  <a:srgbClr val="9BE3B4"/>
                </a:solidFill>
                <a:latin typeface="Courier New" pitchFamily="34" charset="0"/>
                <a:ea typeface="Courier New" pitchFamily="34" charset="-122"/>
                <a:cs typeface="Courier New" pitchFamily="34" charset="-120"/>
              </a:rPr>
              <a:t>"\",\"paymentUrl\":\""</a:t>
            </a:r>
            <a:pPr algn="l" indent="0" marL="0">
              <a:buNone/>
            </a:pPr>
            <a:r>
              <a:rPr lang="en-US" sz="1050" dirty="0">
                <a:solidFill>
                  <a:srgbClr val="E6EDF7"/>
                </a:solidFill>
                <a:latin typeface="Courier New" pitchFamily="34" charset="0"/>
                <a:ea typeface="Courier New" pitchFamily="34" charset="-122"/>
                <a:cs typeface="Courier New" pitchFamily="34" charset="-120"/>
              </a:rPr>
              <a:t> + url + </a:t>
            </a:r>
            <a:pPr algn="l" indent="0" marL="0">
              <a:buNone/>
            </a:pPr>
            <a:r>
              <a:rPr lang="en-US" sz="1050" dirty="0">
                <a:solidFill>
                  <a:srgbClr val="9BE3B4"/>
                </a:solidFill>
                <a:latin typeface="Courier New" pitchFamily="34" charset="0"/>
                <a:ea typeface="Courier New" pitchFamily="34" charset="-122"/>
                <a:cs typeface="Courier New" pitchFamily="34" charset="-120"/>
              </a:rPr>
              <a:t>"\"}"</a:t>
            </a:r>
            <a:pPr algn="l" indent="0" marL="0">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p:txBody>
      </p:sp>
      <p:sp>
        <p:nvSpPr>
          <p:cNvPr id="13" name="Text 11"/>
          <p:cNvSpPr txBox="1"/>
          <p:nvPr/>
        </p:nvSpPr>
        <p:spPr>
          <a:xfrm>
            <a:off x="907999" y="2581626"/>
            <a:ext cx="156271" cy="206654"/>
          </a:xfrm>
          <a:prstGeom prst="rect">
            <a:avLst/>
          </a:prstGeom>
          <a:noFill/>
          <a:ln/>
        </p:spPr>
        <p:txBody>
          <a:bodyPr wrap="none" lIns="0" tIns="0" rIns="0" bIns="0" rtlCol="0" anchor="ctr"/>
          <a:lstStyle/>
          <a:p>
            <a:pPr algn="l" indent="0" marL="0">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p:txBody>
      </p:sp>
      <p:sp>
        <p:nvSpPr>
          <p:cNvPr id="14" name="Shape 12"/>
          <p:cNvSpPr/>
          <p:nvPr/>
        </p:nvSpPr>
        <p:spPr>
          <a:xfrm>
            <a:off x="660380" y="3113806"/>
            <a:ext cx="10870936" cy="400050"/>
          </a:xfrm>
          <a:prstGeom prst="roundRect">
            <a:avLst>
              <a:gd name="adj" fmla="val 19040"/>
            </a:avLst>
          </a:prstGeom>
          <a:solidFill>
            <a:srgbClr val="FFFFFF"/>
          </a:solidFill>
          <a:ln w="6350">
            <a:solidFill>
              <a:srgbClr val="E3E6EA"/>
            </a:solidFill>
            <a:prstDash val="solid"/>
          </a:ln>
        </p:spPr>
      </p:sp>
      <p:sp>
        <p:nvSpPr>
          <p:cNvPr id="15" name="Shape 13"/>
          <p:cNvSpPr/>
          <p:nvPr/>
        </p:nvSpPr>
        <p:spPr>
          <a:xfrm>
            <a:off x="780989" y="3209087"/>
            <a:ext cx="982614" cy="209580"/>
          </a:xfrm>
          <a:prstGeom prst="roundRect">
            <a:avLst>
              <a:gd name="adj" fmla="val 50000"/>
            </a:avLst>
          </a:prstGeom>
          <a:solidFill>
            <a:srgbClr val="FDE8E6"/>
          </a:solidFill>
          <a:ln/>
        </p:spPr>
      </p:sp>
      <p:sp>
        <p:nvSpPr>
          <p:cNvPr id="16" name="Text 14"/>
          <p:cNvSpPr txBox="1"/>
          <p:nvPr/>
        </p:nvSpPr>
        <p:spPr>
          <a:xfrm>
            <a:off x="857250" y="3240268"/>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17" name="Text 15"/>
          <p:cNvSpPr txBox="1"/>
          <p:nvPr/>
        </p:nvSpPr>
        <p:spPr>
          <a:xfrm>
            <a:off x="1865285" y="3213384"/>
            <a:ext cx="4622109"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Link trỏ tới </a:t>
            </a:r>
            <a:pPr algn="l" indent="0" marL="0">
              <a:buNone/>
            </a:pPr>
            <a:r>
              <a:rPr lang="en-US" sz="1100" dirty="0">
                <a:solidFill>
                  <a:srgbClr val="3F454D"/>
                </a:solidFill>
                <a:latin typeface="Courier New" pitchFamily="34" charset="0"/>
                <a:ea typeface="Courier New" pitchFamily="34" charset="-122"/>
                <a:cs typeface="Courier New" pitchFamily="34" charset="-120"/>
              </a:rPr>
              <a:t>vpcpay.html</a:t>
            </a:r>
            <a:pPr algn="l" indent="0" marL="0">
              <a:buNone/>
            </a:pPr>
            <a:r>
              <a:rPr lang="en-US" sz="1100" dirty="0">
                <a:solidFill>
                  <a:srgbClr val="3F454D"/>
                </a:solidFill>
                <a:latin typeface="Arial" pitchFamily="34" charset="0"/>
                <a:ea typeface="Arial" pitchFamily="34" charset="-122"/>
                <a:cs typeface="Arial" pitchFamily="34" charset="-120"/>
              </a:rPr>
              <a:t>, chữ ký gắn cuối với tên </a:t>
            </a:r>
            <a:pPr algn="l" indent="0" marL="0">
              <a:buNone/>
            </a:pPr>
            <a:r>
              <a:rPr lang="en-US" sz="1100" dirty="0">
                <a:solidFill>
                  <a:srgbClr val="3F454D"/>
                </a:solidFill>
                <a:latin typeface="Courier New" pitchFamily="34" charset="0"/>
                <a:ea typeface="Courier New" pitchFamily="34" charset="-122"/>
                <a:cs typeface="Courier New" pitchFamily="34" charset="-120"/>
              </a:rPr>
              <a:t>vnp_SecureHash</a:t>
            </a:r>
            <a:endParaRPr lang="en-US" sz="1100" dirty="0"/>
          </a:p>
        </p:txBody>
      </p:sp>
      <p:sp>
        <p:nvSpPr>
          <p:cNvPr id="18" name="Shape 16"/>
          <p:cNvSpPr/>
          <p:nvPr/>
        </p:nvSpPr>
        <p:spPr>
          <a:xfrm>
            <a:off x="660380" y="3590026"/>
            <a:ext cx="10870936" cy="400050"/>
          </a:xfrm>
          <a:prstGeom prst="roundRect">
            <a:avLst>
              <a:gd name="adj" fmla="val 19040"/>
            </a:avLst>
          </a:prstGeom>
          <a:solidFill>
            <a:srgbClr val="FFFFFF"/>
          </a:solidFill>
          <a:ln w="6350">
            <a:solidFill>
              <a:srgbClr val="E3E6EA"/>
            </a:solidFill>
            <a:prstDash val="solid"/>
          </a:ln>
        </p:spPr>
      </p:sp>
      <p:sp>
        <p:nvSpPr>
          <p:cNvPr id="19" name="Shape 17"/>
          <p:cNvSpPr/>
          <p:nvPr/>
        </p:nvSpPr>
        <p:spPr>
          <a:xfrm>
            <a:off x="780989" y="3685306"/>
            <a:ext cx="723748" cy="209580"/>
          </a:xfrm>
          <a:prstGeom prst="roundRect">
            <a:avLst>
              <a:gd name="adj" fmla="val 50000"/>
            </a:avLst>
          </a:prstGeom>
          <a:solidFill>
            <a:srgbClr val="DEF3E8"/>
          </a:solidFill>
          <a:ln/>
        </p:spPr>
      </p:sp>
      <p:sp>
        <p:nvSpPr>
          <p:cNvPr id="20" name="Text 18"/>
          <p:cNvSpPr txBox="1"/>
          <p:nvPr/>
        </p:nvSpPr>
        <p:spPr>
          <a:xfrm>
            <a:off x="857250" y="3716487"/>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21" name="Text 19"/>
          <p:cNvSpPr txBox="1"/>
          <p:nvPr/>
        </p:nvSpPr>
        <p:spPr>
          <a:xfrm>
            <a:off x="1606418" y="3689604"/>
            <a:ext cx="5886633"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Cùng một biến </a:t>
            </a:r>
            <a:pPr algn="l" indent="0" marL="0">
              <a:buNone/>
            </a:pPr>
            <a:r>
              <a:rPr lang="en-US" sz="1100" dirty="0">
                <a:solidFill>
                  <a:srgbClr val="3F454D"/>
                </a:solidFill>
                <a:latin typeface="Courier New" pitchFamily="34" charset="0"/>
                <a:ea typeface="Courier New" pitchFamily="34" charset="-122"/>
                <a:cs typeface="Courier New" pitchFamily="34" charset="-120"/>
              </a:rPr>
              <a:t>query</a:t>
            </a:r>
            <a:pPr algn="l" indent="0" marL="0">
              <a:buNone/>
            </a:pPr>
            <a:r>
              <a:rPr lang="en-US" sz="1100" dirty="0">
                <a:solidFill>
                  <a:srgbClr val="3F454D"/>
                </a:solidFill>
                <a:latin typeface="Arial" pitchFamily="34" charset="0"/>
                <a:ea typeface="Arial" pitchFamily="34" charset="-122"/>
                <a:cs typeface="Arial" pitchFamily="34" charset="-120"/>
              </a:rPr>
              <a:t> vừa để ký vừa để gắn lên link, nên hai chuỗi chắc chắn giống nhau</a:t>
            </a:r>
            <a:endParaRPr lang="en-US" sz="1100" dirty="0"/>
          </a:p>
        </p:txBody>
      </p:sp>
      <p:sp>
        <p:nvSpPr>
          <p:cNvPr id="22" name="Shape 20"/>
          <p:cNvSpPr/>
          <p:nvPr/>
        </p:nvSpPr>
        <p:spPr>
          <a:xfrm>
            <a:off x="660380" y="4066245"/>
            <a:ext cx="10870936" cy="400050"/>
          </a:xfrm>
          <a:prstGeom prst="roundRect">
            <a:avLst>
              <a:gd name="adj" fmla="val 19040"/>
            </a:avLst>
          </a:prstGeom>
          <a:solidFill>
            <a:srgbClr val="FFFFFF"/>
          </a:solidFill>
          <a:ln w="6350">
            <a:solidFill>
              <a:srgbClr val="E3E6EA"/>
            </a:solidFill>
            <a:prstDash val="solid"/>
          </a:ln>
        </p:spPr>
      </p:sp>
      <p:sp>
        <p:nvSpPr>
          <p:cNvPr id="23" name="Shape 21"/>
          <p:cNvSpPr/>
          <p:nvPr/>
        </p:nvSpPr>
        <p:spPr>
          <a:xfrm>
            <a:off x="780989" y="4161526"/>
            <a:ext cx="723748" cy="209580"/>
          </a:xfrm>
          <a:prstGeom prst="roundRect">
            <a:avLst>
              <a:gd name="adj" fmla="val 50000"/>
            </a:avLst>
          </a:prstGeom>
          <a:solidFill>
            <a:srgbClr val="DEF3E8"/>
          </a:solidFill>
          <a:ln/>
        </p:spPr>
      </p:sp>
      <p:sp>
        <p:nvSpPr>
          <p:cNvPr id="24" name="Text 22"/>
          <p:cNvSpPr txBox="1"/>
          <p:nvPr/>
        </p:nvSpPr>
        <p:spPr>
          <a:xfrm>
            <a:off x="857250" y="4192798"/>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25" name="Text 23"/>
          <p:cNvSpPr txBox="1"/>
          <p:nvPr/>
        </p:nvSpPr>
        <p:spPr>
          <a:xfrm>
            <a:off x="1606418" y="4165824"/>
            <a:ext cx="7309439"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Trả JSON </a:t>
            </a:r>
            <a:pPr algn="l" indent="0" marL="0">
              <a:buNone/>
            </a:pPr>
            <a:r>
              <a:rPr lang="en-US" sz="1100" dirty="0">
                <a:solidFill>
                  <a:srgbClr val="3F454D"/>
                </a:solidFill>
                <a:latin typeface="Courier New" pitchFamily="34" charset="0"/>
                <a:ea typeface="Courier New" pitchFamily="34" charset="-122"/>
                <a:cs typeface="Courier New" pitchFamily="34" charset="-120"/>
              </a:rPr>
              <a:t>{txnRef, paymentUrl}</a:t>
            </a:r>
            <a:pPr algn="l" indent="0" marL="0">
              <a:buNone/>
            </a:pPr>
            <a:r>
              <a:rPr lang="en-US" sz="1100" dirty="0">
                <a:solidFill>
                  <a:srgbClr val="3F454D"/>
                </a:solidFill>
                <a:latin typeface="Arial" pitchFamily="34" charset="0"/>
                <a:ea typeface="Arial" pitchFamily="34" charset="-122"/>
                <a:cs typeface="Arial" pitchFamily="34" charset="-120"/>
              </a:rPr>
              <a:t> cho web. Đây là API nội bộ của Payment Service, VNPAY không dùng tới</a:t>
            </a:r>
            <a:endParaRPr lang="en-US" sz="1100" dirty="0"/>
          </a:p>
        </p:txBody>
      </p:sp>
      <p:sp>
        <p:nvSpPr>
          <p:cNvPr id="26" name="Shape 24"/>
          <p:cNvSpPr/>
          <p:nvPr/>
        </p:nvSpPr>
        <p:spPr>
          <a:xfrm>
            <a:off x="660380" y="4542556"/>
            <a:ext cx="10870936" cy="400050"/>
          </a:xfrm>
          <a:prstGeom prst="roundRect">
            <a:avLst>
              <a:gd name="adj" fmla="val 19040"/>
            </a:avLst>
          </a:prstGeom>
          <a:solidFill>
            <a:srgbClr val="FFFFFF"/>
          </a:solidFill>
          <a:ln w="6350">
            <a:solidFill>
              <a:srgbClr val="E3E6EA"/>
            </a:solidFill>
            <a:prstDash val="solid"/>
          </a:ln>
        </p:spPr>
      </p:sp>
      <p:sp>
        <p:nvSpPr>
          <p:cNvPr id="27" name="Shape 25"/>
          <p:cNvSpPr/>
          <p:nvPr/>
        </p:nvSpPr>
        <p:spPr>
          <a:xfrm>
            <a:off x="780989" y="4637745"/>
            <a:ext cx="723748" cy="209580"/>
          </a:xfrm>
          <a:prstGeom prst="roundRect">
            <a:avLst>
              <a:gd name="adj" fmla="val 50000"/>
            </a:avLst>
          </a:prstGeom>
          <a:solidFill>
            <a:srgbClr val="DEF3E8"/>
          </a:solidFill>
          <a:ln/>
        </p:spPr>
      </p:sp>
      <p:sp>
        <p:nvSpPr>
          <p:cNvPr id="28" name="Text 26"/>
          <p:cNvSpPr txBox="1"/>
          <p:nvPr/>
        </p:nvSpPr>
        <p:spPr>
          <a:xfrm>
            <a:off x="857250" y="4669018"/>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29" name="Text 27"/>
          <p:cNvSpPr txBox="1"/>
          <p:nvPr/>
        </p:nvSpPr>
        <p:spPr>
          <a:xfrm>
            <a:off x="1606418" y="4642043"/>
            <a:ext cx="4220230"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Web không giữ HashSecret, chỉ nhận link đã ký rồi chuyển trang</a:t>
            </a:r>
            <a:endParaRPr lang="en-US" sz="1100" dirty="0"/>
          </a:p>
        </p:txBody>
      </p:sp>
      <p:sp>
        <p:nvSpPr>
          <p:cNvPr id="30" name="Text 28"/>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31" name="Text 29"/>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24</a:t>
            </a:r>
            <a:endParaRPr lang="en-US" sz="9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425470"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Code</a:t>
            </a:r>
            <a:endParaRPr lang="en-US" sz="1100" dirty="0"/>
          </a:p>
        </p:txBody>
      </p:sp>
      <p:sp>
        <p:nvSpPr>
          <p:cNvPr id="3" name="Text 1"/>
          <p:cNvSpPr txBox="1"/>
          <p:nvPr/>
        </p:nvSpPr>
        <p:spPr>
          <a:xfrm>
            <a:off x="660380" y="643829"/>
            <a:ext cx="5548488"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handleIpn: vì sao viết như vậy</a:t>
            </a:r>
            <a:endParaRPr lang="en-US" sz="3000" dirty="0"/>
          </a:p>
        </p:txBody>
      </p:sp>
      <p:sp>
        <p:nvSpPr>
          <p:cNvPr id="4" name="Text 2"/>
          <p:cNvSpPr txBox="1"/>
          <p:nvPr/>
        </p:nvSpPr>
        <p:spPr>
          <a:xfrm>
            <a:off x="660380" y="1358798"/>
            <a:ext cx="1534912"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PaymentService.java</a:t>
            </a:r>
            <a:endParaRPr lang="en-US" sz="1000" dirty="0"/>
          </a:p>
        </p:txBody>
      </p:sp>
      <p:sp>
        <p:nvSpPr>
          <p:cNvPr id="5" name="Shape 3"/>
          <p:cNvSpPr/>
          <p:nvPr/>
        </p:nvSpPr>
        <p:spPr>
          <a:xfrm>
            <a:off x="660380" y="1601389"/>
            <a:ext cx="7077182" cy="4359768"/>
          </a:xfrm>
          <a:prstGeom prst="roundRect">
            <a:avLst>
              <a:gd name="adj" fmla="val 2330"/>
            </a:avLst>
          </a:prstGeom>
          <a:solidFill>
            <a:srgbClr val="0C131E"/>
          </a:solidFill>
          <a:ln/>
        </p:spPr>
      </p:sp>
      <p:sp>
        <p:nvSpPr>
          <p:cNvPr id="6" name="Text 4"/>
          <p:cNvSpPr txBox="1"/>
          <p:nvPr/>
        </p:nvSpPr>
        <p:spPr>
          <a:xfrm>
            <a:off x="907999" y="1784452"/>
            <a:ext cx="4174602" cy="191933"/>
          </a:xfrm>
          <a:prstGeom prst="rect">
            <a:avLst/>
          </a:prstGeom>
          <a:noFill/>
          <a:ln/>
        </p:spPr>
        <p:txBody>
          <a:bodyPr wrap="none" lIns="0" tIns="0" rIns="0" bIns="0" rtlCol="0" anchor="ctr"/>
          <a:lstStyle/>
          <a:p>
            <a:pPr algn="l" indent="0" marL="0">
              <a:buNone/>
            </a:pPr>
            <a:r>
              <a:rPr lang="en-US" sz="980" dirty="0">
                <a:solidFill>
                  <a:srgbClr val="7FC2FF"/>
                </a:solidFill>
                <a:latin typeface="Courier New" pitchFamily="34" charset="0"/>
                <a:ea typeface="Courier New" pitchFamily="34" charset="-122"/>
                <a:cs typeface="Courier New" pitchFamily="34" charset="-120"/>
              </a:rPr>
              <a:t>static</a:t>
            </a:r>
            <a:pPr algn="l" indent="0" marL="0">
              <a:buNone/>
            </a:pPr>
            <a:r>
              <a:rPr lang="en-US" sz="980" dirty="0">
                <a:solidFill>
                  <a:srgbClr val="E6EDF7"/>
                </a:solidFill>
                <a:latin typeface="Courier New" pitchFamily="34" charset="0"/>
                <a:ea typeface="Courier New" pitchFamily="34" charset="-122"/>
                <a:cs typeface="Courier New" pitchFamily="34" charset="-120"/>
              </a:rPr>
              <a:t> String handleIpn(Map&lt;String, String&gt; params) {</a:t>
            </a:r>
            <a:endParaRPr lang="en-US" sz="980" dirty="0"/>
          </a:p>
        </p:txBody>
      </p:sp>
      <p:sp>
        <p:nvSpPr>
          <p:cNvPr id="7" name="Shape 5"/>
          <p:cNvSpPr/>
          <p:nvPr/>
        </p:nvSpPr>
        <p:spPr>
          <a:xfrm>
            <a:off x="660380" y="1958370"/>
            <a:ext cx="7077182" cy="191841"/>
          </a:xfrm>
          <a:prstGeom prst="rect">
            <a:avLst/>
          </a:prstGeom>
          <a:solidFill>
            <a:srgbClr val="FFD479">
              <a:alpha val="13000"/>
            </a:srgbClr>
          </a:solidFill>
          <a:ln/>
        </p:spPr>
      </p:sp>
      <p:sp>
        <p:nvSpPr>
          <p:cNvPr id="8" name="Shape 6"/>
          <p:cNvSpPr/>
          <p:nvPr/>
        </p:nvSpPr>
        <p:spPr>
          <a:xfrm>
            <a:off x="660380" y="1958370"/>
            <a:ext cx="31730" cy="191841"/>
          </a:xfrm>
          <a:prstGeom prst="rect">
            <a:avLst/>
          </a:prstGeom>
          <a:solidFill>
            <a:srgbClr val="FFD479"/>
          </a:solidFill>
          <a:ln/>
        </p:spPr>
      </p:sp>
      <p:sp>
        <p:nvSpPr>
          <p:cNvPr id="9" name="Text 7"/>
          <p:cNvSpPr txBox="1"/>
          <p:nvPr/>
        </p:nvSpPr>
        <p:spPr>
          <a:xfrm>
            <a:off x="907999" y="1976293"/>
            <a:ext cx="5671292"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if</a:t>
            </a:r>
            <a:pPr algn="l" indent="0" marL="0">
              <a:buNone/>
            </a:pPr>
            <a:r>
              <a:rPr lang="en-US" sz="980" dirty="0">
                <a:solidFill>
                  <a:srgbClr val="E6EDF7"/>
                </a:solidFill>
                <a:latin typeface="Courier New" pitchFamily="34" charset="0"/>
                <a:ea typeface="Courier New" pitchFamily="34" charset="-122"/>
                <a:cs typeface="Courier New" pitchFamily="34" charset="-120"/>
              </a:rPr>
              <a:t> (!isValidSignature(params)) </a:t>
            </a:r>
            <a:pPr algn="l" indent="0" marL="0">
              <a:buNone/>
            </a:pPr>
            <a:r>
              <a:rPr lang="en-US" sz="980" dirty="0">
                <a:solidFill>
                  <a:srgbClr val="7FC2FF"/>
                </a:solidFill>
                <a:latin typeface="Courier New" pitchFamily="34" charset="0"/>
                <a:ea typeface="Courier New" pitchFamily="34" charset="-122"/>
                <a:cs typeface="Courier New" pitchFamily="34" charset="-120"/>
              </a:rPr>
              <a:t>return</a:t>
            </a:r>
            <a:pPr algn="l" indent="0" marL="0">
              <a:buNone/>
            </a:pPr>
            <a:r>
              <a:rPr lang="en-US" sz="980" dirty="0">
                <a:solidFill>
                  <a:srgbClr val="E6EDF7"/>
                </a:solidFill>
                <a:latin typeface="Courier New" pitchFamily="34" charset="0"/>
                <a:ea typeface="Courier New" pitchFamily="34" charset="-122"/>
                <a:cs typeface="Courier New" pitchFamily="34" charset="-120"/>
              </a:rPr>
              <a:t> rsp(</a:t>
            </a:r>
            <a:pPr algn="l" indent="0" marL="0">
              <a:buNone/>
            </a:pPr>
            <a:r>
              <a:rPr lang="en-US" sz="980" dirty="0">
                <a:solidFill>
                  <a:srgbClr val="9BE3B4"/>
                </a:solidFill>
                <a:latin typeface="Courier New" pitchFamily="34" charset="0"/>
                <a:ea typeface="Courier New" pitchFamily="34" charset="-122"/>
                <a:cs typeface="Courier New" pitchFamily="34" charset="-120"/>
              </a:rPr>
              <a:t>"97"</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"Invalid Checksum"</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0" name="Text 8"/>
          <p:cNvSpPr txBox="1"/>
          <p:nvPr/>
        </p:nvSpPr>
        <p:spPr>
          <a:xfrm>
            <a:off x="907999" y="2360066"/>
            <a:ext cx="4332153"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Order order = ORDERS.get(params.get(</a:t>
            </a:r>
            <a:pPr algn="l" indent="0" marL="0">
              <a:buNone/>
            </a:pPr>
            <a:r>
              <a:rPr lang="en-US" sz="980" dirty="0">
                <a:solidFill>
                  <a:srgbClr val="9BE3B4"/>
                </a:solidFill>
                <a:latin typeface="Courier New" pitchFamily="34" charset="0"/>
                <a:ea typeface="Courier New" pitchFamily="34" charset="-122"/>
                <a:cs typeface="Courier New" pitchFamily="34" charset="-120"/>
              </a:rPr>
              <a:t>"vnp_TxnRef"</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1" name="Shape 9"/>
          <p:cNvSpPr/>
          <p:nvPr/>
        </p:nvSpPr>
        <p:spPr>
          <a:xfrm>
            <a:off x="660380" y="2533985"/>
            <a:ext cx="7077182" cy="191841"/>
          </a:xfrm>
          <a:prstGeom prst="rect">
            <a:avLst/>
          </a:prstGeom>
          <a:solidFill>
            <a:srgbClr val="FFD479">
              <a:alpha val="13000"/>
            </a:srgbClr>
          </a:solidFill>
          <a:ln/>
        </p:spPr>
      </p:sp>
      <p:sp>
        <p:nvSpPr>
          <p:cNvPr id="12" name="Shape 10"/>
          <p:cNvSpPr/>
          <p:nvPr/>
        </p:nvSpPr>
        <p:spPr>
          <a:xfrm>
            <a:off x="660380" y="2533985"/>
            <a:ext cx="31730" cy="191841"/>
          </a:xfrm>
          <a:prstGeom prst="rect">
            <a:avLst/>
          </a:prstGeom>
          <a:solidFill>
            <a:srgbClr val="FFD479"/>
          </a:solidFill>
          <a:ln/>
        </p:spPr>
      </p:sp>
      <p:sp>
        <p:nvSpPr>
          <p:cNvPr id="13" name="Text 11"/>
          <p:cNvSpPr txBox="1"/>
          <p:nvPr/>
        </p:nvSpPr>
        <p:spPr>
          <a:xfrm>
            <a:off x="907999" y="2551999"/>
            <a:ext cx="4647438"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if</a:t>
            </a:r>
            <a:pPr algn="l" indent="0" marL="0">
              <a:buNone/>
            </a:pPr>
            <a:r>
              <a:rPr lang="en-US" sz="980" dirty="0">
                <a:solidFill>
                  <a:srgbClr val="E6EDF7"/>
                </a:solidFill>
                <a:latin typeface="Courier New" pitchFamily="34" charset="0"/>
                <a:ea typeface="Courier New" pitchFamily="34" charset="-122"/>
                <a:cs typeface="Courier New" pitchFamily="34" charset="-120"/>
              </a:rPr>
              <a:t> (order == </a:t>
            </a:r>
            <a:pPr algn="l" indent="0" marL="0">
              <a:buNone/>
            </a:pPr>
            <a:r>
              <a:rPr lang="en-US" sz="980" dirty="0">
                <a:solidFill>
                  <a:srgbClr val="7FC2FF"/>
                </a:solidFill>
                <a:latin typeface="Courier New" pitchFamily="34" charset="0"/>
                <a:ea typeface="Courier New" pitchFamily="34" charset="-122"/>
                <a:cs typeface="Courier New" pitchFamily="34" charset="-120"/>
              </a:rPr>
              <a:t>null</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return</a:t>
            </a:r>
            <a:pPr algn="l" indent="0" marL="0">
              <a:buNone/>
            </a:pPr>
            <a:r>
              <a:rPr lang="en-US" sz="980" dirty="0">
                <a:solidFill>
                  <a:srgbClr val="E6EDF7"/>
                </a:solidFill>
                <a:latin typeface="Courier New" pitchFamily="34" charset="0"/>
                <a:ea typeface="Courier New" pitchFamily="34" charset="-122"/>
                <a:cs typeface="Courier New" pitchFamily="34" charset="-120"/>
              </a:rPr>
              <a:t> rsp(</a:t>
            </a:r>
            <a:pPr algn="l" indent="0" marL="0">
              <a:buNone/>
            </a:pPr>
            <a:r>
              <a:rPr lang="en-US" sz="980" dirty="0">
                <a:solidFill>
                  <a:srgbClr val="9BE3B4"/>
                </a:solidFill>
                <a:latin typeface="Courier New" pitchFamily="34" charset="0"/>
                <a:ea typeface="Courier New" pitchFamily="34" charset="-122"/>
                <a:cs typeface="Courier New" pitchFamily="34" charset="-120"/>
              </a:rPr>
              <a:t>"01"</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"Order not Found"</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4" name="Text 12"/>
          <p:cNvSpPr txBox="1"/>
          <p:nvPr/>
        </p:nvSpPr>
        <p:spPr>
          <a:xfrm>
            <a:off x="907999" y="2935681"/>
            <a:ext cx="6774058"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if</a:t>
            </a:r>
            <a:pPr algn="l" indent="0" marL="0">
              <a:buNone/>
            </a:pPr>
            <a:r>
              <a:rPr lang="en-US" sz="980" dirty="0">
                <a:solidFill>
                  <a:srgbClr val="E6EDF7"/>
                </a:solidFill>
                <a:latin typeface="Courier New" pitchFamily="34" charset="0"/>
                <a:ea typeface="Courier New" pitchFamily="34" charset="-122"/>
                <a:cs typeface="Courier New" pitchFamily="34" charset="-120"/>
              </a:rPr>
              <a:t> (Long.parseLong(params.getOrDefault(</a:t>
            </a:r>
            <a:pPr algn="l" indent="0" marL="0">
              <a:buNone/>
            </a:pPr>
            <a:r>
              <a:rPr lang="en-US" sz="980" dirty="0">
                <a:solidFill>
                  <a:srgbClr val="9BE3B4"/>
                </a:solidFill>
                <a:latin typeface="Courier New" pitchFamily="34" charset="0"/>
                <a:ea typeface="Courier New" pitchFamily="34" charset="-122"/>
                <a:cs typeface="Courier New" pitchFamily="34" charset="-120"/>
              </a:rPr>
              <a:t>"vnp_Amount"</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"-1"</a:t>
            </a:r>
            <a:pPr algn="l" indent="0" marL="0">
              <a:buNone/>
            </a:pPr>
            <a:r>
              <a:rPr lang="en-US" sz="980" dirty="0">
                <a:solidFill>
                  <a:srgbClr val="E6EDF7"/>
                </a:solidFill>
                <a:latin typeface="Courier New" pitchFamily="34" charset="0"/>
                <a:ea typeface="Courier New" pitchFamily="34" charset="-122"/>
                <a:cs typeface="Courier New" pitchFamily="34" charset="-120"/>
              </a:rPr>
              <a:t>)) != order.amount * 100)</a:t>
            </a:r>
            <a:endParaRPr lang="en-US" sz="980" dirty="0"/>
          </a:p>
        </p:txBody>
      </p:sp>
      <p:sp>
        <p:nvSpPr>
          <p:cNvPr id="15" name="Shape 13"/>
          <p:cNvSpPr/>
          <p:nvPr/>
        </p:nvSpPr>
        <p:spPr>
          <a:xfrm>
            <a:off x="660380" y="3109600"/>
            <a:ext cx="7077182" cy="191841"/>
          </a:xfrm>
          <a:prstGeom prst="rect">
            <a:avLst/>
          </a:prstGeom>
          <a:solidFill>
            <a:srgbClr val="FFD479">
              <a:alpha val="13000"/>
            </a:srgbClr>
          </a:solidFill>
          <a:ln/>
        </p:spPr>
      </p:sp>
      <p:sp>
        <p:nvSpPr>
          <p:cNvPr id="16" name="Shape 14"/>
          <p:cNvSpPr/>
          <p:nvPr/>
        </p:nvSpPr>
        <p:spPr>
          <a:xfrm>
            <a:off x="660380" y="3109600"/>
            <a:ext cx="31730" cy="191841"/>
          </a:xfrm>
          <a:prstGeom prst="rect">
            <a:avLst/>
          </a:prstGeom>
          <a:solidFill>
            <a:srgbClr val="FFD479"/>
          </a:solidFill>
          <a:ln/>
        </p:spPr>
      </p:sp>
      <p:sp>
        <p:nvSpPr>
          <p:cNvPr id="17" name="Text 15"/>
          <p:cNvSpPr txBox="1"/>
          <p:nvPr/>
        </p:nvSpPr>
        <p:spPr>
          <a:xfrm>
            <a:off x="907999" y="3127614"/>
            <a:ext cx="338712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return</a:t>
            </a:r>
            <a:pPr algn="l" indent="0" marL="0">
              <a:buNone/>
            </a:pPr>
            <a:r>
              <a:rPr lang="en-US" sz="980" dirty="0">
                <a:solidFill>
                  <a:srgbClr val="E6EDF7"/>
                </a:solidFill>
                <a:latin typeface="Courier New" pitchFamily="34" charset="0"/>
                <a:ea typeface="Courier New" pitchFamily="34" charset="-122"/>
                <a:cs typeface="Courier New" pitchFamily="34" charset="-120"/>
              </a:rPr>
              <a:t> rsp(</a:t>
            </a:r>
            <a:pPr algn="l" indent="0" marL="0">
              <a:buNone/>
            </a:pPr>
            <a:r>
              <a:rPr lang="en-US" sz="980" dirty="0">
                <a:solidFill>
                  <a:srgbClr val="9BE3B4"/>
                </a:solidFill>
                <a:latin typeface="Courier New" pitchFamily="34" charset="0"/>
                <a:ea typeface="Courier New" pitchFamily="34" charset="-122"/>
                <a:cs typeface="Courier New" pitchFamily="34" charset="-120"/>
              </a:rPr>
              <a:t>"04"</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"Invalid Amount"</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8" name="Text 16"/>
          <p:cNvSpPr txBox="1"/>
          <p:nvPr/>
        </p:nvSpPr>
        <p:spPr>
          <a:xfrm>
            <a:off x="907999" y="3511387"/>
            <a:ext cx="2048073"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synchronized</a:t>
            </a:r>
            <a:pPr algn="l" indent="0" marL="0">
              <a:buNone/>
            </a:pPr>
            <a:r>
              <a:rPr lang="en-US" sz="980" dirty="0">
                <a:solidFill>
                  <a:srgbClr val="E6EDF7"/>
                </a:solidFill>
                <a:latin typeface="Courier New" pitchFamily="34" charset="0"/>
                <a:ea typeface="Courier New" pitchFamily="34" charset="-122"/>
                <a:cs typeface="Courier New" pitchFamily="34" charset="-120"/>
              </a:rPr>
              <a:t> (order) {</a:t>
            </a:r>
            <a:endParaRPr lang="en-US" sz="980" dirty="0"/>
          </a:p>
        </p:txBody>
      </p:sp>
      <p:sp>
        <p:nvSpPr>
          <p:cNvPr id="19" name="Shape 17"/>
          <p:cNvSpPr/>
          <p:nvPr/>
        </p:nvSpPr>
        <p:spPr>
          <a:xfrm>
            <a:off x="660380" y="3685306"/>
            <a:ext cx="7077182" cy="191841"/>
          </a:xfrm>
          <a:prstGeom prst="rect">
            <a:avLst/>
          </a:prstGeom>
          <a:solidFill>
            <a:srgbClr val="FFD479">
              <a:alpha val="13000"/>
            </a:srgbClr>
          </a:solidFill>
          <a:ln/>
        </p:spPr>
      </p:sp>
      <p:sp>
        <p:nvSpPr>
          <p:cNvPr id="20" name="Shape 18"/>
          <p:cNvSpPr/>
          <p:nvPr/>
        </p:nvSpPr>
        <p:spPr>
          <a:xfrm>
            <a:off x="660380" y="3685306"/>
            <a:ext cx="31730" cy="191841"/>
          </a:xfrm>
          <a:prstGeom prst="rect">
            <a:avLst/>
          </a:prstGeom>
          <a:solidFill>
            <a:srgbClr val="FFD479"/>
          </a:solidFill>
          <a:ln/>
        </p:spPr>
      </p:sp>
      <p:sp>
        <p:nvSpPr>
          <p:cNvPr id="21" name="Text 19"/>
          <p:cNvSpPr txBox="1"/>
          <p:nvPr/>
        </p:nvSpPr>
        <p:spPr>
          <a:xfrm>
            <a:off x="907999" y="3703229"/>
            <a:ext cx="7010522"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if</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"PENDING"</a:t>
            </a:r>
            <a:pPr algn="l" indent="0" marL="0">
              <a:buNone/>
            </a:pPr>
            <a:r>
              <a:rPr lang="en-US" sz="980" dirty="0">
                <a:solidFill>
                  <a:srgbClr val="E6EDF7"/>
                </a:solidFill>
                <a:latin typeface="Courier New" pitchFamily="34" charset="0"/>
                <a:ea typeface="Courier New" pitchFamily="34" charset="-122"/>
                <a:cs typeface="Courier New" pitchFamily="34" charset="-120"/>
              </a:rPr>
              <a:t>.equals(order.status)) </a:t>
            </a:r>
            <a:pPr algn="l" indent="0" marL="0">
              <a:buNone/>
            </a:pPr>
            <a:r>
              <a:rPr lang="en-US" sz="980" dirty="0">
                <a:solidFill>
                  <a:srgbClr val="7FC2FF"/>
                </a:solidFill>
                <a:latin typeface="Courier New" pitchFamily="34" charset="0"/>
                <a:ea typeface="Courier New" pitchFamily="34" charset="-122"/>
                <a:cs typeface="Courier New" pitchFamily="34" charset="-120"/>
              </a:rPr>
              <a:t>return</a:t>
            </a:r>
            <a:pPr algn="l" indent="0" marL="0">
              <a:buNone/>
            </a:pPr>
            <a:r>
              <a:rPr lang="en-US" sz="980" dirty="0">
                <a:solidFill>
                  <a:srgbClr val="E6EDF7"/>
                </a:solidFill>
                <a:latin typeface="Courier New" pitchFamily="34" charset="0"/>
                <a:ea typeface="Courier New" pitchFamily="34" charset="-122"/>
                <a:cs typeface="Courier New" pitchFamily="34" charset="-120"/>
              </a:rPr>
              <a:t> rsp(</a:t>
            </a:r>
            <a:pPr algn="l" indent="0" marL="0">
              <a:buNone/>
            </a:pPr>
            <a:r>
              <a:rPr lang="en-US" sz="980" dirty="0">
                <a:solidFill>
                  <a:srgbClr val="9BE3B4"/>
                </a:solidFill>
                <a:latin typeface="Courier New" pitchFamily="34" charset="0"/>
                <a:ea typeface="Courier New" pitchFamily="34" charset="-122"/>
                <a:cs typeface="Courier New" pitchFamily="34" charset="-120"/>
              </a:rPr>
              <a:t>"02"</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"Order already confirmed"</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2" name="Text 20"/>
          <p:cNvSpPr txBox="1"/>
          <p:nvPr/>
        </p:nvSpPr>
        <p:spPr>
          <a:xfrm>
            <a:off x="907999" y="4087002"/>
            <a:ext cx="519873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boolean</a:t>
            </a:r>
            <a:pPr algn="l" indent="0" marL="0">
              <a:buNone/>
            </a:pPr>
            <a:r>
              <a:rPr lang="en-US" sz="980" dirty="0">
                <a:solidFill>
                  <a:srgbClr val="E6EDF7"/>
                </a:solidFill>
                <a:latin typeface="Courier New" pitchFamily="34" charset="0"/>
                <a:ea typeface="Courier New" pitchFamily="34" charset="-122"/>
                <a:cs typeface="Courier New" pitchFamily="34" charset="-120"/>
              </a:rPr>
              <a:t> paid = </a:t>
            </a:r>
            <a:pPr algn="l" indent="0" marL="0">
              <a:buNone/>
            </a:pPr>
            <a:r>
              <a:rPr lang="en-US" sz="980" dirty="0">
                <a:solidFill>
                  <a:srgbClr val="9BE3B4"/>
                </a:solidFill>
                <a:latin typeface="Courier New" pitchFamily="34" charset="0"/>
                <a:ea typeface="Courier New" pitchFamily="34" charset="-122"/>
                <a:cs typeface="Courier New" pitchFamily="34" charset="-120"/>
              </a:rPr>
              <a:t>"00"</a:t>
            </a:r>
            <a:pPr algn="l" indent="0" marL="0">
              <a:buNone/>
            </a:pPr>
            <a:r>
              <a:rPr lang="en-US" sz="980" dirty="0">
                <a:solidFill>
                  <a:srgbClr val="E6EDF7"/>
                </a:solidFill>
                <a:latin typeface="Courier New" pitchFamily="34" charset="0"/>
                <a:ea typeface="Courier New" pitchFamily="34" charset="-122"/>
                <a:cs typeface="Courier New" pitchFamily="34" charset="-120"/>
              </a:rPr>
              <a:t>.equals(params.get(</a:t>
            </a:r>
            <a:pPr algn="l" indent="0" marL="0">
              <a:buNone/>
            </a:pPr>
            <a:r>
              <a:rPr lang="en-US" sz="980" dirty="0">
                <a:solidFill>
                  <a:srgbClr val="9BE3B4"/>
                </a:solidFill>
                <a:latin typeface="Courier New" pitchFamily="34" charset="0"/>
                <a:ea typeface="Courier New" pitchFamily="34" charset="-122"/>
                <a:cs typeface="Courier New" pitchFamily="34" charset="-120"/>
              </a:rPr>
              <a:t>"vnp_ResponseCode"</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3" name="Text 21"/>
          <p:cNvSpPr txBox="1"/>
          <p:nvPr/>
        </p:nvSpPr>
        <p:spPr>
          <a:xfrm>
            <a:off x="907999" y="4278935"/>
            <a:ext cx="5671292"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&amp;&amp; </a:t>
            </a:r>
            <a:pPr algn="l" indent="0" marL="0">
              <a:buNone/>
            </a:pPr>
            <a:r>
              <a:rPr lang="en-US" sz="980" dirty="0">
                <a:solidFill>
                  <a:srgbClr val="9BE3B4"/>
                </a:solidFill>
                <a:latin typeface="Courier New" pitchFamily="34" charset="0"/>
                <a:ea typeface="Courier New" pitchFamily="34" charset="-122"/>
                <a:cs typeface="Courier New" pitchFamily="34" charset="-120"/>
              </a:rPr>
              <a:t>"00"</a:t>
            </a:r>
            <a:pPr algn="l" indent="0" marL="0">
              <a:buNone/>
            </a:pPr>
            <a:r>
              <a:rPr lang="en-US" sz="980" dirty="0">
                <a:solidFill>
                  <a:srgbClr val="E6EDF7"/>
                </a:solidFill>
                <a:latin typeface="Courier New" pitchFamily="34" charset="0"/>
                <a:ea typeface="Courier New" pitchFamily="34" charset="-122"/>
                <a:cs typeface="Courier New" pitchFamily="34" charset="-120"/>
              </a:rPr>
              <a:t>.equals(params.get(</a:t>
            </a:r>
            <a:pPr algn="l" indent="0" marL="0">
              <a:buNone/>
            </a:pPr>
            <a:r>
              <a:rPr lang="en-US" sz="980" dirty="0">
                <a:solidFill>
                  <a:srgbClr val="9BE3B4"/>
                </a:solidFill>
                <a:latin typeface="Courier New" pitchFamily="34" charset="0"/>
                <a:ea typeface="Courier New" pitchFamily="34" charset="-122"/>
                <a:cs typeface="Courier New" pitchFamily="34" charset="-120"/>
              </a:rPr>
              <a:t>"vnp_TransactionStatus"</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4" name="Text 22"/>
          <p:cNvSpPr txBox="1"/>
          <p:nvPr/>
        </p:nvSpPr>
        <p:spPr>
          <a:xfrm>
            <a:off x="907999" y="4470776"/>
            <a:ext cx="3780861"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order.status = paid ? </a:t>
            </a:r>
            <a:pPr algn="l" indent="0" marL="0">
              <a:buNone/>
            </a:pPr>
            <a:r>
              <a:rPr lang="en-US" sz="980" dirty="0">
                <a:solidFill>
                  <a:srgbClr val="9BE3B4"/>
                </a:solidFill>
                <a:latin typeface="Courier New" pitchFamily="34" charset="0"/>
                <a:ea typeface="Courier New" pitchFamily="34" charset="-122"/>
                <a:cs typeface="Courier New" pitchFamily="34" charset="-120"/>
              </a:rPr>
              <a:t>"PAID"</a:t>
            </a:r>
            <a:pPr algn="l" indent="0" marL="0">
              <a:buNone/>
            </a:pPr>
            <a:r>
              <a:rPr lang="en-US" sz="980" dirty="0">
                <a:solidFill>
                  <a:srgbClr val="E6EDF7"/>
                </a:solidFill>
                <a:latin typeface="Courier New" pitchFamily="34" charset="0"/>
                <a:ea typeface="Courier New" pitchFamily="34" charset="-122"/>
                <a:cs typeface="Courier New" pitchFamily="34" charset="-120"/>
              </a:rPr>
              <a:t> : </a:t>
            </a:r>
            <a:pPr algn="l" indent="0" marL="0">
              <a:buNone/>
            </a:pPr>
            <a:r>
              <a:rPr lang="en-US" sz="980" dirty="0">
                <a:solidFill>
                  <a:srgbClr val="9BE3B4"/>
                </a:solidFill>
                <a:latin typeface="Courier New" pitchFamily="34" charset="0"/>
                <a:ea typeface="Courier New" pitchFamily="34" charset="-122"/>
                <a:cs typeface="Courier New" pitchFamily="34" charset="-120"/>
              </a:rPr>
              <a:t>"FAILED"</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5" name="Text 23"/>
          <p:cNvSpPr txBox="1"/>
          <p:nvPr/>
        </p:nvSpPr>
        <p:spPr>
          <a:xfrm>
            <a:off x="907999" y="4662708"/>
            <a:ext cx="5907481"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order.transactionNo = params.getOrDefault(</a:t>
            </a:r>
            <a:pPr algn="l" indent="0" marL="0">
              <a:buNone/>
            </a:pPr>
            <a:r>
              <a:rPr lang="en-US" sz="980" dirty="0">
                <a:solidFill>
                  <a:srgbClr val="9BE3B4"/>
                </a:solidFill>
                <a:latin typeface="Courier New" pitchFamily="34" charset="0"/>
                <a:ea typeface="Courier New" pitchFamily="34" charset="-122"/>
                <a:cs typeface="Courier New" pitchFamily="34" charset="-120"/>
              </a:rPr>
              <a:t>"vnp_TransactionNo"</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6" name="Text 24"/>
          <p:cNvSpPr txBox="1"/>
          <p:nvPr/>
        </p:nvSpPr>
        <p:spPr>
          <a:xfrm>
            <a:off x="907999" y="4854550"/>
            <a:ext cx="511972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order.bankCode = params.getOrDefault(</a:t>
            </a:r>
            <a:pPr algn="l" indent="0" marL="0">
              <a:buNone/>
            </a:pPr>
            <a:r>
              <a:rPr lang="en-US" sz="980" dirty="0">
                <a:solidFill>
                  <a:srgbClr val="9BE3B4"/>
                </a:solidFill>
                <a:latin typeface="Courier New" pitchFamily="34" charset="0"/>
                <a:ea typeface="Courier New" pitchFamily="34" charset="-122"/>
                <a:cs typeface="Courier New" pitchFamily="34" charset="-120"/>
              </a:rPr>
              <a:t>"vnp_BankCode"</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7" name="Text 25"/>
          <p:cNvSpPr txBox="1"/>
          <p:nvPr/>
        </p:nvSpPr>
        <p:spPr>
          <a:xfrm>
            <a:off x="907999" y="5046482"/>
            <a:ext cx="6852788"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log(</a:t>
            </a:r>
            <a:pPr algn="l" indent="0" marL="0">
              <a:buNone/>
            </a:pPr>
            <a:r>
              <a:rPr lang="en-US" sz="980" dirty="0">
                <a:solidFill>
                  <a:srgbClr val="9BE3B4"/>
                </a:solidFill>
                <a:latin typeface="Courier New" pitchFamily="34" charset="0"/>
                <a:ea typeface="Courier New" pitchFamily="34" charset="-122"/>
                <a:cs typeface="Courier New" pitchFamily="34" charset="-120"/>
              </a:rPr>
              <a:t>"IPN "</a:t>
            </a:r>
            <a:pPr algn="l" indent="0" marL="0">
              <a:buNone/>
            </a:pPr>
            <a:r>
              <a:rPr lang="en-US" sz="980" dirty="0">
                <a:solidFill>
                  <a:srgbClr val="E6EDF7"/>
                </a:solidFill>
                <a:latin typeface="Courier New" pitchFamily="34" charset="0"/>
                <a:ea typeface="Courier New" pitchFamily="34" charset="-122"/>
                <a:cs typeface="Courier New" pitchFamily="34" charset="-120"/>
              </a:rPr>
              <a:t> + order.txnRef + </a:t>
            </a:r>
            <a:pPr algn="l" indent="0" marL="0">
              <a:buNone/>
            </a:pPr>
            <a:r>
              <a:rPr lang="en-US" sz="980" dirty="0">
                <a:solidFill>
                  <a:srgbClr val="9BE3B4"/>
                </a:solidFill>
                <a:latin typeface="Courier New" pitchFamily="34" charset="0"/>
                <a:ea typeface="Courier New" pitchFamily="34" charset="-122"/>
                <a:cs typeface="Courier New" pitchFamily="34" charset="-120"/>
              </a:rPr>
              <a:t>" -&gt; "</a:t>
            </a:r>
            <a:pPr algn="l" indent="0" marL="0">
              <a:buNone/>
            </a:pPr>
            <a:r>
              <a:rPr lang="en-US" sz="980" dirty="0">
                <a:solidFill>
                  <a:srgbClr val="E6EDF7"/>
                </a:solidFill>
                <a:latin typeface="Courier New" pitchFamily="34" charset="0"/>
                <a:ea typeface="Courier New" pitchFamily="34" charset="-122"/>
                <a:cs typeface="Courier New" pitchFamily="34" charset="-120"/>
              </a:rPr>
              <a:t> + order.status + </a:t>
            </a:r>
            <a:pPr algn="l" indent="0" marL="0">
              <a:buNone/>
            </a:pPr>
            <a:r>
              <a:rPr lang="en-US" sz="980" dirty="0">
                <a:solidFill>
                  <a:srgbClr val="9BE3B4"/>
                </a:solidFill>
                <a:latin typeface="Courier New" pitchFamily="34" charset="0"/>
                <a:ea typeface="Courier New" pitchFamily="34" charset="-122"/>
                <a:cs typeface="Courier New" pitchFamily="34" charset="-120"/>
              </a:rPr>
              <a:t>" "</a:t>
            </a:r>
            <a:pPr algn="l" indent="0" marL="0">
              <a:buNone/>
            </a:pPr>
            <a:r>
              <a:rPr lang="en-US" sz="980" dirty="0">
                <a:solidFill>
                  <a:srgbClr val="E6EDF7"/>
                </a:solidFill>
                <a:latin typeface="Courier New" pitchFamily="34" charset="0"/>
                <a:ea typeface="Courier New" pitchFamily="34" charset="-122"/>
                <a:cs typeface="Courier New" pitchFamily="34" charset="-120"/>
              </a:rPr>
              <a:t> + order.transactionNo);</a:t>
            </a:r>
            <a:endParaRPr lang="en-US" sz="980" dirty="0"/>
          </a:p>
        </p:txBody>
      </p:sp>
      <p:sp>
        <p:nvSpPr>
          <p:cNvPr id="28" name="Text 26"/>
          <p:cNvSpPr txBox="1"/>
          <p:nvPr/>
        </p:nvSpPr>
        <p:spPr>
          <a:xfrm>
            <a:off x="907999" y="5238323"/>
            <a:ext cx="447782"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endParaRPr lang="en-US" sz="980" dirty="0"/>
          </a:p>
        </p:txBody>
      </p:sp>
      <p:sp>
        <p:nvSpPr>
          <p:cNvPr id="29" name="Shape 27"/>
          <p:cNvSpPr/>
          <p:nvPr/>
        </p:nvSpPr>
        <p:spPr>
          <a:xfrm>
            <a:off x="660380" y="5412242"/>
            <a:ext cx="7077182" cy="191841"/>
          </a:xfrm>
          <a:prstGeom prst="rect">
            <a:avLst/>
          </a:prstGeom>
          <a:solidFill>
            <a:srgbClr val="FFD479">
              <a:alpha val="13000"/>
            </a:srgbClr>
          </a:solidFill>
          <a:ln/>
        </p:spPr>
      </p:sp>
      <p:sp>
        <p:nvSpPr>
          <p:cNvPr id="30" name="Shape 28"/>
          <p:cNvSpPr/>
          <p:nvPr/>
        </p:nvSpPr>
        <p:spPr>
          <a:xfrm>
            <a:off x="660380" y="5412242"/>
            <a:ext cx="31730" cy="191841"/>
          </a:xfrm>
          <a:prstGeom prst="rect">
            <a:avLst/>
          </a:prstGeom>
          <a:solidFill>
            <a:srgbClr val="FFD479"/>
          </a:solidFill>
          <a:ln/>
        </p:spPr>
      </p:sp>
      <p:sp>
        <p:nvSpPr>
          <p:cNvPr id="31" name="Text 29"/>
          <p:cNvSpPr txBox="1"/>
          <p:nvPr/>
        </p:nvSpPr>
        <p:spPr>
          <a:xfrm>
            <a:off x="907999" y="5430256"/>
            <a:ext cx="3150748"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FC2FF"/>
                </a:solidFill>
                <a:latin typeface="Courier New" pitchFamily="34" charset="0"/>
                <a:ea typeface="Courier New" pitchFamily="34" charset="-122"/>
                <a:cs typeface="Courier New" pitchFamily="34" charset="-120"/>
              </a:rPr>
              <a:t>return</a:t>
            </a:r>
            <a:pPr algn="l" indent="0" marL="0">
              <a:buNone/>
            </a:pPr>
            <a:r>
              <a:rPr lang="en-US" sz="980" dirty="0">
                <a:solidFill>
                  <a:srgbClr val="E6EDF7"/>
                </a:solidFill>
                <a:latin typeface="Courier New" pitchFamily="34" charset="0"/>
                <a:ea typeface="Courier New" pitchFamily="34" charset="-122"/>
                <a:cs typeface="Courier New" pitchFamily="34" charset="-120"/>
              </a:rPr>
              <a:t> rsp(</a:t>
            </a:r>
            <a:pPr algn="l" indent="0" marL="0">
              <a:buNone/>
            </a:pPr>
            <a:r>
              <a:rPr lang="en-US" sz="980" dirty="0">
                <a:solidFill>
                  <a:srgbClr val="9BE3B4"/>
                </a:solidFill>
                <a:latin typeface="Courier New" pitchFamily="34" charset="0"/>
                <a:ea typeface="Courier New" pitchFamily="34" charset="-122"/>
                <a:cs typeface="Courier New" pitchFamily="34" charset="-120"/>
              </a:rPr>
              <a:t>"00"</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"Confirm Success"</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32" name="Text 30"/>
          <p:cNvSpPr txBox="1"/>
          <p:nvPr/>
        </p:nvSpPr>
        <p:spPr>
          <a:xfrm>
            <a:off x="907999" y="5622097"/>
            <a:ext cx="15051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33" name="Shape 31"/>
          <p:cNvSpPr/>
          <p:nvPr/>
        </p:nvSpPr>
        <p:spPr>
          <a:xfrm>
            <a:off x="7940741" y="1347368"/>
            <a:ext cx="3590574" cy="581650"/>
          </a:xfrm>
          <a:prstGeom prst="roundRect">
            <a:avLst>
              <a:gd name="adj" fmla="val 13095"/>
            </a:avLst>
          </a:prstGeom>
          <a:solidFill>
            <a:srgbClr val="FFFFFF"/>
          </a:solidFill>
          <a:ln w="6350">
            <a:solidFill>
              <a:srgbClr val="E3E6EA"/>
            </a:solidFill>
            <a:prstDash val="solid"/>
          </a:ln>
        </p:spPr>
      </p:sp>
      <p:sp>
        <p:nvSpPr>
          <p:cNvPr id="34" name="Shape 32"/>
          <p:cNvSpPr/>
          <p:nvPr/>
        </p:nvSpPr>
        <p:spPr>
          <a:xfrm>
            <a:off x="8061442" y="1442649"/>
            <a:ext cx="982614" cy="209580"/>
          </a:xfrm>
          <a:prstGeom prst="roundRect">
            <a:avLst>
              <a:gd name="adj" fmla="val 50000"/>
            </a:avLst>
          </a:prstGeom>
          <a:solidFill>
            <a:srgbClr val="FDE8E6"/>
          </a:solidFill>
          <a:ln/>
        </p:spPr>
      </p:sp>
      <p:sp>
        <p:nvSpPr>
          <p:cNvPr id="35" name="Text 33"/>
          <p:cNvSpPr txBox="1"/>
          <p:nvPr/>
        </p:nvSpPr>
        <p:spPr>
          <a:xfrm>
            <a:off x="8137611" y="1473830"/>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36" name="Text 34"/>
          <p:cNvSpPr txBox="1"/>
          <p:nvPr/>
        </p:nvSpPr>
        <p:spPr>
          <a:xfrm>
            <a:off x="9145646" y="1437803"/>
            <a:ext cx="2333000" cy="452079"/>
          </a:xfrm>
          <a:prstGeom prst="rect">
            <a:avLst/>
          </a:prstGeom>
          <a:noFill/>
          <a:ln/>
        </p:spPr>
        <p:txBody>
          <a:bodyPr wrap="square" lIns="0" tIns="0" rIns="0" bIns="0" rtlCol="0" anchor="t"/>
          <a:lstStyle/>
          <a:p>
            <a:pPr algn="l" indent="0" marL="0">
              <a:lnSpc>
                <a:spcPts val="1540"/>
              </a:lnSpc>
              <a:buNone/>
            </a:pPr>
            <a:r>
              <a:rPr lang="en-US" sz="1100" dirty="0">
                <a:solidFill>
                  <a:srgbClr val="3F454D"/>
                </a:solidFill>
                <a:latin typeface="Arial" pitchFamily="34" charset="0"/>
                <a:ea typeface="Arial" pitchFamily="34" charset="-122"/>
                <a:cs typeface="Arial" pitchFamily="34" charset="-120"/>
              </a:rPr>
              <a:t>Mã trả về 97, 01, 04, 02, 00 dạng JSON</a:t>
            </a:r>
            <a:endParaRPr lang="en-US" sz="1100" dirty="0"/>
          </a:p>
        </p:txBody>
      </p:sp>
      <p:sp>
        <p:nvSpPr>
          <p:cNvPr id="37" name="Shape 35"/>
          <p:cNvSpPr/>
          <p:nvPr/>
        </p:nvSpPr>
        <p:spPr>
          <a:xfrm>
            <a:off x="7940741" y="2005188"/>
            <a:ext cx="3590574" cy="581650"/>
          </a:xfrm>
          <a:prstGeom prst="roundRect">
            <a:avLst>
              <a:gd name="adj" fmla="val 13095"/>
            </a:avLst>
          </a:prstGeom>
          <a:solidFill>
            <a:srgbClr val="FFFFFF"/>
          </a:solidFill>
          <a:ln w="6350">
            <a:solidFill>
              <a:srgbClr val="E3E6EA"/>
            </a:solidFill>
            <a:prstDash val="solid"/>
          </a:ln>
        </p:spPr>
      </p:sp>
      <p:sp>
        <p:nvSpPr>
          <p:cNvPr id="38" name="Shape 36"/>
          <p:cNvSpPr/>
          <p:nvPr/>
        </p:nvSpPr>
        <p:spPr>
          <a:xfrm>
            <a:off x="8061442" y="2100377"/>
            <a:ext cx="982614" cy="209580"/>
          </a:xfrm>
          <a:prstGeom prst="roundRect">
            <a:avLst>
              <a:gd name="adj" fmla="val 50000"/>
            </a:avLst>
          </a:prstGeom>
          <a:solidFill>
            <a:srgbClr val="FDE8E6"/>
          </a:solidFill>
          <a:ln/>
        </p:spPr>
      </p:sp>
      <p:sp>
        <p:nvSpPr>
          <p:cNvPr id="39" name="Text 37"/>
          <p:cNvSpPr txBox="1"/>
          <p:nvPr/>
        </p:nvSpPr>
        <p:spPr>
          <a:xfrm>
            <a:off x="8137611" y="2131649"/>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40" name="Text 38"/>
          <p:cNvSpPr txBox="1"/>
          <p:nvPr/>
        </p:nvSpPr>
        <p:spPr>
          <a:xfrm>
            <a:off x="9145646" y="2095622"/>
            <a:ext cx="2333000" cy="452079"/>
          </a:xfrm>
          <a:prstGeom prst="rect">
            <a:avLst/>
          </a:prstGeom>
          <a:noFill/>
          <a:ln/>
        </p:spPr>
        <p:txBody>
          <a:bodyPr wrap="square" lIns="0" tIns="0" rIns="0" bIns="0" rtlCol="0" anchor="t"/>
          <a:lstStyle/>
          <a:p>
            <a:pPr algn="l" indent="0" marL="0">
              <a:lnSpc>
                <a:spcPts val="1540"/>
              </a:lnSpc>
              <a:buNone/>
            </a:pPr>
            <a:r>
              <a:rPr lang="en-US" sz="1100" dirty="0">
                <a:solidFill>
                  <a:srgbClr val="3F454D"/>
                </a:solidFill>
                <a:latin typeface="Arial" pitchFamily="34" charset="0"/>
                <a:ea typeface="Arial" pitchFamily="34" charset="-122"/>
                <a:cs typeface="Arial" pitchFamily="34" charset="-120"/>
              </a:rPr>
              <a:t>Thành công khi cả ResponseCode và TransactionStatus là 00</a:t>
            </a:r>
            <a:endParaRPr lang="en-US" sz="1100" dirty="0"/>
          </a:p>
        </p:txBody>
      </p:sp>
      <p:sp>
        <p:nvSpPr>
          <p:cNvPr id="41" name="Shape 39"/>
          <p:cNvSpPr/>
          <p:nvPr/>
        </p:nvSpPr>
        <p:spPr>
          <a:xfrm>
            <a:off x="7940741" y="2663007"/>
            <a:ext cx="3590574" cy="789859"/>
          </a:xfrm>
          <a:prstGeom prst="roundRect">
            <a:avLst>
              <a:gd name="adj" fmla="val 9643"/>
            </a:avLst>
          </a:prstGeom>
          <a:solidFill>
            <a:srgbClr val="FFFFFF"/>
          </a:solidFill>
          <a:ln w="6350">
            <a:solidFill>
              <a:srgbClr val="E3E6EA"/>
            </a:solidFill>
            <a:prstDash val="solid"/>
          </a:ln>
        </p:spPr>
      </p:sp>
      <p:sp>
        <p:nvSpPr>
          <p:cNvPr id="42" name="Shape 40"/>
          <p:cNvSpPr/>
          <p:nvPr/>
        </p:nvSpPr>
        <p:spPr>
          <a:xfrm>
            <a:off x="8061442" y="2758196"/>
            <a:ext cx="723748" cy="209580"/>
          </a:xfrm>
          <a:prstGeom prst="roundRect">
            <a:avLst>
              <a:gd name="adj" fmla="val 50000"/>
            </a:avLst>
          </a:prstGeom>
          <a:solidFill>
            <a:srgbClr val="DEF3E8"/>
          </a:solidFill>
          <a:ln/>
        </p:spPr>
      </p:sp>
      <p:sp>
        <p:nvSpPr>
          <p:cNvPr id="43" name="Text 41"/>
          <p:cNvSpPr txBox="1"/>
          <p:nvPr/>
        </p:nvSpPr>
        <p:spPr>
          <a:xfrm>
            <a:off x="8137611" y="2789469"/>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44" name="Text 42"/>
          <p:cNvSpPr txBox="1"/>
          <p:nvPr/>
        </p:nvSpPr>
        <p:spPr>
          <a:xfrm>
            <a:off x="8886779" y="2753441"/>
            <a:ext cx="2599548" cy="660380"/>
          </a:xfrm>
          <a:prstGeom prst="rect">
            <a:avLst/>
          </a:prstGeom>
          <a:noFill/>
          <a:ln/>
        </p:spPr>
        <p:txBody>
          <a:bodyPr wrap="square" lIns="0" tIns="0" rIns="0" bIns="0" rtlCol="0" anchor="t"/>
          <a:lstStyle/>
          <a:p>
            <a:pPr algn="l" indent="0" marL="0">
              <a:lnSpc>
                <a:spcPts val="1540"/>
              </a:lnSpc>
              <a:buNone/>
            </a:pPr>
            <a:r>
              <a:rPr lang="en-US" sz="1100" dirty="0">
                <a:solidFill>
                  <a:srgbClr val="3F454D"/>
                </a:solidFill>
                <a:latin typeface="Courier New" pitchFamily="34" charset="0"/>
                <a:ea typeface="Courier New" pitchFamily="34" charset="-122"/>
                <a:cs typeface="Courier New" pitchFamily="34" charset="-120"/>
              </a:rPr>
              <a:t>synchronized</a:t>
            </a:r>
            <a:pPr algn="l" indent="0" marL="0">
              <a:lnSpc>
                <a:spcPts val="1540"/>
              </a:lnSpc>
              <a:buNone/>
            </a:pPr>
            <a:r>
              <a:rPr lang="en-US" sz="1100" dirty="0">
                <a:solidFill>
                  <a:srgbClr val="3F454D"/>
                </a:solidFill>
                <a:latin typeface="Arial" pitchFamily="34" charset="0"/>
                <a:ea typeface="Arial" pitchFamily="34" charset="-122"/>
                <a:cs typeface="Arial" pitchFamily="34" charset="-120"/>
              </a:rPr>
              <a:t>: hai IPN cùng đơn tới cùng lúc không cập nhật hai lần. Thật thì dùng transaction của DB</a:t>
            </a:r>
            <a:endParaRPr lang="en-US" sz="1100" dirty="0"/>
          </a:p>
        </p:txBody>
      </p:sp>
      <p:sp>
        <p:nvSpPr>
          <p:cNvPr id="45" name="Shape 43"/>
          <p:cNvSpPr/>
          <p:nvPr/>
        </p:nvSpPr>
        <p:spPr>
          <a:xfrm>
            <a:off x="7940741" y="3529035"/>
            <a:ext cx="3590574" cy="400050"/>
          </a:xfrm>
          <a:prstGeom prst="roundRect">
            <a:avLst>
              <a:gd name="adj" fmla="val 19040"/>
            </a:avLst>
          </a:prstGeom>
          <a:solidFill>
            <a:srgbClr val="FFFFFF"/>
          </a:solidFill>
          <a:ln w="6350">
            <a:solidFill>
              <a:srgbClr val="E3E6EA"/>
            </a:solidFill>
            <a:prstDash val="solid"/>
          </a:ln>
        </p:spPr>
      </p:sp>
      <p:sp>
        <p:nvSpPr>
          <p:cNvPr id="46" name="Shape 44"/>
          <p:cNvSpPr/>
          <p:nvPr/>
        </p:nvSpPr>
        <p:spPr>
          <a:xfrm>
            <a:off x="8061442" y="3624316"/>
            <a:ext cx="723748" cy="209580"/>
          </a:xfrm>
          <a:prstGeom prst="roundRect">
            <a:avLst>
              <a:gd name="adj" fmla="val 50000"/>
            </a:avLst>
          </a:prstGeom>
          <a:solidFill>
            <a:srgbClr val="DEF3E8"/>
          </a:solidFill>
          <a:ln/>
        </p:spPr>
      </p:sp>
      <p:sp>
        <p:nvSpPr>
          <p:cNvPr id="47" name="Text 45"/>
          <p:cNvSpPr txBox="1"/>
          <p:nvPr/>
        </p:nvSpPr>
        <p:spPr>
          <a:xfrm>
            <a:off x="8137611" y="3655497"/>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48" name="Text 46"/>
          <p:cNvSpPr txBox="1"/>
          <p:nvPr/>
        </p:nvSpPr>
        <p:spPr>
          <a:xfrm>
            <a:off x="8886779" y="3628614"/>
            <a:ext cx="2624602"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Ghi log. Thật thì phát event </a:t>
            </a:r>
            <a:pPr algn="l" indent="0" marL="0">
              <a:buNone/>
            </a:pPr>
            <a:r>
              <a:rPr lang="en-US" sz="1100" dirty="0">
                <a:solidFill>
                  <a:srgbClr val="3F454D"/>
                </a:solidFill>
                <a:latin typeface="Courier New" pitchFamily="34" charset="0"/>
                <a:ea typeface="Courier New" pitchFamily="34" charset="-122"/>
                <a:cs typeface="Courier New" pitchFamily="34" charset="-120"/>
              </a:rPr>
              <a:t>OrderPaid</a:t>
            </a:r>
            <a:endParaRPr lang="en-US" sz="1100" dirty="0"/>
          </a:p>
        </p:txBody>
      </p:sp>
      <p:sp>
        <p:nvSpPr>
          <p:cNvPr id="49" name="Text 47"/>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50" name="Text 48"/>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25</a:t>
            </a:r>
            <a:endParaRPr lang="en-US" sz="9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425470"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Code</a:t>
            </a:r>
            <a:endParaRPr lang="en-US" sz="1100" dirty="0"/>
          </a:p>
        </p:txBody>
      </p:sp>
      <p:sp>
        <p:nvSpPr>
          <p:cNvPr id="3" name="Text 1"/>
          <p:cNvSpPr txBox="1"/>
          <p:nvPr/>
        </p:nvSpPr>
        <p:spPr>
          <a:xfrm>
            <a:off x="660380" y="643829"/>
            <a:ext cx="7853690"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ReturnURL và querydr: vì sao viết như vậy</a:t>
            </a:r>
            <a:endParaRPr lang="en-US" sz="3000" dirty="0"/>
          </a:p>
        </p:txBody>
      </p:sp>
      <p:sp>
        <p:nvSpPr>
          <p:cNvPr id="4" name="Text 2"/>
          <p:cNvSpPr txBox="1"/>
          <p:nvPr/>
        </p:nvSpPr>
        <p:spPr>
          <a:xfrm>
            <a:off x="660380" y="1358798"/>
            <a:ext cx="4685477"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ReturnURL: chỉ kiểm tra chữ ký rồi chuyển về trang kết quả</a:t>
            </a:r>
            <a:endParaRPr lang="en-US" sz="1000" dirty="0"/>
          </a:p>
        </p:txBody>
      </p:sp>
      <p:sp>
        <p:nvSpPr>
          <p:cNvPr id="5" name="Shape 3"/>
          <p:cNvSpPr/>
          <p:nvPr/>
        </p:nvSpPr>
        <p:spPr>
          <a:xfrm>
            <a:off x="660380" y="1779148"/>
            <a:ext cx="10870936" cy="1097737"/>
          </a:xfrm>
          <a:prstGeom prst="roundRect">
            <a:avLst>
              <a:gd name="adj" fmla="val 9254"/>
            </a:avLst>
          </a:prstGeom>
          <a:solidFill>
            <a:srgbClr val="0C131E"/>
          </a:solidFill>
          <a:ln/>
        </p:spPr>
      </p:sp>
      <p:sp>
        <p:nvSpPr>
          <p:cNvPr id="6" name="Text 4"/>
          <p:cNvSpPr txBox="1"/>
          <p:nvPr/>
        </p:nvSpPr>
        <p:spPr>
          <a:xfrm>
            <a:off x="907999" y="1962211"/>
            <a:ext cx="3544489"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server.createContext(</a:t>
            </a:r>
            <a:pPr algn="l" indent="0" marL="0">
              <a:buNone/>
            </a:pPr>
            <a:r>
              <a:rPr lang="en-US" sz="980" dirty="0">
                <a:solidFill>
                  <a:srgbClr val="9BE3B4"/>
                </a:solidFill>
                <a:latin typeface="Courier New" pitchFamily="34" charset="0"/>
                <a:ea typeface="Courier New" pitchFamily="34" charset="-122"/>
                <a:cs typeface="Courier New" pitchFamily="34" charset="-120"/>
              </a:rPr>
              <a:t>"/vnpay/return"</a:t>
            </a:r>
            <a:pPr algn="l" indent="0" marL="0">
              <a:buNone/>
            </a:pPr>
            <a:r>
              <a:rPr lang="en-US" sz="980" dirty="0">
                <a:solidFill>
                  <a:srgbClr val="E6EDF7"/>
                </a:solidFill>
                <a:latin typeface="Courier New" pitchFamily="34" charset="0"/>
                <a:ea typeface="Courier New" pitchFamily="34" charset="-122"/>
                <a:cs typeface="Courier New" pitchFamily="34" charset="-120"/>
              </a:rPr>
              <a:t>, ex -&gt; {</a:t>
            </a:r>
            <a:endParaRPr lang="en-US" sz="980" dirty="0"/>
          </a:p>
        </p:txBody>
      </p:sp>
      <p:sp>
        <p:nvSpPr>
          <p:cNvPr id="7" name="Text 5"/>
          <p:cNvSpPr txBox="1"/>
          <p:nvPr/>
        </p:nvSpPr>
        <p:spPr>
          <a:xfrm>
            <a:off x="907999" y="2154052"/>
            <a:ext cx="5749839"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Map&lt;String, String&gt; p = parseQuery(ex.getRequestURI().getRawQuery());</a:t>
            </a:r>
            <a:endParaRPr lang="en-US" sz="980" dirty="0"/>
          </a:p>
        </p:txBody>
      </p:sp>
      <p:sp>
        <p:nvSpPr>
          <p:cNvPr id="8" name="Shape 6"/>
          <p:cNvSpPr/>
          <p:nvPr/>
        </p:nvSpPr>
        <p:spPr>
          <a:xfrm>
            <a:off x="660380" y="2327971"/>
            <a:ext cx="10870936" cy="191841"/>
          </a:xfrm>
          <a:prstGeom prst="rect">
            <a:avLst/>
          </a:prstGeom>
          <a:solidFill>
            <a:srgbClr val="FFD479">
              <a:alpha val="13000"/>
            </a:srgbClr>
          </a:solidFill>
          <a:ln/>
        </p:spPr>
      </p:sp>
      <p:sp>
        <p:nvSpPr>
          <p:cNvPr id="9" name="Shape 7"/>
          <p:cNvSpPr/>
          <p:nvPr/>
        </p:nvSpPr>
        <p:spPr>
          <a:xfrm>
            <a:off x="660380" y="2327971"/>
            <a:ext cx="31730" cy="191841"/>
          </a:xfrm>
          <a:prstGeom prst="rect">
            <a:avLst/>
          </a:prstGeom>
          <a:solidFill>
            <a:srgbClr val="FFD479"/>
          </a:solidFill>
          <a:ln/>
        </p:spPr>
      </p:sp>
      <p:sp>
        <p:nvSpPr>
          <p:cNvPr id="10" name="Text 8"/>
          <p:cNvSpPr txBox="1"/>
          <p:nvPr/>
        </p:nvSpPr>
        <p:spPr>
          <a:xfrm>
            <a:off x="907999" y="2345985"/>
            <a:ext cx="7640544"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ex.getResponseHeaders().add(</a:t>
            </a:r>
            <a:pPr algn="l" indent="0" marL="0">
              <a:buNone/>
            </a:pPr>
            <a:r>
              <a:rPr lang="en-US" sz="980" dirty="0">
                <a:solidFill>
                  <a:srgbClr val="9BE3B4"/>
                </a:solidFill>
                <a:latin typeface="Courier New" pitchFamily="34" charset="0"/>
                <a:ea typeface="Courier New" pitchFamily="34" charset="-122"/>
                <a:cs typeface="Courier New" pitchFamily="34" charset="-120"/>
              </a:rPr>
              <a:t>"Location"</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"/?txnRef="</a:t>
            </a:r>
            <a:pPr algn="l" indent="0" marL="0">
              <a:buNone/>
            </a:pPr>
            <a:r>
              <a:rPr lang="en-US" sz="980" dirty="0">
                <a:solidFill>
                  <a:srgbClr val="E6EDF7"/>
                </a:solidFill>
                <a:latin typeface="Courier New" pitchFamily="34" charset="0"/>
                <a:ea typeface="Courier New" pitchFamily="34" charset="-122"/>
                <a:cs typeface="Courier New" pitchFamily="34" charset="-120"/>
              </a:rPr>
              <a:t> + ... + </a:t>
            </a:r>
            <a:pPr algn="l" indent="0" marL="0">
              <a:buNone/>
            </a:pPr>
            <a:r>
              <a:rPr lang="en-US" sz="980" dirty="0">
                <a:solidFill>
                  <a:srgbClr val="9BE3B4"/>
                </a:solidFill>
                <a:latin typeface="Courier New" pitchFamily="34" charset="0"/>
                <a:ea typeface="Courier New" pitchFamily="34" charset="-122"/>
                <a:cs typeface="Courier New" pitchFamily="34" charset="-120"/>
              </a:rPr>
              <a:t>"&amp;valid="</a:t>
            </a:r>
            <a:pPr algn="l" indent="0" marL="0">
              <a:buNone/>
            </a:pPr>
            <a:r>
              <a:rPr lang="en-US" sz="980" dirty="0">
                <a:solidFill>
                  <a:srgbClr val="E6EDF7"/>
                </a:solidFill>
                <a:latin typeface="Courier New" pitchFamily="34" charset="0"/>
                <a:ea typeface="Courier New" pitchFamily="34" charset="-122"/>
                <a:cs typeface="Courier New" pitchFamily="34" charset="-120"/>
              </a:rPr>
              <a:t> + isValidSignature(p));</a:t>
            </a:r>
            <a:endParaRPr lang="en-US" sz="980" dirty="0"/>
          </a:p>
        </p:txBody>
      </p:sp>
      <p:sp>
        <p:nvSpPr>
          <p:cNvPr id="11" name="Text 9"/>
          <p:cNvSpPr txBox="1"/>
          <p:nvPr/>
        </p:nvSpPr>
        <p:spPr>
          <a:xfrm>
            <a:off x="907999" y="2537826"/>
            <a:ext cx="2835554"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    ex.sendResponseHeaders(302, -1);</a:t>
            </a:r>
            <a:endParaRPr lang="en-US" sz="980" dirty="0"/>
          </a:p>
        </p:txBody>
      </p:sp>
      <p:sp>
        <p:nvSpPr>
          <p:cNvPr id="12" name="Text 10"/>
          <p:cNvSpPr txBox="1"/>
          <p:nvPr/>
        </p:nvSpPr>
        <p:spPr>
          <a:xfrm>
            <a:off x="660380" y="3066075"/>
            <a:ext cx="3877605"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reconcile (querydr): chỉ ghi khi có kết quả cuối</a:t>
            </a:r>
            <a:endParaRPr lang="en-US" sz="1000" dirty="0"/>
          </a:p>
        </p:txBody>
      </p:sp>
      <p:sp>
        <p:nvSpPr>
          <p:cNvPr id="13" name="Shape 11"/>
          <p:cNvSpPr/>
          <p:nvPr/>
        </p:nvSpPr>
        <p:spPr>
          <a:xfrm>
            <a:off x="660380" y="3486424"/>
            <a:ext cx="10870936" cy="1097737"/>
          </a:xfrm>
          <a:prstGeom prst="roundRect">
            <a:avLst>
              <a:gd name="adj" fmla="val 9254"/>
            </a:avLst>
          </a:prstGeom>
          <a:solidFill>
            <a:srgbClr val="0C131E"/>
          </a:solidFill>
          <a:ln/>
        </p:spPr>
      </p:sp>
      <p:sp>
        <p:nvSpPr>
          <p:cNvPr id="14" name="Text 12"/>
          <p:cNvSpPr txBox="1"/>
          <p:nvPr/>
        </p:nvSpPr>
        <p:spPr>
          <a:xfrm>
            <a:off x="907999" y="3669487"/>
            <a:ext cx="4174602"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String st = jsonValue(json, </a:t>
            </a:r>
            <a:pPr algn="l" indent="0" marL="0">
              <a:buNone/>
            </a:pPr>
            <a:r>
              <a:rPr lang="en-US" sz="980" dirty="0">
                <a:solidFill>
                  <a:srgbClr val="9BE3B4"/>
                </a:solidFill>
                <a:latin typeface="Courier New" pitchFamily="34" charset="0"/>
                <a:ea typeface="Courier New" pitchFamily="34" charset="-122"/>
                <a:cs typeface="Courier New" pitchFamily="34" charset="-120"/>
              </a:rPr>
              <a:t>"vnp_TransactionStatus"</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5" name="Shape 13"/>
          <p:cNvSpPr/>
          <p:nvPr/>
        </p:nvSpPr>
        <p:spPr>
          <a:xfrm>
            <a:off x="660380" y="3843406"/>
            <a:ext cx="10870936" cy="191841"/>
          </a:xfrm>
          <a:prstGeom prst="rect">
            <a:avLst/>
          </a:prstGeom>
          <a:solidFill>
            <a:srgbClr val="FFD479">
              <a:alpha val="13000"/>
            </a:srgbClr>
          </a:solidFill>
          <a:ln/>
        </p:spPr>
      </p:sp>
      <p:sp>
        <p:nvSpPr>
          <p:cNvPr id="16" name="Shape 14"/>
          <p:cNvSpPr/>
          <p:nvPr/>
        </p:nvSpPr>
        <p:spPr>
          <a:xfrm>
            <a:off x="660380" y="3843406"/>
            <a:ext cx="31730" cy="191841"/>
          </a:xfrm>
          <a:prstGeom prst="rect">
            <a:avLst/>
          </a:prstGeom>
          <a:solidFill>
            <a:srgbClr val="FFD479"/>
          </a:solidFill>
          <a:ln/>
        </p:spPr>
      </p:sp>
      <p:sp>
        <p:nvSpPr>
          <p:cNvPr id="17" name="Text 15"/>
          <p:cNvSpPr txBox="1"/>
          <p:nvPr/>
        </p:nvSpPr>
        <p:spPr>
          <a:xfrm>
            <a:off x="907999" y="3861420"/>
            <a:ext cx="6380135" cy="191933"/>
          </a:xfrm>
          <a:prstGeom prst="rect">
            <a:avLst/>
          </a:prstGeom>
          <a:noFill/>
          <a:ln/>
        </p:spPr>
        <p:txBody>
          <a:bodyPr wrap="none" lIns="0" tIns="0" rIns="0" bIns="0" rtlCol="0" anchor="ctr"/>
          <a:lstStyle/>
          <a:p>
            <a:pPr algn="l" indent="0" marL="0">
              <a:buNone/>
            </a:pPr>
            <a:r>
              <a:rPr lang="en-US" sz="980" dirty="0">
                <a:solidFill>
                  <a:srgbClr val="7FC2FF"/>
                </a:solidFill>
                <a:latin typeface="Courier New" pitchFamily="34" charset="0"/>
                <a:ea typeface="Courier New" pitchFamily="34" charset="-122"/>
                <a:cs typeface="Courier New" pitchFamily="34" charset="-120"/>
              </a:rPr>
              <a:t>if</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9BE3B4"/>
                </a:solidFill>
                <a:latin typeface="Courier New" pitchFamily="34" charset="0"/>
                <a:ea typeface="Courier New" pitchFamily="34" charset="-122"/>
                <a:cs typeface="Courier New" pitchFamily="34" charset="-120"/>
              </a:rPr>
              <a:t>"00"</a:t>
            </a:r>
            <a:pPr algn="l" indent="0" marL="0">
              <a:buNone/>
            </a:pPr>
            <a:r>
              <a:rPr lang="en-US" sz="980" dirty="0">
                <a:solidFill>
                  <a:srgbClr val="E6EDF7"/>
                </a:solidFill>
                <a:latin typeface="Courier New" pitchFamily="34" charset="0"/>
                <a:ea typeface="Courier New" pitchFamily="34" charset="-122"/>
                <a:cs typeface="Courier New" pitchFamily="34" charset="-120"/>
              </a:rPr>
              <a:t>.equals(st) &amp;&amp; !</a:t>
            </a:r>
            <a:pPr algn="l" indent="0" marL="0">
              <a:buNone/>
            </a:pPr>
            <a:r>
              <a:rPr lang="en-US" sz="980" dirty="0">
                <a:solidFill>
                  <a:srgbClr val="9BE3B4"/>
                </a:solidFill>
                <a:latin typeface="Courier New" pitchFamily="34" charset="0"/>
                <a:ea typeface="Courier New" pitchFamily="34" charset="-122"/>
                <a:cs typeface="Courier New" pitchFamily="34" charset="-120"/>
              </a:rPr>
              <a:t>"02"</a:t>
            </a:r>
            <a:pPr algn="l" indent="0" marL="0">
              <a:buNone/>
            </a:pPr>
            <a:r>
              <a:rPr lang="en-US" sz="980" dirty="0">
                <a:solidFill>
                  <a:srgbClr val="E6EDF7"/>
                </a:solidFill>
                <a:latin typeface="Courier New" pitchFamily="34" charset="0"/>
                <a:ea typeface="Courier New" pitchFamily="34" charset="-122"/>
                <a:cs typeface="Courier New" pitchFamily="34" charset="-120"/>
              </a:rPr>
              <a:t>.equals(st)) </a:t>
            </a:r>
            <a:pPr algn="l" indent="0" marL="0">
              <a:buNone/>
            </a:pPr>
            <a:r>
              <a:rPr lang="en-US" sz="980" dirty="0">
                <a:solidFill>
                  <a:srgbClr val="7FC2FF"/>
                </a:solidFill>
                <a:latin typeface="Courier New" pitchFamily="34" charset="0"/>
                <a:ea typeface="Courier New" pitchFamily="34" charset="-122"/>
                <a:cs typeface="Courier New" pitchFamily="34" charset="-120"/>
              </a:rPr>
              <a:t>return</a:t>
            </a:r>
            <a:pPr algn="l" indent="0" marL="0">
              <a:buNone/>
            </a:pPr>
            <a:r>
              <a:rPr lang="en-US" sz="980" dirty="0">
                <a:solidFill>
                  <a:srgbClr val="E6EDF7"/>
                </a:solidFill>
                <a:latin typeface="Courier New" pitchFamily="34" charset="0"/>
                <a:ea typeface="Courier New" pitchFamily="34" charset="-122"/>
                <a:cs typeface="Courier New" pitchFamily="34" charset="-120"/>
              </a:rPr>
              <a:t>;   </a:t>
            </a:r>
            <a:pPr algn="l" indent="0" marL="0">
              <a:buNone/>
            </a:pPr>
            <a:r>
              <a:rPr lang="en-US" sz="980" dirty="0">
                <a:solidFill>
                  <a:srgbClr val="7D8CA3"/>
                </a:solidFill>
                <a:latin typeface="Courier New" pitchFamily="34" charset="0"/>
                <a:ea typeface="Courier New" pitchFamily="34" charset="-122"/>
                <a:cs typeface="Courier New" pitchFamily="34" charset="-120"/>
              </a:rPr>
              <a:t>// 01: chưa xong, giữ PENDING</a:t>
            </a:r>
            <a:endParaRPr lang="en-US" sz="980" dirty="0"/>
          </a:p>
        </p:txBody>
      </p:sp>
      <p:sp>
        <p:nvSpPr>
          <p:cNvPr id="18" name="Text 16"/>
          <p:cNvSpPr txBox="1"/>
          <p:nvPr/>
        </p:nvSpPr>
        <p:spPr>
          <a:xfrm>
            <a:off x="907999" y="4053261"/>
            <a:ext cx="29910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19" name="Text 17"/>
          <p:cNvSpPr txBox="1"/>
          <p:nvPr/>
        </p:nvSpPr>
        <p:spPr>
          <a:xfrm>
            <a:off x="907999" y="4245193"/>
            <a:ext cx="4017142"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order.status = </a:t>
            </a:r>
            <a:pPr algn="l" indent="0" marL="0">
              <a:buNone/>
            </a:pPr>
            <a:r>
              <a:rPr lang="en-US" sz="980" dirty="0">
                <a:solidFill>
                  <a:srgbClr val="9BE3B4"/>
                </a:solidFill>
                <a:latin typeface="Courier New" pitchFamily="34" charset="0"/>
                <a:ea typeface="Courier New" pitchFamily="34" charset="-122"/>
                <a:cs typeface="Courier New" pitchFamily="34" charset="-120"/>
              </a:rPr>
              <a:t>"00"</a:t>
            </a:r>
            <a:pPr algn="l" indent="0" marL="0">
              <a:buNone/>
            </a:pPr>
            <a:r>
              <a:rPr lang="en-US" sz="980" dirty="0">
                <a:solidFill>
                  <a:srgbClr val="E6EDF7"/>
                </a:solidFill>
                <a:latin typeface="Courier New" pitchFamily="34" charset="0"/>
                <a:ea typeface="Courier New" pitchFamily="34" charset="-122"/>
                <a:cs typeface="Courier New" pitchFamily="34" charset="-120"/>
              </a:rPr>
              <a:t>.equals(st) ? </a:t>
            </a:r>
            <a:pPr algn="l" indent="0" marL="0">
              <a:buNone/>
            </a:pPr>
            <a:r>
              <a:rPr lang="en-US" sz="980" dirty="0">
                <a:solidFill>
                  <a:srgbClr val="9BE3B4"/>
                </a:solidFill>
                <a:latin typeface="Courier New" pitchFamily="34" charset="0"/>
                <a:ea typeface="Courier New" pitchFamily="34" charset="-122"/>
                <a:cs typeface="Courier New" pitchFamily="34" charset="-120"/>
              </a:rPr>
              <a:t>"PAID"</a:t>
            </a:r>
            <a:pPr algn="l" indent="0" marL="0">
              <a:buNone/>
            </a:pPr>
            <a:r>
              <a:rPr lang="en-US" sz="980" dirty="0">
                <a:solidFill>
                  <a:srgbClr val="E6EDF7"/>
                </a:solidFill>
                <a:latin typeface="Courier New" pitchFamily="34" charset="0"/>
                <a:ea typeface="Courier New" pitchFamily="34" charset="-122"/>
                <a:cs typeface="Courier New" pitchFamily="34" charset="-120"/>
              </a:rPr>
              <a:t> : </a:t>
            </a:r>
            <a:pPr algn="l" indent="0" marL="0">
              <a:buNone/>
            </a:pPr>
            <a:r>
              <a:rPr lang="en-US" sz="980" dirty="0">
                <a:solidFill>
                  <a:srgbClr val="9BE3B4"/>
                </a:solidFill>
                <a:latin typeface="Courier New" pitchFamily="34" charset="0"/>
                <a:ea typeface="Courier New" pitchFamily="34" charset="-122"/>
                <a:cs typeface="Courier New" pitchFamily="34" charset="-120"/>
              </a:rPr>
              <a:t>"FAILED"</a:t>
            </a:r>
            <a:pPr algn="l" indent="0" marL="0">
              <a:buNone/>
            </a:pPr>
            <a:r>
              <a:rPr lang="en-US" sz="980" dirty="0">
                <a:solidFill>
                  <a:srgbClr val="E6EDF7"/>
                </a:solidFill>
                <a:latin typeface="Courier New" pitchFamily="34" charset="0"/>
                <a:ea typeface="Courier New" pitchFamily="34" charset="-122"/>
                <a:cs typeface="Courier New" pitchFamily="34" charset="-120"/>
              </a:rPr>
              <a:t>;</a:t>
            </a:r>
            <a:endParaRPr lang="en-US" sz="980" dirty="0"/>
          </a:p>
        </p:txBody>
      </p:sp>
      <p:sp>
        <p:nvSpPr>
          <p:cNvPr id="20" name="Shape 18"/>
          <p:cNvSpPr/>
          <p:nvPr/>
        </p:nvSpPr>
        <p:spPr>
          <a:xfrm>
            <a:off x="660380" y="4762012"/>
            <a:ext cx="10870936" cy="400050"/>
          </a:xfrm>
          <a:prstGeom prst="roundRect">
            <a:avLst>
              <a:gd name="adj" fmla="val 19040"/>
            </a:avLst>
          </a:prstGeom>
          <a:solidFill>
            <a:srgbClr val="FFFFFF"/>
          </a:solidFill>
          <a:ln w="6350">
            <a:solidFill>
              <a:srgbClr val="E3E6EA"/>
            </a:solidFill>
            <a:prstDash val="solid"/>
          </a:ln>
        </p:spPr>
      </p:sp>
      <p:sp>
        <p:nvSpPr>
          <p:cNvPr id="21" name="Shape 19"/>
          <p:cNvSpPr/>
          <p:nvPr/>
        </p:nvSpPr>
        <p:spPr>
          <a:xfrm>
            <a:off x="780989" y="4857201"/>
            <a:ext cx="982614" cy="209580"/>
          </a:xfrm>
          <a:prstGeom prst="roundRect">
            <a:avLst>
              <a:gd name="adj" fmla="val 50000"/>
            </a:avLst>
          </a:prstGeom>
          <a:solidFill>
            <a:srgbClr val="FDE8E6"/>
          </a:solidFill>
          <a:ln/>
        </p:spPr>
      </p:sp>
      <p:sp>
        <p:nvSpPr>
          <p:cNvPr id="22" name="Text 20"/>
          <p:cNvSpPr txBox="1"/>
          <p:nvPr/>
        </p:nvSpPr>
        <p:spPr>
          <a:xfrm>
            <a:off x="857250" y="4888474"/>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23" name="Text 21"/>
          <p:cNvSpPr txBox="1"/>
          <p:nvPr/>
        </p:nvSpPr>
        <p:spPr>
          <a:xfrm>
            <a:off x="1865285" y="4861590"/>
            <a:ext cx="2949763"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ReturnURL không cập nhật kết quả giao dịch</a:t>
            </a:r>
            <a:endParaRPr lang="en-US" sz="1100" dirty="0"/>
          </a:p>
        </p:txBody>
      </p:sp>
      <p:sp>
        <p:nvSpPr>
          <p:cNvPr id="24" name="Shape 22"/>
          <p:cNvSpPr/>
          <p:nvPr/>
        </p:nvSpPr>
        <p:spPr>
          <a:xfrm>
            <a:off x="660380" y="5238232"/>
            <a:ext cx="10870936" cy="400050"/>
          </a:xfrm>
          <a:prstGeom prst="roundRect">
            <a:avLst>
              <a:gd name="adj" fmla="val 19040"/>
            </a:avLst>
          </a:prstGeom>
          <a:solidFill>
            <a:srgbClr val="FFFFFF"/>
          </a:solidFill>
          <a:ln w="6350">
            <a:solidFill>
              <a:srgbClr val="E3E6EA"/>
            </a:solidFill>
            <a:prstDash val="solid"/>
          </a:ln>
        </p:spPr>
      </p:sp>
      <p:sp>
        <p:nvSpPr>
          <p:cNvPr id="25" name="Shape 23"/>
          <p:cNvSpPr/>
          <p:nvPr/>
        </p:nvSpPr>
        <p:spPr>
          <a:xfrm>
            <a:off x="780989" y="5333512"/>
            <a:ext cx="723748" cy="209580"/>
          </a:xfrm>
          <a:prstGeom prst="roundRect">
            <a:avLst>
              <a:gd name="adj" fmla="val 50000"/>
            </a:avLst>
          </a:prstGeom>
          <a:solidFill>
            <a:srgbClr val="DEF3E8"/>
          </a:solidFill>
          <a:ln/>
        </p:spPr>
      </p:sp>
      <p:sp>
        <p:nvSpPr>
          <p:cNvPr id="26" name="Text 24"/>
          <p:cNvSpPr txBox="1"/>
          <p:nvPr/>
        </p:nvSpPr>
        <p:spPr>
          <a:xfrm>
            <a:off x="857250" y="5364693"/>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27" name="Text 25"/>
          <p:cNvSpPr txBox="1"/>
          <p:nvPr/>
        </p:nvSpPr>
        <p:spPr>
          <a:xfrm>
            <a:off x="1606418" y="5337810"/>
            <a:ext cx="5285598"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Trang kết quả hỏi </a:t>
            </a:r>
            <a:pPr algn="l" indent="0" marL="0">
              <a:buNone/>
            </a:pPr>
            <a:r>
              <a:rPr lang="en-US" sz="1100" dirty="0">
                <a:solidFill>
                  <a:srgbClr val="3F454D"/>
                </a:solidFill>
                <a:latin typeface="Courier New" pitchFamily="34" charset="0"/>
                <a:ea typeface="Courier New" pitchFamily="34" charset="-122"/>
                <a:cs typeface="Courier New" pitchFamily="34" charset="-120"/>
              </a:rPr>
              <a:t>/api/orders</a:t>
            </a:r>
            <a:pPr algn="l" indent="0" marL="0">
              <a:buNone/>
            </a:pPr>
            <a:r>
              <a:rPr lang="en-US" sz="1100" dirty="0">
                <a:solidFill>
                  <a:srgbClr val="3F454D"/>
                </a:solidFill>
                <a:latin typeface="Arial" pitchFamily="34" charset="0"/>
                <a:ea typeface="Arial" pitchFamily="34" charset="-122"/>
                <a:cs typeface="Arial" pitchFamily="34" charset="-120"/>
              </a:rPr>
              <a:t> để lấy trạng thái từ server, không đọc trên URL</a:t>
            </a:r>
            <a:endParaRPr lang="en-US" sz="1100" dirty="0"/>
          </a:p>
        </p:txBody>
      </p:sp>
      <p:sp>
        <p:nvSpPr>
          <p:cNvPr id="28" name="Shape 26"/>
          <p:cNvSpPr/>
          <p:nvPr/>
        </p:nvSpPr>
        <p:spPr>
          <a:xfrm>
            <a:off x="660380" y="5714451"/>
            <a:ext cx="10870936" cy="400050"/>
          </a:xfrm>
          <a:prstGeom prst="roundRect">
            <a:avLst>
              <a:gd name="adj" fmla="val 19040"/>
            </a:avLst>
          </a:prstGeom>
          <a:solidFill>
            <a:srgbClr val="FFFFFF"/>
          </a:solidFill>
          <a:ln w="6350">
            <a:solidFill>
              <a:srgbClr val="E3E6EA"/>
            </a:solidFill>
            <a:prstDash val="solid"/>
          </a:ln>
        </p:spPr>
      </p:sp>
      <p:sp>
        <p:nvSpPr>
          <p:cNvPr id="29" name="Shape 27"/>
          <p:cNvSpPr/>
          <p:nvPr/>
        </p:nvSpPr>
        <p:spPr>
          <a:xfrm>
            <a:off x="780989" y="5809732"/>
            <a:ext cx="723748" cy="209580"/>
          </a:xfrm>
          <a:prstGeom prst="roundRect">
            <a:avLst>
              <a:gd name="adj" fmla="val 50000"/>
            </a:avLst>
          </a:prstGeom>
          <a:solidFill>
            <a:srgbClr val="DEF3E8"/>
          </a:solidFill>
          <a:ln/>
        </p:spPr>
      </p:sp>
      <p:sp>
        <p:nvSpPr>
          <p:cNvPr id="30" name="Text 28"/>
          <p:cNvSpPr txBox="1"/>
          <p:nvPr/>
        </p:nvSpPr>
        <p:spPr>
          <a:xfrm>
            <a:off x="857250" y="5840913"/>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31" name="Text 29"/>
          <p:cNvSpPr txBox="1"/>
          <p:nvPr/>
        </p:nvSpPr>
        <p:spPr>
          <a:xfrm>
            <a:off x="1606418" y="5814030"/>
            <a:ext cx="4731563"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querydr trả 01 thì đơn giữ PENDING, chỉ ghi khi trạng thái là 00 hoặc 02</a:t>
            </a:r>
            <a:endParaRPr lang="en-US" sz="1100" dirty="0"/>
          </a:p>
        </p:txBody>
      </p:sp>
      <p:sp>
        <p:nvSpPr>
          <p:cNvPr id="32" name="Text 30"/>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33" name="Text 31"/>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26</a:t>
            </a:r>
            <a:endParaRPr lang="en-US" sz="9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829269"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Chạy demo</a:t>
            </a:r>
            <a:endParaRPr lang="en-US" sz="1100" dirty="0"/>
          </a:p>
        </p:txBody>
      </p:sp>
      <p:sp>
        <p:nvSpPr>
          <p:cNvPr id="3" name="Text 1"/>
          <p:cNvSpPr txBox="1"/>
          <p:nvPr/>
        </p:nvSpPr>
        <p:spPr>
          <a:xfrm>
            <a:off x="660380" y="643829"/>
            <a:ext cx="9127449"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IPN cần URL public, nên dùng ngrok khi chạy thử</a:t>
            </a:r>
            <a:endParaRPr lang="en-US" sz="3000" dirty="0"/>
          </a:p>
        </p:txBody>
      </p:sp>
      <p:sp>
        <p:nvSpPr>
          <p:cNvPr id="4" name="Shape 2"/>
          <p:cNvSpPr/>
          <p:nvPr/>
        </p:nvSpPr>
        <p:spPr>
          <a:xfrm>
            <a:off x="660380" y="1347368"/>
            <a:ext cx="10870936" cy="400050"/>
          </a:xfrm>
          <a:prstGeom prst="roundRect">
            <a:avLst>
              <a:gd name="adj" fmla="val 19040"/>
            </a:avLst>
          </a:prstGeom>
          <a:solidFill>
            <a:srgbClr val="FFFFFF"/>
          </a:solidFill>
          <a:ln w="6350">
            <a:solidFill>
              <a:srgbClr val="E3E6EA"/>
            </a:solidFill>
            <a:prstDash val="solid"/>
          </a:ln>
        </p:spPr>
      </p:sp>
      <p:sp>
        <p:nvSpPr>
          <p:cNvPr id="5" name="Shape 3"/>
          <p:cNvSpPr/>
          <p:nvPr/>
        </p:nvSpPr>
        <p:spPr>
          <a:xfrm>
            <a:off x="780989" y="1442649"/>
            <a:ext cx="982614" cy="209580"/>
          </a:xfrm>
          <a:prstGeom prst="roundRect">
            <a:avLst>
              <a:gd name="adj" fmla="val 50000"/>
            </a:avLst>
          </a:prstGeom>
          <a:solidFill>
            <a:srgbClr val="FDE8E6"/>
          </a:solidFill>
          <a:ln/>
        </p:spPr>
      </p:sp>
      <p:sp>
        <p:nvSpPr>
          <p:cNvPr id="6" name="Text 4"/>
          <p:cNvSpPr txBox="1"/>
          <p:nvPr/>
        </p:nvSpPr>
        <p:spPr>
          <a:xfrm>
            <a:off x="857250" y="1473830"/>
            <a:ext cx="906445" cy="171450"/>
          </a:xfrm>
          <a:prstGeom prst="rect">
            <a:avLst/>
          </a:prstGeom>
          <a:noFill/>
          <a:ln/>
        </p:spPr>
        <p:txBody>
          <a:bodyPr wrap="square" lIns="0" tIns="0" rIns="0" bIns="0" rtlCol="0" anchor="ctr"/>
          <a:lstStyle/>
          <a:p>
            <a:pPr algn="l" indent="0" marL="0">
              <a:buNone/>
            </a:pPr>
            <a:r>
              <a:rPr lang="en-US" sz="900" b="1" dirty="0">
                <a:solidFill>
                  <a:srgbClr val="B42318"/>
                </a:solidFill>
                <a:latin typeface="Arial" pitchFamily="34" charset="0"/>
                <a:ea typeface="Arial" pitchFamily="34" charset="-122"/>
                <a:cs typeface="Arial" pitchFamily="34" charset="-120"/>
              </a:rPr>
              <a:t>VNPAY yêu cầu</a:t>
            </a:r>
            <a:endParaRPr lang="en-US" sz="900" dirty="0"/>
          </a:p>
        </p:txBody>
      </p:sp>
      <p:sp>
        <p:nvSpPr>
          <p:cNvPr id="7" name="Text 5"/>
          <p:cNvSpPr txBox="1"/>
          <p:nvPr/>
        </p:nvSpPr>
        <p:spPr>
          <a:xfrm>
            <a:off x="1865285" y="1446947"/>
            <a:ext cx="3714018"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URL nhận IPN phải gọi được từ internet và dùng HTTPS</a:t>
            </a:r>
            <a:endParaRPr lang="en-US" sz="1100" dirty="0"/>
          </a:p>
        </p:txBody>
      </p:sp>
      <p:sp>
        <p:nvSpPr>
          <p:cNvPr id="8" name="Shape 6"/>
          <p:cNvSpPr/>
          <p:nvPr/>
        </p:nvSpPr>
        <p:spPr>
          <a:xfrm>
            <a:off x="660380" y="1823588"/>
            <a:ext cx="10870936" cy="400050"/>
          </a:xfrm>
          <a:prstGeom prst="roundRect">
            <a:avLst>
              <a:gd name="adj" fmla="val 19040"/>
            </a:avLst>
          </a:prstGeom>
          <a:solidFill>
            <a:srgbClr val="FFFFFF"/>
          </a:solidFill>
          <a:ln w="6350">
            <a:solidFill>
              <a:srgbClr val="E3E6EA"/>
            </a:solidFill>
            <a:prstDash val="solid"/>
          </a:ln>
        </p:spPr>
      </p:sp>
      <p:sp>
        <p:nvSpPr>
          <p:cNvPr id="9" name="Shape 7"/>
          <p:cNvSpPr/>
          <p:nvPr/>
        </p:nvSpPr>
        <p:spPr>
          <a:xfrm>
            <a:off x="780989" y="1918868"/>
            <a:ext cx="723748" cy="209580"/>
          </a:xfrm>
          <a:prstGeom prst="roundRect">
            <a:avLst>
              <a:gd name="adj" fmla="val 50000"/>
            </a:avLst>
          </a:prstGeom>
          <a:solidFill>
            <a:srgbClr val="DEF3E8"/>
          </a:solidFill>
          <a:ln/>
        </p:spPr>
      </p:sp>
      <p:sp>
        <p:nvSpPr>
          <p:cNvPr id="10" name="Text 8"/>
          <p:cNvSpPr txBox="1"/>
          <p:nvPr/>
        </p:nvSpPr>
        <p:spPr>
          <a:xfrm>
            <a:off x="857250" y="1950049"/>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11" name="Text 9"/>
          <p:cNvSpPr txBox="1"/>
          <p:nvPr/>
        </p:nvSpPr>
        <p:spPr>
          <a:xfrm>
            <a:off x="1606418" y="1923166"/>
            <a:ext cx="4446179"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Khi chạy thử, ngrok tạo link HTTPS public trỏ về </a:t>
            </a:r>
            <a:pPr algn="l" indent="0" marL="0">
              <a:buNone/>
            </a:pPr>
            <a:r>
              <a:rPr lang="en-US" sz="1100" dirty="0">
                <a:solidFill>
                  <a:srgbClr val="3F454D"/>
                </a:solidFill>
                <a:latin typeface="Courier New" pitchFamily="34" charset="0"/>
                <a:ea typeface="Courier New" pitchFamily="34" charset="-122"/>
                <a:cs typeface="Courier New" pitchFamily="34" charset="-120"/>
              </a:rPr>
              <a:t>localhost:8080</a:t>
            </a:r>
            <a:endParaRPr lang="en-US" sz="1100" dirty="0"/>
          </a:p>
        </p:txBody>
      </p:sp>
      <p:sp>
        <p:nvSpPr>
          <p:cNvPr id="12" name="Shape 10"/>
          <p:cNvSpPr/>
          <p:nvPr/>
        </p:nvSpPr>
        <p:spPr>
          <a:xfrm>
            <a:off x="660380" y="2299807"/>
            <a:ext cx="10870936" cy="400050"/>
          </a:xfrm>
          <a:prstGeom prst="roundRect">
            <a:avLst>
              <a:gd name="adj" fmla="val 19040"/>
            </a:avLst>
          </a:prstGeom>
          <a:solidFill>
            <a:srgbClr val="FFFFFF"/>
          </a:solidFill>
          <a:ln w="6350">
            <a:solidFill>
              <a:srgbClr val="E3E6EA"/>
            </a:solidFill>
            <a:prstDash val="solid"/>
          </a:ln>
        </p:spPr>
      </p:sp>
      <p:sp>
        <p:nvSpPr>
          <p:cNvPr id="13" name="Shape 11"/>
          <p:cNvSpPr/>
          <p:nvPr/>
        </p:nvSpPr>
        <p:spPr>
          <a:xfrm>
            <a:off x="780989" y="2395088"/>
            <a:ext cx="723748" cy="209580"/>
          </a:xfrm>
          <a:prstGeom prst="roundRect">
            <a:avLst>
              <a:gd name="adj" fmla="val 50000"/>
            </a:avLst>
          </a:prstGeom>
          <a:solidFill>
            <a:srgbClr val="DEF3E8"/>
          </a:solidFill>
          <a:ln/>
        </p:spPr>
      </p:sp>
      <p:sp>
        <p:nvSpPr>
          <p:cNvPr id="14" name="Text 12"/>
          <p:cNvSpPr txBox="1"/>
          <p:nvPr/>
        </p:nvSpPr>
        <p:spPr>
          <a:xfrm>
            <a:off x="857250" y="2426360"/>
            <a:ext cx="647578" cy="171450"/>
          </a:xfrm>
          <a:prstGeom prst="rect">
            <a:avLst/>
          </a:prstGeom>
          <a:noFill/>
          <a:ln/>
        </p:spPr>
        <p:txBody>
          <a:bodyPr wrap="square" lIns="0" tIns="0" rIns="0" bIns="0" rtlCol="0" anchor="ctr"/>
          <a:lstStyle/>
          <a:p>
            <a:pPr algn="l" indent="0" marL="0">
              <a:buNone/>
            </a:pPr>
            <a:r>
              <a:rPr lang="en-US" sz="900" b="1" dirty="0">
                <a:solidFill>
                  <a:srgbClr val="0B6B47"/>
                </a:solidFill>
                <a:latin typeface="Arial" pitchFamily="34" charset="0"/>
                <a:ea typeface="Arial" pitchFamily="34" charset="-122"/>
                <a:cs typeface="Arial" pitchFamily="34" charset="-120"/>
              </a:rPr>
              <a:t>Mình chọn</a:t>
            </a:r>
            <a:endParaRPr lang="en-US" sz="900" dirty="0"/>
          </a:p>
        </p:txBody>
      </p:sp>
      <p:sp>
        <p:nvSpPr>
          <p:cNvPr id="15" name="Text 13"/>
          <p:cNvSpPr txBox="1"/>
          <p:nvPr/>
        </p:nvSpPr>
        <p:spPr>
          <a:xfrm>
            <a:off x="1606418" y="2399386"/>
            <a:ext cx="5474238" cy="195590"/>
          </a:xfrm>
          <a:prstGeom prst="rect">
            <a:avLst/>
          </a:prstGeom>
          <a:noFill/>
          <a:ln/>
        </p:spPr>
        <p:txBody>
          <a:bodyPr wrap="square" lIns="0" tIns="0" rIns="0" bIns="0" rtlCol="0" anchor="ctr"/>
          <a:lstStyle/>
          <a:p>
            <a:pPr algn="l" indent="0" marL="0">
              <a:buNone/>
            </a:pPr>
            <a:r>
              <a:rPr lang="en-US" sz="1100" dirty="0">
                <a:solidFill>
                  <a:srgbClr val="3F454D"/>
                </a:solidFill>
                <a:latin typeface="Arial" pitchFamily="34" charset="0"/>
                <a:ea typeface="Arial" pitchFamily="34" charset="-122"/>
                <a:cs typeface="Arial" pitchFamily="34" charset="-120"/>
              </a:rPr>
              <a:t>Hệ thống thật: IPN đi qua API Gateway hoặc Ingress, có domain và chứng chỉ riêng</a:t>
            </a:r>
            <a:endParaRPr lang="en-US" sz="1100" dirty="0"/>
          </a:p>
        </p:txBody>
      </p:sp>
      <p:sp>
        <p:nvSpPr>
          <p:cNvPr id="16" name="Shape 14"/>
          <p:cNvSpPr/>
          <p:nvPr/>
        </p:nvSpPr>
        <p:spPr>
          <a:xfrm>
            <a:off x="660380" y="2877708"/>
            <a:ext cx="10870936" cy="1215969"/>
          </a:xfrm>
          <a:prstGeom prst="roundRect">
            <a:avLst>
              <a:gd name="adj" fmla="val 8355"/>
            </a:avLst>
          </a:prstGeom>
          <a:solidFill>
            <a:srgbClr val="0C131E"/>
          </a:solidFill>
          <a:ln/>
        </p:spPr>
      </p:sp>
      <p:sp>
        <p:nvSpPr>
          <p:cNvPr id="17" name="Text 15"/>
          <p:cNvSpPr txBox="1"/>
          <p:nvPr/>
        </p:nvSpPr>
        <p:spPr>
          <a:xfrm>
            <a:off x="907999" y="3069458"/>
            <a:ext cx="3756447" cy="295260"/>
          </a:xfrm>
          <a:prstGeom prst="rect">
            <a:avLst/>
          </a:prstGeom>
          <a:noFill/>
          <a:ln/>
        </p:spPr>
        <p:txBody>
          <a:bodyPr wrap="none" lIns="0" tIns="0" rIns="0" bIns="0" rtlCol="0" anchor="ctr"/>
          <a:lstStyle/>
          <a:p>
            <a:pPr algn="l" indent="0" marL="0">
              <a:buNone/>
            </a:pPr>
            <a:r>
              <a:rPr lang="en-US" sz="1500" dirty="0">
                <a:solidFill>
                  <a:srgbClr val="E6EDF7"/>
                </a:solidFill>
                <a:latin typeface="Courier New" pitchFamily="34" charset="0"/>
                <a:ea typeface="Courier New" pitchFamily="34" charset="-122"/>
                <a:cs typeface="Courier New" pitchFamily="34" charset="-120"/>
              </a:rPr>
              <a:t>VNPAY  ---X---&gt;  localhost:8080</a:t>
            </a:r>
            <a:endParaRPr lang="en-US" sz="1500" dirty="0"/>
          </a:p>
        </p:txBody>
      </p:sp>
      <p:sp>
        <p:nvSpPr>
          <p:cNvPr id="18" name="Shape 16"/>
          <p:cNvSpPr/>
          <p:nvPr/>
        </p:nvSpPr>
        <p:spPr>
          <a:xfrm>
            <a:off x="660380" y="3633277"/>
            <a:ext cx="10870936" cy="295260"/>
          </a:xfrm>
          <a:prstGeom prst="rect">
            <a:avLst/>
          </a:prstGeom>
          <a:solidFill>
            <a:srgbClr val="FFD479">
              <a:alpha val="13000"/>
            </a:srgbClr>
          </a:solidFill>
          <a:ln/>
        </p:spPr>
      </p:sp>
      <p:sp>
        <p:nvSpPr>
          <p:cNvPr id="19" name="Shape 17"/>
          <p:cNvSpPr/>
          <p:nvPr/>
        </p:nvSpPr>
        <p:spPr>
          <a:xfrm>
            <a:off x="660380" y="3633277"/>
            <a:ext cx="31730" cy="295260"/>
          </a:xfrm>
          <a:prstGeom prst="rect">
            <a:avLst/>
          </a:prstGeom>
          <a:solidFill>
            <a:srgbClr val="FFD479"/>
          </a:solidFill>
          <a:ln/>
        </p:spPr>
      </p:sp>
      <p:sp>
        <p:nvSpPr>
          <p:cNvPr id="20" name="Text 18"/>
          <p:cNvSpPr txBox="1"/>
          <p:nvPr/>
        </p:nvSpPr>
        <p:spPr>
          <a:xfrm>
            <a:off x="907999" y="3659977"/>
            <a:ext cx="8239933" cy="295260"/>
          </a:xfrm>
          <a:prstGeom prst="rect">
            <a:avLst/>
          </a:prstGeom>
          <a:noFill/>
          <a:ln/>
        </p:spPr>
        <p:txBody>
          <a:bodyPr wrap="none" lIns="0" tIns="0" rIns="0" bIns="0" rtlCol="0" anchor="ctr"/>
          <a:lstStyle/>
          <a:p>
            <a:pPr algn="l" indent="0" marL="0">
              <a:buNone/>
            </a:pPr>
            <a:r>
              <a:rPr lang="en-US" sz="1500" dirty="0">
                <a:solidFill>
                  <a:srgbClr val="E6EDF7"/>
                </a:solidFill>
                <a:latin typeface="Courier New" pitchFamily="34" charset="0"/>
                <a:ea typeface="Courier New" pitchFamily="34" charset="-122"/>
                <a:cs typeface="Courier New" pitchFamily="34" charset="-120"/>
              </a:rPr>
              <a:t>VNPAY  ------&gt;  https://a1b2.ngrok-free.app  ------&gt;  localhost:8080</a:t>
            </a:r>
            <a:endParaRPr lang="en-US" sz="1500" dirty="0"/>
          </a:p>
        </p:txBody>
      </p:sp>
      <p:sp>
        <p:nvSpPr>
          <p:cNvPr id="21" name="Text 19"/>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22" name="Text 20"/>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27</a:t>
            </a:r>
            <a:endParaRPr lang="en-US" sz="9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829269"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Chạy demo</a:t>
            </a:r>
            <a:endParaRPr lang="en-US" sz="1100" dirty="0"/>
          </a:p>
        </p:txBody>
      </p:sp>
      <p:sp>
        <p:nvSpPr>
          <p:cNvPr id="3" name="Text 1"/>
          <p:cNvSpPr txBox="1"/>
          <p:nvPr/>
        </p:nvSpPr>
        <p:spPr>
          <a:xfrm>
            <a:off x="660380" y="643829"/>
            <a:ext cx="7055510"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Chạy demo và đọc log theo từng kênh</a:t>
            </a:r>
            <a:endParaRPr lang="en-US" sz="3000" dirty="0"/>
          </a:p>
        </p:txBody>
      </p:sp>
      <p:sp>
        <p:nvSpPr>
          <p:cNvPr id="4" name="Text 2"/>
          <p:cNvSpPr txBox="1"/>
          <p:nvPr/>
        </p:nvSpPr>
        <p:spPr>
          <a:xfrm>
            <a:off x="660380" y="1358798"/>
            <a:ext cx="1938802"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Lệnh chạy (macOS, Linux)</a:t>
            </a:r>
            <a:endParaRPr lang="en-US" sz="1000" dirty="0"/>
          </a:p>
        </p:txBody>
      </p:sp>
      <p:sp>
        <p:nvSpPr>
          <p:cNvPr id="5" name="Shape 3"/>
          <p:cNvSpPr/>
          <p:nvPr/>
        </p:nvSpPr>
        <p:spPr>
          <a:xfrm>
            <a:off x="660380" y="1601389"/>
            <a:ext cx="5714817" cy="1097737"/>
          </a:xfrm>
          <a:prstGeom prst="roundRect">
            <a:avLst>
              <a:gd name="adj" fmla="val 9254"/>
            </a:avLst>
          </a:prstGeom>
          <a:solidFill>
            <a:srgbClr val="0C131E"/>
          </a:solidFill>
          <a:ln/>
        </p:spPr>
      </p:sp>
      <p:sp>
        <p:nvSpPr>
          <p:cNvPr id="6" name="Text 4"/>
          <p:cNvSpPr txBox="1"/>
          <p:nvPr/>
        </p:nvSpPr>
        <p:spPr>
          <a:xfrm>
            <a:off x="907999" y="1784452"/>
            <a:ext cx="504099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ngrok http 8080                                     </a:t>
            </a:r>
            <a:pPr algn="l" indent="0" marL="0">
              <a:buNone/>
            </a:pPr>
            <a:r>
              <a:rPr lang="en-US" sz="980" dirty="0">
                <a:solidFill>
                  <a:srgbClr val="7D8CA3"/>
                </a:solidFill>
                <a:latin typeface="Courier New" pitchFamily="34" charset="0"/>
                <a:ea typeface="Courier New" pitchFamily="34" charset="-122"/>
                <a:cs typeface="Courier New" pitchFamily="34" charset="-120"/>
              </a:rPr>
              <a:t># terminal 1</a:t>
            </a:r>
            <a:endParaRPr lang="en-US" sz="980" dirty="0"/>
          </a:p>
        </p:txBody>
      </p:sp>
      <p:sp>
        <p:nvSpPr>
          <p:cNvPr id="7" name="Text 5"/>
          <p:cNvSpPr txBox="1"/>
          <p:nvPr/>
        </p:nvSpPr>
        <p:spPr>
          <a:xfrm>
            <a:off x="907999" y="1976293"/>
            <a:ext cx="5040996"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export VNPAY_TMN_CODE=...  VNPAY_HASH_SECRET=...    </a:t>
            </a:r>
            <a:pPr algn="l" indent="0" marL="0">
              <a:buNone/>
            </a:pPr>
            <a:r>
              <a:rPr lang="en-US" sz="980" dirty="0">
                <a:solidFill>
                  <a:srgbClr val="7D8CA3"/>
                </a:solidFill>
                <a:latin typeface="Courier New" pitchFamily="34" charset="0"/>
                <a:ea typeface="Courier New" pitchFamily="34" charset="-122"/>
                <a:cs typeface="Courier New" pitchFamily="34" charset="-120"/>
              </a:rPr>
              <a:t># terminal 2</a:t>
            </a:r>
            <a:endParaRPr lang="en-US" sz="980" dirty="0"/>
          </a:p>
        </p:txBody>
      </p:sp>
      <p:sp>
        <p:nvSpPr>
          <p:cNvPr id="8" name="Text 6"/>
          <p:cNvSpPr txBox="1"/>
          <p:nvPr/>
        </p:nvSpPr>
        <p:spPr>
          <a:xfrm>
            <a:off x="907999" y="2168225"/>
            <a:ext cx="5040904"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export VNPAY_RETURN_URL=https://&lt;id&gt;.ngrok-free.app/vnpay/return</a:t>
            </a:r>
            <a:endParaRPr lang="en-US" sz="980" dirty="0"/>
          </a:p>
        </p:txBody>
      </p:sp>
      <p:sp>
        <p:nvSpPr>
          <p:cNvPr id="9" name="Text 7"/>
          <p:cNvSpPr txBox="1"/>
          <p:nvPr/>
        </p:nvSpPr>
        <p:spPr>
          <a:xfrm>
            <a:off x="907999" y="2360066"/>
            <a:ext cx="1890431"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java PaymentService.java</a:t>
            </a:r>
            <a:endParaRPr lang="en-US" sz="980" dirty="0"/>
          </a:p>
        </p:txBody>
      </p:sp>
      <p:sp>
        <p:nvSpPr>
          <p:cNvPr id="10" name="Text 8"/>
          <p:cNvSpPr txBox="1"/>
          <p:nvPr/>
        </p:nvSpPr>
        <p:spPr>
          <a:xfrm>
            <a:off x="660380" y="2710464"/>
            <a:ext cx="1858061" cy="190470"/>
          </a:xfrm>
          <a:prstGeom prst="rect">
            <a:avLst/>
          </a:prstGeom>
          <a:noFill/>
          <a:ln/>
        </p:spPr>
        <p:txBody>
          <a:bodyPr wrap="square" lIns="0" tIns="0" rIns="0" bIns="0" rtlCol="0" anchor="ctr"/>
          <a:lstStyle/>
          <a:p>
            <a:pPr algn="l" indent="0" marL="0">
              <a:buNone/>
            </a:pPr>
            <a:r>
              <a:rPr lang="en-US" sz="1000" dirty="0">
                <a:solidFill>
                  <a:srgbClr val="6B7280"/>
                </a:solidFill>
                <a:latin typeface="Courier New" pitchFamily="34" charset="0"/>
                <a:ea typeface="Courier New" pitchFamily="34" charset="-122"/>
                <a:cs typeface="Courier New" pitchFamily="34" charset="-120"/>
              </a:rPr>
              <a:t>Log của Payment Service</a:t>
            </a:r>
            <a:endParaRPr lang="en-US" sz="1000" dirty="0"/>
          </a:p>
        </p:txBody>
      </p:sp>
      <p:sp>
        <p:nvSpPr>
          <p:cNvPr id="11" name="Shape 9"/>
          <p:cNvSpPr/>
          <p:nvPr/>
        </p:nvSpPr>
        <p:spPr>
          <a:xfrm>
            <a:off x="660380" y="2953055"/>
            <a:ext cx="5714817" cy="905805"/>
          </a:xfrm>
          <a:prstGeom prst="roundRect">
            <a:avLst>
              <a:gd name="adj" fmla="val 11215"/>
            </a:avLst>
          </a:prstGeom>
          <a:solidFill>
            <a:srgbClr val="0C131E"/>
          </a:solidFill>
          <a:ln/>
        </p:spPr>
      </p:sp>
      <p:sp>
        <p:nvSpPr>
          <p:cNvPr id="12" name="Text 10"/>
          <p:cNvSpPr txBox="1"/>
          <p:nvPr/>
        </p:nvSpPr>
        <p:spPr>
          <a:xfrm>
            <a:off x="907999" y="3136118"/>
            <a:ext cx="2520452"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[10:20:01] http://localhost:8080</a:t>
            </a:r>
            <a:endParaRPr lang="en-US" sz="980" dirty="0"/>
          </a:p>
        </p:txBody>
      </p:sp>
      <p:sp>
        <p:nvSpPr>
          <p:cNvPr id="13" name="Text 11"/>
          <p:cNvSpPr txBox="1"/>
          <p:nvPr/>
        </p:nvSpPr>
        <p:spPr>
          <a:xfrm>
            <a:off x="907999" y="3328050"/>
            <a:ext cx="2126620" cy="191933"/>
          </a:xfrm>
          <a:prstGeom prst="rect">
            <a:avLst/>
          </a:prstGeom>
          <a:noFill/>
          <a:ln/>
        </p:spPr>
        <p:txBody>
          <a:bodyPr wrap="none" lIns="0" tIns="0" rIns="0" bIns="0" rtlCol="0" anchor="ctr"/>
          <a:lstStyle/>
          <a:p>
            <a:pPr algn="l" indent="0" marL="0">
              <a:buNone/>
            </a:pPr>
            <a:r>
              <a:rPr lang="en-US" sz="980" dirty="0">
                <a:solidFill>
                  <a:srgbClr val="E6EDF7"/>
                </a:solidFill>
                <a:latin typeface="Courier New" pitchFamily="34" charset="0"/>
                <a:ea typeface="Courier New" pitchFamily="34" charset="-122"/>
                <a:cs typeface="Courier New" pitchFamily="34" charset="-120"/>
              </a:rPr>
              <a:t>[10:20:01] TmnCode ABCD1234</a:t>
            </a:r>
            <a:endParaRPr lang="en-US" sz="980" dirty="0"/>
          </a:p>
        </p:txBody>
      </p:sp>
      <p:sp>
        <p:nvSpPr>
          <p:cNvPr id="14" name="Text 12"/>
          <p:cNvSpPr txBox="1"/>
          <p:nvPr/>
        </p:nvSpPr>
        <p:spPr>
          <a:xfrm>
            <a:off x="907999" y="3519891"/>
            <a:ext cx="4095689" cy="191933"/>
          </a:xfrm>
          <a:prstGeom prst="rect">
            <a:avLst/>
          </a:prstGeom>
          <a:noFill/>
          <a:ln/>
        </p:spPr>
        <p:txBody>
          <a:bodyPr wrap="none" lIns="0" tIns="0" rIns="0" bIns="0" rtlCol="0" anchor="ctr"/>
          <a:lstStyle/>
          <a:p>
            <a:pPr algn="l" indent="0" marL="0">
              <a:buNone/>
            </a:pPr>
            <a:r>
              <a:rPr lang="en-US" sz="980" dirty="0">
                <a:solidFill>
                  <a:srgbClr val="FFD479"/>
                </a:solidFill>
                <a:latin typeface="Courier New" pitchFamily="34" charset="0"/>
                <a:ea typeface="Courier New" pitchFamily="34" charset="-122"/>
                <a:cs typeface="Courier New" pitchFamily="34" charset="-120"/>
              </a:rPr>
              <a:t>[10:21:40] IPN 20261010102118733051 -&gt; PAID 15900123</a:t>
            </a:r>
            <a:endParaRPr lang="en-US" sz="980" dirty="0"/>
          </a:p>
        </p:txBody>
      </p:sp>
      <p:sp>
        <p:nvSpPr>
          <p:cNvPr id="15" name="Shape 13"/>
          <p:cNvSpPr/>
          <p:nvPr/>
        </p:nvSpPr>
        <p:spPr>
          <a:xfrm>
            <a:off x="6616507" y="1458468"/>
            <a:ext cx="63459" cy="63459"/>
          </a:xfrm>
          <a:prstGeom prst="ellipse">
            <a:avLst/>
          </a:prstGeom>
          <a:solidFill>
            <a:srgbClr val="0066FF"/>
          </a:solidFill>
          <a:ln/>
        </p:spPr>
      </p:sp>
      <p:sp>
        <p:nvSpPr>
          <p:cNvPr id="16" name="Text 14"/>
          <p:cNvSpPr txBox="1"/>
          <p:nvPr/>
        </p:nvSpPr>
        <p:spPr>
          <a:xfrm>
            <a:off x="6794358" y="1363188"/>
            <a:ext cx="4048323" cy="238110"/>
          </a:xfrm>
          <a:prstGeom prst="rect">
            <a:avLst/>
          </a:prstGeom>
          <a:noFill/>
          <a:ln/>
        </p:spPr>
        <p:txBody>
          <a:bodyPr wrap="square" lIns="0" tIns="0" rIns="0" bIns="0" rtlCol="0" anchor="ctr"/>
          <a:lstStyle/>
          <a:p>
            <a:pPr algn="l" indent="0" marL="0">
              <a:buNone/>
            </a:pPr>
            <a:r>
              <a:rPr lang="en-US" sz="1250" dirty="0">
                <a:solidFill>
                  <a:srgbClr val="3F454D"/>
                </a:solidFill>
                <a:latin typeface="Arial" pitchFamily="34" charset="0"/>
                <a:ea typeface="Arial" pitchFamily="34" charset="-122"/>
                <a:cs typeface="Arial" pitchFamily="34" charset="-120"/>
              </a:rPr>
              <a:t>Bấm Thanh toán: kênh 1, trình duyệt mở trang VNPAY</a:t>
            </a:r>
            <a:endParaRPr lang="en-US" sz="1250" dirty="0"/>
          </a:p>
        </p:txBody>
      </p:sp>
      <p:sp>
        <p:nvSpPr>
          <p:cNvPr id="17" name="Shape 15"/>
          <p:cNvSpPr/>
          <p:nvPr/>
        </p:nvSpPr>
        <p:spPr>
          <a:xfrm>
            <a:off x="6616507" y="1785457"/>
            <a:ext cx="63459" cy="63459"/>
          </a:xfrm>
          <a:prstGeom prst="ellipse">
            <a:avLst/>
          </a:prstGeom>
          <a:solidFill>
            <a:srgbClr val="0066FF"/>
          </a:solidFill>
          <a:ln/>
        </p:spPr>
      </p:sp>
      <p:sp>
        <p:nvSpPr>
          <p:cNvPr id="18" name="Text 16"/>
          <p:cNvSpPr txBox="1"/>
          <p:nvPr/>
        </p:nvSpPr>
        <p:spPr>
          <a:xfrm>
            <a:off x="6794358" y="1690268"/>
            <a:ext cx="2273198" cy="238110"/>
          </a:xfrm>
          <a:prstGeom prst="rect">
            <a:avLst/>
          </a:prstGeom>
          <a:noFill/>
          <a:ln/>
        </p:spPr>
        <p:txBody>
          <a:bodyPr wrap="square" lIns="0" tIns="0" rIns="0" bIns="0" rtlCol="0" anchor="ctr"/>
          <a:lstStyle/>
          <a:p>
            <a:pPr algn="l" indent="0" marL="0">
              <a:buNone/>
            </a:pPr>
            <a:r>
              <a:rPr lang="en-US" sz="1250" dirty="0">
                <a:solidFill>
                  <a:srgbClr val="3F454D"/>
                </a:solidFill>
                <a:latin typeface="Arial" pitchFamily="34" charset="0"/>
                <a:ea typeface="Arial" pitchFamily="34" charset="-122"/>
                <a:cs typeface="Arial" pitchFamily="34" charset="-120"/>
              </a:rPr>
              <a:t>Thanh toán bằng thẻ test NCB</a:t>
            </a:r>
            <a:endParaRPr lang="en-US" sz="1250" dirty="0"/>
          </a:p>
        </p:txBody>
      </p:sp>
      <p:sp>
        <p:nvSpPr>
          <p:cNvPr id="19" name="Shape 17"/>
          <p:cNvSpPr/>
          <p:nvPr/>
        </p:nvSpPr>
        <p:spPr>
          <a:xfrm>
            <a:off x="6616507" y="2112538"/>
            <a:ext cx="63459" cy="63459"/>
          </a:xfrm>
          <a:prstGeom prst="ellipse">
            <a:avLst/>
          </a:prstGeom>
          <a:solidFill>
            <a:srgbClr val="0066FF"/>
          </a:solidFill>
          <a:ln/>
        </p:spPr>
      </p:sp>
      <p:sp>
        <p:nvSpPr>
          <p:cNvPr id="20" name="Text 18"/>
          <p:cNvSpPr txBox="1"/>
          <p:nvPr/>
        </p:nvSpPr>
        <p:spPr>
          <a:xfrm>
            <a:off x="6794358" y="2017258"/>
            <a:ext cx="2052462" cy="238110"/>
          </a:xfrm>
          <a:prstGeom prst="rect">
            <a:avLst/>
          </a:prstGeom>
          <a:noFill/>
          <a:ln/>
        </p:spPr>
        <p:txBody>
          <a:bodyPr wrap="square" lIns="0" tIns="0" rIns="0" bIns="0" rtlCol="0" anchor="ctr"/>
          <a:lstStyle/>
          <a:p>
            <a:pPr algn="l" indent="0" marL="0">
              <a:buNone/>
            </a:pPr>
            <a:r>
              <a:rPr lang="en-US" sz="1250" dirty="0">
                <a:solidFill>
                  <a:srgbClr val="3F454D"/>
                </a:solidFill>
                <a:latin typeface="Arial" pitchFamily="34" charset="0"/>
                <a:ea typeface="Arial" pitchFamily="34" charset="-122"/>
                <a:cs typeface="Arial" pitchFamily="34" charset="-120"/>
              </a:rPr>
              <a:t>Dòng </a:t>
            </a:r>
            <a:pPr algn="l" indent="0" marL="0">
              <a:buNone/>
            </a:pPr>
            <a:r>
              <a:rPr lang="en-US" sz="1250" dirty="0">
                <a:solidFill>
                  <a:srgbClr val="3F454D"/>
                </a:solidFill>
                <a:latin typeface="Courier New" pitchFamily="34" charset="0"/>
                <a:ea typeface="Courier New" pitchFamily="34" charset="-122"/>
                <a:cs typeface="Courier New" pitchFamily="34" charset="-120"/>
              </a:rPr>
              <a:t>IPN</a:t>
            </a:r>
            <a:pPr algn="l" indent="0" marL="0">
              <a:buNone/>
            </a:pPr>
            <a:r>
              <a:rPr lang="en-US" sz="1250" dirty="0">
                <a:solidFill>
                  <a:srgbClr val="3F454D"/>
                </a:solidFill>
                <a:latin typeface="Arial" pitchFamily="34" charset="0"/>
                <a:ea typeface="Arial" pitchFamily="34" charset="-122"/>
                <a:cs typeface="Arial" pitchFamily="34" charset="-120"/>
              </a:rPr>
              <a:t> trong log: kênh 3</a:t>
            </a:r>
            <a:endParaRPr lang="en-US" sz="1250" dirty="0"/>
          </a:p>
        </p:txBody>
      </p:sp>
      <p:sp>
        <p:nvSpPr>
          <p:cNvPr id="21" name="Shape 19"/>
          <p:cNvSpPr/>
          <p:nvPr/>
        </p:nvSpPr>
        <p:spPr>
          <a:xfrm>
            <a:off x="6616507" y="2452238"/>
            <a:ext cx="63459" cy="63459"/>
          </a:xfrm>
          <a:prstGeom prst="ellipse">
            <a:avLst/>
          </a:prstGeom>
          <a:solidFill>
            <a:srgbClr val="0066FF"/>
          </a:solidFill>
          <a:ln/>
        </p:spPr>
      </p:sp>
      <p:sp>
        <p:nvSpPr>
          <p:cNvPr id="22" name="Text 20"/>
          <p:cNvSpPr txBox="1"/>
          <p:nvPr/>
        </p:nvSpPr>
        <p:spPr>
          <a:xfrm>
            <a:off x="6794358" y="2356957"/>
            <a:ext cx="1630832" cy="238110"/>
          </a:xfrm>
          <a:prstGeom prst="rect">
            <a:avLst/>
          </a:prstGeom>
          <a:noFill/>
          <a:ln/>
        </p:spPr>
        <p:txBody>
          <a:bodyPr wrap="square" lIns="0" tIns="0" rIns="0" bIns="0" rtlCol="0" anchor="ctr"/>
          <a:lstStyle/>
          <a:p>
            <a:pPr algn="l" indent="0" marL="0">
              <a:buNone/>
            </a:pPr>
            <a:r>
              <a:rPr lang="en-US" sz="1250" dirty="0">
                <a:solidFill>
                  <a:srgbClr val="3F454D"/>
                </a:solidFill>
                <a:latin typeface="Arial" pitchFamily="34" charset="0"/>
                <a:ea typeface="Arial" pitchFamily="34" charset="-122"/>
                <a:cs typeface="Arial" pitchFamily="34" charset="-120"/>
              </a:rPr>
              <a:t>Trang kết quả: kênh 2</a:t>
            </a:r>
            <a:endParaRPr lang="en-US" sz="1250" dirty="0"/>
          </a:p>
        </p:txBody>
      </p:sp>
      <p:sp>
        <p:nvSpPr>
          <p:cNvPr id="23" name="Shape 21"/>
          <p:cNvSpPr/>
          <p:nvPr/>
        </p:nvSpPr>
        <p:spPr>
          <a:xfrm>
            <a:off x="6616507" y="2779227"/>
            <a:ext cx="63459" cy="63459"/>
          </a:xfrm>
          <a:prstGeom prst="ellipse">
            <a:avLst/>
          </a:prstGeom>
          <a:solidFill>
            <a:srgbClr val="0066FF"/>
          </a:solidFill>
          <a:ln/>
        </p:spPr>
      </p:sp>
      <p:sp>
        <p:nvSpPr>
          <p:cNvPr id="24" name="Text 22"/>
          <p:cNvSpPr txBox="1"/>
          <p:nvPr/>
        </p:nvSpPr>
        <p:spPr>
          <a:xfrm>
            <a:off x="6794358" y="2665750"/>
            <a:ext cx="4879056" cy="547634"/>
          </a:xfrm>
          <a:prstGeom prst="rect">
            <a:avLst/>
          </a:prstGeom>
          <a:noFill/>
          <a:ln/>
        </p:spPr>
        <p:txBody>
          <a:bodyPr wrap="square" lIns="0" tIns="0" rIns="0" bIns="0" rtlCol="0" anchor="t"/>
          <a:lstStyle/>
          <a:p>
            <a:pPr algn="l" indent="0" marL="0">
              <a:lnSpc>
                <a:spcPts val="1880"/>
              </a:lnSpc>
              <a:buNone/>
            </a:pPr>
            <a:r>
              <a:rPr lang="en-US" sz="1250" dirty="0">
                <a:solidFill>
                  <a:srgbClr val="3F454D"/>
                </a:solidFill>
                <a:latin typeface="Arial" pitchFamily="34" charset="0"/>
                <a:ea typeface="Arial" pitchFamily="34" charset="-122"/>
                <a:cs typeface="Arial" pitchFamily="34" charset="-120"/>
              </a:rPr>
              <a:t>Mở </a:t>
            </a:r>
            <a:pPr algn="l" indent="0" marL="0">
              <a:lnSpc>
                <a:spcPts val="1880"/>
              </a:lnSpc>
              <a:buNone/>
            </a:pPr>
            <a:r>
              <a:rPr lang="en-US" sz="1250" dirty="0">
                <a:solidFill>
                  <a:srgbClr val="3F454D"/>
                </a:solidFill>
                <a:latin typeface="Courier New" pitchFamily="34" charset="0"/>
                <a:ea typeface="Courier New" pitchFamily="34" charset="-122"/>
                <a:cs typeface="Courier New" pitchFamily="34" charset="-120"/>
              </a:rPr>
              <a:t>127.0.0.1:4040</a:t>
            </a:r>
            <a:pPr algn="l" indent="0" marL="0">
              <a:lnSpc>
                <a:spcPts val="1880"/>
              </a:lnSpc>
              <a:buNone/>
            </a:pPr>
            <a:r>
              <a:rPr lang="en-US" sz="1250" dirty="0">
                <a:solidFill>
                  <a:srgbClr val="3F454D"/>
                </a:solidFill>
                <a:latin typeface="Arial" pitchFamily="34" charset="0"/>
                <a:ea typeface="Arial" pitchFamily="34" charset="-122"/>
                <a:cs typeface="Arial" pitchFamily="34" charset="-120"/>
              </a:rPr>
              <a:t> xem request IPN là GET, tham số trên query string</a:t>
            </a:r>
            <a:endParaRPr lang="en-US" sz="1250" dirty="0"/>
          </a:p>
        </p:txBody>
      </p:sp>
      <p:sp>
        <p:nvSpPr>
          <p:cNvPr id="25" name="Text 23"/>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26" name="Text 24"/>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28</a:t>
            </a:r>
            <a:endParaRPr lang="en-US" sz="9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843430"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Nhìn lại theo microservice</a:t>
            </a:r>
            <a:endParaRPr lang="en-US" sz="1100" dirty="0"/>
          </a:p>
        </p:txBody>
      </p:sp>
      <p:sp>
        <p:nvSpPr>
          <p:cNvPr id="3" name="Text 1"/>
          <p:cNvSpPr txBox="1"/>
          <p:nvPr/>
        </p:nvSpPr>
        <p:spPr>
          <a:xfrm>
            <a:off x="660380" y="643829"/>
            <a:ext cx="6391107"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Các pattern microservice trong bài</a:t>
            </a:r>
            <a:endParaRPr lang="en-US" sz="3000" dirty="0"/>
          </a:p>
        </p:txBody>
      </p:sp>
      <p:sp>
        <p:nvSpPr>
          <p:cNvPr id="4" name="Shape 2"/>
          <p:cNvSpPr/>
          <p:nvPr/>
        </p:nvSpPr>
        <p:spPr>
          <a:xfrm>
            <a:off x="660380" y="1347368"/>
            <a:ext cx="10870936" cy="2685959"/>
          </a:xfrm>
          <a:prstGeom prst="roundRect">
            <a:avLst>
              <a:gd name="adj" fmla="val 3782"/>
            </a:avLst>
          </a:prstGeom>
          <a:solidFill>
            <a:srgbClr val="FFFFFF"/>
          </a:solidFill>
          <a:ln/>
        </p:spPr>
      </p:sp>
      <p:sp>
        <p:nvSpPr>
          <p:cNvPr id="5" name="Shape 3"/>
          <p:cNvSpPr/>
          <p:nvPr/>
        </p:nvSpPr>
        <p:spPr>
          <a:xfrm>
            <a:off x="660380" y="1347368"/>
            <a:ext cx="2826410" cy="422270"/>
          </a:xfrm>
          <a:prstGeom prst="rect">
            <a:avLst/>
          </a:prstGeom>
          <a:solidFill>
            <a:srgbClr val="ECF2FF"/>
          </a:solidFill>
          <a:ln/>
        </p:spPr>
      </p:sp>
      <p:sp>
        <p:nvSpPr>
          <p:cNvPr id="6" name="Text 4"/>
          <p:cNvSpPr txBox="1"/>
          <p:nvPr/>
        </p:nvSpPr>
        <p:spPr>
          <a:xfrm>
            <a:off x="825520" y="1479408"/>
            <a:ext cx="701528"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PATTERN</a:t>
            </a:r>
            <a:endParaRPr lang="en-US" sz="1000" dirty="0"/>
          </a:p>
        </p:txBody>
      </p:sp>
      <p:sp>
        <p:nvSpPr>
          <p:cNvPr id="7" name="Shape 5"/>
          <p:cNvSpPr/>
          <p:nvPr/>
        </p:nvSpPr>
        <p:spPr>
          <a:xfrm>
            <a:off x="3486790" y="1347368"/>
            <a:ext cx="3696096" cy="422270"/>
          </a:xfrm>
          <a:prstGeom prst="rect">
            <a:avLst/>
          </a:prstGeom>
          <a:solidFill>
            <a:srgbClr val="ECF2FF"/>
          </a:solidFill>
          <a:ln/>
        </p:spPr>
      </p:sp>
      <p:sp>
        <p:nvSpPr>
          <p:cNvPr id="8" name="Text 6"/>
          <p:cNvSpPr txBox="1"/>
          <p:nvPr/>
        </p:nvSpPr>
        <p:spPr>
          <a:xfrm>
            <a:off x="3651839" y="1479408"/>
            <a:ext cx="1338133"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Ở ĐÂU TRONG BÀI</a:t>
            </a:r>
            <a:endParaRPr lang="en-US" sz="1000" dirty="0"/>
          </a:p>
        </p:txBody>
      </p:sp>
      <p:sp>
        <p:nvSpPr>
          <p:cNvPr id="9" name="Shape 7"/>
          <p:cNvSpPr/>
          <p:nvPr/>
        </p:nvSpPr>
        <p:spPr>
          <a:xfrm>
            <a:off x="7182886" y="1347368"/>
            <a:ext cx="4348429" cy="422270"/>
          </a:xfrm>
          <a:prstGeom prst="rect">
            <a:avLst/>
          </a:prstGeom>
          <a:solidFill>
            <a:srgbClr val="ECF2FF"/>
          </a:solidFill>
          <a:ln/>
        </p:spPr>
      </p:sp>
      <p:sp>
        <p:nvSpPr>
          <p:cNvPr id="10" name="Text 8"/>
          <p:cNvSpPr txBox="1"/>
          <p:nvPr/>
        </p:nvSpPr>
        <p:spPr>
          <a:xfrm>
            <a:off x="7347936" y="1479408"/>
            <a:ext cx="789584"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ĐỂ LÀM GÌ</a:t>
            </a:r>
            <a:endParaRPr lang="en-US" sz="1000" dirty="0"/>
          </a:p>
        </p:txBody>
      </p:sp>
      <p:sp>
        <p:nvSpPr>
          <p:cNvPr id="11" name="Shape 9"/>
          <p:cNvSpPr/>
          <p:nvPr/>
        </p:nvSpPr>
        <p:spPr>
          <a:xfrm>
            <a:off x="660380" y="1769638"/>
            <a:ext cx="2826410" cy="6309"/>
          </a:xfrm>
          <a:prstGeom prst="rect">
            <a:avLst/>
          </a:prstGeom>
          <a:solidFill>
            <a:srgbClr val="E3E6EA"/>
          </a:solidFill>
          <a:ln/>
        </p:spPr>
      </p:sp>
      <p:sp>
        <p:nvSpPr>
          <p:cNvPr id="12" name="Text 10"/>
          <p:cNvSpPr txBox="1"/>
          <p:nvPr/>
        </p:nvSpPr>
        <p:spPr>
          <a:xfrm>
            <a:off x="800100" y="1865650"/>
            <a:ext cx="1995769"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Gateway cho dịch vụ ngoài</a:t>
            </a:r>
            <a:endParaRPr lang="en-US" sz="1150" dirty="0"/>
          </a:p>
        </p:txBody>
      </p:sp>
      <p:sp>
        <p:nvSpPr>
          <p:cNvPr id="13" name="Shape 11"/>
          <p:cNvSpPr/>
          <p:nvPr/>
        </p:nvSpPr>
        <p:spPr>
          <a:xfrm>
            <a:off x="3486790" y="1769638"/>
            <a:ext cx="3696096" cy="6309"/>
          </a:xfrm>
          <a:prstGeom prst="rect">
            <a:avLst/>
          </a:prstGeom>
          <a:solidFill>
            <a:srgbClr val="E3E6EA"/>
          </a:solidFill>
          <a:ln/>
        </p:spPr>
      </p:sp>
      <p:sp>
        <p:nvSpPr>
          <p:cNvPr id="14" name="Text 12"/>
          <p:cNvSpPr txBox="1"/>
          <p:nvPr/>
        </p:nvSpPr>
        <p:spPr>
          <a:xfrm>
            <a:off x="3626419" y="1865650"/>
            <a:ext cx="287505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Chỉ Payment Service giao tiếp với VNPAY</a:t>
            </a:r>
            <a:endParaRPr lang="en-US" sz="1150" dirty="0"/>
          </a:p>
        </p:txBody>
      </p:sp>
      <p:sp>
        <p:nvSpPr>
          <p:cNvPr id="15" name="Shape 13"/>
          <p:cNvSpPr/>
          <p:nvPr/>
        </p:nvSpPr>
        <p:spPr>
          <a:xfrm>
            <a:off x="7182886" y="1769638"/>
            <a:ext cx="4348429" cy="6309"/>
          </a:xfrm>
          <a:prstGeom prst="rect">
            <a:avLst/>
          </a:prstGeom>
          <a:solidFill>
            <a:srgbClr val="E3E6EA"/>
          </a:solidFill>
          <a:ln/>
        </p:spPr>
      </p:sp>
      <p:sp>
        <p:nvSpPr>
          <p:cNvPr id="16" name="Text 14"/>
          <p:cNvSpPr txBox="1"/>
          <p:nvPr/>
        </p:nvSpPr>
        <p:spPr>
          <a:xfrm>
            <a:off x="7322515" y="1865650"/>
            <a:ext cx="2771272"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Đổi cổng thanh toán chỉ sửa một service</a:t>
            </a:r>
            <a:endParaRPr lang="en-US" sz="1150" dirty="0"/>
          </a:p>
        </p:txBody>
      </p:sp>
      <p:sp>
        <p:nvSpPr>
          <p:cNvPr id="17" name="Shape 15"/>
          <p:cNvSpPr/>
          <p:nvPr/>
        </p:nvSpPr>
        <p:spPr>
          <a:xfrm>
            <a:off x="660380" y="2147468"/>
            <a:ext cx="2826410" cy="6309"/>
          </a:xfrm>
          <a:prstGeom prst="rect">
            <a:avLst/>
          </a:prstGeom>
          <a:solidFill>
            <a:srgbClr val="E3E6EA"/>
          </a:solidFill>
          <a:ln/>
        </p:spPr>
      </p:sp>
      <p:sp>
        <p:nvSpPr>
          <p:cNvPr id="18" name="Text 16"/>
          <p:cNvSpPr txBox="1"/>
          <p:nvPr/>
        </p:nvSpPr>
        <p:spPr>
          <a:xfrm>
            <a:off x="800100" y="2243480"/>
            <a:ext cx="730697"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Webhook</a:t>
            </a:r>
            <a:endParaRPr lang="en-US" sz="1150" dirty="0"/>
          </a:p>
        </p:txBody>
      </p:sp>
      <p:sp>
        <p:nvSpPr>
          <p:cNvPr id="19" name="Shape 17"/>
          <p:cNvSpPr/>
          <p:nvPr/>
        </p:nvSpPr>
        <p:spPr>
          <a:xfrm>
            <a:off x="3486790" y="2147468"/>
            <a:ext cx="3696096" cy="6309"/>
          </a:xfrm>
          <a:prstGeom prst="rect">
            <a:avLst/>
          </a:prstGeom>
          <a:solidFill>
            <a:srgbClr val="E3E6EA"/>
          </a:solidFill>
          <a:ln/>
        </p:spPr>
      </p:sp>
      <p:sp>
        <p:nvSpPr>
          <p:cNvPr id="20" name="Text 18"/>
          <p:cNvSpPr txBox="1"/>
          <p:nvPr/>
        </p:nvSpPr>
        <p:spPr>
          <a:xfrm>
            <a:off x="3626419" y="2243480"/>
            <a:ext cx="839328"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IPN, kênh 3</a:t>
            </a:r>
            <a:endParaRPr lang="en-US" sz="1150" dirty="0"/>
          </a:p>
        </p:txBody>
      </p:sp>
      <p:sp>
        <p:nvSpPr>
          <p:cNvPr id="21" name="Shape 19"/>
          <p:cNvSpPr/>
          <p:nvPr/>
        </p:nvSpPr>
        <p:spPr>
          <a:xfrm>
            <a:off x="7182886" y="2147468"/>
            <a:ext cx="4348429" cy="6309"/>
          </a:xfrm>
          <a:prstGeom prst="rect">
            <a:avLst/>
          </a:prstGeom>
          <a:solidFill>
            <a:srgbClr val="E3E6EA"/>
          </a:solidFill>
          <a:ln/>
        </p:spPr>
      </p:sp>
      <p:sp>
        <p:nvSpPr>
          <p:cNvPr id="22" name="Text 20"/>
          <p:cNvSpPr txBox="1"/>
          <p:nvPr/>
        </p:nvSpPr>
        <p:spPr>
          <a:xfrm>
            <a:off x="7322515" y="2243480"/>
            <a:ext cx="3133009"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Bên ngoài báo kết quả, không cần hỏi liên tục</a:t>
            </a:r>
            <a:endParaRPr lang="en-US" sz="1150" dirty="0"/>
          </a:p>
        </p:txBody>
      </p:sp>
      <p:sp>
        <p:nvSpPr>
          <p:cNvPr id="23" name="Shape 21"/>
          <p:cNvSpPr/>
          <p:nvPr/>
        </p:nvSpPr>
        <p:spPr>
          <a:xfrm>
            <a:off x="660380" y="2525207"/>
            <a:ext cx="2826410" cy="6309"/>
          </a:xfrm>
          <a:prstGeom prst="rect">
            <a:avLst/>
          </a:prstGeom>
          <a:solidFill>
            <a:srgbClr val="E3E6EA"/>
          </a:solidFill>
          <a:ln/>
        </p:spPr>
      </p:sp>
      <p:sp>
        <p:nvSpPr>
          <p:cNvPr id="24" name="Text 22"/>
          <p:cNvSpPr txBox="1"/>
          <p:nvPr/>
        </p:nvSpPr>
        <p:spPr>
          <a:xfrm>
            <a:off x="800100" y="2621219"/>
            <a:ext cx="1527139"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Retry + idempotency</a:t>
            </a:r>
            <a:endParaRPr lang="en-US" sz="1150" dirty="0"/>
          </a:p>
        </p:txBody>
      </p:sp>
      <p:sp>
        <p:nvSpPr>
          <p:cNvPr id="25" name="Shape 23"/>
          <p:cNvSpPr/>
          <p:nvPr/>
        </p:nvSpPr>
        <p:spPr>
          <a:xfrm>
            <a:off x="3486790" y="2525207"/>
            <a:ext cx="3696096" cy="6309"/>
          </a:xfrm>
          <a:prstGeom prst="rect">
            <a:avLst/>
          </a:prstGeom>
          <a:solidFill>
            <a:srgbClr val="E3E6EA"/>
          </a:solidFill>
          <a:ln/>
        </p:spPr>
      </p:sp>
      <p:sp>
        <p:nvSpPr>
          <p:cNvPr id="26" name="Text 24"/>
          <p:cNvSpPr txBox="1"/>
          <p:nvPr/>
        </p:nvSpPr>
        <p:spPr>
          <a:xfrm>
            <a:off x="3626419" y="2621219"/>
            <a:ext cx="228051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VNPAY gọi lại 10 lần, mình trả 02</a:t>
            </a:r>
            <a:endParaRPr lang="en-US" sz="1150" dirty="0"/>
          </a:p>
        </p:txBody>
      </p:sp>
      <p:sp>
        <p:nvSpPr>
          <p:cNvPr id="27" name="Shape 25"/>
          <p:cNvSpPr/>
          <p:nvPr/>
        </p:nvSpPr>
        <p:spPr>
          <a:xfrm>
            <a:off x="7182886" y="2525207"/>
            <a:ext cx="4348429" cy="6309"/>
          </a:xfrm>
          <a:prstGeom prst="rect">
            <a:avLst/>
          </a:prstGeom>
          <a:solidFill>
            <a:srgbClr val="E3E6EA"/>
          </a:solidFill>
          <a:ln/>
        </p:spPr>
      </p:sp>
      <p:sp>
        <p:nvSpPr>
          <p:cNvPr id="28" name="Text 26"/>
          <p:cNvSpPr txBox="1"/>
          <p:nvPr/>
        </p:nvSpPr>
        <p:spPr>
          <a:xfrm>
            <a:off x="7322515" y="2621219"/>
            <a:ext cx="2943545"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Không mất kết quả, không cập nhật hai lần</a:t>
            </a:r>
            <a:endParaRPr lang="en-US" sz="1150" dirty="0"/>
          </a:p>
        </p:txBody>
      </p:sp>
      <p:sp>
        <p:nvSpPr>
          <p:cNvPr id="29" name="Shape 27"/>
          <p:cNvSpPr/>
          <p:nvPr/>
        </p:nvSpPr>
        <p:spPr>
          <a:xfrm>
            <a:off x="660380" y="2903037"/>
            <a:ext cx="2826410" cy="6309"/>
          </a:xfrm>
          <a:prstGeom prst="rect">
            <a:avLst/>
          </a:prstGeom>
          <a:solidFill>
            <a:srgbClr val="E3E6EA"/>
          </a:solidFill>
          <a:ln/>
        </p:spPr>
      </p:sp>
      <p:sp>
        <p:nvSpPr>
          <p:cNvPr id="30" name="Text 28"/>
          <p:cNvSpPr txBox="1"/>
          <p:nvPr/>
        </p:nvSpPr>
        <p:spPr>
          <a:xfrm>
            <a:off x="800100" y="2999049"/>
            <a:ext cx="1583101"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Eventual consistency</a:t>
            </a:r>
            <a:endParaRPr lang="en-US" sz="1150" dirty="0"/>
          </a:p>
        </p:txBody>
      </p:sp>
      <p:sp>
        <p:nvSpPr>
          <p:cNvPr id="31" name="Shape 29"/>
          <p:cNvSpPr/>
          <p:nvPr/>
        </p:nvSpPr>
        <p:spPr>
          <a:xfrm>
            <a:off x="3486790" y="2903037"/>
            <a:ext cx="3696096" cy="6309"/>
          </a:xfrm>
          <a:prstGeom prst="rect">
            <a:avLst/>
          </a:prstGeom>
          <a:solidFill>
            <a:srgbClr val="E3E6EA"/>
          </a:solidFill>
          <a:ln/>
        </p:spPr>
      </p:sp>
      <p:sp>
        <p:nvSpPr>
          <p:cNvPr id="32" name="Text 30"/>
          <p:cNvSpPr txBox="1"/>
          <p:nvPr/>
        </p:nvSpPr>
        <p:spPr>
          <a:xfrm>
            <a:off x="3626419" y="2999049"/>
            <a:ext cx="196358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Đơn PENDING rồi mới PAID</a:t>
            </a:r>
            <a:endParaRPr lang="en-US" sz="1150" dirty="0"/>
          </a:p>
        </p:txBody>
      </p:sp>
      <p:sp>
        <p:nvSpPr>
          <p:cNvPr id="33" name="Shape 31"/>
          <p:cNvSpPr/>
          <p:nvPr/>
        </p:nvSpPr>
        <p:spPr>
          <a:xfrm>
            <a:off x="7182886" y="2903037"/>
            <a:ext cx="4348429" cy="6309"/>
          </a:xfrm>
          <a:prstGeom prst="rect">
            <a:avLst/>
          </a:prstGeom>
          <a:solidFill>
            <a:srgbClr val="E3E6EA"/>
          </a:solidFill>
          <a:ln/>
        </p:spPr>
      </p:sp>
      <p:sp>
        <p:nvSpPr>
          <p:cNvPr id="34" name="Text 32"/>
          <p:cNvSpPr txBox="1"/>
          <p:nvPr/>
        </p:nvSpPr>
        <p:spPr>
          <a:xfrm>
            <a:off x="7322515" y="2999049"/>
            <a:ext cx="286701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Trạng thái đúng sau một khoảng thời gian</a:t>
            </a:r>
            <a:endParaRPr lang="en-US" sz="1150" dirty="0"/>
          </a:p>
        </p:txBody>
      </p:sp>
      <p:sp>
        <p:nvSpPr>
          <p:cNvPr id="35" name="Shape 33"/>
          <p:cNvSpPr/>
          <p:nvPr/>
        </p:nvSpPr>
        <p:spPr>
          <a:xfrm>
            <a:off x="660380" y="3280867"/>
            <a:ext cx="2826410" cy="6309"/>
          </a:xfrm>
          <a:prstGeom prst="rect">
            <a:avLst/>
          </a:prstGeom>
          <a:solidFill>
            <a:srgbClr val="E3E6EA"/>
          </a:solidFill>
          <a:ln/>
        </p:spPr>
      </p:sp>
      <p:sp>
        <p:nvSpPr>
          <p:cNvPr id="36" name="Text 34"/>
          <p:cNvSpPr txBox="1"/>
          <p:nvPr/>
        </p:nvSpPr>
        <p:spPr>
          <a:xfrm>
            <a:off x="800100" y="3376879"/>
            <a:ext cx="1074420"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Reconciliation</a:t>
            </a:r>
            <a:endParaRPr lang="en-US" sz="1150" dirty="0"/>
          </a:p>
        </p:txBody>
      </p:sp>
      <p:sp>
        <p:nvSpPr>
          <p:cNvPr id="37" name="Shape 35"/>
          <p:cNvSpPr/>
          <p:nvPr/>
        </p:nvSpPr>
        <p:spPr>
          <a:xfrm>
            <a:off x="3486790" y="3280867"/>
            <a:ext cx="3696096" cy="6309"/>
          </a:xfrm>
          <a:prstGeom prst="rect">
            <a:avLst/>
          </a:prstGeom>
          <a:solidFill>
            <a:srgbClr val="E3E6EA"/>
          </a:solidFill>
          <a:ln/>
        </p:spPr>
      </p:sp>
      <p:sp>
        <p:nvSpPr>
          <p:cNvPr id="38" name="Text 36"/>
          <p:cNvSpPr txBox="1"/>
          <p:nvPr/>
        </p:nvSpPr>
        <p:spPr>
          <a:xfrm>
            <a:off x="3626419" y="3376879"/>
            <a:ext cx="1083015"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querydr, kênh 4</a:t>
            </a:r>
            <a:endParaRPr lang="en-US" sz="1150" dirty="0"/>
          </a:p>
        </p:txBody>
      </p:sp>
      <p:sp>
        <p:nvSpPr>
          <p:cNvPr id="39" name="Shape 37"/>
          <p:cNvSpPr/>
          <p:nvPr/>
        </p:nvSpPr>
        <p:spPr>
          <a:xfrm>
            <a:off x="7182886" y="3280867"/>
            <a:ext cx="4348429" cy="6309"/>
          </a:xfrm>
          <a:prstGeom prst="rect">
            <a:avLst/>
          </a:prstGeom>
          <a:solidFill>
            <a:srgbClr val="E3E6EA"/>
          </a:solidFill>
          <a:ln/>
        </p:spPr>
      </p:sp>
      <p:sp>
        <p:nvSpPr>
          <p:cNvPr id="40" name="Text 38"/>
          <p:cNvSpPr txBox="1"/>
          <p:nvPr/>
        </p:nvSpPr>
        <p:spPr>
          <a:xfrm>
            <a:off x="7322515" y="3376879"/>
            <a:ext cx="179835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Hỏi lại khi webhook bị mất</a:t>
            </a:r>
            <a:endParaRPr lang="en-US" sz="1150" dirty="0"/>
          </a:p>
        </p:txBody>
      </p:sp>
      <p:sp>
        <p:nvSpPr>
          <p:cNvPr id="41" name="Shape 39"/>
          <p:cNvSpPr/>
          <p:nvPr/>
        </p:nvSpPr>
        <p:spPr>
          <a:xfrm>
            <a:off x="660380" y="3658697"/>
            <a:ext cx="2826410" cy="6309"/>
          </a:xfrm>
          <a:prstGeom prst="rect">
            <a:avLst/>
          </a:prstGeom>
          <a:solidFill>
            <a:srgbClr val="E3E6EA"/>
          </a:solidFill>
          <a:ln/>
        </p:spPr>
      </p:sp>
      <p:sp>
        <p:nvSpPr>
          <p:cNvPr id="42" name="Text 40"/>
          <p:cNvSpPr txBox="1"/>
          <p:nvPr/>
        </p:nvSpPr>
        <p:spPr>
          <a:xfrm>
            <a:off x="800100" y="3754709"/>
            <a:ext cx="1754916"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Message authentication</a:t>
            </a:r>
            <a:endParaRPr lang="en-US" sz="1150" dirty="0"/>
          </a:p>
        </p:txBody>
      </p:sp>
      <p:sp>
        <p:nvSpPr>
          <p:cNvPr id="43" name="Shape 41"/>
          <p:cNvSpPr/>
          <p:nvPr/>
        </p:nvSpPr>
        <p:spPr>
          <a:xfrm>
            <a:off x="3486790" y="3658697"/>
            <a:ext cx="3696096" cy="6309"/>
          </a:xfrm>
          <a:prstGeom prst="rect">
            <a:avLst/>
          </a:prstGeom>
          <a:solidFill>
            <a:srgbClr val="E3E6EA"/>
          </a:solidFill>
          <a:ln/>
        </p:spPr>
      </p:sp>
      <p:sp>
        <p:nvSpPr>
          <p:cNvPr id="44" name="Text 42"/>
          <p:cNvSpPr txBox="1"/>
          <p:nvPr/>
        </p:nvSpPr>
        <p:spPr>
          <a:xfrm>
            <a:off x="3626419" y="3754709"/>
            <a:ext cx="219218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HMAC-SHA512 với HashSecret</a:t>
            </a:r>
            <a:endParaRPr lang="en-US" sz="1150" dirty="0"/>
          </a:p>
        </p:txBody>
      </p:sp>
      <p:sp>
        <p:nvSpPr>
          <p:cNvPr id="45" name="Shape 43"/>
          <p:cNvSpPr/>
          <p:nvPr/>
        </p:nvSpPr>
        <p:spPr>
          <a:xfrm>
            <a:off x="7182886" y="3658697"/>
            <a:ext cx="4348429" cy="6309"/>
          </a:xfrm>
          <a:prstGeom prst="rect">
            <a:avLst/>
          </a:prstGeom>
          <a:solidFill>
            <a:srgbClr val="E3E6EA"/>
          </a:solidFill>
          <a:ln/>
        </p:spPr>
      </p:sp>
      <p:sp>
        <p:nvSpPr>
          <p:cNvPr id="46" name="Text 44"/>
          <p:cNvSpPr txBox="1"/>
          <p:nvPr/>
        </p:nvSpPr>
        <p:spPr>
          <a:xfrm>
            <a:off x="7322515" y="3754709"/>
            <a:ext cx="352135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Xác thực dữ liệu đến đúng từ VNPAY, không bị sửa</a:t>
            </a:r>
            <a:endParaRPr lang="en-US" sz="1150" dirty="0"/>
          </a:p>
        </p:txBody>
      </p:sp>
      <p:sp>
        <p:nvSpPr>
          <p:cNvPr id="47" name="Text 45"/>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48" name="Text 46"/>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29</a:t>
            </a:r>
            <a:endParaRPr lang="en-US" sz="9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1843430"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Nhìn lại theo microservice</a:t>
            </a:r>
            <a:endParaRPr lang="en-US" sz="1100" dirty="0"/>
          </a:p>
        </p:txBody>
      </p:sp>
      <p:sp>
        <p:nvSpPr>
          <p:cNvPr id="3" name="Text 1"/>
          <p:cNvSpPr txBox="1"/>
          <p:nvPr/>
        </p:nvSpPr>
        <p:spPr>
          <a:xfrm>
            <a:off x="660380" y="643829"/>
            <a:ext cx="4909231"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Demo so với hệ thống thật</a:t>
            </a:r>
            <a:endParaRPr lang="en-US" sz="3000" dirty="0"/>
          </a:p>
        </p:txBody>
      </p:sp>
      <p:sp>
        <p:nvSpPr>
          <p:cNvPr id="4" name="Shape 2"/>
          <p:cNvSpPr/>
          <p:nvPr/>
        </p:nvSpPr>
        <p:spPr>
          <a:xfrm>
            <a:off x="660380" y="1347368"/>
            <a:ext cx="10870936" cy="3473348"/>
          </a:xfrm>
          <a:prstGeom prst="roundRect">
            <a:avLst>
              <a:gd name="adj" fmla="val 2925"/>
            </a:avLst>
          </a:prstGeom>
          <a:solidFill>
            <a:srgbClr val="FFFFFF"/>
          </a:solidFill>
          <a:ln/>
        </p:spPr>
      </p:sp>
      <p:sp>
        <p:nvSpPr>
          <p:cNvPr id="5" name="Shape 3"/>
          <p:cNvSpPr/>
          <p:nvPr/>
        </p:nvSpPr>
        <p:spPr>
          <a:xfrm>
            <a:off x="660380" y="1347368"/>
            <a:ext cx="4348338" cy="422270"/>
          </a:xfrm>
          <a:prstGeom prst="rect">
            <a:avLst/>
          </a:prstGeom>
          <a:solidFill>
            <a:srgbClr val="ECF2FF"/>
          </a:solidFill>
          <a:ln/>
        </p:spPr>
      </p:sp>
      <p:sp>
        <p:nvSpPr>
          <p:cNvPr id="6" name="Text 4"/>
          <p:cNvSpPr txBox="1"/>
          <p:nvPr/>
        </p:nvSpPr>
        <p:spPr>
          <a:xfrm>
            <a:off x="825520" y="1479408"/>
            <a:ext cx="1432499"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DEMO (1 FILE JAVA)</a:t>
            </a:r>
            <a:endParaRPr lang="en-US" sz="1000" dirty="0"/>
          </a:p>
        </p:txBody>
      </p:sp>
      <p:sp>
        <p:nvSpPr>
          <p:cNvPr id="7" name="Shape 5"/>
          <p:cNvSpPr/>
          <p:nvPr/>
        </p:nvSpPr>
        <p:spPr>
          <a:xfrm>
            <a:off x="5008717" y="1347368"/>
            <a:ext cx="6522598" cy="422270"/>
          </a:xfrm>
          <a:prstGeom prst="rect">
            <a:avLst/>
          </a:prstGeom>
          <a:solidFill>
            <a:srgbClr val="ECF2FF"/>
          </a:solidFill>
          <a:ln/>
        </p:spPr>
      </p:sp>
      <p:sp>
        <p:nvSpPr>
          <p:cNvPr id="8" name="Text 6"/>
          <p:cNvSpPr txBox="1"/>
          <p:nvPr/>
        </p:nvSpPr>
        <p:spPr>
          <a:xfrm>
            <a:off x="5173858" y="1479408"/>
            <a:ext cx="2356409" cy="190470"/>
          </a:xfrm>
          <a:prstGeom prst="rect">
            <a:avLst/>
          </a:prstGeom>
          <a:noFill/>
          <a:ln/>
        </p:spPr>
        <p:txBody>
          <a:bodyPr wrap="square" lIns="0" tIns="0" rIns="0" bIns="0" rtlCol="0" anchor="ctr"/>
          <a:lstStyle/>
          <a:p>
            <a:pPr algn="l" indent="0" marL="0">
              <a:buNone/>
            </a:pPr>
            <a:r>
              <a:rPr lang="en-US" sz="1000" b="1" dirty="0">
                <a:solidFill>
                  <a:srgbClr val="0066FF"/>
                </a:solidFill>
                <a:latin typeface="Arial" pitchFamily="34" charset="0"/>
                <a:ea typeface="Arial" pitchFamily="34" charset="-122"/>
                <a:cs typeface="Arial" pitchFamily="34" charset="-120"/>
              </a:rPr>
              <a:t>HỆ THỐNG MICROSERVICE THẬT</a:t>
            </a:r>
            <a:endParaRPr lang="en-US" sz="1000" dirty="0"/>
          </a:p>
        </p:txBody>
      </p:sp>
      <p:sp>
        <p:nvSpPr>
          <p:cNvPr id="9" name="Shape 7"/>
          <p:cNvSpPr/>
          <p:nvPr/>
        </p:nvSpPr>
        <p:spPr>
          <a:xfrm>
            <a:off x="660380" y="1769638"/>
            <a:ext cx="4348338" cy="6309"/>
          </a:xfrm>
          <a:prstGeom prst="rect">
            <a:avLst/>
          </a:prstGeom>
          <a:solidFill>
            <a:srgbClr val="E3E6EA"/>
          </a:solidFill>
          <a:ln/>
        </p:spPr>
      </p:sp>
      <p:sp>
        <p:nvSpPr>
          <p:cNvPr id="10" name="Text 8"/>
          <p:cNvSpPr txBox="1"/>
          <p:nvPr/>
        </p:nvSpPr>
        <p:spPr>
          <a:xfrm>
            <a:off x="800100" y="1873606"/>
            <a:ext cx="2027865"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Map ORDERS trong bộ nhớ</a:t>
            </a:r>
            <a:endParaRPr lang="en-US" sz="1150" dirty="0"/>
          </a:p>
        </p:txBody>
      </p:sp>
      <p:sp>
        <p:nvSpPr>
          <p:cNvPr id="11" name="Shape 9"/>
          <p:cNvSpPr/>
          <p:nvPr/>
        </p:nvSpPr>
        <p:spPr>
          <a:xfrm>
            <a:off x="5008717" y="1769638"/>
            <a:ext cx="6522598" cy="6309"/>
          </a:xfrm>
          <a:prstGeom prst="rect">
            <a:avLst/>
          </a:prstGeom>
          <a:solidFill>
            <a:srgbClr val="E3E6EA"/>
          </a:solidFill>
          <a:ln/>
        </p:spPr>
      </p:sp>
      <p:sp>
        <p:nvSpPr>
          <p:cNvPr id="12" name="Text 10"/>
          <p:cNvSpPr txBox="1"/>
          <p:nvPr/>
        </p:nvSpPr>
        <p:spPr>
          <a:xfrm>
            <a:off x="5148438" y="1865285"/>
            <a:ext cx="4095963"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Database riêng của Payment Service, </a:t>
            </a:r>
            <a:pPr algn="l" indent="0" marL="0">
              <a:buNone/>
            </a:pPr>
            <a:r>
              <a:rPr lang="en-US" sz="1200" dirty="0">
                <a:solidFill>
                  <a:srgbClr val="3F454D"/>
                </a:solidFill>
                <a:latin typeface="Courier New" pitchFamily="34" charset="0"/>
                <a:ea typeface="Courier New" pitchFamily="34" charset="-122"/>
                <a:cs typeface="Courier New" pitchFamily="34" charset="-120"/>
              </a:rPr>
              <a:t>UNIQUE(txn_ref)</a:t>
            </a:r>
            <a:endParaRPr lang="en-US" sz="1150" dirty="0"/>
          </a:p>
        </p:txBody>
      </p:sp>
      <p:sp>
        <p:nvSpPr>
          <p:cNvPr id="13" name="Shape 11"/>
          <p:cNvSpPr/>
          <p:nvPr/>
        </p:nvSpPr>
        <p:spPr>
          <a:xfrm>
            <a:off x="660380" y="2163288"/>
            <a:ext cx="4348338" cy="6309"/>
          </a:xfrm>
          <a:prstGeom prst="rect">
            <a:avLst/>
          </a:prstGeom>
          <a:solidFill>
            <a:srgbClr val="E3E6EA"/>
          </a:solidFill>
          <a:ln/>
        </p:spPr>
      </p:sp>
      <p:sp>
        <p:nvSpPr>
          <p:cNvPr id="14" name="Text 12"/>
          <p:cNvSpPr txBox="1"/>
          <p:nvPr/>
        </p:nvSpPr>
        <p:spPr>
          <a:xfrm>
            <a:off x="800100" y="2259300"/>
            <a:ext cx="1017636"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synchronized</a:t>
            </a:r>
            <a:endParaRPr lang="en-US" sz="1150" dirty="0"/>
          </a:p>
        </p:txBody>
      </p:sp>
      <p:sp>
        <p:nvSpPr>
          <p:cNvPr id="15" name="Shape 13"/>
          <p:cNvSpPr/>
          <p:nvPr/>
        </p:nvSpPr>
        <p:spPr>
          <a:xfrm>
            <a:off x="5008717" y="2163288"/>
            <a:ext cx="6522598" cy="6309"/>
          </a:xfrm>
          <a:prstGeom prst="rect">
            <a:avLst/>
          </a:prstGeom>
          <a:solidFill>
            <a:srgbClr val="E3E6EA"/>
          </a:solidFill>
          <a:ln/>
        </p:spPr>
      </p:sp>
      <p:sp>
        <p:nvSpPr>
          <p:cNvPr id="16" name="Text 14"/>
          <p:cNvSpPr txBox="1"/>
          <p:nvPr/>
        </p:nvSpPr>
        <p:spPr>
          <a:xfrm>
            <a:off x="5148438" y="2259300"/>
            <a:ext cx="3160989"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Transaction hoặc optimistic lock của database</a:t>
            </a:r>
            <a:endParaRPr lang="en-US" sz="1150" dirty="0"/>
          </a:p>
        </p:txBody>
      </p:sp>
      <p:sp>
        <p:nvSpPr>
          <p:cNvPr id="17" name="Shape 15"/>
          <p:cNvSpPr/>
          <p:nvPr/>
        </p:nvSpPr>
        <p:spPr>
          <a:xfrm>
            <a:off x="660380" y="2541118"/>
            <a:ext cx="4348338" cy="6309"/>
          </a:xfrm>
          <a:prstGeom prst="rect">
            <a:avLst/>
          </a:prstGeom>
          <a:solidFill>
            <a:srgbClr val="E3E6EA"/>
          </a:solidFill>
          <a:ln/>
        </p:spPr>
      </p:sp>
      <p:sp>
        <p:nvSpPr>
          <p:cNvPr id="18" name="Text 16"/>
          <p:cNvSpPr txBox="1"/>
          <p:nvPr/>
        </p:nvSpPr>
        <p:spPr>
          <a:xfrm>
            <a:off x="800100" y="2645085"/>
            <a:ext cx="1209477"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Ghi log khi PAID</a:t>
            </a:r>
            <a:endParaRPr lang="en-US" sz="1150" dirty="0"/>
          </a:p>
        </p:txBody>
      </p:sp>
      <p:sp>
        <p:nvSpPr>
          <p:cNvPr id="19" name="Shape 17"/>
          <p:cNvSpPr/>
          <p:nvPr/>
        </p:nvSpPr>
        <p:spPr>
          <a:xfrm>
            <a:off x="5008717" y="2541118"/>
            <a:ext cx="6522598" cy="6309"/>
          </a:xfrm>
          <a:prstGeom prst="rect">
            <a:avLst/>
          </a:prstGeom>
          <a:solidFill>
            <a:srgbClr val="E3E6EA"/>
          </a:solidFill>
          <a:ln/>
        </p:spPr>
      </p:sp>
      <p:sp>
        <p:nvSpPr>
          <p:cNvPr id="20" name="Text 18"/>
          <p:cNvSpPr txBox="1"/>
          <p:nvPr/>
        </p:nvSpPr>
        <p:spPr>
          <a:xfrm>
            <a:off x="5148438" y="2636764"/>
            <a:ext cx="372087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Phát event </a:t>
            </a:r>
            <a:pPr algn="l" indent="0" marL="0">
              <a:buNone/>
            </a:pPr>
            <a:r>
              <a:rPr lang="en-US" sz="1200" dirty="0">
                <a:solidFill>
                  <a:srgbClr val="3F454D"/>
                </a:solidFill>
                <a:latin typeface="Courier New" pitchFamily="34" charset="0"/>
                <a:ea typeface="Courier New" pitchFamily="34" charset="-122"/>
                <a:cs typeface="Courier New" pitchFamily="34" charset="-120"/>
              </a:rPr>
              <a:t>OrderPaid</a:t>
            </a:r>
            <a:pPr algn="l" indent="0" marL="0">
              <a:buNone/>
            </a:pPr>
            <a:r>
              <a:rPr lang="en-US" sz="1150" dirty="0">
                <a:solidFill>
                  <a:srgbClr val="3F454D"/>
                </a:solidFill>
                <a:latin typeface="Arial" pitchFamily="34" charset="0"/>
                <a:ea typeface="Arial" pitchFamily="34" charset="-122"/>
                <a:cs typeface="Arial" pitchFamily="34" charset="-120"/>
              </a:rPr>
              <a:t> qua message broker (outbox)</a:t>
            </a:r>
            <a:endParaRPr lang="en-US" sz="1150" dirty="0"/>
          </a:p>
        </p:txBody>
      </p:sp>
      <p:sp>
        <p:nvSpPr>
          <p:cNvPr id="21" name="Shape 19"/>
          <p:cNvSpPr/>
          <p:nvPr/>
        </p:nvSpPr>
        <p:spPr>
          <a:xfrm>
            <a:off x="660380" y="2934858"/>
            <a:ext cx="4348338" cy="6309"/>
          </a:xfrm>
          <a:prstGeom prst="rect">
            <a:avLst/>
          </a:prstGeom>
          <a:solidFill>
            <a:srgbClr val="E3E6EA"/>
          </a:solidFill>
          <a:ln/>
        </p:spPr>
      </p:sp>
      <p:sp>
        <p:nvSpPr>
          <p:cNvPr id="22" name="Text 20"/>
          <p:cNvSpPr txBox="1"/>
          <p:nvPr/>
        </p:nvSpPr>
        <p:spPr>
          <a:xfrm>
            <a:off x="800100" y="3030870"/>
            <a:ext cx="2133295"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querydr khi trang kết quả hỏi</a:t>
            </a:r>
            <a:endParaRPr lang="en-US" sz="1150" dirty="0"/>
          </a:p>
        </p:txBody>
      </p:sp>
      <p:sp>
        <p:nvSpPr>
          <p:cNvPr id="23" name="Shape 21"/>
          <p:cNvSpPr/>
          <p:nvPr/>
        </p:nvSpPr>
        <p:spPr>
          <a:xfrm>
            <a:off x="5008717" y="2934858"/>
            <a:ext cx="6522598" cy="6309"/>
          </a:xfrm>
          <a:prstGeom prst="rect">
            <a:avLst/>
          </a:prstGeom>
          <a:solidFill>
            <a:srgbClr val="E3E6EA"/>
          </a:solidFill>
          <a:ln/>
        </p:spPr>
      </p:sp>
      <p:sp>
        <p:nvSpPr>
          <p:cNvPr id="24" name="Text 22"/>
          <p:cNvSpPr txBox="1"/>
          <p:nvPr/>
        </p:nvSpPr>
        <p:spPr>
          <a:xfrm>
            <a:off x="5148438" y="3030870"/>
            <a:ext cx="3053364"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Job định kỳ quét đơn PENDING quá 15 phút</a:t>
            </a:r>
            <a:endParaRPr lang="en-US" sz="1150" dirty="0"/>
          </a:p>
        </p:txBody>
      </p:sp>
      <p:sp>
        <p:nvSpPr>
          <p:cNvPr id="25" name="Shape 23"/>
          <p:cNvSpPr/>
          <p:nvPr/>
        </p:nvSpPr>
        <p:spPr>
          <a:xfrm>
            <a:off x="660380" y="3312597"/>
            <a:ext cx="4348338" cy="6309"/>
          </a:xfrm>
          <a:prstGeom prst="rect">
            <a:avLst/>
          </a:prstGeom>
          <a:solidFill>
            <a:srgbClr val="E3E6EA"/>
          </a:solidFill>
          <a:ln/>
        </p:spPr>
      </p:sp>
      <p:sp>
        <p:nvSpPr>
          <p:cNvPr id="26" name="Text 24"/>
          <p:cNvSpPr txBox="1"/>
          <p:nvPr/>
        </p:nvSpPr>
        <p:spPr>
          <a:xfrm>
            <a:off x="800100" y="3408609"/>
            <a:ext cx="481889"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ngrok</a:t>
            </a:r>
            <a:endParaRPr lang="en-US" sz="1150" dirty="0"/>
          </a:p>
        </p:txBody>
      </p:sp>
      <p:sp>
        <p:nvSpPr>
          <p:cNvPr id="27" name="Shape 25"/>
          <p:cNvSpPr/>
          <p:nvPr/>
        </p:nvSpPr>
        <p:spPr>
          <a:xfrm>
            <a:off x="5008717" y="3312597"/>
            <a:ext cx="6522598" cy="6309"/>
          </a:xfrm>
          <a:prstGeom prst="rect">
            <a:avLst/>
          </a:prstGeom>
          <a:solidFill>
            <a:srgbClr val="E3E6EA"/>
          </a:solidFill>
          <a:ln/>
        </p:spPr>
      </p:sp>
      <p:sp>
        <p:nvSpPr>
          <p:cNvPr id="28" name="Text 26"/>
          <p:cNvSpPr txBox="1"/>
          <p:nvPr/>
        </p:nvSpPr>
        <p:spPr>
          <a:xfrm>
            <a:off x="5148438" y="3408609"/>
            <a:ext cx="3183575"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API Gateway hoặc Ingress, domain và HTTPS</a:t>
            </a:r>
            <a:endParaRPr lang="en-US" sz="1150" dirty="0"/>
          </a:p>
        </p:txBody>
      </p:sp>
      <p:sp>
        <p:nvSpPr>
          <p:cNvPr id="29" name="Shape 27"/>
          <p:cNvSpPr/>
          <p:nvPr/>
        </p:nvSpPr>
        <p:spPr>
          <a:xfrm>
            <a:off x="660380" y="3690427"/>
            <a:ext cx="4348338" cy="6309"/>
          </a:xfrm>
          <a:prstGeom prst="rect">
            <a:avLst/>
          </a:prstGeom>
          <a:solidFill>
            <a:srgbClr val="E3E6EA"/>
          </a:solidFill>
          <a:ln/>
        </p:spPr>
      </p:sp>
      <p:sp>
        <p:nvSpPr>
          <p:cNvPr id="30" name="Text 28"/>
          <p:cNvSpPr txBox="1"/>
          <p:nvPr/>
        </p:nvSpPr>
        <p:spPr>
          <a:xfrm>
            <a:off x="800100" y="3786439"/>
            <a:ext cx="1227033"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Biến môi trường</a:t>
            </a:r>
            <a:endParaRPr lang="en-US" sz="1150" dirty="0"/>
          </a:p>
        </p:txBody>
      </p:sp>
      <p:sp>
        <p:nvSpPr>
          <p:cNvPr id="31" name="Shape 29"/>
          <p:cNvSpPr/>
          <p:nvPr/>
        </p:nvSpPr>
        <p:spPr>
          <a:xfrm>
            <a:off x="5008717" y="3690427"/>
            <a:ext cx="6522598" cy="6309"/>
          </a:xfrm>
          <a:prstGeom prst="rect">
            <a:avLst/>
          </a:prstGeom>
          <a:solidFill>
            <a:srgbClr val="E3E6EA"/>
          </a:solidFill>
          <a:ln/>
        </p:spPr>
      </p:sp>
      <p:sp>
        <p:nvSpPr>
          <p:cNvPr id="32" name="Text 30"/>
          <p:cNvSpPr txBox="1"/>
          <p:nvPr/>
        </p:nvSpPr>
        <p:spPr>
          <a:xfrm>
            <a:off x="5148438" y="3786439"/>
            <a:ext cx="2045330"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Vault hoặc Kubernetes Secret</a:t>
            </a:r>
            <a:endParaRPr lang="en-US" sz="1150" dirty="0"/>
          </a:p>
        </p:txBody>
      </p:sp>
      <p:sp>
        <p:nvSpPr>
          <p:cNvPr id="33" name="Shape 31"/>
          <p:cNvSpPr/>
          <p:nvPr/>
        </p:nvSpPr>
        <p:spPr>
          <a:xfrm>
            <a:off x="660380" y="4068257"/>
            <a:ext cx="4348338" cy="6309"/>
          </a:xfrm>
          <a:prstGeom prst="rect">
            <a:avLst/>
          </a:prstGeom>
          <a:solidFill>
            <a:srgbClr val="E3E6EA"/>
          </a:solidFill>
          <a:ln/>
        </p:spPr>
      </p:sp>
      <p:sp>
        <p:nvSpPr>
          <p:cNvPr id="34" name="Text 32"/>
          <p:cNvSpPr txBox="1"/>
          <p:nvPr/>
        </p:nvSpPr>
        <p:spPr>
          <a:xfrm>
            <a:off x="800100" y="4164269"/>
            <a:ext cx="1196492"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IpAddr 127.0.0.1</a:t>
            </a:r>
            <a:endParaRPr lang="en-US" sz="1150" dirty="0"/>
          </a:p>
        </p:txBody>
      </p:sp>
      <p:sp>
        <p:nvSpPr>
          <p:cNvPr id="35" name="Shape 33"/>
          <p:cNvSpPr/>
          <p:nvPr/>
        </p:nvSpPr>
        <p:spPr>
          <a:xfrm>
            <a:off x="5008717" y="4068257"/>
            <a:ext cx="6522598" cy="6309"/>
          </a:xfrm>
          <a:prstGeom prst="rect">
            <a:avLst/>
          </a:prstGeom>
          <a:solidFill>
            <a:srgbClr val="E3E6EA"/>
          </a:solidFill>
          <a:ln/>
        </p:spPr>
      </p:sp>
      <p:sp>
        <p:nvSpPr>
          <p:cNvPr id="36" name="Text 34"/>
          <p:cNvSpPr txBox="1"/>
          <p:nvPr/>
        </p:nvSpPr>
        <p:spPr>
          <a:xfrm>
            <a:off x="5148438" y="4164269"/>
            <a:ext cx="2966405"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IP thật của khách qua header của Gateway</a:t>
            </a:r>
            <a:endParaRPr lang="en-US" sz="1150" dirty="0"/>
          </a:p>
        </p:txBody>
      </p:sp>
      <p:sp>
        <p:nvSpPr>
          <p:cNvPr id="37" name="Shape 35"/>
          <p:cNvSpPr/>
          <p:nvPr/>
        </p:nvSpPr>
        <p:spPr>
          <a:xfrm>
            <a:off x="660380" y="4446087"/>
            <a:ext cx="4348338" cy="6309"/>
          </a:xfrm>
          <a:prstGeom prst="rect">
            <a:avLst/>
          </a:prstGeom>
          <a:solidFill>
            <a:srgbClr val="E3E6EA"/>
          </a:solidFill>
          <a:ln/>
        </p:spPr>
      </p:sp>
      <p:sp>
        <p:nvSpPr>
          <p:cNvPr id="38" name="Text 36"/>
          <p:cNvSpPr txBox="1"/>
          <p:nvPr/>
        </p:nvSpPr>
        <p:spPr>
          <a:xfrm>
            <a:off x="800100" y="4542099"/>
            <a:ext cx="2943088" cy="219090"/>
          </a:xfrm>
          <a:prstGeom prst="rect">
            <a:avLst/>
          </a:prstGeom>
          <a:noFill/>
          <a:ln/>
        </p:spPr>
        <p:txBody>
          <a:bodyPr wrap="square" lIns="0" tIns="0" rIns="0" bIns="0" rtlCol="0" anchor="ctr"/>
          <a:lstStyle/>
          <a:p>
            <a:pPr algn="l" indent="0" marL="0">
              <a:buNone/>
            </a:pPr>
            <a:r>
              <a:rPr lang="en-US" sz="1150" b="1" dirty="0">
                <a:solidFill>
                  <a:srgbClr val="111111"/>
                </a:solidFill>
                <a:latin typeface="Arial" pitchFamily="34" charset="0"/>
                <a:ea typeface="Arial" pitchFamily="34" charset="-122"/>
                <a:cs typeface="Arial" pitchFamily="34" charset="-120"/>
              </a:rPr>
              <a:t>Chưa kiểm tra chữ ký response querydr</a:t>
            </a:r>
            <a:endParaRPr lang="en-US" sz="1150" dirty="0"/>
          </a:p>
        </p:txBody>
      </p:sp>
      <p:sp>
        <p:nvSpPr>
          <p:cNvPr id="39" name="Shape 37"/>
          <p:cNvSpPr/>
          <p:nvPr/>
        </p:nvSpPr>
        <p:spPr>
          <a:xfrm>
            <a:off x="5008717" y="4446087"/>
            <a:ext cx="6522598" cy="6309"/>
          </a:xfrm>
          <a:prstGeom prst="rect">
            <a:avLst/>
          </a:prstGeom>
          <a:solidFill>
            <a:srgbClr val="E3E6EA"/>
          </a:solidFill>
          <a:ln/>
        </p:spPr>
      </p:sp>
      <p:sp>
        <p:nvSpPr>
          <p:cNvPr id="40" name="Text 38"/>
          <p:cNvSpPr txBox="1"/>
          <p:nvPr/>
        </p:nvSpPr>
        <p:spPr>
          <a:xfrm>
            <a:off x="5148438" y="4542099"/>
            <a:ext cx="2787366" cy="219090"/>
          </a:xfrm>
          <a:prstGeom prst="rect">
            <a:avLst/>
          </a:prstGeom>
          <a:noFill/>
          <a:ln/>
        </p:spPr>
        <p:txBody>
          <a:bodyPr wrap="square" lIns="0" tIns="0" rIns="0" bIns="0" rtlCol="0" anchor="ctr"/>
          <a:lstStyle/>
          <a:p>
            <a:pPr algn="l" indent="0" marL="0">
              <a:buNone/>
            </a:pPr>
            <a:r>
              <a:rPr lang="en-US" sz="1150" dirty="0">
                <a:solidFill>
                  <a:srgbClr val="3F454D"/>
                </a:solidFill>
                <a:latin typeface="Arial" pitchFamily="34" charset="0"/>
                <a:ea typeface="Arial" pitchFamily="34" charset="-122"/>
                <a:cs typeface="Arial" pitchFamily="34" charset="-120"/>
              </a:rPr>
              <a:t>Kiểm tra theo thứ tự trường trong tài liệu</a:t>
            </a:r>
            <a:endParaRPr lang="en-US" sz="1150" dirty="0"/>
          </a:p>
        </p:txBody>
      </p:sp>
      <p:sp>
        <p:nvSpPr>
          <p:cNvPr id="41" name="Text 39"/>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42" name="Text 40"/>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30</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423367"/>
            <a:ext cx="658277" cy="209580"/>
          </a:xfrm>
          <a:prstGeom prst="rect">
            <a:avLst/>
          </a:prstGeom>
          <a:noFill/>
          <a:ln/>
        </p:spPr>
        <p:txBody>
          <a:bodyPr wrap="square" lIns="0" tIns="0" rIns="0" bIns="0" rtlCol="0" anchor="ctr"/>
          <a:lstStyle/>
          <a:p>
            <a:pPr algn="l" indent="0" marL="0">
              <a:buNone/>
            </a:pPr>
            <a:r>
              <a:rPr lang="en-US" sz="1100" b="1" dirty="0">
                <a:solidFill>
                  <a:srgbClr val="0066FF"/>
                </a:solidFill>
                <a:latin typeface="Arial" pitchFamily="34" charset="0"/>
                <a:ea typeface="Arial" pitchFamily="34" charset="-122"/>
                <a:cs typeface="Arial" pitchFamily="34" charset="-120"/>
              </a:rPr>
              <a:t>Tổng kết</a:t>
            </a:r>
            <a:endParaRPr lang="en-US" sz="1100" dirty="0"/>
          </a:p>
        </p:txBody>
      </p:sp>
      <p:sp>
        <p:nvSpPr>
          <p:cNvPr id="3" name="Text 1"/>
          <p:cNvSpPr txBox="1"/>
          <p:nvPr/>
        </p:nvSpPr>
        <p:spPr>
          <a:xfrm>
            <a:off x="660380" y="643829"/>
            <a:ext cx="1401775" cy="426750"/>
          </a:xfrm>
          <a:prstGeom prst="rect">
            <a:avLst/>
          </a:prstGeom>
          <a:noFill/>
          <a:ln/>
        </p:spPr>
        <p:txBody>
          <a:bodyPr wrap="square" lIns="0" tIns="0" rIns="0" bIns="0" rtlCol="0" anchor="ctr"/>
          <a:lstStyle/>
          <a:p>
            <a:pPr algn="l" indent="0" marL="0">
              <a:buNone/>
            </a:pPr>
            <a:r>
              <a:rPr lang="en-US" sz="3000" b="1" dirty="0">
                <a:solidFill>
                  <a:srgbClr val="111111"/>
                </a:solidFill>
                <a:latin typeface="Arial" pitchFamily="34" charset="0"/>
                <a:ea typeface="Arial" pitchFamily="34" charset="-122"/>
                <a:cs typeface="Arial" pitchFamily="34" charset="-120"/>
              </a:rPr>
              <a:t>Tóm tắt</a:t>
            </a:r>
            <a:endParaRPr lang="en-US" sz="3000" dirty="0"/>
          </a:p>
        </p:txBody>
      </p:sp>
      <p:sp>
        <p:nvSpPr>
          <p:cNvPr id="4" name="Text 2"/>
          <p:cNvSpPr txBox="1"/>
          <p:nvPr/>
        </p:nvSpPr>
        <p:spPr>
          <a:xfrm>
            <a:off x="660380" y="1336670"/>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1.</a:t>
            </a:r>
            <a:endParaRPr lang="en-US" sz="1400" dirty="0"/>
          </a:p>
        </p:txBody>
      </p:sp>
      <p:sp>
        <p:nvSpPr>
          <p:cNvPr id="5" name="Text 3"/>
          <p:cNvSpPr txBox="1"/>
          <p:nvPr/>
        </p:nvSpPr>
        <p:spPr>
          <a:xfrm>
            <a:off x="965149" y="1368400"/>
            <a:ext cx="4788530"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Payment Service là service duy nhất giao tiếp với VNPAY</a:t>
            </a:r>
            <a:endParaRPr lang="en-US" sz="1400" dirty="0"/>
          </a:p>
        </p:txBody>
      </p:sp>
      <p:sp>
        <p:nvSpPr>
          <p:cNvPr id="6" name="Text 4"/>
          <p:cNvSpPr txBox="1"/>
          <p:nvPr/>
        </p:nvSpPr>
        <p:spPr>
          <a:xfrm>
            <a:off x="660380" y="1692280"/>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2.</a:t>
            </a:r>
            <a:endParaRPr lang="en-US" sz="1400" dirty="0"/>
          </a:p>
        </p:txBody>
      </p:sp>
      <p:sp>
        <p:nvSpPr>
          <p:cNvPr id="7" name="Text 5"/>
          <p:cNvSpPr txBox="1"/>
          <p:nvPr/>
        </p:nvSpPr>
        <p:spPr>
          <a:xfrm>
            <a:off x="965149" y="1724010"/>
            <a:ext cx="8106888"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Bốn kênh: link thanh toán (GET), ReturnURL (GET), IPN (GET, webhook), querydr (POST JSON)</a:t>
            </a:r>
            <a:endParaRPr lang="en-US" sz="1400" dirty="0"/>
          </a:p>
        </p:txBody>
      </p:sp>
      <p:sp>
        <p:nvSpPr>
          <p:cNvPr id="8" name="Text 6"/>
          <p:cNvSpPr txBox="1"/>
          <p:nvPr/>
        </p:nvSpPr>
        <p:spPr>
          <a:xfrm>
            <a:off x="660380" y="2047890"/>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3.</a:t>
            </a:r>
            <a:endParaRPr lang="en-US" sz="1400" dirty="0"/>
          </a:p>
        </p:txBody>
      </p:sp>
      <p:sp>
        <p:nvSpPr>
          <p:cNvPr id="9" name="Text 7"/>
          <p:cNvSpPr txBox="1"/>
          <p:nvPr/>
        </p:nvSpPr>
        <p:spPr>
          <a:xfrm>
            <a:off x="965149" y="2079620"/>
            <a:ext cx="5437388"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Tham số, định dạng, cách ký và mã phản hồi do VNPAY quy định</a:t>
            </a:r>
            <a:endParaRPr lang="en-US" sz="1400" dirty="0"/>
          </a:p>
        </p:txBody>
      </p:sp>
      <p:sp>
        <p:nvSpPr>
          <p:cNvPr id="10" name="Text 8"/>
          <p:cNvSpPr txBox="1"/>
          <p:nvPr/>
        </p:nvSpPr>
        <p:spPr>
          <a:xfrm>
            <a:off x="660380" y="2403500"/>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4.</a:t>
            </a:r>
            <a:endParaRPr lang="en-US" sz="1400" dirty="0"/>
          </a:p>
        </p:txBody>
      </p:sp>
      <p:sp>
        <p:nvSpPr>
          <p:cNvPr id="11" name="Text 9"/>
          <p:cNvSpPr txBox="1"/>
          <p:nvPr/>
        </p:nvSpPr>
        <p:spPr>
          <a:xfrm>
            <a:off x="965149" y="2435230"/>
            <a:ext cx="6546830"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Query string vì kênh 1, 2 là chuyển trang. JSON vì querydr là server gọi server</a:t>
            </a:r>
            <a:endParaRPr lang="en-US" sz="1400" dirty="0"/>
          </a:p>
        </p:txBody>
      </p:sp>
      <p:sp>
        <p:nvSpPr>
          <p:cNvPr id="12" name="Text 10"/>
          <p:cNvSpPr txBox="1"/>
          <p:nvPr/>
        </p:nvSpPr>
        <p:spPr>
          <a:xfrm>
            <a:off x="660380" y="2759019"/>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5.</a:t>
            </a:r>
            <a:endParaRPr lang="en-US" sz="1400" dirty="0"/>
          </a:p>
        </p:txBody>
      </p:sp>
      <p:sp>
        <p:nvSpPr>
          <p:cNvPr id="13" name="Text 11"/>
          <p:cNvSpPr txBox="1"/>
          <p:nvPr/>
        </p:nvSpPr>
        <p:spPr>
          <a:xfrm>
            <a:off x="965149" y="2790840"/>
            <a:ext cx="4092489"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Chỉ IPN và querydr được cập nhật trạng thái đơn</a:t>
            </a:r>
            <a:endParaRPr lang="en-US" sz="1400" dirty="0"/>
          </a:p>
        </p:txBody>
      </p:sp>
      <p:sp>
        <p:nvSpPr>
          <p:cNvPr id="14" name="Text 12"/>
          <p:cNvSpPr txBox="1"/>
          <p:nvPr/>
        </p:nvSpPr>
        <p:spPr>
          <a:xfrm>
            <a:off x="660380" y="3114629"/>
            <a:ext cx="368320" cy="266730"/>
          </a:xfrm>
          <a:prstGeom prst="rect">
            <a:avLst/>
          </a:prstGeom>
          <a:noFill/>
          <a:ln/>
        </p:spPr>
        <p:txBody>
          <a:bodyPr wrap="square" lIns="0" tIns="0" rIns="0" bIns="0" rtlCol="0" anchor="ctr"/>
          <a:lstStyle/>
          <a:p>
            <a:pPr algn="l" indent="0" marL="0">
              <a:buNone/>
            </a:pPr>
            <a:r>
              <a:rPr lang="en-US" sz="1400" b="1" dirty="0">
                <a:solidFill>
                  <a:srgbClr val="0066FF"/>
                </a:solidFill>
                <a:latin typeface="Arial" pitchFamily="34" charset="0"/>
                <a:ea typeface="Arial" pitchFamily="34" charset="-122"/>
                <a:cs typeface="Arial" pitchFamily="34" charset="-120"/>
              </a:rPr>
              <a:t>6.</a:t>
            </a:r>
            <a:endParaRPr lang="en-US" sz="1400" dirty="0"/>
          </a:p>
        </p:txBody>
      </p:sp>
      <p:sp>
        <p:nvSpPr>
          <p:cNvPr id="15" name="Text 13"/>
          <p:cNvSpPr txBox="1"/>
          <p:nvPr/>
        </p:nvSpPr>
        <p:spPr>
          <a:xfrm>
            <a:off x="965149" y="3146359"/>
            <a:ext cx="5425684" cy="266730"/>
          </a:xfrm>
          <a:prstGeom prst="rect">
            <a:avLst/>
          </a:prstGeom>
          <a:noFill/>
          <a:ln/>
        </p:spPr>
        <p:txBody>
          <a:bodyPr wrap="square" lIns="0" tIns="0" rIns="0" bIns="0" rtlCol="0" anchor="ctr"/>
          <a:lstStyle/>
          <a:p>
            <a:pPr algn="l" indent="0" marL="0">
              <a:buNone/>
            </a:pPr>
            <a:r>
              <a:rPr lang="en-US" sz="1400" dirty="0">
                <a:solidFill>
                  <a:srgbClr val="3F454D"/>
                </a:solidFill>
                <a:latin typeface="Arial" pitchFamily="34" charset="0"/>
                <a:ea typeface="Arial" pitchFamily="34" charset="-122"/>
                <a:cs typeface="Arial" pitchFamily="34" charset="-120"/>
              </a:rPr>
              <a:t>Lưu đơn, khoá, secret, event là phần mình thiết kế theo hệ thống</a:t>
            </a:r>
            <a:endParaRPr lang="en-US" sz="1400" dirty="0"/>
          </a:p>
        </p:txBody>
      </p:sp>
      <p:sp>
        <p:nvSpPr>
          <p:cNvPr id="16" name="Text 14"/>
          <p:cNvSpPr txBox="1"/>
          <p:nvPr/>
        </p:nvSpPr>
        <p:spPr>
          <a:xfrm>
            <a:off x="660380" y="6472763"/>
            <a:ext cx="2402769"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Seminar VNPAY Sandbox – Lê Minh Đăng</a:t>
            </a:r>
            <a:endParaRPr lang="en-US" sz="950" dirty="0"/>
          </a:p>
        </p:txBody>
      </p:sp>
      <p:sp>
        <p:nvSpPr>
          <p:cNvPr id="17" name="Text 15"/>
          <p:cNvSpPr txBox="1"/>
          <p:nvPr/>
        </p:nvSpPr>
        <p:spPr>
          <a:xfrm>
            <a:off x="11397082" y="6472763"/>
            <a:ext cx="210403" cy="180960"/>
          </a:xfrm>
          <a:prstGeom prst="rect">
            <a:avLst/>
          </a:prstGeom>
          <a:noFill/>
          <a:ln/>
        </p:spPr>
        <p:txBody>
          <a:bodyPr wrap="square" lIns="0" tIns="0" rIns="0" bIns="0" rtlCol="0" anchor="ctr"/>
          <a:lstStyle/>
          <a:p>
            <a:pPr algn="l" indent="0" marL="0">
              <a:buNone/>
            </a:pPr>
            <a:r>
              <a:rPr lang="en-US" sz="950" dirty="0">
                <a:solidFill>
                  <a:srgbClr val="6B7280"/>
                </a:solidFill>
                <a:latin typeface="Arial" pitchFamily="34" charset="0"/>
                <a:ea typeface="Arial" pitchFamily="34" charset="-122"/>
                <a:cs typeface="Arial" pitchFamily="34" charset="-120"/>
              </a:rPr>
              <a:t>31</a:t>
            </a:r>
            <a:endParaRPr lang="en-US" sz="9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8F9FA"/>
        </a:solidFill>
      </p:bgPr>
    </p:bg>
    <p:spTree>
      <p:nvGrpSpPr>
        <p:cNvPr id="1" name=""/>
        <p:cNvGrpSpPr/>
        <p:nvPr/>
      </p:nvGrpSpPr>
      <p:grpSpPr>
        <a:xfrm>
          <a:off x="0" y="0"/>
          <a:ext cx="0" cy="0"/>
          <a:chOff x="0" y="0"/>
          <a:chExt cx="0" cy="0"/>
        </a:xfrm>
      </p:grpSpPr>
      <p:sp>
        <p:nvSpPr>
          <p:cNvPr id="2" name="Text 0"/>
          <p:cNvSpPr txBox="1"/>
          <p:nvPr/>
        </p:nvSpPr>
        <p:spPr>
          <a:xfrm>
            <a:off x="660380" y="2406335"/>
            <a:ext cx="9226753" cy="654253"/>
          </a:xfrm>
          <a:prstGeom prst="rect">
            <a:avLst/>
          </a:prstGeom>
          <a:noFill/>
          <a:ln/>
        </p:spPr>
        <p:txBody>
          <a:bodyPr wrap="square" lIns="0" tIns="0" rIns="0" bIns="0" rtlCol="0" anchor="ctr"/>
          <a:lstStyle/>
          <a:p>
            <a:pPr algn="l" indent="0" marL="0">
              <a:buNone/>
            </a:pPr>
            <a:r>
              <a:rPr lang="en-US" sz="4600" b="1" dirty="0">
                <a:solidFill>
                  <a:srgbClr val="111111"/>
                </a:solidFill>
                <a:latin typeface="Arial" pitchFamily="34" charset="0"/>
                <a:ea typeface="Arial" pitchFamily="34" charset="-122"/>
                <a:cs typeface="Arial" pitchFamily="34" charset="-120"/>
              </a:rPr>
              <a:t>Cảm ơn mọi người đã lắng nghe</a:t>
            </a:r>
            <a:endParaRPr lang="en-US" sz="4600" dirty="0"/>
          </a:p>
        </p:txBody>
      </p:sp>
      <p:sp>
        <p:nvSpPr>
          <p:cNvPr id="3" name="Text 1"/>
          <p:cNvSpPr txBox="1"/>
          <p:nvPr/>
        </p:nvSpPr>
        <p:spPr>
          <a:xfrm>
            <a:off x="660380" y="3300070"/>
            <a:ext cx="732800" cy="285750"/>
          </a:xfrm>
          <a:prstGeom prst="rect">
            <a:avLst/>
          </a:prstGeom>
          <a:noFill/>
          <a:ln/>
        </p:spPr>
        <p:txBody>
          <a:bodyPr wrap="square" lIns="0" tIns="0" rIns="0" bIns="0" rtlCol="0" anchor="ctr"/>
          <a:lstStyle/>
          <a:p>
            <a:pPr algn="l" indent="0" marL="0">
              <a:buNone/>
            </a:pPr>
            <a:r>
              <a:rPr lang="en-US" sz="1500" dirty="0">
                <a:solidFill>
                  <a:srgbClr val="3F454D"/>
                </a:solidFill>
                <a:latin typeface="Arial" pitchFamily="34" charset="0"/>
                <a:ea typeface="Arial" pitchFamily="34" charset="-122"/>
                <a:cs typeface="Arial" pitchFamily="34" charset="-120"/>
              </a:rPr>
              <a:t>Hỏi đáp</a:t>
            </a:r>
            <a:endParaRPr lang="en-US" sz="1500" dirty="0"/>
          </a:p>
        </p:txBody>
      </p:sp>
      <p:sp>
        <p:nvSpPr>
          <p:cNvPr id="4" name="Text 2"/>
          <p:cNvSpPr txBox="1"/>
          <p:nvPr/>
        </p:nvSpPr>
        <p:spPr>
          <a:xfrm>
            <a:off x="660380" y="3981023"/>
            <a:ext cx="4114891" cy="247620"/>
          </a:xfrm>
          <a:prstGeom prst="rect">
            <a:avLst/>
          </a:prstGeom>
          <a:noFill/>
          <a:ln/>
        </p:spPr>
        <p:txBody>
          <a:bodyPr wrap="square" lIns="0" tIns="0" rIns="0" bIns="0" rtlCol="0" anchor="ctr"/>
          <a:lstStyle/>
          <a:p>
            <a:pPr algn="l" indent="0" marL="0">
              <a:buNone/>
            </a:pPr>
            <a:r>
              <a:rPr lang="en-US" sz="1300" dirty="0">
                <a:solidFill>
                  <a:srgbClr val="6B7280"/>
                </a:solidFill>
                <a:latin typeface="Arial" pitchFamily="34" charset="0"/>
                <a:ea typeface="Arial" pitchFamily="34" charset="-122"/>
                <a:cs typeface="Arial" pitchFamily="34" charset="-120"/>
              </a:rPr>
              <a:t>Tài liệu tham khảo: sandbox.vnpayment.vn/apis/docs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32</Slides>
  <Notes>32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Tích hợp VNPAY Sandbox</dc:title>
  <dc:subject>PptxGenJS Presentation</dc:subject>
  <dc:creator>Lê Minh Đăng</dc:creator>
  <cp:lastModifiedBy>Lê Minh Đăng</cp:lastModifiedBy>
  <cp:revision>1</cp:revision>
  <dcterms:created xsi:type="dcterms:W3CDTF">2026-10-10T09:26:24Z</dcterms:created>
  <dcterms:modified xsi:type="dcterms:W3CDTF">2026-10-10T09:26:24Z</dcterms:modified>
</cp:coreProperties>
</file>