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xem ai đã tải file và chạy thử chưa. Ai chưa có thì lấy trong thư mục Drive.</a:t>
            </a:r>
          </a:p>
          <a:p>
            <a:r>
              <a:t>Nhắc: cần JDK 17 trở lên, không cần Maven.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một câu thôi: VNPAY không có SDK, chỉ là redirect cộng một chữ ký.</a:t>
            </a:r>
          </a:p>
          <a:p>
            <a:r>
              <a:t>Nếu lớp hỏi PCI-DSS là gì thì nói ngắn: bộ chuẩn bảo mật cho ai chạm vào dữ liệu thẻ, tự lưu số thẻ là phải tuân thủ, rất tốn kém.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Ném câu hỏi này cho lớp trước khi sang slide sau:</a:t>
            </a:r>
          </a:p>
          <a:p>
            <a:r>
              <a:t>  Sao không cộng tiền luôn ở ReturnURL cho nhanh?</a:t>
            </a:r>
          </a:p>
          <a:p/>
          <a:p>
            <a:r>
              <a:t>Câu trả lời: đó là URL trên trình duyệt của khách, sửa vnp_ResponseCode=00 là mua hàng miễn phí. Thêm nữa, khách tắt tab ngay sau khi trả tiền thì ReturnURL không bao giờ về, mình mất đơn đã thu tiền. IPN là kênh server gọi server và có retry.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rõ nhịp: mỗi TODO vài phút, ai gõ không kịp cứ xem, cuối buổi có bản làm xong.</a:t>
            </a:r>
          </a:p>
          <a:p>
            <a:r>
              <a:t>Bảo cả lớp mở file ra ngay bây giờ, tìm chữ TODO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lớp đã có TmnCode và HashSecret trong email chưa. Ai chưa có thì ngồi xem cùng bạn bên cạnh.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phần dừng lâu nhất. Đọc chậm ba bước rồi mới chiếu code.</a:t>
            </a:r>
          </a:p>
          <a:p>
            <a:r>
              <a:t>Nếu ai hỏi vì sao phải hex chữ thường: vì VNPAY so chuỗi, hoa thường khác nhau.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Chỉ tay vào hai dòng URLEncoder. Nhấn: encode phần giá trị, không phải tên tham số.</a:t>
            </a:r>
          </a:p>
          <a:p>
            <a:r>
              <a:t>Hỏi lớp: nội dung đơn hàng có dấu cách thì chuyện gì xảy ra nếu quên encode?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chỗ remove vnp_SecureHash. Nhiều người quên và ngồi tìm bug cả buổi.</a:t>
            </a:r>
          </a:p>
          <a:p>
            <a:r>
              <a:t>Nói thêm: servlet đã decode sẵn nên lúc verify phải encode lại.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Nhắc lại con số 100. Viết lên bảng: 25.000đ thành 2500000.</a:t>
            </a:r>
          </a:p>
          <a:p>
            <a:r>
              <a:t>Chuyện Etc/GMT+7 nên kể như một câu chuyện, vì nó nằm trong code mẫu của chính VNPAY.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 lớp 3 phút tự chạy. Đi quanh lớp xem ai kẹt.</a:t>
            </a:r>
          </a:p>
          <a:p>
            <a:r>
              <a:t>Quá nửa lớp không sang được trang VNPAY thì gửi luôn bản làm xong vào group rồi đi tiếp.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Bảo cả lớp mở ngrok ngay lúc này, vì địa chỉ đổi mỗi lần chạy lại.</a:t>
            </a:r>
          </a:p>
          <a:p>
            <a:r>
              <a:t>Ai chưa gắn authtoken thì giờ mới lòi ra, xử lý luôn.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chữ idempotent. Hỏi lớp: nếu VNPAY gọi lại lần hai mà mình cộng tiền tiếp thì sao?</a:t>
            </a:r>
          </a:p>
          <a:p>
            <a:r>
              <a:t>Mã trả về nên đọc to từng cái: 97, 01, 04, 02, 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Chỉ vào chỗ không có dòng nào đổi trạng thái đơn. Đó mới là ý chính của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Kể thật chuyện portal sandbox hỏng lúc mình dựng bài. Phần này lớp nhớ lâu nhất.</a:t>
            </a:r>
          </a:p>
          <a:p>
            <a:r>
              <a:t>Nhắc: hash của querydr nối bằng dấu gạch đứng, không sort alphabet. Copy nhầm hàm ký là fail.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sẵn cửa sổ terminal trước khi chiếu slide này để chỉ vào dòng log thật.</a:t>
            </a:r>
          </a:p>
          <a:p>
            <a:r>
              <a:t>Mạng trục trặc thì chạy demo-local.sh, diễn được cả ba ca mà không cần internet.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này nói nhanh, chủ yếu để lớp biết đường mang về đồ án.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Đọc lướt sáu dòng, dừng lại ở dòng so số tiền và dòng idempotent.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câu hay bị hỏi, chuẩn bị sẵn:</a:t>
            </a:r>
          </a:p>
          <a:p/>
          <a:p>
            <a:r>
              <a:t>1. IPN không về thì đơn treo mãi à?</a:t>
            </a:r>
          </a:p>
          <a:p>
            <a:r>
              <a:t>   Không. Job quét đơn PENDING quá hạn rồi gọi querydr để chốt. Bài này đã phải dùng đường đó.</a:t>
            </a:r>
          </a:p>
          <a:p/>
          <a:p>
            <a:r>
              <a:t>2. Sao phải cài ngrok, không có cách nào khác?</a:t>
            </a:r>
          </a:p>
          <a:p>
            <a:r>
              <a:t>   Cần một địa chỉ công khai để VNPAY gọi vào. Deploy lên server thật cũng được nhưng chậm hơn.</a:t>
            </a:r>
          </a:p>
          <a:p/>
          <a:p>
            <a:r>
              <a:t>3. Báo sai chữ ký mà không hiểu vì sao?</a:t>
            </a:r>
          </a:p>
          <a:p>
            <a:r>
              <a:t>   In hashData ra rồi so từng ký tự. Gần như luôn là quên encode, hoặc quên bỏ vnp_SecureHash.</a:t>
            </a:r>
          </a:p>
          <a:p/>
          <a:p>
            <a:r>
              <a:t>4. Chưa có thẻ, chưa có mạng thì test kiểu gì?</a:t>
            </a:r>
          </a:p>
          <a:p>
            <a:r>
              <a:t>   Phần ký và verify có unit test chạy offline hoàn toàn.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Nhắc lớp là bản làm xong sẽ nằm trong thư mục Drive ngay sau buổi.</a:t>
            </a:r>
          </a:p>
          <a:p>
            <a:r>
              <a:t>Cảm ơn và kết thúc.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1737360"/>
            <a:ext cx="10874959" cy="2011680"/>
          </a:xfrm>
          <a:prstGeom prst="rect">
            <a:avLst/>
          </a:prstGeom>
          <a:noFill/>
        </p:spPr>
        <p:txBody>
          <a:bodyPr wrap="square">
            <a:spAutoFit/>
          </a:bodyPr>
          <a:lstStyle/>
          <a:p>
            <a:pPr algn="l">
              <a:lnSpc>
                <a:spcPct val="118000"/>
              </a:lnSpc>
              <a:spcAft>
                <a:spcPts val="1000"/>
              </a:spcAft>
            </a:pPr>
            <a:r>
              <a:rPr sz="1200" b="1">
                <a:solidFill>
                  <a:srgbClr val="0066FF"/>
                </a:solidFill>
                <a:latin typeface="Be Vietnam Pro"/>
              </a:rPr>
              <a:t>SEMINAR · SPRING BOOT MICROSERVICES</a:t>
            </a:r>
          </a:p>
          <a:p>
            <a:pPr algn="l">
              <a:lnSpc>
                <a:spcPct val="118000"/>
              </a:lnSpc>
              <a:spcAft>
                <a:spcPts val="1000"/>
              </a:spcAft>
            </a:pPr>
            <a:r>
              <a:rPr sz="4000" b="1">
                <a:solidFill>
                  <a:srgbClr val="111111"/>
                </a:solidFill>
                <a:latin typeface="Be Vietnam Pro"/>
              </a:rPr>
              <a:t>Nhúng VNPAY vào cửa hàng có sẵn</a:t>
            </a:r>
          </a:p>
          <a:p>
            <a:pPr algn="l">
              <a:lnSpc>
                <a:spcPct val="118000"/>
              </a:lnSpc>
              <a:spcAft>
                <a:spcPts val="0"/>
              </a:spcAft>
            </a:pPr>
            <a:r>
              <a:rPr sz="1700" b="0">
                <a:solidFill>
                  <a:srgbClr val="3F454D"/>
                </a:solidFill>
                <a:latin typeface="Be Vietnam Pro"/>
              </a:rPr>
              <a:t>Mở ShopStart.java đã tải trước. Hôm nay điền sáu chỗ TODO trong đó.</a:t>
            </a:r>
          </a:p>
        </p:txBody>
      </p:sp>
      <p:pic>
        <p:nvPicPr>
          <p:cNvPr id="3" name="Picture 2" descr="cua-hang.jpg"/>
          <p:cNvPicPr>
            <a:picLocks noChangeAspect="1"/>
          </p:cNvPicPr>
          <p:nvPr/>
        </p:nvPicPr>
        <p:blipFill>
          <a:blip r:embed="rId2"/>
          <a:stretch>
            <a:fillRect/>
          </a:stretch>
        </p:blipFill>
        <p:spPr>
          <a:xfrm>
            <a:off x="4348141" y="3703320"/>
            <a:ext cx="3495413" cy="2286000"/>
          </a:xfrm>
          <a:prstGeom prst="rect">
            <a:avLst/>
          </a:prstGeom>
        </p:spPr>
      </p:pic>
      <p:sp>
        <p:nvSpPr>
          <p:cNvPr id="4" name="TextBox 3"/>
          <p:cNvSpPr txBox="1"/>
          <p:nvPr/>
        </p:nvSpPr>
        <p:spPr>
          <a:xfrm>
            <a:off x="658368" y="6080760"/>
            <a:ext cx="10874959" cy="274320"/>
          </a:xfrm>
          <a:prstGeom prst="rect">
            <a:avLst/>
          </a:prstGeom>
          <a:noFill/>
        </p:spPr>
        <p:txBody>
          <a:bodyPr wrap="square">
            <a:spAutoFit/>
          </a:bodyPr>
          <a:lstStyle/>
          <a:p>
            <a:pPr algn="l">
              <a:lnSpc>
                <a:spcPct val="118000"/>
              </a:lnSpc>
              <a:spcAft>
                <a:spcPts val="0"/>
              </a:spcAft>
            </a:pPr>
            <a:r>
              <a:rPr sz="1200" b="0">
                <a:solidFill>
                  <a:srgbClr val="6B7280"/>
                </a:solidFill>
                <a:latin typeface="Be Vietnam Pro"/>
              </a:rPr>
              <a:t>Cửa hàng chạy sẵn. Nút Thanh toán chưa nối gì, đó là việc hôm nay.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VẤN ĐỀ</a:t>
            </a:r>
          </a:p>
          <a:p>
            <a:pPr algn="l">
              <a:lnSpc>
                <a:spcPct val="118000"/>
              </a:lnSpc>
              <a:spcAft>
                <a:spcPts val="0"/>
              </a:spcAft>
            </a:pPr>
            <a:r>
              <a:rPr sz="3000" b="1">
                <a:solidFill>
                  <a:srgbClr val="111111"/>
                </a:solidFill>
                <a:latin typeface="Be Vietnam Pro"/>
              </a:rPr>
              <a:t>Tự nhận thẻ là vi phạm PCI-DSS</a:t>
            </a:r>
          </a:p>
        </p:txBody>
      </p:sp>
      <p:sp>
        <p:nvSpPr>
          <p:cNvPr id="3" name="Rounded Rectangle 2"/>
          <p:cNvSpPr/>
          <p:nvPr/>
        </p:nvSpPr>
        <p:spPr>
          <a:xfrm>
            <a:off x="658368" y="1719072"/>
            <a:ext cx="3490874" cy="170535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5376"/>
            <a:ext cx="3088538" cy="143103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Vướng pháp lý</a:t>
            </a:r>
          </a:p>
          <a:p>
            <a:pPr algn="l">
              <a:lnSpc>
                <a:spcPct val="118000"/>
              </a:lnSpc>
              <a:spcAft>
                <a:spcPts val="0"/>
              </a:spcAft>
            </a:pPr>
            <a:r>
              <a:rPr sz="1350" b="0">
                <a:solidFill>
                  <a:srgbClr val="3F454D"/>
                </a:solidFill>
                <a:latin typeface="Be Vietnam Pro"/>
              </a:rPr>
              <a:t>Lưu số thẻ trên server của mình là vi phạm PCI-DSS. Ngân hàng cũng không cấp API trực tiếp cho một đồ án sinh viên.</a:t>
            </a:r>
          </a:p>
        </p:txBody>
      </p:sp>
      <p:sp>
        <p:nvSpPr>
          <p:cNvPr id="5" name="Rounded Rectangle 4"/>
          <p:cNvSpPr/>
          <p:nvPr/>
        </p:nvSpPr>
        <p:spPr>
          <a:xfrm>
            <a:off x="4350410" y="1719072"/>
            <a:ext cx="3490874" cy="170535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51578" y="1865376"/>
            <a:ext cx="3088538" cy="143103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Vướng kỹ thuật</a:t>
            </a:r>
          </a:p>
          <a:p>
            <a:pPr algn="l">
              <a:lnSpc>
                <a:spcPct val="118000"/>
              </a:lnSpc>
              <a:spcAft>
                <a:spcPts val="0"/>
              </a:spcAft>
            </a:pPr>
            <a:r>
              <a:rPr sz="1350" b="0">
                <a:solidFill>
                  <a:srgbClr val="3F454D"/>
                </a:solidFill>
                <a:latin typeface="Be Vietnam Pro"/>
              </a:rPr>
              <a:t>Việt Nam có hàng chục ngân hàng nội địa, mỗi nơi một giao thức. Tự nối từng cái là bất khả thi.</a:t>
            </a:r>
          </a:p>
        </p:txBody>
      </p:sp>
      <p:sp>
        <p:nvSpPr>
          <p:cNvPr id="7" name="Rounded Rectangle 6"/>
          <p:cNvSpPr/>
          <p:nvPr/>
        </p:nvSpPr>
        <p:spPr>
          <a:xfrm>
            <a:off x="8042452" y="1719072"/>
            <a:ext cx="3490874" cy="170535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43620" y="1865376"/>
            <a:ext cx="3088538" cy="143103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Cách VNPAY giải</a:t>
            </a:r>
          </a:p>
          <a:p>
            <a:pPr algn="l">
              <a:lnSpc>
                <a:spcPct val="118000"/>
              </a:lnSpc>
              <a:spcAft>
                <a:spcPts val="0"/>
              </a:spcAft>
            </a:pPr>
            <a:r>
              <a:rPr sz="1350" b="0">
                <a:solidFill>
                  <a:srgbClr val="3F454D"/>
                </a:solidFill>
                <a:latin typeface="Be Vietnam Pro"/>
              </a:rPr>
              <a:t>Khách nhập thẻ trên trang của VNPAY. Server mình chỉ trao đổi chữ ký, không bao giờ thấy số thẻ.</a:t>
            </a:r>
          </a:p>
        </p:txBody>
      </p:sp>
      <p:sp>
        <p:nvSpPr>
          <p:cNvPr id="9" name="Rounded Rectangle 8"/>
          <p:cNvSpPr/>
          <p:nvPr/>
        </p:nvSpPr>
        <p:spPr>
          <a:xfrm>
            <a:off x="658368" y="3607308"/>
            <a:ext cx="10874959" cy="75552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662172"/>
            <a:ext cx="40640" cy="645794"/>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726180"/>
            <a:ext cx="10417759" cy="517778"/>
          </a:xfrm>
          <a:prstGeom prst="rect">
            <a:avLst/>
          </a:prstGeom>
          <a:noFill/>
        </p:spPr>
        <p:txBody>
          <a:bodyPr wrap="square">
            <a:spAutoFit/>
          </a:bodyPr>
          <a:lstStyle/>
          <a:p>
            <a:pPr algn="l">
              <a:lnSpc>
                <a:spcPct val="118000"/>
              </a:lnSpc>
              <a:spcAft>
                <a:spcPts val="400"/>
              </a:spcAft>
            </a:pPr>
            <a:r>
              <a:rPr sz="1400" b="1">
                <a:solidFill>
                  <a:srgbClr val="0066FF"/>
                </a:solidFill>
                <a:latin typeface="Be Vietnam Pro"/>
              </a:rPr>
              <a:t>Câu chốt cho cả buổi</a:t>
            </a:r>
          </a:p>
          <a:p>
            <a:pPr algn="l">
              <a:lnSpc>
                <a:spcPct val="118000"/>
              </a:lnSpc>
              <a:spcAft>
                <a:spcPts val="0"/>
              </a:spcAft>
            </a:pPr>
            <a:r>
              <a:rPr sz="1350" b="0">
                <a:solidFill>
                  <a:srgbClr val="3F454D"/>
                </a:solidFill>
                <a:latin typeface="Be Vietnam Pro"/>
              </a:rPr>
              <a:t>VNPAY không có SDK. Nó chỉ là redirect cộng một chữ ký HMAC-SHA512. Nắm được chữ ký là xong chín phần mười.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KIẾN TRÚC</a:t>
            </a:r>
          </a:p>
          <a:p>
            <a:pPr algn="l">
              <a:lnSpc>
                <a:spcPct val="118000"/>
              </a:lnSpc>
              <a:spcAft>
                <a:spcPts val="0"/>
              </a:spcAft>
            </a:pPr>
            <a:r>
              <a:rPr sz="3000" b="1">
                <a:solidFill>
                  <a:srgbClr val="111111"/>
                </a:solidFill>
                <a:latin typeface="Be Vietnam Pro"/>
              </a:rPr>
              <a:t>Chỉ hai trong bốn đường được phép cộng tiền</a:t>
            </a:r>
          </a:p>
        </p:txBody>
      </p:sp>
      <p:sp>
        <p:nvSpPr>
          <p:cNvPr id="3" name="Rounded Rectangle 2"/>
          <p:cNvSpPr/>
          <p:nvPr/>
        </p:nvSpPr>
        <p:spPr>
          <a:xfrm>
            <a:off x="658368" y="1719072"/>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74520"/>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1</a:t>
            </a:r>
          </a:p>
        </p:txBody>
      </p:sp>
      <p:sp>
        <p:nvSpPr>
          <p:cNvPr id="5" name="TextBox 4"/>
          <p:cNvSpPr txBox="1"/>
          <p:nvPr/>
        </p:nvSpPr>
        <p:spPr>
          <a:xfrm>
            <a:off x="1371600" y="1801368"/>
            <a:ext cx="1828800" cy="502920"/>
          </a:xfrm>
          <a:prstGeom prst="rect">
            <a:avLst/>
          </a:prstGeom>
          <a:noFill/>
        </p:spPr>
        <p:txBody>
          <a:bodyPr wrap="square">
            <a:spAutoFit/>
          </a:bodyPr>
          <a:lstStyle/>
          <a:p>
            <a:pPr algn="l">
              <a:lnSpc>
                <a:spcPct val="118000"/>
              </a:lnSpc>
              <a:spcAft>
                <a:spcPts val="0"/>
              </a:spcAft>
            </a:pPr>
            <a:r>
              <a:rPr sz="1100" b="1">
                <a:solidFill>
                  <a:srgbClr val="6B7280"/>
                </a:solidFill>
                <a:latin typeface="Be Vietnam Pro"/>
              </a:rPr>
              <a:t>Browser đến server</a:t>
            </a:r>
          </a:p>
        </p:txBody>
      </p:sp>
      <p:sp>
        <p:nvSpPr>
          <p:cNvPr id="6" name="TextBox 5"/>
          <p:cNvSpPr txBox="1"/>
          <p:nvPr/>
        </p:nvSpPr>
        <p:spPr>
          <a:xfrm>
            <a:off x="3264408" y="1874520"/>
            <a:ext cx="8131759" cy="457200"/>
          </a:xfrm>
          <a:prstGeom prst="rect">
            <a:avLst/>
          </a:prstGeom>
          <a:noFill/>
        </p:spPr>
        <p:txBody>
          <a:bodyPr wrap="square">
            <a:spAutoFit/>
          </a:bodyPr>
          <a:lstStyle/>
          <a:p>
            <a:pPr algn="l">
              <a:lnSpc>
                <a:spcPct val="118000"/>
              </a:lnSpc>
              <a:spcAft>
                <a:spcPts val="0"/>
              </a:spcAft>
            </a:pPr>
            <a:r>
              <a:rPr sz="1350" b="0">
                <a:solidFill>
                  <a:srgbClr val="111111"/>
                </a:solidFill>
                <a:latin typeface="Be Vietnam Pro"/>
              </a:rPr>
              <a:t>Tạo đơn PENDING, ký tham số, trả về paymentUrl</a:t>
            </a:r>
          </a:p>
        </p:txBody>
      </p:sp>
      <p:sp>
        <p:nvSpPr>
          <p:cNvPr id="7" name="Rounded Rectangle 6"/>
          <p:cNvSpPr/>
          <p:nvPr/>
        </p:nvSpPr>
        <p:spPr>
          <a:xfrm>
            <a:off x="658368" y="2468880"/>
            <a:ext cx="10874959" cy="658368"/>
          </a:xfrm>
          <a:prstGeom prst="roundRect">
            <a:avLst>
              <a:gd name="adj" fmla="val 3500"/>
            </a:avLst>
          </a:prstGeom>
          <a:solidFill>
            <a:srgbClr val="ECF2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624328"/>
            <a:ext cx="384048" cy="347472"/>
          </a:xfrm>
          <a:prstGeom prst="roundRect">
            <a:avLst>
              <a:gd name="adj" fmla="val 35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FFFFFF"/>
                </a:solidFill>
                <a:latin typeface="Roboto Mono"/>
              </a:rPr>
              <a:t>2</a:t>
            </a:r>
          </a:p>
        </p:txBody>
      </p:sp>
      <p:sp>
        <p:nvSpPr>
          <p:cNvPr id="9" name="TextBox 8"/>
          <p:cNvSpPr txBox="1"/>
          <p:nvPr/>
        </p:nvSpPr>
        <p:spPr>
          <a:xfrm>
            <a:off x="1371600" y="2551176"/>
            <a:ext cx="1828800" cy="502920"/>
          </a:xfrm>
          <a:prstGeom prst="rect">
            <a:avLst/>
          </a:prstGeom>
          <a:noFill/>
        </p:spPr>
        <p:txBody>
          <a:bodyPr wrap="square">
            <a:spAutoFit/>
          </a:bodyPr>
          <a:lstStyle/>
          <a:p>
            <a:pPr algn="l">
              <a:lnSpc>
                <a:spcPct val="118000"/>
              </a:lnSpc>
              <a:spcAft>
                <a:spcPts val="0"/>
              </a:spcAft>
            </a:pPr>
            <a:r>
              <a:rPr sz="1100" b="1">
                <a:solidFill>
                  <a:srgbClr val="6B7280"/>
                </a:solidFill>
                <a:latin typeface="Be Vietnam Pro"/>
              </a:rPr>
              <a:t>VNPAY đến server</a:t>
            </a:r>
          </a:p>
        </p:txBody>
      </p:sp>
      <p:sp>
        <p:nvSpPr>
          <p:cNvPr id="10" name="TextBox 9"/>
          <p:cNvSpPr txBox="1"/>
          <p:nvPr/>
        </p:nvSpPr>
        <p:spPr>
          <a:xfrm>
            <a:off x="3264408" y="2624328"/>
            <a:ext cx="6760159" cy="457200"/>
          </a:xfrm>
          <a:prstGeom prst="rect">
            <a:avLst/>
          </a:prstGeom>
          <a:noFill/>
        </p:spPr>
        <p:txBody>
          <a:bodyPr wrap="square">
            <a:spAutoFit/>
          </a:bodyPr>
          <a:lstStyle/>
          <a:p>
            <a:pPr algn="l">
              <a:lnSpc>
                <a:spcPct val="118000"/>
              </a:lnSpc>
              <a:spcAft>
                <a:spcPts val="0"/>
              </a:spcAft>
            </a:pPr>
            <a:r>
              <a:rPr sz="1350" b="0">
                <a:solidFill>
                  <a:srgbClr val="111111"/>
                </a:solidFill>
                <a:latin typeface="Be Vietnam Pro"/>
              </a:rPr>
              <a:t>IPN, gọi thẳng vào server mình</a:t>
            </a:r>
          </a:p>
        </p:txBody>
      </p:sp>
      <p:sp>
        <p:nvSpPr>
          <p:cNvPr id="11" name="Rounded Rectangle 10"/>
          <p:cNvSpPr/>
          <p:nvPr/>
        </p:nvSpPr>
        <p:spPr>
          <a:xfrm>
            <a:off x="10024567" y="2642616"/>
            <a:ext cx="1298448" cy="310896"/>
          </a:xfrm>
          <a:prstGeom prst="roundRect">
            <a:avLst>
              <a:gd name="adj" fmla="val 3500"/>
            </a:avLst>
          </a:prstGeom>
          <a:solidFill>
            <a:srgbClr val="DEF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150" b="1">
                <a:solidFill>
                  <a:srgbClr val="0B6B47"/>
                </a:solidFill>
                <a:latin typeface="Be Vietnam Pro"/>
              </a:rPr>
              <a:t>Tin được</a:t>
            </a:r>
          </a:p>
        </p:txBody>
      </p:sp>
      <p:sp>
        <p:nvSpPr>
          <p:cNvPr id="12" name="Rounded Rectangle 11"/>
          <p:cNvSpPr/>
          <p:nvPr/>
        </p:nvSpPr>
        <p:spPr>
          <a:xfrm>
            <a:off x="658368" y="3218688"/>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374136"/>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3</a:t>
            </a:r>
          </a:p>
        </p:txBody>
      </p:sp>
      <p:sp>
        <p:nvSpPr>
          <p:cNvPr id="14" name="TextBox 13"/>
          <p:cNvSpPr txBox="1"/>
          <p:nvPr/>
        </p:nvSpPr>
        <p:spPr>
          <a:xfrm>
            <a:off x="1371600" y="3300984"/>
            <a:ext cx="1828800" cy="502920"/>
          </a:xfrm>
          <a:prstGeom prst="rect">
            <a:avLst/>
          </a:prstGeom>
          <a:noFill/>
        </p:spPr>
        <p:txBody>
          <a:bodyPr wrap="square">
            <a:spAutoFit/>
          </a:bodyPr>
          <a:lstStyle/>
          <a:p>
            <a:pPr algn="l">
              <a:lnSpc>
                <a:spcPct val="118000"/>
              </a:lnSpc>
              <a:spcAft>
                <a:spcPts val="0"/>
              </a:spcAft>
            </a:pPr>
            <a:r>
              <a:rPr sz="1100" b="1">
                <a:solidFill>
                  <a:srgbClr val="6B7280"/>
                </a:solidFill>
                <a:latin typeface="Be Vietnam Pro"/>
              </a:rPr>
              <a:t>VNPAY đến browser</a:t>
            </a:r>
          </a:p>
        </p:txBody>
      </p:sp>
      <p:sp>
        <p:nvSpPr>
          <p:cNvPr id="15" name="TextBox 14"/>
          <p:cNvSpPr txBox="1"/>
          <p:nvPr/>
        </p:nvSpPr>
        <p:spPr>
          <a:xfrm>
            <a:off x="3264408" y="3374136"/>
            <a:ext cx="6760159" cy="457200"/>
          </a:xfrm>
          <a:prstGeom prst="rect">
            <a:avLst/>
          </a:prstGeom>
          <a:noFill/>
        </p:spPr>
        <p:txBody>
          <a:bodyPr wrap="square">
            <a:spAutoFit/>
          </a:bodyPr>
          <a:lstStyle/>
          <a:p>
            <a:pPr algn="l">
              <a:lnSpc>
                <a:spcPct val="118000"/>
              </a:lnSpc>
              <a:spcAft>
                <a:spcPts val="0"/>
              </a:spcAft>
            </a:pPr>
            <a:r>
              <a:rPr sz="1350" b="0">
                <a:solidFill>
                  <a:srgbClr val="111111"/>
                </a:solidFill>
                <a:latin typeface="Be Vietnam Pro"/>
              </a:rPr>
              <a:t>ReturnURL, trình duyệt khách quay về</a:t>
            </a:r>
          </a:p>
        </p:txBody>
      </p:sp>
      <p:sp>
        <p:nvSpPr>
          <p:cNvPr id="16" name="Rounded Rectangle 15"/>
          <p:cNvSpPr/>
          <p:nvPr/>
        </p:nvSpPr>
        <p:spPr>
          <a:xfrm>
            <a:off x="10024567" y="3392424"/>
            <a:ext cx="1298448" cy="310896"/>
          </a:xfrm>
          <a:prstGeom prst="roundRect">
            <a:avLst>
              <a:gd name="adj" fmla="val 3500"/>
            </a:avLst>
          </a:prstGeom>
          <a:solidFill>
            <a:srgbClr val="FD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150" b="1">
                <a:solidFill>
                  <a:srgbClr val="C42B22"/>
                </a:solidFill>
                <a:latin typeface="Be Vietnam Pro"/>
              </a:rPr>
              <a:t>Không tin</a:t>
            </a:r>
          </a:p>
        </p:txBody>
      </p:sp>
      <p:sp>
        <p:nvSpPr>
          <p:cNvPr id="17" name="Rounded Rectangle 16"/>
          <p:cNvSpPr/>
          <p:nvPr/>
        </p:nvSpPr>
        <p:spPr>
          <a:xfrm>
            <a:off x="658368" y="3968496"/>
            <a:ext cx="10874959" cy="658368"/>
          </a:xfrm>
          <a:prstGeom prst="roundRect">
            <a:avLst>
              <a:gd name="adj" fmla="val 3500"/>
            </a:avLst>
          </a:prstGeom>
          <a:solidFill>
            <a:srgbClr val="ECF2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 y="4123944"/>
            <a:ext cx="384048" cy="347472"/>
          </a:xfrm>
          <a:prstGeom prst="roundRect">
            <a:avLst>
              <a:gd name="adj" fmla="val 35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FFFFFF"/>
                </a:solidFill>
                <a:latin typeface="Roboto Mono"/>
              </a:rPr>
              <a:t>4</a:t>
            </a:r>
          </a:p>
        </p:txBody>
      </p:sp>
      <p:sp>
        <p:nvSpPr>
          <p:cNvPr id="19" name="TextBox 18"/>
          <p:cNvSpPr txBox="1"/>
          <p:nvPr/>
        </p:nvSpPr>
        <p:spPr>
          <a:xfrm>
            <a:off x="1371600" y="4050792"/>
            <a:ext cx="1828800" cy="502920"/>
          </a:xfrm>
          <a:prstGeom prst="rect">
            <a:avLst/>
          </a:prstGeom>
          <a:noFill/>
        </p:spPr>
        <p:txBody>
          <a:bodyPr wrap="square">
            <a:spAutoFit/>
          </a:bodyPr>
          <a:lstStyle/>
          <a:p>
            <a:pPr algn="l">
              <a:lnSpc>
                <a:spcPct val="118000"/>
              </a:lnSpc>
              <a:spcAft>
                <a:spcPts val="0"/>
              </a:spcAft>
            </a:pPr>
            <a:r>
              <a:rPr sz="1100" b="1">
                <a:solidFill>
                  <a:srgbClr val="6B7280"/>
                </a:solidFill>
                <a:latin typeface="Be Vietnam Pro"/>
              </a:rPr>
              <a:t>Server đến VNPAY</a:t>
            </a:r>
          </a:p>
        </p:txBody>
      </p:sp>
      <p:sp>
        <p:nvSpPr>
          <p:cNvPr id="20" name="TextBox 19"/>
          <p:cNvSpPr txBox="1"/>
          <p:nvPr/>
        </p:nvSpPr>
        <p:spPr>
          <a:xfrm>
            <a:off x="3264408" y="4123944"/>
            <a:ext cx="6760159" cy="457200"/>
          </a:xfrm>
          <a:prstGeom prst="rect">
            <a:avLst/>
          </a:prstGeom>
          <a:noFill/>
        </p:spPr>
        <p:txBody>
          <a:bodyPr wrap="square">
            <a:spAutoFit/>
          </a:bodyPr>
          <a:lstStyle/>
          <a:p>
            <a:pPr algn="l">
              <a:lnSpc>
                <a:spcPct val="118000"/>
              </a:lnSpc>
              <a:spcAft>
                <a:spcPts val="0"/>
              </a:spcAft>
            </a:pPr>
            <a:r>
              <a:rPr sz="1350" b="0">
                <a:solidFill>
                  <a:srgbClr val="111111"/>
                </a:solidFill>
                <a:latin typeface="Be Vietnam Pro"/>
              </a:rPr>
              <a:t>querydr, hỏi lại trạng thái thật</a:t>
            </a:r>
          </a:p>
        </p:txBody>
      </p:sp>
      <p:sp>
        <p:nvSpPr>
          <p:cNvPr id="21" name="Rounded Rectangle 20"/>
          <p:cNvSpPr/>
          <p:nvPr/>
        </p:nvSpPr>
        <p:spPr>
          <a:xfrm>
            <a:off x="10024567" y="4142232"/>
            <a:ext cx="1298448" cy="310896"/>
          </a:xfrm>
          <a:prstGeom prst="roundRect">
            <a:avLst>
              <a:gd name="adj" fmla="val 3500"/>
            </a:avLst>
          </a:prstGeom>
          <a:solidFill>
            <a:srgbClr val="DEF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150" b="1">
                <a:solidFill>
                  <a:srgbClr val="0B6B47"/>
                </a:solidFill>
                <a:latin typeface="Be Vietnam Pro"/>
              </a:rPr>
              <a:t>Tin được</a:t>
            </a:r>
          </a:p>
        </p:txBody>
      </p:sp>
      <p:sp>
        <p:nvSpPr>
          <p:cNvPr id="22" name="TextBox 21"/>
          <p:cNvSpPr txBox="1"/>
          <p:nvPr/>
        </p:nvSpPr>
        <p:spPr>
          <a:xfrm>
            <a:off x="658368" y="4901184"/>
            <a:ext cx="10874959" cy="571500"/>
          </a:xfrm>
          <a:prstGeom prst="rect">
            <a:avLst/>
          </a:prstGeom>
          <a:noFill/>
        </p:spPr>
        <p:txBody>
          <a:bodyPr wrap="square">
            <a:spAutoFit/>
          </a:bodyPr>
          <a:lstStyle/>
          <a:p>
            <a:pPr algn="l">
              <a:lnSpc>
                <a:spcPct val="118000"/>
              </a:lnSpc>
              <a:spcAft>
                <a:spcPts val="400"/>
              </a:spcAft>
            </a:pPr>
            <a:r>
              <a:rPr sz="1400" b="0">
                <a:solidFill>
                  <a:srgbClr val="3F454D"/>
                </a:solidFill>
                <a:latin typeface="Be Vietnam Pro"/>
              </a:rPr>
              <a:t>Đường 2 và 4 là server gọi server, có chữ ký nên tin được. Đường 3 chạy qua trình duyệt của khách nên chỉ dùng để vẽ màn hình.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LỘ TRÌNH</a:t>
            </a:r>
          </a:p>
          <a:p>
            <a:pPr algn="l">
              <a:lnSpc>
                <a:spcPct val="118000"/>
              </a:lnSpc>
              <a:spcAft>
                <a:spcPts val="0"/>
              </a:spcAft>
            </a:pPr>
            <a:r>
              <a:rPr sz="3000" b="1">
                <a:solidFill>
                  <a:srgbClr val="111111"/>
                </a:solidFill>
                <a:latin typeface="Be Vietnam Pro"/>
              </a:rPr>
              <a:t>Sáu chỗ trống cần điền trong ShopStart.java</a:t>
            </a:r>
          </a:p>
        </p:txBody>
      </p:sp>
      <p:graphicFrame>
        <p:nvGraphicFramePr>
          <p:cNvPr id="3" name="Table 2"/>
          <p:cNvGraphicFramePr>
            <a:graphicFrameLocks noGrp="1"/>
          </p:cNvGraphicFramePr>
          <p:nvPr/>
        </p:nvGraphicFramePr>
        <p:xfrm>
          <a:off x="658368" y="1719072"/>
          <a:ext cx="10874958" cy="2468880"/>
        </p:xfrm>
        <a:graphic>
          <a:graphicData uri="http://schemas.openxmlformats.org/drawingml/2006/table">
            <a:tbl>
              <a:tblPr firstRow="1" bandRow="1">
                <a:tableStyleId>{5C22544A-7EE6-4342-B048-85BDC9FD1C3A}</a:tableStyleId>
              </a:tblPr>
              <a:tblGrid>
                <a:gridCol w="1691660"/>
                <a:gridCol w="7249972"/>
                <a:gridCol w="1933326"/>
              </a:tblGrid>
              <a:tr h="384048">
                <a:tc>
                  <a:txBody>
                    <a:bodyPr wrap="square"/>
                    <a:lstStyle/>
                    <a:p>
                      <a:pPr algn="l">
                        <a:lnSpc>
                          <a:spcPct val="118000"/>
                        </a:lnSpc>
                        <a:spcAft>
                          <a:spcPts val="0"/>
                        </a:spcAft>
                      </a:pPr>
                      <a:r>
                        <a:rPr sz="1200" b="1">
                          <a:solidFill>
                            <a:srgbClr val="0066FF"/>
                          </a:solidFill>
                          <a:latin typeface="Be Vietnam Pro"/>
                        </a:rPr>
                        <a:t>Chỗ</a:t>
                      </a:r>
                    </a:p>
                  </a:txBody>
                  <a:tcPr anchor="ctr" marL="128016">
                    <a:solidFill>
                      <a:srgbClr val="ECF2FF"/>
                    </a:solidFill>
                  </a:tcPr>
                </a:tc>
                <a:tc>
                  <a:txBody>
                    <a:bodyPr wrap="square"/>
                    <a:lstStyle/>
                    <a:p>
                      <a:pPr algn="l">
                        <a:lnSpc>
                          <a:spcPct val="118000"/>
                        </a:lnSpc>
                        <a:spcAft>
                          <a:spcPts val="0"/>
                        </a:spcAft>
                      </a:pPr>
                      <a:r>
                        <a:rPr sz="1200" b="1">
                          <a:solidFill>
                            <a:srgbClr val="0066FF"/>
                          </a:solidFill>
                          <a:latin typeface="Be Vietnam Pro"/>
                        </a:rPr>
                        <a:t>Việc phải làm</a:t>
                      </a:r>
                    </a:p>
                  </a:txBody>
                  <a:tcPr anchor="ctr" marL="128016">
                    <a:solidFill>
                      <a:srgbClr val="ECF2FF"/>
                    </a:solidFill>
                  </a:tcPr>
                </a:tc>
                <a:tc>
                  <a:txBody>
                    <a:bodyPr wrap="square"/>
                    <a:lstStyle/>
                    <a:p>
                      <a:pPr algn="l">
                        <a:lnSpc>
                          <a:spcPct val="118000"/>
                        </a:lnSpc>
                        <a:spcAft>
                          <a:spcPts val="0"/>
                        </a:spcAft>
                      </a:pPr>
                      <a:r>
                        <a:rPr sz="1200" b="1">
                          <a:solidFill>
                            <a:srgbClr val="0066FF"/>
                          </a:solidFill>
                          <a:latin typeface="Be Vietnam Pro"/>
                        </a:rPr>
                        <a:t>Thời lượng</a:t>
                      </a:r>
                    </a:p>
                  </a:txBody>
                  <a:tcPr anchor="ctr" marL="128016">
                    <a:solidFill>
                      <a:srgbClr val="ECF2FF"/>
                    </a:solidFill>
                  </a:tcPr>
                </a:tc>
              </a:tr>
              <a:tr h="347472">
                <a:tc>
                  <a:txBody>
                    <a:bodyPr wrap="square"/>
                    <a:lstStyle/>
                    <a:p>
                      <a:pPr algn="l">
                        <a:lnSpc>
                          <a:spcPct val="118000"/>
                        </a:lnSpc>
                        <a:spcAft>
                          <a:spcPts val="0"/>
                        </a:spcAft>
                      </a:pPr>
                      <a:r>
                        <a:rPr sz="1250" b="0">
                          <a:solidFill>
                            <a:srgbClr val="111111"/>
                          </a:solidFill>
                          <a:latin typeface="Be Vietnam Pro"/>
                        </a:rPr>
                        <a:t>TODO 1</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Cấu hình TmnCode và HashSecret</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2 phút</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TODO 2</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Hàm ký HMAC-SHA512</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6 phút</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TODO 3</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Hàm verify chữ ký</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3 phút</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TODO 4</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Tạo URL thanh toán</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5 phút</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TODO 5</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Nhận IPN</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5 phút</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TODO 6</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ReturnURL và chốt trạng thái đơn</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4 phút</a:t>
                      </a:r>
                    </a:p>
                  </a:txBody>
                  <a:tcPr anchor="ctr" marL="128016">
                    <a:solidFill>
                      <a:srgbClr val="FFFFFF"/>
                    </a:solidFill>
                  </a:tcPr>
                </a:tc>
              </a:tr>
            </a:tbl>
          </a:graphicData>
        </a:graphic>
      </p:graphicFrame>
      <p:sp>
        <p:nvSpPr>
          <p:cNvPr id="4" name="TextBox 3"/>
          <p:cNvSpPr txBox="1"/>
          <p:nvPr/>
        </p:nvSpPr>
        <p:spPr>
          <a:xfrm>
            <a:off x="658368" y="4370832"/>
            <a:ext cx="10874959" cy="622934"/>
          </a:xfrm>
          <a:prstGeom prst="rect">
            <a:avLst/>
          </a:prstGeom>
          <a:noFill/>
        </p:spPr>
        <p:txBody>
          <a:bodyPr wrap="square">
            <a:spAutoFit/>
          </a:bodyPr>
          <a:lstStyle/>
          <a:p>
            <a:pPr algn="l">
              <a:lnSpc>
                <a:spcPct val="118000"/>
              </a:lnSpc>
              <a:spcAft>
                <a:spcPts val="400"/>
              </a:spcAft>
            </a:pPr>
            <a:r>
              <a:rPr sz="1550" b="0">
                <a:solidFill>
                  <a:srgbClr val="3F454D"/>
                </a:solidFill>
                <a:latin typeface="Be Vietnam Pro"/>
              </a:rPr>
              <a:t>Đơn hàng, giao diện và server đã viết sẵn trong file, mình không đụng tới. Ai gõ không kịp cứ ngồi xem, cuối buổi có bản làm xong.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TODO 1</a:t>
            </a:r>
          </a:p>
          <a:p>
            <a:pPr algn="l">
              <a:lnSpc>
                <a:spcPct val="118000"/>
              </a:lnSpc>
              <a:spcAft>
                <a:spcPts val="0"/>
              </a:spcAft>
            </a:pPr>
            <a:r>
              <a:rPr sz="3000" b="1">
                <a:solidFill>
                  <a:srgbClr val="111111"/>
                </a:solidFill>
                <a:latin typeface="Be Vietnam Pro"/>
              </a:rPr>
              <a:t>Secret nạp từ biến môi trường, không hardcode</a:t>
            </a:r>
          </a:p>
        </p:txBody>
      </p:sp>
      <p:sp>
        <p:nvSpPr>
          <p:cNvPr id="3" name="TextBox 2"/>
          <p:cNvSpPr txBox="1"/>
          <p:nvPr/>
        </p:nvSpPr>
        <p:spPr>
          <a:xfrm>
            <a:off x="658368" y="1719072"/>
            <a:ext cx="10874959" cy="219456"/>
          </a:xfrm>
          <a:prstGeom prst="rect">
            <a:avLst/>
          </a:prstGeom>
          <a:noFill/>
        </p:spPr>
        <p:txBody>
          <a:bodyPr wrap="square">
            <a:spAutoFit/>
          </a:bodyPr>
          <a:lstStyle/>
          <a:p>
            <a:pPr algn="l">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11760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static final String TMN_CODE    = env("VNPAY_TMN_CODE", "CHANGE_ME");</a:t>
            </a:r>
          </a:p>
          <a:p>
            <a:pPr algn="l">
              <a:lnSpc>
                <a:spcPts val="1775"/>
              </a:lnSpc>
              <a:spcAft>
                <a:spcPts val="0"/>
              </a:spcAft>
            </a:pPr>
            <a:r>
              <a:rPr sz="1250">
                <a:solidFill>
                  <a:srgbClr val="E6EDF7"/>
                </a:solidFill>
                <a:latin typeface="Roboto Mono"/>
              </a:rPr>
              <a:t>static final String HASH_SECRET = env("VNPAY_HASH_SECRET", "CHANGE_ME");</a:t>
            </a:r>
          </a:p>
          <a:p>
            <a:pPr algn="l">
              <a:lnSpc>
                <a:spcPts val="1775"/>
              </a:lnSpc>
              <a:spcAft>
                <a:spcPts val="0"/>
              </a:spcAft>
            </a:pPr>
            <a:r>
              <a:rPr sz="1250">
                <a:solidFill>
                  <a:srgbClr val="E6EDF7"/>
                </a:solidFill>
                <a:latin typeface="Roboto Mono"/>
              </a:rPr>
              <a:t>static final String RETURN_URL  = env("VNPAY_RETURN_URL",</a:t>
            </a:r>
          </a:p>
          <a:p>
            <a:pPr algn="l">
              <a:lnSpc>
                <a:spcPts val="1775"/>
              </a:lnSpc>
              <a:spcAft>
                <a:spcPts val="0"/>
              </a:spcAft>
            </a:pPr>
            <a:r>
              <a:rPr sz="1250">
                <a:solidFill>
                  <a:srgbClr val="E6EDF7"/>
                </a:solidFill>
                <a:latin typeface="Roboto Mono"/>
              </a:rPr>
              <a:t>                                      "http://localhost:8080/vnpay/return");</a:t>
            </a:r>
          </a:p>
        </p:txBody>
      </p:sp>
      <p:sp>
        <p:nvSpPr>
          <p:cNvPr id="5" name="Rounded Rectangle 4"/>
          <p:cNvSpPr/>
          <p:nvPr/>
        </p:nvSpPr>
        <p:spPr>
          <a:xfrm>
            <a:off x="658368" y="3315716"/>
            <a:ext cx="10874959" cy="9505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export VNPAY_TMN_CODE=xxxxxxxx</a:t>
            </a:r>
          </a:p>
          <a:p>
            <a:pPr algn="l">
              <a:lnSpc>
                <a:spcPts val="1775"/>
              </a:lnSpc>
              <a:spcAft>
                <a:spcPts val="0"/>
              </a:spcAft>
            </a:pPr>
            <a:r>
              <a:rPr sz="1250">
                <a:solidFill>
                  <a:srgbClr val="E6EDF7"/>
                </a:solidFill>
                <a:latin typeface="Roboto Mono"/>
              </a:rPr>
              <a:t>export VNPAY_HASH_SECRET=xxxxxxxxxxxxxxxx</a:t>
            </a:r>
          </a:p>
          <a:p>
            <a:pPr algn="l">
              <a:lnSpc>
                <a:spcPts val="1775"/>
              </a:lnSpc>
              <a:spcAft>
                <a:spcPts val="0"/>
              </a:spcAft>
            </a:pPr>
            <a:r>
              <a:rPr sz="1250">
                <a:solidFill>
                  <a:srgbClr val="E6EDF7"/>
                </a:solidFill>
                <a:latin typeface="Roboto Mono"/>
              </a:rPr>
              <a:t>java ShopStart.java</a:t>
            </a:r>
          </a:p>
        </p:txBody>
      </p:sp>
      <p:sp>
        <p:nvSpPr>
          <p:cNvPr id="6" name="Rounded Rectangle 5"/>
          <p:cNvSpPr/>
          <p:nvPr/>
        </p:nvSpPr>
        <p:spPr>
          <a:xfrm>
            <a:off x="658368" y="4449191"/>
            <a:ext cx="10874959" cy="75552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4504055"/>
            <a:ext cx="40640" cy="645794"/>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4568063"/>
            <a:ext cx="10417759" cy="517778"/>
          </a:xfrm>
          <a:prstGeom prst="rect">
            <a:avLst/>
          </a:prstGeom>
          <a:noFill/>
        </p:spPr>
        <p:txBody>
          <a:bodyPr wrap="square">
            <a:spAutoFit/>
          </a:bodyPr>
          <a:lstStyle/>
          <a:p>
            <a:pPr algn="l">
              <a:lnSpc>
                <a:spcPct val="118000"/>
              </a:lnSpc>
              <a:spcAft>
                <a:spcPts val="400"/>
              </a:spcAft>
            </a:pPr>
            <a:r>
              <a:rPr sz="1400" b="1">
                <a:solidFill>
                  <a:srgbClr val="C42B22"/>
                </a:solidFill>
                <a:latin typeface="Be Vietnam Pro"/>
              </a:rPr>
              <a:t>Đừng hardcode secret rồi push lên GitHub</a:t>
            </a:r>
          </a:p>
          <a:p>
            <a:pPr algn="l">
              <a:lnSpc>
                <a:spcPct val="118000"/>
              </a:lnSpc>
              <a:spcAft>
                <a:spcPts val="0"/>
              </a:spcAft>
            </a:pPr>
            <a:r>
              <a:rPr sz="1350" b="0">
                <a:solidFill>
                  <a:srgbClr val="3F454D"/>
                </a:solidFill>
                <a:latin typeface="Be Vietnam Pro"/>
              </a:rPr>
              <a:t>Ai clone repo cũng ký được đơn thay bạn, và GitHub có bot quét chuyện này.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TODO 2</a:t>
            </a:r>
          </a:p>
          <a:p>
            <a:pPr algn="l">
              <a:lnSpc>
                <a:spcPct val="118000"/>
              </a:lnSpc>
              <a:spcAft>
                <a:spcPts val="0"/>
              </a:spcAft>
            </a:pPr>
            <a:r>
              <a:rPr sz="3000" b="1">
                <a:solidFill>
                  <a:srgbClr val="111111"/>
                </a:solidFill>
                <a:latin typeface="Be Vietnam Pro"/>
              </a:rPr>
              <a:t>Chữ ký chỉ gồm ba bước</a:t>
            </a:r>
          </a:p>
        </p:txBody>
      </p:sp>
      <p:sp>
        <p:nvSpPr>
          <p:cNvPr id="3" name="TextBox 2"/>
          <p:cNvSpPr txBox="1"/>
          <p:nvPr/>
        </p:nvSpPr>
        <p:spPr>
          <a:xfrm>
            <a:off x="658368" y="1719072"/>
            <a:ext cx="10874959" cy="357187"/>
          </a:xfrm>
          <a:prstGeom prst="rect">
            <a:avLst/>
          </a:prstGeom>
          <a:noFill/>
        </p:spPr>
        <p:txBody>
          <a:bodyPr wrap="square">
            <a:spAutoFit/>
          </a:bodyPr>
          <a:lstStyle/>
          <a:p>
            <a:pPr algn="l">
              <a:lnSpc>
                <a:spcPct val="118000"/>
              </a:lnSpc>
              <a:spcAft>
                <a:spcPts val="400"/>
              </a:spcAft>
            </a:pPr>
            <a:r>
              <a:rPr sz="1550" b="0">
                <a:solidFill>
                  <a:srgbClr val="3F454D"/>
                </a:solidFill>
                <a:latin typeface="Be Vietnam Pro"/>
              </a:rPr>
              <a:t>Sắp tham số theo alphabet, URL-encode phần giá trị, rồi băm HMAC-SHA512 ra hex chữ thường.</a:t>
            </a:r>
          </a:p>
        </p:txBody>
      </p:sp>
      <p:sp>
        <p:nvSpPr>
          <p:cNvPr id="4" name="TextBox 3"/>
          <p:cNvSpPr txBox="1"/>
          <p:nvPr/>
        </p:nvSpPr>
        <p:spPr>
          <a:xfrm>
            <a:off x="658368" y="2259139"/>
            <a:ext cx="10874959" cy="219456"/>
          </a:xfrm>
          <a:prstGeom prst="rect">
            <a:avLst/>
          </a:prstGeom>
          <a:noFill/>
        </p:spPr>
        <p:txBody>
          <a:bodyPr wrap="square">
            <a:spAutoFit/>
          </a:bodyPr>
          <a:lstStyle/>
          <a:p>
            <a:pPr algn="l">
              <a:lnSpc>
                <a:spcPct val="118000"/>
              </a:lnSpc>
              <a:spcAft>
                <a:spcPts val="0"/>
              </a:spcAft>
            </a:pPr>
            <a:r>
              <a:rPr sz="1100" b="0">
                <a:solidFill>
                  <a:srgbClr val="6B7280"/>
                </a:solidFill>
                <a:latin typeface="Roboto Mono"/>
              </a:rPr>
              <a:t>ShopStart.java</a:t>
            </a:r>
          </a:p>
        </p:txBody>
      </p:sp>
      <p:sp>
        <p:nvSpPr>
          <p:cNvPr id="5" name="Rounded Rectangle 4"/>
          <p:cNvSpPr/>
          <p:nvPr/>
        </p:nvSpPr>
        <p:spPr>
          <a:xfrm>
            <a:off x="658368" y="2496883"/>
            <a:ext cx="10874959" cy="320484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static String hmacSHA512(String secretKey, String data) {</a:t>
            </a:r>
          </a:p>
          <a:p>
            <a:pPr algn="l">
              <a:lnSpc>
                <a:spcPts val="1775"/>
              </a:lnSpc>
              <a:spcAft>
                <a:spcPts val="0"/>
              </a:spcAft>
            </a:pPr>
            <a:r>
              <a:rPr sz="1250">
                <a:solidFill>
                  <a:srgbClr val="E6EDF7"/>
                </a:solidFill>
                <a:latin typeface="Roboto Mono"/>
              </a:rPr>
              <a:t>    try {</a:t>
            </a:r>
          </a:p>
          <a:p>
            <a:pPr algn="l">
              <a:lnSpc>
                <a:spcPts val="1775"/>
              </a:lnSpc>
              <a:spcAft>
                <a:spcPts val="0"/>
              </a:spcAft>
            </a:pPr>
            <a:r>
              <a:rPr sz="1250">
                <a:solidFill>
                  <a:srgbClr val="E6EDF7"/>
                </a:solidFill>
                <a:latin typeface="Roboto Mono"/>
              </a:rPr>
              <a:t>        Mac mac = Mac.getInstance("HmacSHA512");</a:t>
            </a:r>
          </a:p>
          <a:p>
            <a:pPr algn="l">
              <a:lnSpc>
                <a:spcPts val="1775"/>
              </a:lnSpc>
              <a:spcAft>
                <a:spcPts val="0"/>
              </a:spcAft>
            </a:pPr>
            <a:r>
              <a:rPr sz="1250">
                <a:solidFill>
                  <a:srgbClr val="E6EDF7"/>
                </a:solidFill>
                <a:latin typeface="Roboto Mono"/>
              </a:rPr>
              <a:t>        mac.init(new SecretKeySpec(secretKey.getBytes(UTF_8), "HmacSHA512"));</a:t>
            </a:r>
          </a:p>
          <a:p>
            <a:pPr algn="l">
              <a:lnSpc>
                <a:spcPts val="1775"/>
              </a:lnSpc>
              <a:spcAft>
                <a:spcPts val="0"/>
              </a:spcAft>
            </a:pPr>
            <a:r>
              <a:rPr sz="1250">
                <a:solidFill>
                  <a:srgbClr val="E6EDF7"/>
                </a:solidFill>
                <a:latin typeface="Roboto Mono"/>
              </a:rPr>
              <a:t>        byte[] bytes = mac.doFinal(data.getBytes(UTF_8));</a:t>
            </a:r>
          </a:p>
          <a:p>
            <a:pPr algn="l">
              <a:lnSpc>
                <a:spcPts val="1775"/>
              </a:lnSpc>
              <a:spcAft>
                <a:spcPts val="0"/>
              </a:spcAft>
            </a:pPr>
          </a:p>
          <a:p>
            <a:pPr algn="l">
              <a:lnSpc>
                <a:spcPts val="1775"/>
              </a:lnSpc>
              <a:spcAft>
                <a:spcPts val="0"/>
              </a:spcAft>
            </a:pPr>
            <a:r>
              <a:rPr sz="1250">
                <a:solidFill>
                  <a:srgbClr val="E6EDF7"/>
                </a:solidFill>
                <a:latin typeface="Roboto Mono"/>
              </a:rPr>
              <a:t>        StringBuilder hex = new StringBuilder(bytes.length * 2);</a:t>
            </a:r>
          </a:p>
          <a:p>
            <a:pPr algn="l">
              <a:lnSpc>
                <a:spcPts val="1775"/>
              </a:lnSpc>
              <a:spcAft>
                <a:spcPts val="0"/>
              </a:spcAft>
            </a:pPr>
            <a:r>
              <a:rPr sz="1250">
                <a:solidFill>
                  <a:srgbClr val="E6EDF7"/>
                </a:solidFill>
                <a:latin typeface="Roboto Mono"/>
              </a:rPr>
              <a:t>        for (byte b : bytes) hex.append(String.format("%02x", b));</a:t>
            </a:r>
          </a:p>
          <a:p>
            <a:pPr algn="l">
              <a:lnSpc>
                <a:spcPts val="1775"/>
              </a:lnSpc>
              <a:spcAft>
                <a:spcPts val="0"/>
              </a:spcAft>
            </a:pPr>
            <a:r>
              <a:rPr sz="1250">
                <a:solidFill>
                  <a:srgbClr val="E6EDF7"/>
                </a:solidFill>
                <a:latin typeface="Roboto Mono"/>
              </a:rPr>
              <a:t>        return hex.toString();</a:t>
            </a:r>
          </a:p>
          <a:p>
            <a:pPr algn="l">
              <a:lnSpc>
                <a:spcPts val="1775"/>
              </a:lnSpc>
              <a:spcAft>
                <a:spcPts val="0"/>
              </a:spcAft>
            </a:pPr>
            <a:r>
              <a:rPr sz="1250">
                <a:solidFill>
                  <a:srgbClr val="E6EDF7"/>
                </a:solidFill>
                <a:latin typeface="Roboto Mono"/>
              </a:rPr>
              <a:t>    } catch (Exception e) {</a:t>
            </a:r>
          </a:p>
          <a:p>
            <a:pPr algn="l">
              <a:lnSpc>
                <a:spcPts val="1775"/>
              </a:lnSpc>
              <a:spcAft>
                <a:spcPts val="0"/>
              </a:spcAft>
            </a:pPr>
            <a:r>
              <a:rPr sz="1250">
                <a:solidFill>
                  <a:srgbClr val="E6EDF7"/>
                </a:solidFill>
                <a:latin typeface="Roboto Mono"/>
              </a:rPr>
              <a:t>        throw new IllegalStateException("Không tạo được HMAC-SHA512", e);</a:t>
            </a:r>
          </a:p>
          <a:p>
            <a:pPr algn="l">
              <a:lnSpc>
                <a:spcPts val="1775"/>
              </a:lnSpc>
              <a:spcAft>
                <a:spcPts val="0"/>
              </a:spcAft>
            </a:pPr>
            <a:r>
              <a:rPr sz="1250">
                <a:solidFill>
                  <a:srgbClr val="E6EDF7"/>
                </a:solidFill>
                <a:latin typeface="Roboto Mono"/>
              </a:rPr>
              <a:t>    }</a:t>
            </a:r>
          </a:p>
          <a:p>
            <a:pPr algn="l">
              <a:lnSpc>
                <a:spcPts val="1775"/>
              </a:lnSpc>
              <a:spcAft>
                <a:spcPts val="0"/>
              </a:spcAft>
            </a:pPr>
            <a:r>
              <a:rPr sz="1250">
                <a:solidFill>
                  <a:srgbClr val="E6EDF7"/>
                </a:solidFill>
                <a:latin typeface="Roboto Mono"/>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TODO 2</a:t>
            </a:r>
          </a:p>
          <a:p>
            <a:pPr algn="l">
              <a:lnSpc>
                <a:spcPct val="118000"/>
              </a:lnSpc>
              <a:spcAft>
                <a:spcPts val="0"/>
              </a:spcAft>
            </a:pPr>
            <a:r>
              <a:rPr sz="3000" b="1">
                <a:solidFill>
                  <a:srgbClr val="111111"/>
                </a:solidFill>
                <a:latin typeface="Be Vietnam Pro"/>
              </a:rPr>
              <a:t>Encode giá trị trước khi đem băm</a:t>
            </a:r>
          </a:p>
        </p:txBody>
      </p:sp>
      <p:sp>
        <p:nvSpPr>
          <p:cNvPr id="3" name="TextBox 2"/>
          <p:cNvSpPr txBox="1"/>
          <p:nvPr/>
        </p:nvSpPr>
        <p:spPr>
          <a:xfrm>
            <a:off x="658368" y="1719072"/>
            <a:ext cx="10874959" cy="219456"/>
          </a:xfrm>
          <a:prstGeom prst="rect">
            <a:avLst/>
          </a:prstGeom>
          <a:noFill/>
        </p:spPr>
        <p:txBody>
          <a:bodyPr wrap="square">
            <a:spAutoFit/>
          </a:bodyPr>
          <a:lstStyle/>
          <a:p>
            <a:pPr algn="l">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29794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static String buildQueryString(Map&lt;String, String&gt; params) {</a:t>
            </a:r>
          </a:p>
          <a:p>
            <a:pPr algn="l">
              <a:lnSpc>
                <a:spcPts val="1775"/>
              </a:lnSpc>
              <a:spcAft>
                <a:spcPts val="0"/>
              </a:spcAft>
            </a:pPr>
            <a:r>
              <a:rPr sz="1250">
                <a:solidFill>
                  <a:srgbClr val="E6EDF7"/>
                </a:solidFill>
                <a:latin typeface="Roboto Mono"/>
              </a:rPr>
              <a:t>    StringBuilder sb = new StringBuilder();</a:t>
            </a:r>
          </a:p>
          <a:p>
            <a:pPr algn="l">
              <a:lnSpc>
                <a:spcPts val="1775"/>
              </a:lnSpc>
              <a:spcAft>
                <a:spcPts val="0"/>
              </a:spcAft>
            </a:pPr>
          </a:p>
          <a:p>
            <a:pPr algn="l">
              <a:lnSpc>
                <a:spcPts val="1775"/>
              </a:lnSpc>
              <a:spcAft>
                <a:spcPts val="0"/>
              </a:spcAft>
            </a:pPr>
            <a:r>
              <a:rPr sz="1250">
                <a:solidFill>
                  <a:srgbClr val="E6EDF7"/>
                </a:solidFill>
                <a:latin typeface="Roboto Mono"/>
              </a:rPr>
              <a:t>    for (var e : new TreeMap&lt;&gt;(params).entrySet()) {</a:t>
            </a:r>
          </a:p>
          <a:p>
            <a:pPr algn="l">
              <a:lnSpc>
                <a:spcPts val="1775"/>
              </a:lnSpc>
              <a:spcAft>
                <a:spcPts val="0"/>
              </a:spcAft>
            </a:pPr>
            <a:r>
              <a:rPr sz="1250">
                <a:solidFill>
                  <a:srgbClr val="E6EDF7"/>
                </a:solidFill>
                <a:latin typeface="Roboto Mono"/>
              </a:rPr>
              <a:t>        if (e.getValue() == null || e.getValue().isEmpty()) continue;</a:t>
            </a:r>
          </a:p>
          <a:p>
            <a:pPr algn="l">
              <a:lnSpc>
                <a:spcPts val="1775"/>
              </a:lnSpc>
              <a:spcAft>
                <a:spcPts val="0"/>
              </a:spcAft>
            </a:pPr>
            <a:r>
              <a:rPr sz="1250">
                <a:solidFill>
                  <a:srgbClr val="E6EDF7"/>
                </a:solidFill>
                <a:latin typeface="Roboto Mono"/>
              </a:rPr>
              <a:t>        if (sb.length() &gt; 0) sb.append('&amp;');</a:t>
            </a:r>
          </a:p>
          <a:p>
            <a:pPr algn="l">
              <a:lnSpc>
                <a:spcPts val="1775"/>
              </a:lnSpc>
              <a:spcAft>
                <a:spcPts val="0"/>
              </a:spcAft>
            </a:pPr>
          </a:p>
          <a:p>
            <a:pPr algn="l">
              <a:lnSpc>
                <a:spcPts val="1775"/>
              </a:lnSpc>
              <a:spcAft>
                <a:spcPts val="0"/>
              </a:spcAft>
            </a:pPr>
            <a:r>
              <a:rPr sz="1250">
                <a:solidFill>
                  <a:srgbClr val="E6EDF7"/>
                </a:solidFill>
                <a:latin typeface="Roboto Mono"/>
              </a:rPr>
              <a:t>        sb.append(URLEncoder.encode(e.getKey(), US_ASCII)).append('=')</a:t>
            </a:r>
          </a:p>
          <a:p>
            <a:pPr algn="l">
              <a:lnSpc>
                <a:spcPts val="1775"/>
              </a:lnSpc>
              <a:spcAft>
                <a:spcPts val="0"/>
              </a:spcAft>
            </a:pPr>
            <a:r>
              <a:rPr sz="1250">
                <a:solidFill>
                  <a:srgbClr val="E6EDF7"/>
                </a:solidFill>
                <a:latin typeface="Roboto Mono"/>
              </a:rPr>
              <a:t>          .append(URLEncoder.encode(e.getValue(), US_ASCII));</a:t>
            </a:r>
          </a:p>
          <a:p>
            <a:pPr algn="l">
              <a:lnSpc>
                <a:spcPts val="1775"/>
              </a:lnSpc>
              <a:spcAft>
                <a:spcPts val="0"/>
              </a:spcAft>
            </a:pPr>
            <a:r>
              <a:rPr sz="1250">
                <a:solidFill>
                  <a:srgbClr val="E6EDF7"/>
                </a:solidFill>
                <a:latin typeface="Roboto Mono"/>
              </a:rPr>
              <a:t>    }</a:t>
            </a:r>
          </a:p>
          <a:p>
            <a:pPr algn="l">
              <a:lnSpc>
                <a:spcPts val="1775"/>
              </a:lnSpc>
              <a:spcAft>
                <a:spcPts val="0"/>
              </a:spcAft>
            </a:pPr>
            <a:r>
              <a:rPr sz="1250">
                <a:solidFill>
                  <a:srgbClr val="E6EDF7"/>
                </a:solidFill>
                <a:latin typeface="Roboto Mono"/>
              </a:rPr>
              <a:t>    return sb.toString();</a:t>
            </a:r>
          </a:p>
          <a:p>
            <a:pPr algn="l">
              <a:lnSpc>
                <a:spcPts val="1775"/>
              </a:lnSpc>
              <a:spcAft>
                <a:spcPts val="0"/>
              </a:spcAft>
            </a:pPr>
            <a:r>
              <a:rPr sz="1250">
                <a:solidFill>
                  <a:srgbClr val="E6EDF7"/>
                </a:solidFill>
                <a:latin typeface="Roboto Mono"/>
              </a:rPr>
              <a:t>}</a:t>
            </a:r>
          </a:p>
        </p:txBody>
      </p:sp>
      <p:sp>
        <p:nvSpPr>
          <p:cNvPr id="5" name="Rounded Rectangle 4"/>
          <p:cNvSpPr/>
          <p:nvPr/>
        </p:nvSpPr>
        <p:spPr>
          <a:xfrm>
            <a:off x="658368" y="5119116"/>
            <a:ext cx="5336895" cy="119100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265420"/>
            <a:ext cx="4934559" cy="91668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Lỗi thứ nhất</a:t>
            </a:r>
          </a:p>
          <a:p>
            <a:pPr algn="l">
              <a:lnSpc>
                <a:spcPct val="118000"/>
              </a:lnSpc>
              <a:spcAft>
                <a:spcPts val="0"/>
              </a:spcAft>
            </a:pPr>
            <a:r>
              <a:rPr sz="1350" b="0">
                <a:solidFill>
                  <a:srgbClr val="3F454D"/>
                </a:solidFill>
                <a:latin typeface="Be Vietnam Pro"/>
              </a:rPr>
              <a:t>Quên encode phần giá trị. vnp_OrderInfo có dấu cách là chữ ký lệch ngay.</a:t>
            </a:r>
          </a:p>
        </p:txBody>
      </p:sp>
      <p:sp>
        <p:nvSpPr>
          <p:cNvPr id="7" name="Rounded Rectangle 6"/>
          <p:cNvSpPr/>
          <p:nvPr/>
        </p:nvSpPr>
        <p:spPr>
          <a:xfrm>
            <a:off x="6196431" y="5119116"/>
            <a:ext cx="5336895" cy="119100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7599" y="5265420"/>
            <a:ext cx="4934559" cy="91668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Lỗi thứ hai</a:t>
            </a:r>
          </a:p>
          <a:p>
            <a:pPr algn="l">
              <a:lnSpc>
                <a:spcPct val="118000"/>
              </a:lnSpc>
              <a:spcAft>
                <a:spcPts val="0"/>
              </a:spcAft>
            </a:pPr>
            <a:r>
              <a:rPr sz="1350" b="0">
                <a:solidFill>
                  <a:srgbClr val="3F454D"/>
                </a:solidFill>
                <a:latin typeface="Be Vietnam Pro"/>
              </a:rPr>
              <a:t>Để lọt tham số rỗng vào chuỗi. VNPAY bỏ qua chúng, mình giữ lại là sai.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TODO 3</a:t>
            </a:r>
          </a:p>
          <a:p>
            <a:pPr algn="l">
              <a:lnSpc>
                <a:spcPct val="118000"/>
              </a:lnSpc>
              <a:spcAft>
                <a:spcPts val="0"/>
              </a:spcAft>
            </a:pPr>
            <a:r>
              <a:rPr sz="3000" b="1">
                <a:solidFill>
                  <a:srgbClr val="111111"/>
                </a:solidFill>
                <a:latin typeface="Be Vietnam Pro"/>
              </a:rPr>
              <a:t>Verify là ký lại rồi đem so</a:t>
            </a:r>
          </a:p>
        </p:txBody>
      </p:sp>
      <p:sp>
        <p:nvSpPr>
          <p:cNvPr id="3" name="TextBox 2"/>
          <p:cNvSpPr txBox="1"/>
          <p:nvPr/>
        </p:nvSpPr>
        <p:spPr>
          <a:xfrm>
            <a:off x="658368" y="1719072"/>
            <a:ext cx="10874959" cy="219456"/>
          </a:xfrm>
          <a:prstGeom prst="rect">
            <a:avLst/>
          </a:prstGeom>
          <a:noFill/>
        </p:spPr>
        <p:txBody>
          <a:bodyPr wrap="square">
            <a:spAutoFit/>
          </a:bodyPr>
          <a:lstStyle/>
          <a:p>
            <a:pPr algn="l">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27539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static boolean isValidSignature(Map&lt;String, String&gt; params) {</a:t>
            </a:r>
          </a:p>
          <a:p>
            <a:pPr algn="l">
              <a:lnSpc>
                <a:spcPts val="1775"/>
              </a:lnSpc>
              <a:spcAft>
                <a:spcPts val="0"/>
              </a:spcAft>
            </a:pPr>
            <a:r>
              <a:rPr sz="1250">
                <a:solidFill>
                  <a:srgbClr val="E6EDF7"/>
                </a:solidFill>
                <a:latin typeface="Roboto Mono"/>
              </a:rPr>
              <a:t>    String received = params.get("vnp_SecureHash");</a:t>
            </a:r>
          </a:p>
          <a:p>
            <a:pPr algn="l">
              <a:lnSpc>
                <a:spcPts val="1775"/>
              </a:lnSpc>
              <a:spcAft>
                <a:spcPts val="0"/>
              </a:spcAft>
            </a:pPr>
            <a:r>
              <a:rPr sz="1250">
                <a:solidFill>
                  <a:srgbClr val="E6EDF7"/>
                </a:solidFill>
                <a:latin typeface="Roboto Mono"/>
              </a:rPr>
              <a:t>    if (received == null || received.isBlank()) return false;</a:t>
            </a:r>
          </a:p>
          <a:p>
            <a:pPr algn="l">
              <a:lnSpc>
                <a:spcPts val="1775"/>
              </a:lnSpc>
              <a:spcAft>
                <a:spcPts val="0"/>
              </a:spcAft>
            </a:pPr>
          </a:p>
          <a:p>
            <a:pPr algn="l">
              <a:lnSpc>
                <a:spcPts val="1775"/>
              </a:lnSpc>
              <a:spcAft>
                <a:spcPts val="0"/>
              </a:spcAft>
            </a:pPr>
            <a:r>
              <a:rPr sz="1250">
                <a:solidFill>
                  <a:srgbClr val="E6EDF7"/>
                </a:solidFill>
                <a:latin typeface="Roboto Mono"/>
              </a:rPr>
              <a:t>    Map&lt;String, String&gt; clone = new TreeMap&lt;&gt;(params);</a:t>
            </a:r>
          </a:p>
          <a:p>
            <a:pPr algn="l">
              <a:lnSpc>
                <a:spcPts val="1775"/>
              </a:lnSpc>
              <a:spcAft>
                <a:spcPts val="0"/>
              </a:spcAft>
            </a:pPr>
            <a:r>
              <a:rPr sz="1250">
                <a:solidFill>
                  <a:srgbClr val="E6EDF7"/>
                </a:solidFill>
                <a:latin typeface="Roboto Mono"/>
              </a:rPr>
              <a:t>    clone.remove("vnp_SecureHash");</a:t>
            </a:r>
          </a:p>
          <a:p>
            <a:pPr algn="l">
              <a:lnSpc>
                <a:spcPts val="1775"/>
              </a:lnSpc>
              <a:spcAft>
                <a:spcPts val="0"/>
              </a:spcAft>
            </a:pPr>
            <a:r>
              <a:rPr sz="1250">
                <a:solidFill>
                  <a:srgbClr val="E6EDF7"/>
                </a:solidFill>
                <a:latin typeface="Roboto Mono"/>
              </a:rPr>
              <a:t>    clone.remove("vnp_SecureHashType");</a:t>
            </a:r>
          </a:p>
          <a:p>
            <a:pPr algn="l">
              <a:lnSpc>
                <a:spcPts val="1775"/>
              </a:lnSpc>
              <a:spcAft>
                <a:spcPts val="0"/>
              </a:spcAft>
            </a:pPr>
          </a:p>
          <a:p>
            <a:pPr algn="l">
              <a:lnSpc>
                <a:spcPts val="1775"/>
              </a:lnSpc>
              <a:spcAft>
                <a:spcPts val="0"/>
              </a:spcAft>
            </a:pPr>
            <a:r>
              <a:rPr sz="1250">
                <a:solidFill>
                  <a:srgbClr val="E6EDF7"/>
                </a:solidFill>
                <a:latin typeface="Roboto Mono"/>
              </a:rPr>
              <a:t>    String expected = hmacSHA512(HASH_SECRET, buildQueryString(clone));</a:t>
            </a:r>
          </a:p>
          <a:p>
            <a:pPr algn="l">
              <a:lnSpc>
                <a:spcPts val="1775"/>
              </a:lnSpc>
              <a:spcAft>
                <a:spcPts val="0"/>
              </a:spcAft>
            </a:pPr>
            <a:r>
              <a:rPr sz="1250">
                <a:solidFill>
                  <a:srgbClr val="E6EDF7"/>
                </a:solidFill>
                <a:latin typeface="Roboto Mono"/>
              </a:rPr>
              <a:t>    return constantTimeEquals(expected, received);</a:t>
            </a:r>
          </a:p>
          <a:p>
            <a:pPr algn="l">
              <a:lnSpc>
                <a:spcPts val="1775"/>
              </a:lnSpc>
              <a:spcAft>
                <a:spcPts val="0"/>
              </a:spcAft>
            </a:pPr>
            <a:r>
              <a:rPr sz="1250">
                <a:solidFill>
                  <a:srgbClr val="E6EDF7"/>
                </a:solidFill>
                <a:latin typeface="Roboto Mono"/>
              </a:rPr>
              <a:t>}</a:t>
            </a:r>
          </a:p>
        </p:txBody>
      </p:sp>
      <p:sp>
        <p:nvSpPr>
          <p:cNvPr id="5" name="Rounded Rectangle 4"/>
          <p:cNvSpPr/>
          <p:nvPr/>
        </p:nvSpPr>
        <p:spPr>
          <a:xfrm>
            <a:off x="658368" y="4893691"/>
            <a:ext cx="10874959" cy="998980"/>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4948555"/>
            <a:ext cx="40640" cy="889252"/>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012563"/>
            <a:ext cx="10417759" cy="761236"/>
          </a:xfrm>
          <a:prstGeom prst="rect">
            <a:avLst/>
          </a:prstGeom>
          <a:noFill/>
        </p:spPr>
        <p:txBody>
          <a:bodyPr wrap="square">
            <a:spAutoFit/>
          </a:bodyPr>
          <a:lstStyle/>
          <a:p>
            <a:pPr algn="l">
              <a:lnSpc>
                <a:spcPct val="118000"/>
              </a:lnSpc>
              <a:spcAft>
                <a:spcPts val="400"/>
              </a:spcAft>
            </a:pPr>
            <a:r>
              <a:rPr sz="1400" b="1">
                <a:solidFill>
                  <a:srgbClr val="0066FF"/>
                </a:solidFill>
                <a:latin typeface="Be Vietnam Pro"/>
              </a:rPr>
              <a:t>Cách debug khi chữ ký không khớp</a:t>
            </a:r>
          </a:p>
          <a:p>
            <a:pPr algn="l">
              <a:lnSpc>
                <a:spcPct val="118000"/>
              </a:lnSpc>
              <a:spcAft>
                <a:spcPts val="0"/>
              </a:spcAft>
            </a:pPr>
            <a:r>
              <a:rPr sz="1350" b="0">
                <a:solidFill>
                  <a:srgbClr val="3F454D"/>
                </a:solidFill>
                <a:latin typeface="Be Vietnam Pro"/>
              </a:rPr>
              <a:t>In buildQueryString(clone) ra rồi so từng ký tự với query string trên thanh địa chỉ. Gần như luôn lòi ra một trong hai lỗi ở slide trước.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TODO 4</a:t>
            </a:r>
          </a:p>
          <a:p>
            <a:pPr algn="l">
              <a:lnSpc>
                <a:spcPct val="118000"/>
              </a:lnSpc>
              <a:spcAft>
                <a:spcPts val="0"/>
              </a:spcAft>
            </a:pPr>
            <a:r>
              <a:rPr sz="3000" b="1">
                <a:solidFill>
                  <a:srgbClr val="111111"/>
                </a:solidFill>
                <a:latin typeface="Be Vietnam Pro"/>
              </a:rPr>
              <a:t>Số tiền nhân 100, giờ theo GMT+7</a:t>
            </a:r>
          </a:p>
        </p:txBody>
      </p:sp>
      <p:graphicFrame>
        <p:nvGraphicFramePr>
          <p:cNvPr id="3" name="Table 2"/>
          <p:cNvGraphicFramePr>
            <a:graphicFrameLocks noGrp="1"/>
          </p:cNvGraphicFramePr>
          <p:nvPr/>
        </p:nvGraphicFramePr>
        <p:xfrm>
          <a:off x="658368" y="1719072"/>
          <a:ext cx="10874957" cy="1773936"/>
        </p:xfrm>
        <a:graphic>
          <a:graphicData uri="http://schemas.openxmlformats.org/drawingml/2006/table">
            <a:tbl>
              <a:tblPr firstRow="1" bandRow="1">
                <a:tableStyleId>{5C22544A-7EE6-4342-B048-85BDC9FD1C3A}</a:tableStyleId>
              </a:tblPr>
              <a:tblGrid>
                <a:gridCol w="2136152"/>
                <a:gridCol w="3301326"/>
                <a:gridCol w="5437479"/>
              </a:tblGrid>
              <a:tr h="384048">
                <a:tc>
                  <a:txBody>
                    <a:bodyPr wrap="square"/>
                    <a:lstStyle/>
                    <a:p>
                      <a:pPr algn="l">
                        <a:lnSpc>
                          <a:spcPct val="118000"/>
                        </a:lnSpc>
                        <a:spcAft>
                          <a:spcPts val="0"/>
                        </a:spcAft>
                      </a:pPr>
                      <a:r>
                        <a:rPr sz="1200" b="1">
                          <a:solidFill>
                            <a:srgbClr val="0066FF"/>
                          </a:solidFill>
                          <a:latin typeface="Be Vietnam Pro"/>
                        </a:rPr>
                        <a:t>Tham số</a:t>
                      </a:r>
                    </a:p>
                  </a:txBody>
                  <a:tcPr anchor="ctr" marL="128016">
                    <a:solidFill>
                      <a:srgbClr val="ECF2FF"/>
                    </a:solidFill>
                  </a:tcPr>
                </a:tc>
                <a:tc>
                  <a:txBody>
                    <a:bodyPr wrap="square"/>
                    <a:lstStyle/>
                    <a:p>
                      <a:pPr algn="l">
                        <a:lnSpc>
                          <a:spcPct val="118000"/>
                        </a:lnSpc>
                        <a:spcAft>
                          <a:spcPts val="0"/>
                        </a:spcAft>
                      </a:pPr>
                      <a:r>
                        <a:rPr sz="1200" b="1">
                          <a:solidFill>
                            <a:srgbClr val="0066FF"/>
                          </a:solidFill>
                          <a:latin typeface="Be Vietnam Pro"/>
                        </a:rPr>
                        <a:t>Giá trị mẫu</a:t>
                      </a:r>
                    </a:p>
                  </a:txBody>
                  <a:tcPr anchor="ctr" marL="128016">
                    <a:solidFill>
                      <a:srgbClr val="ECF2FF"/>
                    </a:solidFill>
                  </a:tcPr>
                </a:tc>
                <a:tc>
                  <a:txBody>
                    <a:bodyPr wrap="square"/>
                    <a:lstStyle/>
                    <a:p>
                      <a:pPr algn="l">
                        <a:lnSpc>
                          <a:spcPct val="118000"/>
                        </a:lnSpc>
                        <a:spcAft>
                          <a:spcPts val="0"/>
                        </a:spcAft>
                      </a:pPr>
                      <a:r>
                        <a:rPr sz="1200" b="1">
                          <a:solidFill>
                            <a:srgbClr val="0066FF"/>
                          </a:solidFill>
                          <a:latin typeface="Be Vietnam Pro"/>
                        </a:rPr>
                        <a:t>Chỗ dễ sai</a:t>
                      </a:r>
                    </a:p>
                  </a:txBody>
                  <a:tcPr anchor="ctr" marL="128016">
                    <a:solidFill>
                      <a:srgbClr val="ECF2FF"/>
                    </a:solidFill>
                  </a:tcPr>
                </a:tc>
              </a:tr>
              <a:tr h="347472">
                <a:tc>
                  <a:txBody>
                    <a:bodyPr wrap="square"/>
                    <a:lstStyle/>
                    <a:p>
                      <a:pPr algn="l">
                        <a:lnSpc>
                          <a:spcPct val="118000"/>
                        </a:lnSpc>
                        <a:spcAft>
                          <a:spcPts val="0"/>
                        </a:spcAft>
                      </a:pPr>
                      <a:r>
                        <a:rPr sz="1250" b="0">
                          <a:solidFill>
                            <a:srgbClr val="111111"/>
                          </a:solidFill>
                          <a:latin typeface="Be Vietnam Pro"/>
                        </a:rPr>
                        <a:t>vnp_Amount</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Roboto Mono"/>
                        </a:rPr>
                        <a:t>2500000</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Nhân 100 và là số nguyên. 25.000đ thành 2500000</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vnp_TxnRef</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Roboto Mono"/>
                        </a:rPr>
                        <a:t>20260920125606777443</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Duy nhất trong 24h theo TmnCode</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vnp_CreateDate</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Roboto Mono"/>
                        </a:rPr>
                        <a:t>20260920125606</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Giờ GMT+7, không phải giờ máy chủ</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vnp_BankCode</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Roboto Mono"/>
                        </a:rPr>
                        <a:t>NCB</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Bỏ trống thì VNPAY hiện trang chọn ngân hàng</a:t>
                      </a:r>
                    </a:p>
                  </a:txBody>
                  <a:tcPr anchor="ctr" marL="128016">
                    <a:solidFill>
                      <a:srgbClr val="FFFFFF"/>
                    </a:solidFill>
                  </a:tcPr>
                </a:tc>
              </a:tr>
            </a:tbl>
          </a:graphicData>
        </a:graphic>
      </p:graphicFrame>
      <p:sp>
        <p:nvSpPr>
          <p:cNvPr id="4" name="Rounded Rectangle 3"/>
          <p:cNvSpPr/>
          <p:nvPr/>
        </p:nvSpPr>
        <p:spPr>
          <a:xfrm>
            <a:off x="658368" y="3675888"/>
            <a:ext cx="10874959" cy="9505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p.put("vnp_Amount", String.valueOf(amount * 100));</a:t>
            </a:r>
          </a:p>
          <a:p>
            <a:pPr algn="l">
              <a:lnSpc>
                <a:spcPts val="1775"/>
              </a:lnSpc>
              <a:spcAft>
                <a:spcPts val="0"/>
              </a:spcAft>
            </a:pPr>
            <a:r>
              <a:rPr sz="1250">
                <a:solidFill>
                  <a:srgbClr val="E6EDF7"/>
                </a:solidFill>
                <a:latin typeface="Roboto Mono"/>
              </a:rPr>
              <a:t>String query = buildQueryString(p);</a:t>
            </a:r>
          </a:p>
          <a:p>
            <a:pPr algn="l">
              <a:lnSpc>
                <a:spcPts val="1775"/>
              </a:lnSpc>
              <a:spcAft>
                <a:spcPts val="0"/>
              </a:spcAft>
            </a:pPr>
            <a:r>
              <a:rPr sz="1250">
                <a:solidFill>
                  <a:srgbClr val="E6EDF7"/>
                </a:solidFill>
                <a:latin typeface="Roboto Mono"/>
              </a:rPr>
              <a:t>String url = PAY_URL + "?" + query + "&amp;vnp_SecureHash=" + hmacSHA512(HASH_SECRET, query);</a:t>
            </a:r>
          </a:p>
        </p:txBody>
      </p:sp>
      <p:sp>
        <p:nvSpPr>
          <p:cNvPr id="5" name="Rounded Rectangle 4"/>
          <p:cNvSpPr/>
          <p:nvPr/>
        </p:nvSpPr>
        <p:spPr>
          <a:xfrm>
            <a:off x="658368" y="4809363"/>
            <a:ext cx="10874959" cy="998980"/>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4864227"/>
            <a:ext cx="40640" cy="889252"/>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4928235"/>
            <a:ext cx="10417759" cy="761236"/>
          </a:xfrm>
          <a:prstGeom prst="rect">
            <a:avLst/>
          </a:prstGeom>
          <a:noFill/>
        </p:spPr>
        <p:txBody>
          <a:bodyPr wrap="square">
            <a:spAutoFit/>
          </a:bodyPr>
          <a:lstStyle/>
          <a:p>
            <a:pPr algn="l">
              <a:lnSpc>
                <a:spcPct val="118000"/>
              </a:lnSpc>
              <a:spcAft>
                <a:spcPts val="400"/>
              </a:spcAft>
            </a:pPr>
            <a:r>
              <a:rPr sz="1400" b="1">
                <a:solidFill>
                  <a:srgbClr val="C42B22"/>
                </a:solidFill>
                <a:latin typeface="Be Vietnam Pro"/>
              </a:rPr>
              <a:t>Cái bẫy nằm ngay trong code mẫu của chính VNPAY</a:t>
            </a:r>
          </a:p>
          <a:p>
            <a:pPr algn="l">
              <a:lnSpc>
                <a:spcPct val="118000"/>
              </a:lnSpc>
              <a:spcAft>
                <a:spcPts val="0"/>
              </a:spcAft>
            </a:pPr>
            <a:r>
              <a:rPr sz="1350" b="0">
                <a:solidFill>
                  <a:srgbClr val="3F454D"/>
                </a:solidFill>
                <a:latin typeface="Be Vietnam Pro"/>
              </a:rPr>
              <a:t>Demo của họ dùng Etc/GMT+7, mà theo POSIX nó là UTC trừ 7, lệch 14 tiếng, giao dịch hết hạn ngay lúc vừa tạo. Dùng ZoneId.of("Asia/Ho_Chi_Minh").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KIỂM TRA</a:t>
            </a:r>
          </a:p>
          <a:p>
            <a:pPr algn="l">
              <a:lnSpc>
                <a:spcPct val="118000"/>
              </a:lnSpc>
              <a:spcAft>
                <a:spcPts val="0"/>
              </a:spcAft>
            </a:pPr>
            <a:r>
              <a:rPr sz="3000" b="1">
                <a:solidFill>
                  <a:srgbClr val="111111"/>
                </a:solidFill>
                <a:latin typeface="Be Vietnam Pro"/>
              </a:rPr>
              <a:t>Chạy thử trước khi viết tiếp</a:t>
            </a:r>
          </a:p>
        </p:txBody>
      </p:sp>
      <p:sp>
        <p:nvSpPr>
          <p:cNvPr id="3" name="Rounded Rectangle 2"/>
          <p:cNvSpPr/>
          <p:nvPr/>
        </p:nvSpPr>
        <p:spPr>
          <a:xfrm>
            <a:off x="658368" y="1719072"/>
            <a:ext cx="10874959" cy="11760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export VNPAY_TMN_CODE=... VNPAY_HASH_SECRET=...</a:t>
            </a:r>
          </a:p>
          <a:p>
            <a:pPr algn="l">
              <a:lnSpc>
                <a:spcPts val="1775"/>
              </a:lnSpc>
              <a:spcAft>
                <a:spcPts val="0"/>
              </a:spcAft>
            </a:pPr>
            <a:r>
              <a:rPr sz="1250">
                <a:solidFill>
                  <a:srgbClr val="E6EDF7"/>
                </a:solidFill>
                <a:latin typeface="Roboto Mono"/>
              </a:rPr>
              <a:t>java ShopStart.java</a:t>
            </a:r>
          </a:p>
          <a:p>
            <a:pPr algn="l">
              <a:lnSpc>
                <a:spcPts val="1775"/>
              </a:lnSpc>
              <a:spcAft>
                <a:spcPts val="0"/>
              </a:spcAft>
            </a:pPr>
          </a:p>
          <a:p>
            <a:pPr algn="l">
              <a:lnSpc>
                <a:spcPts val="1775"/>
              </a:lnSpc>
              <a:spcAft>
                <a:spcPts val="0"/>
              </a:spcAft>
            </a:pPr>
            <a:r>
              <a:rPr sz="1250">
                <a:solidFill>
                  <a:srgbClr val="7D8CA3"/>
                </a:solidFill>
                <a:latin typeface="Roboto Mono"/>
              </a:rPr>
              <a:t># mở http://localhost:8080, bấm Mua ngay rồi Thanh toán</a:t>
            </a:r>
          </a:p>
        </p:txBody>
      </p:sp>
      <p:sp>
        <p:nvSpPr>
          <p:cNvPr id="4" name="Rounded Rectangle 3"/>
          <p:cNvSpPr/>
          <p:nvPr/>
        </p:nvSpPr>
        <p:spPr>
          <a:xfrm>
            <a:off x="658368" y="3077972"/>
            <a:ext cx="3490874" cy="119100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224276"/>
            <a:ext cx="3088538" cy="91668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Hiện form nhập thẻ NCB</a:t>
            </a:r>
          </a:p>
          <a:p>
            <a:pPr algn="l">
              <a:lnSpc>
                <a:spcPct val="118000"/>
              </a:lnSpc>
              <a:spcAft>
                <a:spcPts val="0"/>
              </a:spcAft>
            </a:pPr>
            <a:r>
              <a:rPr sz="1350" b="0">
                <a:solidFill>
                  <a:srgbClr val="3F454D"/>
                </a:solidFill>
                <a:latin typeface="Be Vietnam Pro"/>
              </a:rPr>
              <a:t>Chữ ký đúng rồi, đi tiếp phần ngrok.</a:t>
            </a:r>
          </a:p>
        </p:txBody>
      </p:sp>
      <p:sp>
        <p:nvSpPr>
          <p:cNvPr id="6" name="Rounded Rectangle 5"/>
          <p:cNvSpPr/>
          <p:nvPr/>
        </p:nvSpPr>
        <p:spPr>
          <a:xfrm>
            <a:off x="4350410" y="3077972"/>
            <a:ext cx="3490874" cy="119100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1578" y="3224276"/>
            <a:ext cx="3088538" cy="91668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Báo chữ ký không hợp lệ</a:t>
            </a:r>
          </a:p>
          <a:p>
            <a:pPr algn="l">
              <a:lnSpc>
                <a:spcPct val="118000"/>
              </a:lnSpc>
              <a:spcAft>
                <a:spcPts val="0"/>
              </a:spcAft>
            </a:pPr>
            <a:r>
              <a:rPr sz="1350" b="0">
                <a:solidFill>
                  <a:srgbClr val="3F454D"/>
                </a:solidFill>
                <a:latin typeface="Be Vietnam Pro"/>
              </a:rPr>
              <a:t>Sai HashSecret, hoặc quên encode ở TODO 2.</a:t>
            </a:r>
          </a:p>
        </p:txBody>
      </p:sp>
      <p:sp>
        <p:nvSpPr>
          <p:cNvPr id="8" name="Rounded Rectangle 7"/>
          <p:cNvSpPr/>
          <p:nvPr/>
        </p:nvSpPr>
        <p:spPr>
          <a:xfrm>
            <a:off x="8042452" y="3077972"/>
            <a:ext cx="3490874" cy="119100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3620" y="3224276"/>
            <a:ext cx="3088538" cy="91668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Báo website không tồn tại</a:t>
            </a:r>
          </a:p>
          <a:p>
            <a:pPr algn="l">
              <a:lnSpc>
                <a:spcPct val="118000"/>
              </a:lnSpc>
              <a:spcAft>
                <a:spcPts val="0"/>
              </a:spcAft>
            </a:pPr>
            <a:r>
              <a:rPr sz="1350" b="0">
                <a:solidFill>
                  <a:srgbClr val="3F454D"/>
                </a:solidFill>
                <a:latin typeface="Be Vietnam Pro"/>
              </a:rPr>
              <a:t>Sai TmnCode, hoặc vnp_ReturnUrl không khớp domain đã khai.</a:t>
            </a:r>
          </a:p>
        </p:txBody>
      </p:sp>
      <p:sp>
        <p:nvSpPr>
          <p:cNvPr id="10" name="Rounded Rectangle 9"/>
          <p:cNvSpPr/>
          <p:nvPr/>
        </p:nvSpPr>
        <p:spPr>
          <a:xfrm>
            <a:off x="658368" y="4451858"/>
            <a:ext cx="10874959" cy="1600200"/>
          </a:xfrm>
          <a:prstGeom prst="roundRect">
            <a:avLst>
              <a:gd name="adj" fmla="val 2000"/>
            </a:avLst>
          </a:prstGeom>
          <a:solidFill>
            <a:srgbClr val="EFF2F6"/>
          </a:solidFill>
          <a:ln w="12700">
            <a:solidFill>
              <a:srgbClr val="C3CBD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0">
                <a:solidFill>
                  <a:srgbClr val="6B7280"/>
                </a:solidFill>
                <a:latin typeface="Be Vietnam Pro"/>
              </a:rPr>
              <a:t>Chèn ảnh chụp trang nhập thẻ NCB của VNPAY vào ô này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BẮT BUỘC</a:t>
            </a:r>
          </a:p>
          <a:p>
            <a:pPr algn="l">
              <a:lnSpc>
                <a:spcPct val="118000"/>
              </a:lnSpc>
              <a:spcAft>
                <a:spcPts val="0"/>
              </a:spcAft>
            </a:pPr>
            <a:r>
              <a:rPr sz="3000" b="1">
                <a:solidFill>
                  <a:srgbClr val="111111"/>
                </a:solidFill>
                <a:latin typeface="Be Vietnam Pro"/>
              </a:rPr>
              <a:t>ngrok mở đường cho VNPAY gọi về máy</a:t>
            </a:r>
          </a:p>
        </p:txBody>
      </p:sp>
      <p:sp>
        <p:nvSpPr>
          <p:cNvPr id="3" name="TextBox 2"/>
          <p:cNvSpPr txBox="1"/>
          <p:nvPr/>
        </p:nvSpPr>
        <p:spPr>
          <a:xfrm>
            <a:off x="658368" y="1719072"/>
            <a:ext cx="10874959" cy="357187"/>
          </a:xfrm>
          <a:prstGeom prst="rect">
            <a:avLst/>
          </a:prstGeom>
          <a:noFill/>
        </p:spPr>
        <p:txBody>
          <a:bodyPr wrap="square">
            <a:spAutoFit/>
          </a:bodyPr>
          <a:lstStyle/>
          <a:p>
            <a:pPr algn="l">
              <a:lnSpc>
                <a:spcPct val="118000"/>
              </a:lnSpc>
              <a:spcAft>
                <a:spcPts val="400"/>
              </a:spcAft>
            </a:pPr>
            <a:r>
              <a:rPr sz="1550" b="0">
                <a:solidFill>
                  <a:srgbClr val="3F454D"/>
                </a:solidFill>
                <a:latin typeface="Be Vietnam Pro"/>
              </a:rPr>
              <a:t>IPN là cuộc gọi từ server VNPAY vào server mình. Máy ở localhost thì từ internet không ai thấy.</a:t>
            </a:r>
          </a:p>
        </p:txBody>
      </p:sp>
      <p:sp>
        <p:nvSpPr>
          <p:cNvPr id="4" name="Rounded Rectangle 3"/>
          <p:cNvSpPr/>
          <p:nvPr/>
        </p:nvSpPr>
        <p:spPr>
          <a:xfrm>
            <a:off x="658368" y="2259139"/>
            <a:ext cx="10874959" cy="9505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ngrok http 8080</a:t>
            </a:r>
          </a:p>
          <a:p>
            <a:pPr algn="l">
              <a:lnSpc>
                <a:spcPts val="1775"/>
              </a:lnSpc>
              <a:spcAft>
                <a:spcPts val="0"/>
              </a:spcAft>
            </a:pPr>
          </a:p>
          <a:p>
            <a:pPr algn="l">
              <a:lnSpc>
                <a:spcPts val="1775"/>
              </a:lnSpc>
              <a:spcAft>
                <a:spcPts val="0"/>
              </a:spcAft>
            </a:pPr>
            <a:r>
              <a:rPr sz="1250">
                <a:solidFill>
                  <a:srgbClr val="E6EDF7"/>
                </a:solidFill>
                <a:latin typeface="Roboto Mono"/>
              </a:rPr>
              <a:t>Forwarding   https://a1b2-42-115-242-109.ngrok-free.app -&gt; http://localhost:8080</a:t>
            </a:r>
          </a:p>
        </p:txBody>
      </p:sp>
      <p:graphicFrame>
        <p:nvGraphicFramePr>
          <p:cNvPr id="5" name="Table 4"/>
          <p:cNvGraphicFramePr>
            <a:graphicFrameLocks noGrp="1"/>
          </p:cNvGraphicFramePr>
          <p:nvPr/>
        </p:nvGraphicFramePr>
        <p:xfrm>
          <a:off x="658368" y="3392614"/>
          <a:ext cx="10874958" cy="1078992"/>
        </p:xfrm>
        <a:graphic>
          <a:graphicData uri="http://schemas.openxmlformats.org/drawingml/2006/table">
            <a:tbl>
              <a:tblPr firstRow="1" bandRow="1">
                <a:tableStyleId>{5C22544A-7EE6-4342-B048-85BDC9FD1C3A}</a:tableStyleId>
              </a:tblPr>
              <a:tblGrid>
                <a:gridCol w="3301326"/>
                <a:gridCol w="7573632"/>
              </a:tblGrid>
              <a:tr h="384048">
                <a:tc>
                  <a:txBody>
                    <a:bodyPr wrap="square"/>
                    <a:lstStyle/>
                    <a:p>
                      <a:pPr algn="l">
                        <a:lnSpc>
                          <a:spcPct val="118000"/>
                        </a:lnSpc>
                        <a:spcAft>
                          <a:spcPts val="0"/>
                        </a:spcAft>
                      </a:pPr>
                      <a:r>
                        <a:rPr sz="1200" b="1">
                          <a:solidFill>
                            <a:srgbClr val="0066FF"/>
                          </a:solidFill>
                          <a:latin typeface="Be Vietnam Pro"/>
                        </a:rPr>
                        <a:t>Khai vào merchant portal</a:t>
                      </a:r>
                    </a:p>
                  </a:txBody>
                  <a:tcPr anchor="ctr" marL="128016">
                    <a:solidFill>
                      <a:srgbClr val="ECF2FF"/>
                    </a:solidFill>
                  </a:tcPr>
                </a:tc>
                <a:tc>
                  <a:txBody>
                    <a:bodyPr wrap="square"/>
                    <a:lstStyle/>
                    <a:p>
                      <a:pPr algn="l">
                        <a:lnSpc>
                          <a:spcPct val="118000"/>
                        </a:lnSpc>
                        <a:spcAft>
                          <a:spcPts val="0"/>
                        </a:spcAft>
                      </a:pPr>
                      <a:r>
                        <a:rPr sz="1200" b="1">
                          <a:solidFill>
                            <a:srgbClr val="0066FF"/>
                          </a:solidFill>
                          <a:latin typeface="Be Vietnam Pro"/>
                        </a:rPr>
                        <a:t>Giá trị</a:t>
                      </a:r>
                    </a:p>
                  </a:txBody>
                  <a:tcPr anchor="ctr" marL="128016">
                    <a:solidFill>
                      <a:srgbClr val="ECF2FF"/>
                    </a:solidFill>
                  </a:tcPr>
                </a:tc>
              </a:tr>
              <a:tr h="347472">
                <a:tc>
                  <a:txBody>
                    <a:bodyPr wrap="square"/>
                    <a:lstStyle/>
                    <a:p>
                      <a:pPr algn="l">
                        <a:lnSpc>
                          <a:spcPct val="118000"/>
                        </a:lnSpc>
                        <a:spcAft>
                          <a:spcPts val="0"/>
                        </a:spcAft>
                      </a:pPr>
                      <a:r>
                        <a:rPr sz="1250" b="0">
                          <a:solidFill>
                            <a:srgbClr val="111111"/>
                          </a:solidFill>
                          <a:latin typeface="Be Vietnam Pro"/>
                        </a:rPr>
                        <a:t>URL trả về</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Roboto Mono"/>
                        </a:rPr>
                        <a:t>https://a1b2-....ngrok-free.app/vnpay/return</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URL nhận kết quả IPN</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Roboto Mono"/>
                        </a:rPr>
                        <a:t>https://a1b2-....ngrok-free.app/vnpay/ipn</a:t>
                      </a:r>
                    </a:p>
                  </a:txBody>
                  <a:tcPr anchor="ctr" marL="128016">
                    <a:solidFill>
                      <a:srgbClr val="FFFFFF"/>
                    </a:solidFill>
                  </a:tcPr>
                </a:tc>
              </a:tr>
            </a:tbl>
          </a:graphicData>
        </a:graphic>
      </p:graphicFrame>
      <p:sp>
        <p:nvSpPr>
          <p:cNvPr id="6" name="Rounded Rectangle 5"/>
          <p:cNvSpPr/>
          <p:nvPr/>
        </p:nvSpPr>
        <p:spPr>
          <a:xfrm>
            <a:off x="658368" y="4654486"/>
            <a:ext cx="10874959" cy="998980"/>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4709350"/>
            <a:ext cx="40640" cy="889252"/>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4773358"/>
            <a:ext cx="10417759" cy="761236"/>
          </a:xfrm>
          <a:prstGeom prst="rect">
            <a:avLst/>
          </a:prstGeom>
          <a:noFill/>
        </p:spPr>
        <p:txBody>
          <a:bodyPr wrap="square">
            <a:spAutoFit/>
          </a:bodyPr>
          <a:lstStyle/>
          <a:p>
            <a:pPr algn="l">
              <a:lnSpc>
                <a:spcPct val="118000"/>
              </a:lnSpc>
              <a:spcAft>
                <a:spcPts val="400"/>
              </a:spcAft>
            </a:pPr>
            <a:r>
              <a:rPr sz="1400" b="1">
                <a:solidFill>
                  <a:srgbClr val="C42B22"/>
                </a:solidFill>
                <a:latin typeface="Be Vietnam Pro"/>
              </a:rPr>
              <a:t>Hai chuyện của bản ngrok miễn phí</a:t>
            </a:r>
          </a:p>
          <a:p>
            <a:pPr algn="l">
              <a:lnSpc>
                <a:spcPct val="118000"/>
              </a:lnSpc>
              <a:spcAft>
                <a:spcPts val="0"/>
              </a:spcAft>
            </a:pPr>
            <a:r>
              <a:rPr sz="1350" b="0">
                <a:solidFill>
                  <a:srgbClr val="3F454D"/>
                </a:solidFill>
                <a:latin typeface="Be Vietnam Pro"/>
              </a:rPr>
              <a:t>Địa chỉ đổi mỗi lần chạy lại nên phải khai lại trong portal, làm sát giờ demo. Lần đầu mở bằng trình duyệt sẽ gặp trang cảnh báo, bấm Visit Site là qua.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TODO 5</a:t>
            </a:r>
          </a:p>
          <a:p>
            <a:pPr algn="l">
              <a:lnSpc>
                <a:spcPct val="118000"/>
              </a:lnSpc>
              <a:spcAft>
                <a:spcPts val="0"/>
              </a:spcAft>
            </a:pPr>
            <a:r>
              <a:rPr sz="3000" b="1">
                <a:solidFill>
                  <a:srgbClr val="111111"/>
                </a:solidFill>
                <a:latin typeface="Be Vietnam Pro"/>
              </a:rPr>
              <a:t>IPN là nơi duy nhất được cộng tiền</a:t>
            </a:r>
          </a:p>
        </p:txBody>
      </p:sp>
      <p:sp>
        <p:nvSpPr>
          <p:cNvPr id="3" name="TextBox 2"/>
          <p:cNvSpPr txBox="1"/>
          <p:nvPr/>
        </p:nvSpPr>
        <p:spPr>
          <a:xfrm>
            <a:off x="658368" y="1719072"/>
            <a:ext cx="10874959" cy="357187"/>
          </a:xfrm>
          <a:prstGeom prst="rect">
            <a:avLst/>
          </a:prstGeom>
          <a:noFill/>
        </p:spPr>
        <p:txBody>
          <a:bodyPr wrap="square">
            <a:spAutoFit/>
          </a:bodyPr>
          <a:lstStyle/>
          <a:p>
            <a:pPr algn="l">
              <a:lnSpc>
                <a:spcPct val="118000"/>
              </a:lnSpc>
              <a:spcAft>
                <a:spcPts val="400"/>
              </a:spcAft>
            </a:pPr>
            <a:r>
              <a:rPr sz="1550" b="0">
                <a:solidFill>
                  <a:srgbClr val="3F454D"/>
                </a:solidFill>
                <a:latin typeface="Be Vietnam Pro"/>
              </a:rPr>
              <a:t>VNPAY retry tới khi nhận RspCode 00, nên hàm này gọi mấy lần cũng chỉ ghi nhận một lần.</a:t>
            </a:r>
          </a:p>
        </p:txBody>
      </p:sp>
      <p:sp>
        <p:nvSpPr>
          <p:cNvPr id="4" name="TextBox 3"/>
          <p:cNvSpPr txBox="1"/>
          <p:nvPr/>
        </p:nvSpPr>
        <p:spPr>
          <a:xfrm>
            <a:off x="658368" y="2259139"/>
            <a:ext cx="10874959" cy="219456"/>
          </a:xfrm>
          <a:prstGeom prst="rect">
            <a:avLst/>
          </a:prstGeom>
          <a:noFill/>
        </p:spPr>
        <p:txBody>
          <a:bodyPr wrap="square">
            <a:spAutoFit/>
          </a:bodyPr>
          <a:lstStyle/>
          <a:p>
            <a:pPr algn="l">
              <a:lnSpc>
                <a:spcPct val="118000"/>
              </a:lnSpc>
              <a:spcAft>
                <a:spcPts val="0"/>
              </a:spcAft>
            </a:pPr>
            <a:r>
              <a:rPr sz="1100" b="0">
                <a:solidFill>
                  <a:srgbClr val="6B7280"/>
                </a:solidFill>
                <a:latin typeface="Roboto Mono"/>
              </a:rPr>
              <a:t>ShopStart.java</a:t>
            </a:r>
          </a:p>
        </p:txBody>
      </p:sp>
      <p:sp>
        <p:nvSpPr>
          <p:cNvPr id="5" name="Rounded Rectangle 4"/>
          <p:cNvSpPr/>
          <p:nvPr/>
        </p:nvSpPr>
        <p:spPr>
          <a:xfrm>
            <a:off x="658368" y="2496883"/>
            <a:ext cx="10874959" cy="3953256"/>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04"/>
              </a:lnSpc>
              <a:spcAft>
                <a:spcPts val="0"/>
              </a:spcAft>
            </a:pPr>
            <a:r>
              <a:rPr sz="1200">
                <a:solidFill>
                  <a:srgbClr val="E6EDF7"/>
                </a:solidFill>
                <a:latin typeface="Roboto Mono"/>
              </a:rPr>
              <a:t>if (!isValidSignature(params))</a:t>
            </a:r>
          </a:p>
          <a:p>
            <a:pPr algn="l">
              <a:lnSpc>
                <a:spcPts val="1704"/>
              </a:lnSpc>
              <a:spcAft>
                <a:spcPts val="0"/>
              </a:spcAft>
            </a:pPr>
            <a:r>
              <a:rPr sz="1200">
                <a:solidFill>
                  <a:srgbClr val="E6EDF7"/>
                </a:solidFill>
                <a:latin typeface="Roboto Mono"/>
              </a:rPr>
              <a:t>    return rsp("97", "Invalid Checksum");</a:t>
            </a:r>
          </a:p>
          <a:p>
            <a:pPr algn="l">
              <a:lnSpc>
                <a:spcPts val="1704"/>
              </a:lnSpc>
              <a:spcAft>
                <a:spcPts val="0"/>
              </a:spcAft>
            </a:pPr>
          </a:p>
          <a:p>
            <a:pPr algn="l">
              <a:lnSpc>
                <a:spcPts val="1704"/>
              </a:lnSpc>
              <a:spcAft>
                <a:spcPts val="0"/>
              </a:spcAft>
            </a:pPr>
            <a:r>
              <a:rPr sz="1200">
                <a:solidFill>
                  <a:srgbClr val="E6EDF7"/>
                </a:solidFill>
                <a:latin typeface="Roboto Mono"/>
              </a:rPr>
              <a:t>Order order = ORDERS.get(params.get("vnp_TxnRef"));</a:t>
            </a:r>
          </a:p>
          <a:p>
            <a:pPr algn="l">
              <a:lnSpc>
                <a:spcPts val="1704"/>
              </a:lnSpc>
              <a:spcAft>
                <a:spcPts val="0"/>
              </a:spcAft>
            </a:pPr>
            <a:r>
              <a:rPr sz="1200">
                <a:solidFill>
                  <a:srgbClr val="E6EDF7"/>
                </a:solidFill>
                <a:latin typeface="Roboto Mono"/>
              </a:rPr>
              <a:t>if (order == null)              return rsp("01", "Order not Found");</a:t>
            </a:r>
          </a:p>
          <a:p>
            <a:pPr algn="l">
              <a:lnSpc>
                <a:spcPts val="1704"/>
              </a:lnSpc>
              <a:spcAft>
                <a:spcPts val="0"/>
              </a:spcAft>
            </a:pPr>
          </a:p>
          <a:p>
            <a:pPr algn="l">
              <a:lnSpc>
                <a:spcPts val="1704"/>
              </a:lnSpc>
              <a:spcAft>
                <a:spcPts val="0"/>
              </a:spcAft>
            </a:pPr>
            <a:r>
              <a:rPr sz="1200">
                <a:solidFill>
                  <a:srgbClr val="E6EDF7"/>
                </a:solidFill>
                <a:latin typeface="Roboto Mono"/>
              </a:rPr>
              <a:t>if (Long.parseLong(params.get("vnp_Amount")) != order.amount * 100)</a:t>
            </a:r>
          </a:p>
          <a:p>
            <a:pPr algn="l">
              <a:lnSpc>
                <a:spcPts val="1704"/>
              </a:lnSpc>
              <a:spcAft>
                <a:spcPts val="0"/>
              </a:spcAft>
            </a:pPr>
            <a:r>
              <a:rPr sz="1200">
                <a:solidFill>
                  <a:srgbClr val="E6EDF7"/>
                </a:solidFill>
                <a:latin typeface="Roboto Mono"/>
              </a:rPr>
              <a:t>    return rsp("04", "Invalid Amount");</a:t>
            </a:r>
          </a:p>
          <a:p>
            <a:pPr algn="l">
              <a:lnSpc>
                <a:spcPts val="1704"/>
              </a:lnSpc>
              <a:spcAft>
                <a:spcPts val="0"/>
              </a:spcAft>
            </a:pPr>
            <a:r>
              <a:rPr sz="1200">
                <a:solidFill>
                  <a:srgbClr val="E6EDF7"/>
                </a:solidFill>
                <a:latin typeface="Roboto Mono"/>
              </a:rPr>
              <a:t>synchronized (order) {</a:t>
            </a:r>
          </a:p>
          <a:p>
            <a:pPr algn="l">
              <a:lnSpc>
                <a:spcPts val="1704"/>
              </a:lnSpc>
              <a:spcAft>
                <a:spcPts val="0"/>
              </a:spcAft>
            </a:pPr>
            <a:r>
              <a:rPr sz="1200">
                <a:solidFill>
                  <a:srgbClr val="E6EDF7"/>
                </a:solidFill>
                <a:latin typeface="Roboto Mono"/>
              </a:rPr>
              <a:t>    if (!"PENDING".equals(order.status))</a:t>
            </a:r>
          </a:p>
          <a:p>
            <a:pPr algn="l">
              <a:lnSpc>
                <a:spcPts val="1704"/>
              </a:lnSpc>
              <a:spcAft>
                <a:spcPts val="0"/>
              </a:spcAft>
            </a:pPr>
            <a:r>
              <a:rPr sz="1200">
                <a:solidFill>
                  <a:srgbClr val="E6EDF7"/>
                </a:solidFill>
                <a:latin typeface="Roboto Mono"/>
              </a:rPr>
              <a:t>        return rsp("02", "Order already confirmed");</a:t>
            </a:r>
          </a:p>
          <a:p>
            <a:pPr algn="l">
              <a:lnSpc>
                <a:spcPts val="1704"/>
              </a:lnSpc>
              <a:spcAft>
                <a:spcPts val="0"/>
              </a:spcAft>
            </a:pPr>
          </a:p>
          <a:p>
            <a:pPr algn="l">
              <a:lnSpc>
                <a:spcPts val="1704"/>
              </a:lnSpc>
              <a:spcAft>
                <a:spcPts val="0"/>
              </a:spcAft>
            </a:pPr>
            <a:r>
              <a:rPr sz="1200">
                <a:solidFill>
                  <a:srgbClr val="E6EDF7"/>
                </a:solidFill>
                <a:latin typeface="Roboto Mono"/>
              </a:rPr>
              <a:t>    boolean paid = "00".equals(params.get("vnp_ResponseCode"))</a:t>
            </a:r>
          </a:p>
          <a:p>
            <a:pPr algn="l">
              <a:lnSpc>
                <a:spcPts val="1704"/>
              </a:lnSpc>
              <a:spcAft>
                <a:spcPts val="0"/>
              </a:spcAft>
            </a:pPr>
            <a:r>
              <a:rPr sz="1200">
                <a:solidFill>
                  <a:srgbClr val="E6EDF7"/>
                </a:solidFill>
                <a:latin typeface="Roboto Mono"/>
              </a:rPr>
              <a:t>                &amp;&amp; "00".equals(params.get("vnp_TransactionStatus"));</a:t>
            </a:r>
          </a:p>
          <a:p>
            <a:pPr algn="l">
              <a:lnSpc>
                <a:spcPts val="1704"/>
              </a:lnSpc>
              <a:spcAft>
                <a:spcPts val="0"/>
              </a:spcAft>
            </a:pPr>
            <a:r>
              <a:rPr sz="1200">
                <a:solidFill>
                  <a:srgbClr val="E6EDF7"/>
                </a:solidFill>
                <a:latin typeface="Roboto Mono"/>
              </a:rPr>
              <a:t>    order.status = paid ? "PAID" : "FAILED";</a:t>
            </a:r>
          </a:p>
          <a:p>
            <a:pPr algn="l">
              <a:lnSpc>
                <a:spcPts val="1704"/>
              </a:lnSpc>
              <a:spcAft>
                <a:spcPts val="0"/>
              </a:spcAft>
            </a:pPr>
            <a:r>
              <a:rPr sz="1200">
                <a:solidFill>
                  <a:srgbClr val="E6EDF7"/>
                </a:solidFill>
                <a:latin typeface="Roboto Mono"/>
              </a:rPr>
              <a:t>}</a:t>
            </a:r>
          </a:p>
          <a:p>
            <a:pPr algn="l">
              <a:lnSpc>
                <a:spcPts val="1704"/>
              </a:lnSpc>
              <a:spcAft>
                <a:spcPts val="0"/>
              </a:spcAft>
            </a:pPr>
            <a:r>
              <a:rPr sz="1200">
                <a:solidFill>
                  <a:srgbClr val="E6EDF7"/>
                </a:solidFill>
                <a:latin typeface="Roboto Mono"/>
              </a:rPr>
              <a:t>return rsp("00", "Confirm Success");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TODO 6</a:t>
            </a:r>
          </a:p>
          <a:p>
            <a:pPr algn="l">
              <a:lnSpc>
                <a:spcPct val="118000"/>
              </a:lnSpc>
              <a:spcAft>
                <a:spcPts val="0"/>
              </a:spcAft>
            </a:pPr>
            <a:r>
              <a:rPr sz="3000" b="1">
                <a:solidFill>
                  <a:srgbClr val="111111"/>
                </a:solidFill>
                <a:latin typeface="Be Vietnam Pro"/>
              </a:rPr>
              <a:t>ReturnURL chỉ dùng để vẽ màn hình</a:t>
            </a:r>
          </a:p>
        </p:txBody>
      </p:sp>
      <p:sp>
        <p:nvSpPr>
          <p:cNvPr id="3" name="TextBox 2"/>
          <p:cNvSpPr txBox="1"/>
          <p:nvPr/>
        </p:nvSpPr>
        <p:spPr>
          <a:xfrm>
            <a:off x="658368" y="1719072"/>
            <a:ext cx="10874959" cy="219456"/>
          </a:xfrm>
          <a:prstGeom prst="rect">
            <a:avLst/>
          </a:prstGeom>
          <a:noFill/>
        </p:spPr>
        <p:txBody>
          <a:bodyPr wrap="square">
            <a:spAutoFit/>
          </a:bodyPr>
          <a:lstStyle/>
          <a:p>
            <a:pPr algn="l">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162687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E6EDF7"/>
                </a:solidFill>
                <a:latin typeface="Roboto Mono"/>
              </a:rPr>
              <a:t>static String handleReturn(Map&lt;String, String&gt; params) {</a:t>
            </a:r>
          </a:p>
          <a:p>
            <a:pPr algn="l">
              <a:lnSpc>
                <a:spcPts val="1775"/>
              </a:lnSpc>
              <a:spcAft>
                <a:spcPts val="0"/>
              </a:spcAft>
            </a:pPr>
            <a:r>
              <a:rPr sz="1250">
                <a:solidFill>
                  <a:srgbClr val="E6EDF7"/>
                </a:solidFill>
                <a:latin typeface="Roboto Mono"/>
              </a:rPr>
              <a:t>    boolean valid = isValidSignature(params);</a:t>
            </a:r>
          </a:p>
          <a:p>
            <a:pPr algn="l">
              <a:lnSpc>
                <a:spcPts val="1775"/>
              </a:lnSpc>
              <a:spcAft>
                <a:spcPts val="0"/>
              </a:spcAft>
            </a:pPr>
            <a:r>
              <a:rPr sz="1250">
                <a:solidFill>
                  <a:srgbClr val="E6EDF7"/>
                </a:solidFill>
                <a:latin typeface="Roboto Mono"/>
              </a:rPr>
              <a:t>    String txnRef = params.getOrDefault("vnp_TxnRef", "");</a:t>
            </a:r>
          </a:p>
          <a:p>
            <a:pPr algn="l">
              <a:lnSpc>
                <a:spcPts val="1775"/>
              </a:lnSpc>
              <a:spcAft>
                <a:spcPts val="0"/>
              </a:spcAft>
            </a:pPr>
          </a:p>
          <a:p>
            <a:pPr algn="l">
              <a:lnSpc>
                <a:spcPts val="1775"/>
              </a:lnSpc>
              <a:spcAft>
                <a:spcPts val="0"/>
              </a:spcAft>
            </a:pPr>
            <a:r>
              <a:rPr sz="1250">
                <a:solidFill>
                  <a:srgbClr val="E6EDF7"/>
                </a:solidFill>
                <a:latin typeface="Roboto Mono"/>
              </a:rPr>
              <a:t>    return "/?txnRef=" + encode(txnRef) + "&amp;valid=" + valid;</a:t>
            </a:r>
          </a:p>
          <a:p>
            <a:pPr algn="l">
              <a:lnSpc>
                <a:spcPts val="1775"/>
              </a:lnSpc>
              <a:spcAft>
                <a:spcPts val="0"/>
              </a:spcAft>
            </a:pPr>
            <a:r>
              <a:rPr sz="1250">
                <a:solidFill>
                  <a:srgbClr val="E6EDF7"/>
                </a:solidFill>
                <a:latin typeface="Roboto Mono"/>
              </a:rPr>
              <a:t>}</a:t>
            </a:r>
          </a:p>
        </p:txBody>
      </p:sp>
      <p:sp>
        <p:nvSpPr>
          <p:cNvPr id="5" name="TextBox 4"/>
          <p:cNvSpPr txBox="1"/>
          <p:nvPr/>
        </p:nvSpPr>
        <p:spPr>
          <a:xfrm>
            <a:off x="658368" y="3766566"/>
            <a:ext cx="10874959" cy="219456"/>
          </a:xfrm>
          <a:prstGeom prst="rect">
            <a:avLst/>
          </a:prstGeom>
          <a:noFill/>
        </p:spPr>
        <p:txBody>
          <a:bodyPr wrap="square">
            <a:spAutoFit/>
          </a:bodyPr>
          <a:lstStyle/>
          <a:p>
            <a:pPr algn="l">
              <a:lnSpc>
                <a:spcPct val="118000"/>
              </a:lnSpc>
              <a:spcAft>
                <a:spcPts val="0"/>
              </a:spcAft>
            </a:pPr>
            <a:r>
              <a:rPr sz="1100" b="0">
                <a:solidFill>
                  <a:srgbClr val="6B7280"/>
                </a:solidFill>
                <a:latin typeface="Roboto Mono"/>
              </a:rPr>
              <a:t>trang kết quả, phía trình duyệt</a:t>
            </a:r>
          </a:p>
        </p:txBody>
      </p:sp>
      <p:sp>
        <p:nvSpPr>
          <p:cNvPr id="6" name="Rounded Rectangle 5"/>
          <p:cNvSpPr/>
          <p:nvPr/>
        </p:nvSpPr>
        <p:spPr>
          <a:xfrm>
            <a:off x="658368" y="4004310"/>
            <a:ext cx="10874959" cy="11760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7D8CA3"/>
                </a:solidFill>
                <a:latin typeface="Roboto Mono"/>
              </a:rPr>
              <a:t>// không đọc kết quả từ URL, hỏi lại server cho chắc</a:t>
            </a:r>
          </a:p>
          <a:p>
            <a:pPr algn="l">
              <a:lnSpc>
                <a:spcPts val="1775"/>
              </a:lnSpc>
              <a:spcAft>
                <a:spcPts val="0"/>
              </a:spcAft>
            </a:pPr>
            <a:r>
              <a:rPr sz="1250">
                <a:solidFill>
                  <a:srgbClr val="E6EDF7"/>
                </a:solidFill>
                <a:latin typeface="Roboto Mono"/>
              </a:rPr>
              <a:t>const res   = await fetch('/api/orders?txnRef=' + txnRef);</a:t>
            </a:r>
          </a:p>
          <a:p>
            <a:pPr algn="l">
              <a:lnSpc>
                <a:spcPts val="1775"/>
              </a:lnSpc>
              <a:spcAft>
                <a:spcPts val="0"/>
              </a:spcAft>
            </a:pPr>
            <a:r>
              <a:rPr sz="1250">
                <a:solidFill>
                  <a:srgbClr val="E6EDF7"/>
                </a:solidFill>
                <a:latin typeface="Roboto Mono"/>
              </a:rPr>
              <a:t>const order = await res.json();</a:t>
            </a:r>
          </a:p>
          <a:p>
            <a:pPr algn="l">
              <a:lnSpc>
                <a:spcPts val="1775"/>
              </a:lnSpc>
              <a:spcAft>
                <a:spcPts val="0"/>
              </a:spcAft>
            </a:pPr>
            <a:r>
              <a:rPr sz="1250">
                <a:solidFill>
                  <a:srgbClr val="E6EDF7"/>
                </a:solidFill>
                <a:latin typeface="Roboto Mono"/>
              </a:rPr>
              <a:t>if (order.status === 'PAID') showSuccess(order);</a:t>
            </a:r>
          </a:p>
        </p:txBody>
      </p:sp>
      <p:sp>
        <p:nvSpPr>
          <p:cNvPr id="7" name="Rounded Rectangle 6"/>
          <p:cNvSpPr/>
          <p:nvPr/>
        </p:nvSpPr>
        <p:spPr>
          <a:xfrm>
            <a:off x="658368" y="5363210"/>
            <a:ext cx="10874959" cy="75552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5418074"/>
            <a:ext cx="40640" cy="645794"/>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5482082"/>
            <a:ext cx="10417759" cy="517778"/>
          </a:xfrm>
          <a:prstGeom prst="rect">
            <a:avLst/>
          </a:prstGeom>
          <a:noFill/>
        </p:spPr>
        <p:txBody>
          <a:bodyPr wrap="square">
            <a:spAutoFit/>
          </a:bodyPr>
          <a:lstStyle/>
          <a:p>
            <a:pPr algn="l">
              <a:lnSpc>
                <a:spcPct val="118000"/>
              </a:lnSpc>
              <a:spcAft>
                <a:spcPts val="400"/>
              </a:spcAft>
            </a:pPr>
            <a:r>
              <a:rPr sz="1400" b="1">
                <a:solidFill>
                  <a:srgbClr val="C42B22"/>
                </a:solidFill>
                <a:latin typeface="Be Vietnam Pro"/>
              </a:rPr>
              <a:t>Để ý cái không có ở đây</a:t>
            </a:r>
          </a:p>
          <a:p>
            <a:pPr algn="l">
              <a:lnSpc>
                <a:spcPct val="118000"/>
              </a:lnSpc>
              <a:spcAft>
                <a:spcPts val="0"/>
              </a:spcAft>
            </a:pPr>
            <a:r>
              <a:rPr sz="1350" b="0">
                <a:solidFill>
                  <a:srgbClr val="3F454D"/>
                </a:solidFill>
                <a:latin typeface="Be Vietnam Pro"/>
              </a:rPr>
              <a:t>Không một dòng nào đổi trạng thái đơn hàng. Tham số trên trình duyệt là dữ liệu do khách mang về, không phải sự thật.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TÌNH HUỐNG THẬT</a:t>
            </a:r>
          </a:p>
          <a:p>
            <a:pPr algn="l">
              <a:lnSpc>
                <a:spcPct val="118000"/>
              </a:lnSpc>
              <a:spcAft>
                <a:spcPts val="0"/>
              </a:spcAft>
            </a:pPr>
            <a:r>
              <a:rPr sz="3000" b="1">
                <a:solidFill>
                  <a:srgbClr val="111111"/>
                </a:solidFill>
                <a:latin typeface="Be Vietnam Pro"/>
              </a:rPr>
              <a:t>querydr cứu khi IPN không bao giờ về</a:t>
            </a:r>
          </a:p>
        </p:txBody>
      </p:sp>
      <p:sp>
        <p:nvSpPr>
          <p:cNvPr id="3" name="Rounded Rectangle 2"/>
          <p:cNvSpPr/>
          <p:nvPr/>
        </p:nvSpPr>
        <p:spPr>
          <a:xfrm>
            <a:off x="658368" y="1719072"/>
            <a:ext cx="10874959" cy="998980"/>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73936"/>
            <a:ext cx="40640" cy="889252"/>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837944"/>
            <a:ext cx="10417759" cy="761236"/>
          </a:xfrm>
          <a:prstGeom prst="rect">
            <a:avLst/>
          </a:prstGeom>
          <a:noFill/>
        </p:spPr>
        <p:txBody>
          <a:bodyPr wrap="square">
            <a:spAutoFit/>
          </a:bodyPr>
          <a:lstStyle/>
          <a:p>
            <a:pPr algn="l">
              <a:lnSpc>
                <a:spcPct val="118000"/>
              </a:lnSpc>
              <a:spcAft>
                <a:spcPts val="400"/>
              </a:spcAft>
            </a:pPr>
            <a:r>
              <a:rPr sz="1400" b="1">
                <a:solidFill>
                  <a:srgbClr val="C42B22"/>
                </a:solidFill>
                <a:latin typeface="Be Vietnam Pro"/>
              </a:rPr>
              <a:t>Chuyện xảy ra lúc dựng bài này</a:t>
            </a:r>
          </a:p>
          <a:p>
            <a:pPr algn="l">
              <a:lnSpc>
                <a:spcPct val="118000"/>
              </a:lnSpc>
              <a:spcAft>
                <a:spcPts val="0"/>
              </a:spcAft>
            </a:pPr>
            <a:r>
              <a:rPr sz="1350" b="0">
                <a:solidFill>
                  <a:srgbClr val="3F454D"/>
                </a:solidFill>
                <a:latin typeface="Be Vietnam Pro"/>
              </a:rPr>
              <a:t>Portal sandbox không cho khai IPN URL. Danh sách website trống trơn, Cài đặt thông báo báo lỗi kết nối. Code đúng hết mà IPN không tới. Chỉ biết mỗi IPN thì demo chết tại chỗ.</a:t>
            </a:r>
          </a:p>
        </p:txBody>
      </p:sp>
      <p:sp>
        <p:nvSpPr>
          <p:cNvPr id="6" name="TextBox 5"/>
          <p:cNvSpPr txBox="1"/>
          <p:nvPr/>
        </p:nvSpPr>
        <p:spPr>
          <a:xfrm>
            <a:off x="658368" y="2900932"/>
            <a:ext cx="10874959" cy="622934"/>
          </a:xfrm>
          <a:prstGeom prst="rect">
            <a:avLst/>
          </a:prstGeom>
          <a:noFill/>
        </p:spPr>
        <p:txBody>
          <a:bodyPr wrap="square">
            <a:spAutoFit/>
          </a:bodyPr>
          <a:lstStyle/>
          <a:p>
            <a:pPr algn="l">
              <a:lnSpc>
                <a:spcPct val="118000"/>
              </a:lnSpc>
              <a:spcAft>
                <a:spcPts val="400"/>
              </a:spcAft>
            </a:pPr>
            <a:r>
              <a:rPr sz="1550" b="0">
                <a:solidFill>
                  <a:srgbClr val="3F454D"/>
                </a:solidFill>
                <a:latin typeface="Be Vietnam Pro"/>
              </a:rPr>
              <a:t>Đường lùi là gọi querydr để server tự hỏi VNPAY. Vẫn an toàn như IPN vì hỏi thẳng VNPAY, verify chữ ký của response, rồi so lại số tiền.</a:t>
            </a:r>
          </a:p>
        </p:txBody>
      </p:sp>
      <p:sp>
        <p:nvSpPr>
          <p:cNvPr id="7" name="Rounded Rectangle 6"/>
          <p:cNvSpPr/>
          <p:nvPr/>
        </p:nvSpPr>
        <p:spPr>
          <a:xfrm>
            <a:off x="658368" y="3706746"/>
            <a:ext cx="10874959" cy="11760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775"/>
              </a:lnSpc>
              <a:spcAft>
                <a:spcPts val="0"/>
              </a:spcAft>
            </a:pPr>
            <a:r>
              <a:rPr sz="1250">
                <a:solidFill>
                  <a:srgbClr val="7D8CA3"/>
                </a:solidFill>
                <a:latin typeface="Roboto Mono"/>
              </a:rPr>
              <a:t>// hash của querydr không sort alphabet, nối bằng '|' đúng thứ tự tài liệu</a:t>
            </a:r>
          </a:p>
          <a:p>
            <a:pPr algn="l">
              <a:lnSpc>
                <a:spcPts val="1775"/>
              </a:lnSpc>
              <a:spcAft>
                <a:spcPts val="0"/>
              </a:spcAft>
            </a:pPr>
            <a:r>
              <a:rPr sz="1250">
                <a:solidFill>
                  <a:srgbClr val="E6EDF7"/>
                </a:solidFill>
                <a:latin typeface="Roboto Mono"/>
              </a:rPr>
              <a:t>String hashData = String.join("|",</a:t>
            </a:r>
          </a:p>
          <a:p>
            <a:pPr algn="l">
              <a:lnSpc>
                <a:spcPts val="1775"/>
              </a:lnSpc>
              <a:spcAft>
                <a:spcPts val="0"/>
              </a:spcAft>
            </a:pPr>
            <a:r>
              <a:rPr sz="1250">
                <a:solidFill>
                  <a:srgbClr val="E6EDF7"/>
                </a:solidFill>
                <a:latin typeface="Roboto Mono"/>
              </a:rPr>
              <a:t>        requestId, "2.1.0", "querydr", TMN_CODE,</a:t>
            </a:r>
          </a:p>
          <a:p>
            <a:pPr algn="l">
              <a:lnSpc>
                <a:spcPts val="1775"/>
              </a:lnSpc>
              <a:spcAft>
                <a:spcPts val="0"/>
              </a:spcAft>
            </a:pPr>
            <a:r>
              <a:rPr sz="1250">
                <a:solidFill>
                  <a:srgbClr val="E6EDF7"/>
                </a:solidFill>
                <a:latin typeface="Roboto Mono"/>
              </a:rPr>
              <a:t>        txnRef, transactionDate, createDate, ipAddr, orderInfo);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DEMO</a:t>
            </a:r>
          </a:p>
          <a:p>
            <a:pPr algn="l">
              <a:lnSpc>
                <a:spcPct val="118000"/>
              </a:lnSpc>
              <a:spcAft>
                <a:spcPts val="0"/>
              </a:spcAft>
            </a:pPr>
            <a:r>
              <a:rPr sz="3000" b="1">
                <a:solidFill>
                  <a:srgbClr val="111111"/>
                </a:solidFill>
                <a:latin typeface="Be Vietnam Pro"/>
              </a:rPr>
              <a:t>Giao dịch thật đã chốt PAID bằng querydr</a:t>
            </a:r>
          </a:p>
        </p:txBody>
      </p:sp>
      <p:sp>
        <p:nvSpPr>
          <p:cNvPr id="3" name="Rounded Rectangle 2"/>
          <p:cNvSpPr/>
          <p:nvPr/>
        </p:nvSpPr>
        <p:spPr>
          <a:xfrm>
            <a:off x="658368"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847088"/>
            <a:ext cx="2202103" cy="749808"/>
          </a:xfrm>
          <a:prstGeom prst="rect">
            <a:avLst/>
          </a:prstGeom>
          <a:noFill/>
        </p:spPr>
        <p:txBody>
          <a:bodyPr wrap="square">
            <a:spAutoFit/>
          </a:bodyPr>
          <a:lstStyle/>
          <a:p>
            <a:pPr algn="l">
              <a:lnSpc>
                <a:spcPct val="118000"/>
              </a:lnSpc>
              <a:spcAft>
                <a:spcPts val="200"/>
              </a:spcAft>
            </a:pPr>
            <a:r>
              <a:rPr sz="2100" b="1">
                <a:solidFill>
                  <a:srgbClr val="0066FF"/>
                </a:solidFill>
                <a:latin typeface="Roboto Mono"/>
              </a:rPr>
              <a:t>25.000đ</a:t>
            </a:r>
          </a:p>
          <a:p>
            <a:pPr algn="l">
              <a:lnSpc>
                <a:spcPct val="118000"/>
              </a:lnSpc>
              <a:spcAft>
                <a:spcPts val="0"/>
              </a:spcAft>
            </a:pPr>
            <a:r>
              <a:rPr sz="1200" b="0">
                <a:solidFill>
                  <a:srgbClr val="6B7280"/>
                </a:solidFill>
                <a:latin typeface="Be Vietnam Pro"/>
              </a:rPr>
              <a:t>Số tiền</a:t>
            </a:r>
          </a:p>
        </p:txBody>
      </p:sp>
      <p:sp>
        <p:nvSpPr>
          <p:cNvPr id="5" name="Rounded Rectangle 4"/>
          <p:cNvSpPr/>
          <p:nvPr/>
        </p:nvSpPr>
        <p:spPr>
          <a:xfrm>
            <a:off x="3427399"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10279" y="1847088"/>
            <a:ext cx="2202103" cy="749808"/>
          </a:xfrm>
          <a:prstGeom prst="rect">
            <a:avLst/>
          </a:prstGeom>
          <a:noFill/>
        </p:spPr>
        <p:txBody>
          <a:bodyPr wrap="square">
            <a:spAutoFit/>
          </a:bodyPr>
          <a:lstStyle/>
          <a:p>
            <a:pPr algn="l">
              <a:lnSpc>
                <a:spcPct val="118000"/>
              </a:lnSpc>
              <a:spcAft>
                <a:spcPts val="200"/>
              </a:spcAft>
            </a:pPr>
            <a:r>
              <a:rPr sz="2100" b="1">
                <a:solidFill>
                  <a:srgbClr val="0066FF"/>
                </a:solidFill>
                <a:latin typeface="Roboto Mono"/>
              </a:rPr>
              <a:t>15683165</a:t>
            </a:r>
          </a:p>
          <a:p>
            <a:pPr algn="l">
              <a:lnSpc>
                <a:spcPct val="118000"/>
              </a:lnSpc>
              <a:spcAft>
                <a:spcPts val="0"/>
              </a:spcAft>
            </a:pPr>
            <a:r>
              <a:rPr sz="1200" b="0">
                <a:solidFill>
                  <a:srgbClr val="6B7280"/>
                </a:solidFill>
                <a:latin typeface="Be Vietnam Pro"/>
              </a:rPr>
              <a:t>Mã GD tại VNPAY</a:t>
            </a:r>
          </a:p>
        </p:txBody>
      </p:sp>
      <p:sp>
        <p:nvSpPr>
          <p:cNvPr id="7" name="Rounded Rectangle 6"/>
          <p:cNvSpPr/>
          <p:nvPr/>
        </p:nvSpPr>
        <p:spPr>
          <a:xfrm>
            <a:off x="6196430"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0" y="1847088"/>
            <a:ext cx="2202103" cy="749808"/>
          </a:xfrm>
          <a:prstGeom prst="rect">
            <a:avLst/>
          </a:prstGeom>
          <a:noFill/>
        </p:spPr>
        <p:txBody>
          <a:bodyPr wrap="square">
            <a:spAutoFit/>
          </a:bodyPr>
          <a:lstStyle/>
          <a:p>
            <a:pPr algn="l">
              <a:lnSpc>
                <a:spcPct val="118000"/>
              </a:lnSpc>
              <a:spcAft>
                <a:spcPts val="200"/>
              </a:spcAft>
            </a:pPr>
            <a:r>
              <a:rPr sz="2100" b="1">
                <a:solidFill>
                  <a:srgbClr val="0066FF"/>
                </a:solidFill>
                <a:latin typeface="Roboto Mono"/>
              </a:rPr>
              <a:t>PAID</a:t>
            </a:r>
          </a:p>
          <a:p>
            <a:pPr algn="l">
              <a:lnSpc>
                <a:spcPct val="118000"/>
              </a:lnSpc>
              <a:spcAft>
                <a:spcPts val="0"/>
              </a:spcAft>
            </a:pPr>
            <a:r>
              <a:rPr sz="1200" b="0">
                <a:solidFill>
                  <a:srgbClr val="6B7280"/>
                </a:solidFill>
                <a:latin typeface="Be Vietnam Pro"/>
              </a:rPr>
              <a:t>Trạng thái đơn</a:t>
            </a:r>
          </a:p>
        </p:txBody>
      </p:sp>
      <p:sp>
        <p:nvSpPr>
          <p:cNvPr id="9" name="Rounded Rectangle 8"/>
          <p:cNvSpPr/>
          <p:nvPr/>
        </p:nvSpPr>
        <p:spPr>
          <a:xfrm>
            <a:off x="8965461"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8341" y="1847088"/>
            <a:ext cx="2202103" cy="749808"/>
          </a:xfrm>
          <a:prstGeom prst="rect">
            <a:avLst/>
          </a:prstGeom>
          <a:noFill/>
        </p:spPr>
        <p:txBody>
          <a:bodyPr wrap="square">
            <a:spAutoFit/>
          </a:bodyPr>
          <a:lstStyle/>
          <a:p>
            <a:pPr algn="l">
              <a:lnSpc>
                <a:spcPct val="118000"/>
              </a:lnSpc>
              <a:spcAft>
                <a:spcPts val="200"/>
              </a:spcAft>
            </a:pPr>
            <a:r>
              <a:rPr sz="2100" b="1">
                <a:solidFill>
                  <a:srgbClr val="0066FF"/>
                </a:solidFill>
                <a:latin typeface="Roboto Mono"/>
              </a:rPr>
              <a:t>querydr</a:t>
            </a:r>
          </a:p>
          <a:p>
            <a:pPr algn="l">
              <a:lnSpc>
                <a:spcPct val="118000"/>
              </a:lnSpc>
              <a:spcAft>
                <a:spcPts val="0"/>
              </a:spcAft>
            </a:pPr>
            <a:r>
              <a:rPr sz="1200" b="0">
                <a:solidFill>
                  <a:srgbClr val="6B7280"/>
                </a:solidFill>
                <a:latin typeface="Be Vietnam Pro"/>
              </a:rPr>
              <a:t>Nguồn chốt đơn</a:t>
            </a:r>
          </a:p>
        </p:txBody>
      </p:sp>
      <p:pic>
        <p:nvPicPr>
          <p:cNvPr id="11" name="Picture 10" descr="ket-qua.jpg"/>
          <p:cNvPicPr>
            <a:picLocks noChangeAspect="1"/>
          </p:cNvPicPr>
          <p:nvPr/>
        </p:nvPicPr>
        <p:blipFill>
          <a:blip r:embed="rId2"/>
          <a:stretch>
            <a:fillRect/>
          </a:stretch>
        </p:blipFill>
        <p:spPr>
          <a:xfrm>
            <a:off x="4074826" y="2889504"/>
            <a:ext cx="4042043" cy="2057400"/>
          </a:xfrm>
          <a:prstGeom prst="rect">
            <a:avLst/>
          </a:prstGeom>
        </p:spPr>
      </p:pic>
      <p:sp>
        <p:nvSpPr>
          <p:cNvPr id="12" name="Rounded Rectangle 11"/>
          <p:cNvSpPr/>
          <p:nvPr/>
        </p:nvSpPr>
        <p:spPr>
          <a:xfrm>
            <a:off x="658368" y="5221224"/>
            <a:ext cx="10874959" cy="48171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37744" tIns="118872" rIns="146304" bIns="91440"/>
          <a:lstStyle/>
          <a:p>
            <a:pPr algn="l">
              <a:lnSpc>
                <a:spcPts val="1632"/>
              </a:lnSpc>
              <a:spcAft>
                <a:spcPts val="0"/>
              </a:spcAft>
            </a:pPr>
            <a:r>
              <a:rPr sz="1150">
                <a:solidFill>
                  <a:srgbClr val="E6EDF7"/>
                </a:solidFill>
                <a:latin typeface="Roboto Mono"/>
              </a:rPr>
              <a:t>Chot bang querydr: txnRef=20260920125606777443 status=PAID transactionNo=15683165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ĐƯA VÀO ĐỒ ÁN</a:t>
            </a:r>
          </a:p>
          <a:p>
            <a:pPr algn="l">
              <a:lnSpc>
                <a:spcPct val="118000"/>
              </a:lnSpc>
              <a:spcAft>
                <a:spcPts val="0"/>
              </a:spcAft>
            </a:pPr>
            <a:r>
              <a:rPr sz="3000" b="1">
                <a:solidFill>
                  <a:srgbClr val="111111"/>
                </a:solidFill>
                <a:latin typeface="Be Vietnam Pro"/>
              </a:rPr>
              <a:t>Tách payment-service, secret để ngoài mã nguồn</a:t>
            </a:r>
          </a:p>
        </p:txBody>
      </p:sp>
      <p:sp>
        <p:nvSpPr>
          <p:cNvPr id="3" name="Rounded Rectangle 2"/>
          <p:cNvSpPr/>
          <p:nvPr/>
        </p:nvSpPr>
        <p:spPr>
          <a:xfrm>
            <a:off x="658368" y="1719072"/>
            <a:ext cx="5336895" cy="119100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5376"/>
            <a:ext cx="4934559" cy="91668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Ranh giới service</a:t>
            </a:r>
          </a:p>
          <a:p>
            <a:pPr algn="l">
              <a:lnSpc>
                <a:spcPct val="118000"/>
              </a:lnSpc>
              <a:spcAft>
                <a:spcPts val="0"/>
              </a:spcAft>
            </a:pPr>
            <a:r>
              <a:rPr sz="1350" b="0">
                <a:solidFill>
                  <a:srgbClr val="3F454D"/>
                </a:solidFill>
                <a:latin typeface="Be Vietnam Pro"/>
              </a:rPr>
              <a:t>payment-service đứng riêng. Service khác không gọi VNPAY, chúng nghe event OrderPaid.</a:t>
            </a:r>
          </a:p>
        </p:txBody>
      </p:sp>
      <p:sp>
        <p:nvSpPr>
          <p:cNvPr id="5" name="Rounded Rectangle 4"/>
          <p:cNvSpPr/>
          <p:nvPr/>
        </p:nvSpPr>
        <p:spPr>
          <a:xfrm>
            <a:off x="6196431" y="1719072"/>
            <a:ext cx="5336895" cy="1191006"/>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97599" y="1865376"/>
            <a:ext cx="4934559" cy="916686"/>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Cấu hình và secret</a:t>
            </a:r>
          </a:p>
          <a:p>
            <a:pPr algn="l">
              <a:lnSpc>
                <a:spcPct val="118000"/>
              </a:lnSpc>
              <a:spcAft>
                <a:spcPts val="0"/>
              </a:spcAft>
            </a:pPr>
            <a:r>
              <a:rPr sz="1350" b="0">
                <a:solidFill>
                  <a:srgbClr val="3F454D"/>
                </a:solidFill>
                <a:latin typeface="Be Vietnam Pro"/>
              </a:rPr>
              <a:t>Dùng @ConfigurationProperties. HashSecret nạp từ Vault hoặc K8s Secret.</a:t>
            </a:r>
          </a:p>
        </p:txBody>
      </p:sp>
      <p:sp>
        <p:nvSpPr>
          <p:cNvPr id="7" name="Rounded Rectangle 6"/>
          <p:cNvSpPr/>
          <p:nvPr/>
        </p:nvSpPr>
        <p:spPr>
          <a:xfrm>
            <a:off x="658368" y="3092958"/>
            <a:ext cx="5336895" cy="1448181"/>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239262"/>
            <a:ext cx="4934559" cy="1173861"/>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Chống trùng ở tầng DB</a:t>
            </a:r>
          </a:p>
          <a:p>
            <a:pPr algn="l">
              <a:lnSpc>
                <a:spcPct val="118000"/>
              </a:lnSpc>
              <a:spcAft>
                <a:spcPts val="0"/>
              </a:spcAft>
            </a:pPr>
            <a:r>
              <a:rPr sz="1350" b="0">
                <a:solidFill>
                  <a:srgbClr val="3F454D"/>
                </a:solidFill>
                <a:latin typeface="Be Vietnam Pro"/>
              </a:rPr>
              <a:t>Bảng payment_transaction có UNIQUE(txn_ref) và optimistic lock. Demo dùng synchronized, chạy nhiều instance là không đủ.</a:t>
            </a:r>
          </a:p>
        </p:txBody>
      </p:sp>
      <p:sp>
        <p:nvSpPr>
          <p:cNvPr id="9" name="Rounded Rectangle 8"/>
          <p:cNvSpPr/>
          <p:nvPr/>
        </p:nvSpPr>
        <p:spPr>
          <a:xfrm>
            <a:off x="6196431" y="3092958"/>
            <a:ext cx="5336895" cy="1448181"/>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3239262"/>
            <a:ext cx="4934559" cy="1173861"/>
          </a:xfrm>
          <a:prstGeom prst="rect">
            <a:avLst/>
          </a:prstGeom>
          <a:noFill/>
        </p:spPr>
        <p:txBody>
          <a:bodyPr wrap="square">
            <a:spAutoFit/>
          </a:bodyPr>
          <a:lstStyle/>
          <a:p>
            <a:pPr algn="l">
              <a:lnSpc>
                <a:spcPct val="118000"/>
              </a:lnSpc>
              <a:spcAft>
                <a:spcPts val="500"/>
              </a:spcAft>
            </a:pPr>
            <a:r>
              <a:rPr sz="1500" b="1">
                <a:solidFill>
                  <a:srgbClr val="111111"/>
                </a:solidFill>
                <a:latin typeface="Be Vietnam Pro"/>
              </a:rPr>
              <a:t>Nhiều cổng thanh toán</a:t>
            </a:r>
          </a:p>
          <a:p>
            <a:pPr algn="l">
              <a:lnSpc>
                <a:spcPct val="118000"/>
              </a:lnSpc>
              <a:spcAft>
                <a:spcPts val="0"/>
              </a:spcAft>
            </a:pPr>
            <a:r>
              <a:rPr sz="1350" b="0">
                <a:solidFill>
                  <a:srgbClr val="3F454D"/>
                </a:solidFill>
                <a:latin typeface="Be Vietnam Pro"/>
              </a:rPr>
              <a:t>MoMo và ZaloPay mỗi bên ký một kiểu. Cần nhiều cổng thì bọc sau interface PaymentGateway.</a:t>
            </a:r>
          </a:p>
        </p:txBody>
      </p:sp>
      <p:sp>
        <p:nvSpPr>
          <p:cNvPr id="11" name="TextBox 10"/>
          <p:cNvSpPr txBox="1"/>
          <p:nvPr/>
        </p:nvSpPr>
        <p:spPr>
          <a:xfrm>
            <a:off x="658368" y="4724019"/>
            <a:ext cx="10874959" cy="571500"/>
          </a:xfrm>
          <a:prstGeom prst="rect">
            <a:avLst/>
          </a:prstGeom>
          <a:noFill/>
        </p:spPr>
        <p:txBody>
          <a:bodyPr wrap="square">
            <a:spAutoFit/>
          </a:bodyPr>
          <a:lstStyle/>
          <a:p>
            <a:pPr algn="l">
              <a:lnSpc>
                <a:spcPct val="118000"/>
              </a:lnSpc>
              <a:spcAft>
                <a:spcPts val="400"/>
              </a:spcAft>
            </a:pPr>
            <a:r>
              <a:rPr sz="1400" b="0">
                <a:solidFill>
                  <a:srgbClr val="3F454D"/>
                </a:solidFill>
                <a:latin typeface="Be Vietnam Pro"/>
              </a:rPr>
              <a:t>Đồ án nào dùng được: bán hàng online, đặt vé, đặt sân, đóng học phí, ví điện tử, quyên góp. Việc phải làm chỉ là thay chỗ lưu đơn hàng bằng repository của mình.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TỔNG KẾT</a:t>
            </a:r>
          </a:p>
          <a:p>
            <a:pPr algn="l">
              <a:lnSpc>
                <a:spcPct val="118000"/>
              </a:lnSpc>
              <a:spcAft>
                <a:spcPts val="0"/>
              </a:spcAft>
            </a:pPr>
            <a:r>
              <a:rPr sz="3000" b="1">
                <a:solidFill>
                  <a:srgbClr val="111111"/>
                </a:solidFill>
                <a:latin typeface="Be Vietnam Pro"/>
              </a:rPr>
              <a:t>Sáu quy tắc giữ cho tiền không thất thoát</a:t>
            </a:r>
          </a:p>
        </p:txBody>
      </p:sp>
      <p:graphicFrame>
        <p:nvGraphicFramePr>
          <p:cNvPr id="3" name="Table 2"/>
          <p:cNvGraphicFramePr>
            <a:graphicFrameLocks noGrp="1"/>
          </p:cNvGraphicFramePr>
          <p:nvPr/>
        </p:nvGraphicFramePr>
        <p:xfrm>
          <a:off x="658368" y="1719072"/>
          <a:ext cx="10874958" cy="2468880"/>
        </p:xfrm>
        <a:graphic>
          <a:graphicData uri="http://schemas.openxmlformats.org/drawingml/2006/table">
            <a:tbl>
              <a:tblPr firstRow="1" bandRow="1">
                <a:tableStyleId>{5C22544A-7EE6-4342-B048-85BDC9FD1C3A}</a:tableStyleId>
              </a:tblPr>
              <a:tblGrid>
                <a:gridCol w="4078109"/>
                <a:gridCol w="6796849"/>
              </a:tblGrid>
              <a:tr h="384048">
                <a:tc>
                  <a:txBody>
                    <a:bodyPr wrap="square"/>
                    <a:lstStyle/>
                    <a:p>
                      <a:pPr algn="l">
                        <a:lnSpc>
                          <a:spcPct val="118000"/>
                        </a:lnSpc>
                        <a:spcAft>
                          <a:spcPts val="0"/>
                        </a:spcAft>
                      </a:pPr>
                      <a:r>
                        <a:rPr sz="1200" b="1">
                          <a:solidFill>
                            <a:srgbClr val="0066FF"/>
                          </a:solidFill>
                          <a:latin typeface="Be Vietnam Pro"/>
                        </a:rPr>
                        <a:t>Quy tắc</a:t>
                      </a:r>
                    </a:p>
                  </a:txBody>
                  <a:tcPr anchor="ctr" marL="128016">
                    <a:solidFill>
                      <a:srgbClr val="ECF2FF"/>
                    </a:solidFill>
                  </a:tcPr>
                </a:tc>
                <a:tc>
                  <a:txBody>
                    <a:bodyPr wrap="square"/>
                    <a:lstStyle/>
                    <a:p>
                      <a:pPr algn="l">
                        <a:lnSpc>
                          <a:spcPct val="118000"/>
                        </a:lnSpc>
                        <a:spcAft>
                          <a:spcPts val="0"/>
                        </a:spcAft>
                      </a:pPr>
                      <a:r>
                        <a:rPr sz="1200" b="1">
                          <a:solidFill>
                            <a:srgbClr val="0066FF"/>
                          </a:solidFill>
                          <a:latin typeface="Be Vietnam Pro"/>
                        </a:rPr>
                        <a:t>Vì sao</a:t>
                      </a:r>
                    </a:p>
                  </a:txBody>
                  <a:tcPr anchor="ctr" marL="128016">
                    <a:solidFill>
                      <a:srgbClr val="ECF2FF"/>
                    </a:solidFill>
                  </a:tcPr>
                </a:tc>
              </a:tr>
              <a:tr h="347472">
                <a:tc>
                  <a:txBody>
                    <a:bodyPr wrap="square"/>
                    <a:lstStyle/>
                    <a:p>
                      <a:pPr algn="l">
                        <a:lnSpc>
                          <a:spcPct val="118000"/>
                        </a:lnSpc>
                        <a:spcAft>
                          <a:spcPts val="0"/>
                        </a:spcAft>
                      </a:pPr>
                      <a:r>
                        <a:rPr sz="1250" b="0">
                          <a:solidFill>
                            <a:srgbClr val="111111"/>
                          </a:solidFill>
                          <a:latin typeface="Be Vietnam Pro"/>
                        </a:rPr>
                        <a:t>Chỉ tin IPN và querydr</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Hai kênh server gọi server, có chữ ký</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So lại số tiền với DB</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Chặn trò sửa vnp_Amount trên URL</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Idempotent bằng trạng thái đơn</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VNPAY retry nhiều lần, đã xử lý thì trả 02</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vnp_TxnRef duy nhất trong 24h</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Thanh toán lại phải sinh mã mới</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Giờ Asia/Ho_Chi_Minh</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Etc/GMT+7 lệch 14 tiếng, đơn hết hạn ngay</a:t>
                      </a:r>
                    </a:p>
                  </a:txBody>
                  <a:tcPr anchor="ctr" marL="128016">
                    <a:solidFill>
                      <a:srgbClr val="FFFFFF"/>
                    </a:solidFill>
                  </a:tcPr>
                </a:tc>
              </a:tr>
              <a:tr h="347472">
                <a:tc>
                  <a:txBody>
                    <a:bodyPr wrap="square"/>
                    <a:lstStyle/>
                    <a:p>
                      <a:pPr algn="l">
                        <a:lnSpc>
                          <a:spcPct val="118000"/>
                        </a:lnSpc>
                        <a:spcAft>
                          <a:spcPts val="0"/>
                        </a:spcAft>
                      </a:pPr>
                      <a:r>
                        <a:rPr sz="1250" b="0">
                          <a:solidFill>
                            <a:srgbClr val="111111"/>
                          </a:solidFill>
                          <a:latin typeface="Be Vietnam Pro"/>
                        </a:rPr>
                        <a:t>Không log secret và chữ ký</a:t>
                      </a:r>
                    </a:p>
                  </a:txBody>
                  <a:tcPr anchor="ctr" marL="128016">
                    <a:solidFill>
                      <a:srgbClr val="FFFFFF"/>
                    </a:solidFill>
                  </a:tcPr>
                </a:tc>
                <a:tc>
                  <a:txBody>
                    <a:bodyPr wrap="square"/>
                    <a:lstStyle/>
                    <a:p>
                      <a:pPr algn="l">
                        <a:lnSpc>
                          <a:spcPct val="118000"/>
                        </a:lnSpc>
                        <a:spcAft>
                          <a:spcPts val="0"/>
                        </a:spcAft>
                      </a:pPr>
                      <a:r>
                        <a:rPr sz="1250" b="0">
                          <a:solidFill>
                            <a:srgbClr val="3F454D"/>
                          </a:solidFill>
                          <a:latin typeface="Be Vietnam Pro"/>
                        </a:rPr>
                        <a:t>Lộ HashSecret là mất quyền ký</a:t>
                      </a:r>
                    </a:p>
                  </a:txBody>
                  <a:tcPr anchor="ctr" marL="128016">
                    <a:solidFill>
                      <a:srgbClr val="FFFFFF"/>
                    </a:solidFill>
                  </a:tcPr>
                </a:tc>
              </a:tr>
            </a:tbl>
          </a:graphicData>
        </a:graphic>
      </p:graphicFrame>
      <p:sp>
        <p:nvSpPr>
          <p:cNvPr id="4" name="TextBox 3"/>
          <p:cNvSpPr txBox="1"/>
          <p:nvPr/>
        </p:nvSpPr>
        <p:spPr>
          <a:xfrm>
            <a:off x="658368" y="4370832"/>
            <a:ext cx="10874959" cy="571500"/>
          </a:xfrm>
          <a:prstGeom prst="rect">
            <a:avLst/>
          </a:prstGeom>
          <a:noFill/>
        </p:spPr>
        <p:txBody>
          <a:bodyPr wrap="square">
            <a:spAutoFit/>
          </a:bodyPr>
          <a:lstStyle/>
          <a:p>
            <a:pPr algn="l">
              <a:lnSpc>
                <a:spcPct val="118000"/>
              </a:lnSpc>
              <a:spcAft>
                <a:spcPts val="400"/>
              </a:spcAft>
            </a:pPr>
            <a:r>
              <a:rPr sz="1400" b="0">
                <a:solidFill>
                  <a:srgbClr val="3F454D"/>
                </a:solidFill>
                <a:latin typeface="Be Vietnam Pro"/>
              </a:rPr>
              <a:t>Giới hạn phải biết trước: bắt buộc redirect nên app mobile phải nhúng WebView, hoàn tiền phải gọi API refund rồi đối soát tay, và ngrok free đổi địa chỉ mỗi lần chạy.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2468880"/>
            <a:ext cx="10874959" cy="1828800"/>
          </a:xfrm>
          <a:prstGeom prst="rect">
            <a:avLst/>
          </a:prstGeom>
          <a:noFill/>
        </p:spPr>
        <p:txBody>
          <a:bodyPr wrap="square">
            <a:spAutoFit/>
          </a:bodyPr>
          <a:lstStyle/>
          <a:p>
            <a:pPr algn="l">
              <a:lnSpc>
                <a:spcPct val="118000"/>
              </a:lnSpc>
              <a:spcAft>
                <a:spcPts val="1200"/>
              </a:spcAft>
            </a:pPr>
            <a:r>
              <a:rPr sz="1200" b="1">
                <a:solidFill>
                  <a:srgbClr val="0066FF"/>
                </a:solidFill>
                <a:latin typeface="Be Vietnam Pro"/>
              </a:rPr>
              <a:t>HỎI ĐÁP</a:t>
            </a:r>
          </a:p>
          <a:p>
            <a:pPr algn="l">
              <a:lnSpc>
                <a:spcPct val="118000"/>
              </a:lnSpc>
              <a:spcAft>
                <a:spcPts val="0"/>
              </a:spcAft>
            </a:pPr>
            <a:r>
              <a:rPr sz="4000" b="1">
                <a:solidFill>
                  <a:srgbClr val="111111"/>
                </a:solidFill>
                <a:latin typeface="Be Vietnam Pro"/>
              </a:rPr>
              <a:t>Còn thắc mắc gì không?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gn="l">
              <a:lnSpc>
                <a:spcPct val="118000"/>
              </a:lnSpc>
              <a:spcAft>
                <a:spcPts val="500"/>
              </a:spcAft>
            </a:pPr>
            <a:r>
              <a:rPr sz="1150" b="1">
                <a:solidFill>
                  <a:srgbClr val="0066FF"/>
                </a:solidFill>
                <a:latin typeface="Be Vietnam Pro"/>
              </a:rPr>
              <a:t>BÀN GIAO</a:t>
            </a:r>
          </a:p>
          <a:p>
            <a:pPr algn="l">
              <a:lnSpc>
                <a:spcPct val="118000"/>
              </a:lnSpc>
              <a:spcAft>
                <a:spcPts val="0"/>
              </a:spcAft>
            </a:pPr>
            <a:r>
              <a:rPr sz="3000" b="1">
                <a:solidFill>
                  <a:srgbClr val="111111"/>
                </a:solidFill>
                <a:latin typeface="Be Vietnam Pro"/>
              </a:rPr>
              <a:t>Ba bước để đưa vào đồ án của bạn</a:t>
            </a:r>
          </a:p>
        </p:txBody>
      </p:sp>
      <p:sp>
        <p:nvSpPr>
          <p:cNvPr id="3" name="Rounded Rectangle 2"/>
          <p:cNvSpPr/>
          <p:nvPr/>
        </p:nvSpPr>
        <p:spPr>
          <a:xfrm>
            <a:off x="658368" y="1719072"/>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74520"/>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1</a:t>
            </a:r>
          </a:p>
        </p:txBody>
      </p:sp>
      <p:sp>
        <p:nvSpPr>
          <p:cNvPr id="5" name="TextBox 4"/>
          <p:cNvSpPr txBox="1"/>
          <p:nvPr/>
        </p:nvSpPr>
        <p:spPr>
          <a:xfrm>
            <a:off x="1371600" y="1801368"/>
            <a:ext cx="1828800" cy="502920"/>
          </a:xfrm>
          <a:prstGeom prst="rect">
            <a:avLst/>
          </a:prstGeom>
          <a:noFill/>
        </p:spPr>
        <p:txBody>
          <a:bodyPr wrap="square">
            <a:spAutoFit/>
          </a:bodyPr>
          <a:lstStyle/>
          <a:p>
            <a:pPr algn="l">
              <a:lnSpc>
                <a:spcPct val="118000"/>
              </a:lnSpc>
              <a:spcAft>
                <a:spcPts val="0"/>
              </a:spcAft>
            </a:pPr>
            <a:r>
              <a:rPr sz="1100" b="1">
                <a:solidFill>
                  <a:srgbClr val="6B7280"/>
                </a:solidFill>
                <a:latin typeface="Be Vietnam Pro"/>
              </a:rPr>
              <a:t>Copy</a:t>
            </a:r>
          </a:p>
        </p:txBody>
      </p:sp>
      <p:sp>
        <p:nvSpPr>
          <p:cNvPr id="6" name="TextBox 5"/>
          <p:cNvSpPr txBox="1"/>
          <p:nvPr/>
        </p:nvSpPr>
        <p:spPr>
          <a:xfrm>
            <a:off x="3264408" y="1874520"/>
            <a:ext cx="8131759" cy="457200"/>
          </a:xfrm>
          <a:prstGeom prst="rect">
            <a:avLst/>
          </a:prstGeom>
          <a:noFill/>
        </p:spPr>
        <p:txBody>
          <a:bodyPr wrap="square">
            <a:spAutoFit/>
          </a:bodyPr>
          <a:lstStyle/>
          <a:p>
            <a:pPr algn="l">
              <a:lnSpc>
                <a:spcPct val="118000"/>
              </a:lnSpc>
              <a:spcAft>
                <a:spcPts val="0"/>
              </a:spcAft>
            </a:pPr>
            <a:r>
              <a:rPr sz="1350" b="0">
                <a:solidFill>
                  <a:srgbClr val="111111"/>
                </a:solidFill>
                <a:latin typeface="Be Vietnam Pro"/>
              </a:rPr>
              <a:t>Mang hai hàm hmacSHA512 và buildQueryString sang project</a:t>
            </a:r>
          </a:p>
        </p:txBody>
      </p:sp>
      <p:sp>
        <p:nvSpPr>
          <p:cNvPr id="7" name="Rounded Rectangle 6"/>
          <p:cNvSpPr/>
          <p:nvPr/>
        </p:nvSpPr>
        <p:spPr>
          <a:xfrm>
            <a:off x="658368" y="2468880"/>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624328"/>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2</a:t>
            </a:r>
          </a:p>
        </p:txBody>
      </p:sp>
      <p:sp>
        <p:nvSpPr>
          <p:cNvPr id="9" name="TextBox 8"/>
          <p:cNvSpPr txBox="1"/>
          <p:nvPr/>
        </p:nvSpPr>
        <p:spPr>
          <a:xfrm>
            <a:off x="1371600" y="2551176"/>
            <a:ext cx="1828800" cy="502920"/>
          </a:xfrm>
          <a:prstGeom prst="rect">
            <a:avLst/>
          </a:prstGeom>
          <a:noFill/>
        </p:spPr>
        <p:txBody>
          <a:bodyPr wrap="square">
            <a:spAutoFit/>
          </a:bodyPr>
          <a:lstStyle/>
          <a:p>
            <a:pPr algn="l">
              <a:lnSpc>
                <a:spcPct val="118000"/>
              </a:lnSpc>
              <a:spcAft>
                <a:spcPts val="0"/>
              </a:spcAft>
            </a:pPr>
            <a:r>
              <a:rPr sz="1100" b="1">
                <a:solidFill>
                  <a:srgbClr val="6B7280"/>
                </a:solidFill>
                <a:latin typeface="Be Vietnam Pro"/>
              </a:rPr>
              <a:t>Thay</a:t>
            </a:r>
          </a:p>
        </p:txBody>
      </p:sp>
      <p:sp>
        <p:nvSpPr>
          <p:cNvPr id="10" name="TextBox 9"/>
          <p:cNvSpPr txBox="1"/>
          <p:nvPr/>
        </p:nvSpPr>
        <p:spPr>
          <a:xfrm>
            <a:off x="3264408" y="2624328"/>
            <a:ext cx="8131759" cy="457200"/>
          </a:xfrm>
          <a:prstGeom prst="rect">
            <a:avLst/>
          </a:prstGeom>
          <a:noFill/>
        </p:spPr>
        <p:txBody>
          <a:bodyPr wrap="square">
            <a:spAutoFit/>
          </a:bodyPr>
          <a:lstStyle/>
          <a:p>
            <a:pPr algn="l">
              <a:lnSpc>
                <a:spcPct val="118000"/>
              </a:lnSpc>
              <a:spcAft>
                <a:spcPts val="0"/>
              </a:spcAft>
            </a:pPr>
            <a:r>
              <a:rPr sz="1350" b="0">
                <a:solidFill>
                  <a:srgbClr val="111111"/>
                </a:solidFill>
                <a:latin typeface="Be Vietnam Pro"/>
              </a:rPr>
              <a:t>Đổi chỗ lưu đơn hàng sang repository sẵn có của bạn</a:t>
            </a:r>
          </a:p>
        </p:txBody>
      </p:sp>
      <p:sp>
        <p:nvSpPr>
          <p:cNvPr id="11" name="Rounded Rectangle 10"/>
          <p:cNvSpPr/>
          <p:nvPr/>
        </p:nvSpPr>
        <p:spPr>
          <a:xfrm>
            <a:off x="658368" y="3218688"/>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374136"/>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3</a:t>
            </a:r>
          </a:p>
        </p:txBody>
      </p:sp>
      <p:sp>
        <p:nvSpPr>
          <p:cNvPr id="13" name="TextBox 12"/>
          <p:cNvSpPr txBox="1"/>
          <p:nvPr/>
        </p:nvSpPr>
        <p:spPr>
          <a:xfrm>
            <a:off x="1371600" y="3300984"/>
            <a:ext cx="1828800" cy="502920"/>
          </a:xfrm>
          <a:prstGeom prst="rect">
            <a:avLst/>
          </a:prstGeom>
          <a:noFill/>
        </p:spPr>
        <p:txBody>
          <a:bodyPr wrap="square">
            <a:spAutoFit/>
          </a:bodyPr>
          <a:lstStyle/>
          <a:p>
            <a:pPr algn="l">
              <a:lnSpc>
                <a:spcPct val="118000"/>
              </a:lnSpc>
              <a:spcAft>
                <a:spcPts val="0"/>
              </a:spcAft>
            </a:pPr>
            <a:r>
              <a:rPr sz="1100" b="1">
                <a:solidFill>
                  <a:srgbClr val="6B7280"/>
                </a:solidFill>
                <a:latin typeface="Be Vietnam Pro"/>
              </a:rPr>
              <a:t>Cấu hình</a:t>
            </a:r>
          </a:p>
        </p:txBody>
      </p:sp>
      <p:sp>
        <p:nvSpPr>
          <p:cNvPr id="14" name="TextBox 13"/>
          <p:cNvSpPr txBox="1"/>
          <p:nvPr/>
        </p:nvSpPr>
        <p:spPr>
          <a:xfrm>
            <a:off x="3264408" y="3374136"/>
            <a:ext cx="8131759" cy="457200"/>
          </a:xfrm>
          <a:prstGeom prst="rect">
            <a:avLst/>
          </a:prstGeom>
          <a:noFill/>
        </p:spPr>
        <p:txBody>
          <a:bodyPr wrap="square">
            <a:spAutoFit/>
          </a:bodyPr>
          <a:lstStyle/>
          <a:p>
            <a:pPr algn="l">
              <a:lnSpc>
                <a:spcPct val="118000"/>
              </a:lnSpc>
              <a:spcAft>
                <a:spcPts val="0"/>
              </a:spcAft>
            </a:pPr>
            <a:r>
              <a:rPr sz="1350" b="0">
                <a:solidFill>
                  <a:srgbClr val="111111"/>
                </a:solidFill>
                <a:latin typeface="Be Vietnam Pro"/>
              </a:rPr>
              <a:t>Nạp TmnCode và HashSecret từ biến môi trường</a:t>
            </a:r>
          </a:p>
        </p:txBody>
      </p:sp>
      <p:sp>
        <p:nvSpPr>
          <p:cNvPr id="15" name="Rounded Rectangle 14"/>
          <p:cNvSpPr/>
          <p:nvPr/>
        </p:nvSpPr>
        <p:spPr>
          <a:xfrm>
            <a:off x="658368" y="4151376"/>
            <a:ext cx="10874959" cy="998980"/>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206240"/>
            <a:ext cx="40640" cy="889252"/>
          </a:xfrm>
          <a:prstGeom prst="rect">
            <a:avLst/>
          </a:prstGeom>
          <a:solidFill>
            <a:srgbClr val="0B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270248"/>
            <a:ext cx="10417759" cy="761236"/>
          </a:xfrm>
          <a:prstGeom prst="rect">
            <a:avLst/>
          </a:prstGeom>
          <a:noFill/>
        </p:spPr>
        <p:txBody>
          <a:bodyPr wrap="square">
            <a:spAutoFit/>
          </a:bodyPr>
          <a:lstStyle/>
          <a:p>
            <a:pPr algn="l">
              <a:lnSpc>
                <a:spcPct val="118000"/>
              </a:lnSpc>
              <a:spcAft>
                <a:spcPts val="400"/>
              </a:spcAft>
            </a:pPr>
            <a:r>
              <a:rPr sz="1400" b="1">
                <a:solidFill>
                  <a:srgbClr val="0B6B47"/>
                </a:solidFill>
                <a:latin typeface="Be Vietnam Pro"/>
              </a:rPr>
              <a:t>Sau buổi hôm nay</a:t>
            </a:r>
          </a:p>
          <a:p>
            <a:pPr algn="l">
              <a:lnSpc>
                <a:spcPct val="118000"/>
              </a:lnSpc>
              <a:spcAft>
                <a:spcPts val="0"/>
              </a:spcAft>
            </a:pPr>
            <a:r>
              <a:rPr sz="1350" b="0">
                <a:solidFill>
                  <a:srgbClr val="3F454D"/>
                </a:solidFill>
                <a:latin typeface="Be Vietnam Pro"/>
              </a:rPr>
              <a:t>Mình bỏ VnpayDemo.java, tức bản đã điền xong sáu TODO, vào đúng thư mục Drive lúc nãy. Có gì không chạy cứ nhắn mình.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