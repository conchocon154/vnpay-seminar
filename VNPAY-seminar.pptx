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Chào mọi người. Hôm nay mình chia sẻ về cách một hệ thống microservice tích hợp với cổng thanh toán bên ngoài, cụ thể là VNPAY Sandbox. Buổi này làm cho vui, ít lý thuyết, mọi người mở máy code cùng mình.</a:t>
            </a:r>
          </a:p>
          <a:p>
            <a:endParaRPr lang="vi-VN"/>
          </a:p>
          <a:p>
            <a:r>
              <a:rPr lang="vi-VN" sz="1600" b="1" dirty="0"/>
              <a:t>Làm</a:t>
            </a:r>
          </a:p>
          <a:p>
            <a:r>
              <a:rPr lang="vi-VN" sz="1600" dirty="0"/>
              <a:t>Hỏi xem mọi người đã giải nén file zip và chạy thử ShopStart.java chưa.</a:t>
            </a:r>
          </a:p>
          <a:p>
            <a:endParaRPr lang="vi-VN"/>
          </a:p>
          <a:p>
            <a:r>
              <a:rPr lang="vi-VN" sz="1600" b="1" dirty="0"/>
              <a:t>Hỏi: Sao không tự làm form nhập thẻ cho nhanh?</a:t>
            </a:r>
          </a:p>
          <a:p>
            <a:r>
              <a:rPr lang="vi-VN" sz="1600" dirty="0"/>
              <a:t>Đáp: Tự lưu số thẻ là vi phạm chuẩn PCI-DSS, ngân hàng cũng không cấp API cho mình tự gọi. Nên mới cần cổng trung gian như VNPAY.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Buổi hôm nay có 4 phần. Đầu tiên mình nói Payment Service giao tiếp với VNPAY bằng gì. Sau đó cả lớp code một Payment Service nhỏ trong 1 file Java. Rồi chạy thật trên sandbox. Cuối cùng là mấy pattern microservice nằm trong bài.</a:t>
            </a:r>
          </a:p>
          <a:p>
            <a:endParaRPr lang="vi-VN"/>
          </a:p>
          <a:p>
            <a:r>
              <a:rPr lang="vi-VN" sz="1600" dirty="0"/>
              <a:t>Mỗi đoạn code mình sẽ nói rõ nó là thứ VNPAY bắt buộc, hay là do mình chọn. Phân biệt được hai cái này thì sau này đổi sang cổng khác như MoMo hay ZaloPay sẽ biết chỗ nào phải sửa.</a:t>
            </a:r>
          </a:p>
          <a:p>
            <a:endParaRPr lang="vi-VN"/>
          </a:p>
          <a:p>
            <a:r>
              <a:rPr lang="vi-VN" sz="1600" b="1" dirty="0"/>
              <a:t>Hỏi: Sao không dùng Spring Boot cho giống môn học?</a:t>
            </a:r>
          </a:p>
          <a:p>
            <a:r>
              <a:rPr lang="vi-VN" sz="1600" dirty="0"/>
              <a:t>Đáp: Để cả lớp tập trung vào phần giao tiếp với VNPAY. Code ký và xử lý IPN đem sang Spring Boot dùng lại y chang, cuối buổi mình chỉ chỗ đổi.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một hệ thống bán hàng chia thành nhiều service. Khách đi qua API Gateway vào các service bên trong. Trong đó chỉ có Payment Service nói chuyện với VNPAY, mấy service khác không biết VNPAY tồn tại.</a:t>
            </a:r>
          </a:p>
          <a:p>
            <a:endParaRPr lang="vi-VN"/>
          </a:p>
          <a:p>
            <a:r>
              <a:rPr lang="vi-VN" sz="1600" dirty="0"/>
              <a:t>Lý do là để cô lập phần phụ thuộc bên ngoài vào một chỗ. Mai mốt đổi sang MoMo thì chỉ sửa Payment Service. Thanh toán xong, Payment Service phát event OrderPaid để Order, Inventory, Notification tự xử lý phần của mình.</a:t>
            </a:r>
          </a:p>
          <a:p>
            <a:endParaRPr lang="vi-VN"/>
          </a:p>
          <a:p>
            <a:r>
              <a:rPr lang="vi-VN" sz="1600" dirty="0"/>
              <a:t>Hôm nay mình chỉ làm Payment Service, và để gọn thì gói trong 1 file Java.</a:t>
            </a:r>
          </a:p>
          <a:p>
            <a:endParaRPr lang="vi-VN"/>
          </a:p>
          <a:p>
            <a:r>
              <a:rPr lang="vi-VN" sz="1600" b="1" dirty="0"/>
              <a:t>Hỏi: Sao không để Order Service gọi VNPAY luôn?</a:t>
            </a:r>
          </a:p>
          <a:p>
            <a:r>
              <a:rPr lang="vi-VN" sz="1600" dirty="0"/>
              <a:t>Đáp: Được, nhưng khi đó logic thanh toán dính vào logic đơn hàng. Tách riêng thì đổi cổng thanh toán, thêm cổng mới hay scale riêng đều dễ hơn.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Trong kiến trúc hướng dịch vụ, mỗi service công bố một hợp đồng: gọi vào đâu, gửi gì, nhận lại gì. VNPAY là bên cung cấp dịch vụ, mình là bên dùng, nên hợp đồng do VNPAY đặt và mình phải làm đúng từng chữ.</a:t>
            </a:r>
          </a:p>
          <a:p>
            <a:endParaRPr lang="vi-VN"/>
          </a:p>
          <a:p>
            <a:r>
              <a:rPr lang="vi-VN" sz="1600" dirty="0"/>
              <a:t>Bên trái là những thứ VNPAY quy định, làm sai là VNPAY từ chối. Bên phải là phần mình tự thiết kế bên trong Payment Service. Lát nữa đi qua từng đoạn code, mình sẽ chỉ nó thuộc bên nào.</a:t>
            </a:r>
          </a:p>
          <a:p>
            <a:endParaRPr lang="vi-VN"/>
          </a:p>
          <a:p>
            <a:r>
              <a:rPr lang="vi-VN" sz="1600" b="1" dirty="0"/>
              <a:t>Hỏi: Lỡ VNPAY đổi hợp đồng thì sao?</a:t>
            </a:r>
          </a:p>
          <a:p>
            <a:r>
              <a:rPr lang="vi-VN" sz="1600" dirty="0"/>
              <a:t>Đáp: VNPAY đánh số phiên bản, đang dùng 2.1.0 và gửi trong tham số vnp_Version. Đổi phiên bản thì chỉ Payment Service phải sửa, các service khác không ảnh hưởng.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slide quan trọng nhất về mặt kiến trúc. Payment Service giao tiếp với VNPAY qua 4 kênh.</a:t>
            </a:r>
          </a:p>
          <a:p>
            <a:endParaRPr lang="vi-VN"/>
          </a:p>
          <a:p>
            <a:r>
              <a:rPr lang="vi-VN" sz="1600" dirty="0"/>
              <a:t>Kênh 1 và 2 đi qua trình duyệt của khách, gọi là front-channel. Dữ liệu nằm trên query string của URL, phương thức GET. Kênh 3 và 4 là server nói chuyện trực tiếp với server, gọi là back-channel. IPN là VNPAY gọi mình bằng GET, giống webhook. querydr là mình gọi VNPAY bằng POST, gửi và nhận JSON.</a:t>
            </a:r>
          </a:p>
          <a:p>
            <a:endParaRPr lang="vi-VN"/>
          </a:p>
          <a:p>
            <a:r>
              <a:rPr lang="vi-VN" sz="1600" dirty="0"/>
              <a:t>Tất cả mấy cái này là VNPAY quy định, slide sau mình chứng minh từng cái.</a:t>
            </a:r>
          </a:p>
          <a:p>
            <a:endParaRPr lang="vi-VN"/>
          </a:p>
          <a:p>
            <a:r>
              <a:rPr lang="vi-VN" sz="1600" b="1" dirty="0"/>
              <a:t>Hỏi: Front-channel với back-channel khác nhau quan trọng ở đâu?</a:t>
            </a:r>
          </a:p>
          <a:p>
            <a:r>
              <a:rPr lang="vi-VN" sz="1600" dirty="0"/>
              <a:t>Đáp: Front-channel đi qua trình duyệt nên khách sửa được hoặc tắt ngang. Back-channel thì khách không đụng tới được. Nên chỉ back-channel mới được cập nhật trạng thái đơn.</a:t>
            </a:r>
          </a:p>
          <a:p>
            <a:endParaRPr lang="vi-VN"/>
          </a:p>
          <a:p>
            <a:r>
              <a:rPr lang="vi-VN" sz="1600" b="1" dirty="0"/>
              <a:t>Hỏi: Sao IPN dùng GET mà không dùng POST?</a:t>
            </a:r>
          </a:p>
          <a:p>
            <a:r>
              <a:rPr lang="vi-VN" sz="1600" dirty="0"/>
              <a:t>Đáp: VNPAY thiết kế vậy, tài liệu ghi IPN gọi bằng GET với tham số trên query string. Mình là bên dùng nên làm theo.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Đi theo thứ tự một lần thanh toán. Bước 1 là API nội bộ giữa web và Payment Service, cái này mình tự thiết kế. Bước 2 trình duyệt mở link VNPAY, khách nhập thẻ trên trang của VNPAY, server mình không bao giờ thấy số thẻ. Bước 3 VNPAY gọi IPN về server, đây là chỗ cập nhật đơn. Bước 4 VNPAY đưa khách quay lại web, chỉ để hiển thị. Bước 5 là phương án dự phòng: server tự hỏi lại VNPAY.</a:t>
            </a:r>
          </a:p>
          <a:p>
            <a:endParaRPr lang="vi-VN"/>
          </a:p>
          <a:p>
            <a:r>
              <a:rPr lang="vi-VN" sz="1600" dirty="0"/>
              <a:t>Hai dòng tô xanh là hai chỗ được phép cập nhật trạng thái đơn.</a:t>
            </a:r>
          </a:p>
          <a:p>
            <a:endParaRPr lang="vi-VN"/>
          </a:p>
          <a:p>
            <a:r>
              <a:rPr lang="vi-VN" sz="1600" b="1" dirty="0"/>
              <a:t>Hỏi: Bước 3 và bước 4 cái nào tới trước?</a:t>
            </a:r>
          </a:p>
          <a:p>
            <a:r>
              <a:rPr lang="vi-VN" sz="1600" dirty="0"/>
              <a:t>Đáp: Không chắc. Thường IPN tới trước nhưng không có gì đảm bảo, nên trang kết quả phải hỏi lại server chứ không đọc trên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Vì sao không gọi API của VNPAY để thanh toán luôn mà phải chuyển trang? Vì số thẻ phải nhập trên trang của VNPAY. Nếu server mình nhận số thẻ thì phải đạt chuẩn bảo mật PCI-DSS, rất tốn kém. Chuyển trang thì server mình chỉ gửi thông tin đơn, không bao giờ thấy số thẻ.</a:t>
            </a:r>
          </a:p>
          <a:p>
            <a:endParaRPr lang="vi-VN"/>
          </a:p>
          <a:p>
            <a:r>
              <a:rPr lang="vi-VN" sz="1600" dirty="0"/>
              <a:t>Bên phải là bằng chứng: mình dùng chính code tạo link, mở trên sandbox. VNPAY đọc đúng số tiền 25.000 và mã đơn từ query string.</a:t>
            </a:r>
          </a:p>
          <a:p>
            <a:endParaRPr lang="vi-VN"/>
          </a:p>
          <a:p>
            <a:r>
              <a:rPr lang="vi-VN" sz="1600" b="1" dirty="0"/>
              <a:t>Hỏi: Gửi dữ liệu trên URL có bị lộ không?</a:t>
            </a:r>
          </a:p>
          <a:p>
            <a:r>
              <a:rPr lang="vi-VN" sz="1600" dirty="0"/>
              <a:t>Đáp: Link chỉ có thông tin đơn, không có gì bí mật, và đi qua HTTPS. Cái cần chống là bị sửa, nên mới có chữ ký.</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Hai câu trích này là từ tài liệu VNPAY: ReturnURL thì không được cập nhật kết quả, IPN mới là chỗ cập nhật. Đây là quy định chứ không phải mình tự nghĩ ra.</a:t>
            </a:r>
          </a:p>
          <a:p>
            <a:endParaRPr lang="vi-VN"/>
          </a:p>
          <a:p>
            <a:r>
              <a:rPr lang="vi-VN" sz="1600" dirty="0"/>
              <a:t>IPN có cơ chế gọi lại: mình chưa trả 00 hoặc 02 thì VNPAY gọi lại tối đa 10 lần, mỗi lần cách 5 phút. Đây đúng là pattern webhook có retry trong microservice. Vì có retry nên phía mình phải xử lý sao cho một đơn bị gọi nhiều lần vẫn chỉ ghi một lần, lát tới TODO 6 sẽ thấy.</a:t>
            </a:r>
          </a:p>
          <a:p>
            <a:endParaRPr lang="vi-VN"/>
          </a:p>
          <a:p>
            <a:r>
              <a:rPr lang="vi-VN" sz="1600" b="1" dirty="0"/>
              <a:t>Hỏi: Server mình chết lúc VNPAY gọi IPN thì sao?</a:t>
            </a:r>
          </a:p>
          <a:p>
            <a:r>
              <a:rPr lang="vi-VN" sz="1600" dirty="0"/>
              <a:t>Đáp: VNPAY sẽ gọi lại sau 5 phút, tối đa 10 lần. Hết 10 lần vẫn chưa được thì còn querydr để hỏi lại.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Để biết chắc cái nào VNPAY bắt buộc, mình thử trực tiếp trên sandbox. Link đúng thì mở được trang thanh toán. Ký xong mà sửa số tiền thì VNPAY báo sai chữ ký, nghĩa là khách không sửa giá được. Ký chuỗi không sắp xếp, hoặc chưa encode, cũng sai chữ ký. Vậy sắp xếp và encode là VNPAY bắt buộc.</a:t>
            </a:r>
          </a:p>
          <a:p>
            <a:endParaRPr lang="vi-VN"/>
          </a:p>
          <a:p>
            <a:r>
              <a:rPr lang="vi-VN" sz="1600" dirty="0"/>
              <a:t>Riêng chữ ký viết hoa thì VNPAY vẫn nhận. Nên chuyện viết chữ thường là mình làm theo code mẫu thôi, không phải quy định.</a:t>
            </a:r>
          </a:p>
          <a:p>
            <a:endParaRPr lang="vi-VN"/>
          </a:p>
          <a:p>
            <a:r>
              <a:rPr lang="vi-VN" sz="1600" b="1" dirty="0"/>
              <a:t>Hỏi: HMAC khác hash thường chỗ nào?</a:t>
            </a:r>
          </a:p>
          <a:p>
            <a:r>
              <a:rPr lang="vi-VN" sz="1600" dirty="0"/>
              <a:t>Đáp: Hash thường ai cũng tính được. HMAC phải có HashSecret, nên chỉ mình với VNPAY tính ra được. Nó chống sửa dữ liệu chứ không mã hoá, dữ liệu vẫn đọc được trên URL.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bắt đầu code. Mọi người mở thư mục giải nén bằng VSCode, mở terminal rồi chạy java ShopStart.java. File này đóng vai Payment Service: có server HTTP, có các endpoint, chỉ còn trống 6 chỗ liên quan tới VNPAY.</a:t>
            </a:r>
          </a:p>
          <a:p>
            <a:endParaRPr lang="vi-VN"/>
          </a:p>
          <a:p>
            <a:r>
              <a:rPr lang="vi-VN" sz="1600" b="1" dirty="0"/>
              <a:t>Làm</a:t>
            </a:r>
          </a:p>
          <a:p>
            <a:r>
              <a:rPr lang="vi-VN" sz="1600" dirty="0"/>
              <a:t>1. Mở thư mục bằng VSCode.</a:t>
            </a:r>
          </a:p>
          <a:p>
            <a:r>
              <a:rPr lang="vi-VN" sz="1600" dirty="0"/>
              <a:t>2. Terminal → New Terminal.</a:t>
            </a:r>
          </a:p>
          <a:p>
            <a:r>
              <a:rPr lang="vi-VN" sz="1600" dirty="0"/>
              <a:t>3. Gõ java ShopStart.java rồi Enter.</a:t>
            </a:r>
          </a:p>
          <a:p>
            <a:r>
              <a:rPr lang="vi-VN" sz="1600" dirty="0"/>
              <a:t>4. Vào localhost:8080 thấy cửa hàng, bấm Thanh toán báo Chưa làm TODO 5 là đúng.</a:t>
            </a:r>
          </a:p>
          <a:p>
            <a:endParaRPr lang="vi-VN"/>
          </a:p>
          <a:p>
            <a:r>
              <a:rPr lang="vi-VN" sz="1600" b="1" dirty="0"/>
              <a:t>Hỏi: Báo Address already in use?</a:t>
            </a:r>
          </a:p>
          <a:p>
            <a:r>
              <a:rPr lang="vi-VN" sz="1600" dirty="0"/>
              <a:t>Đáp: Port 8080 đang bị chiếm, thường là terminal cũ còn chạy. Tắt terminal đó đi.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1 là điền hai giá trị VNPAY gửi trong email lúc đăng ký sandbox. TmnCode giống như tên đăng nhập của website mình bên VNPAY, không bí mật. HashSecret là khoá bí mật dùng chung, chỉ mình và VNPAY biết.</a:t>
            </a:r>
          </a:p>
          <a:p>
            <a:endParaRPr lang="vi-VN"/>
          </a:p>
          <a:p>
            <a:r>
              <a:rPr lang="vi-VN" sz="1600" b="1" dirty="0"/>
              <a:t>Làm</a:t>
            </a:r>
          </a:p>
          <a:p>
            <a:r>
              <a:rPr lang="vi-VN" sz="1600" dirty="0"/>
              <a:t>1. Mở email VNPAY, copy vnp_TmnCode dán vào TMN_CODE.</a:t>
            </a:r>
          </a:p>
          <a:p>
            <a:r>
              <a:rPr lang="vi-VN" sz="1600" dirty="0"/>
              <a:t>2. Copy vnp_HashSecret dán vào HASH_SECRET.</a:t>
            </a:r>
          </a:p>
          <a:p>
            <a:r>
              <a:rPr lang="vi-VN" sz="1600" dirty="0"/>
              <a:t>3. Kiểm tra: 8 ký tự và 32 ký tự, không dính dấu cách.</a:t>
            </a:r>
          </a:p>
          <a:p>
            <a:endParaRPr lang="vi-VN"/>
          </a:p>
          <a:p>
            <a:r>
              <a:rPr lang="vi-VN" sz="1600" b="1" dirty="0"/>
              <a:t>Hỏi: Trong microservice thật để HashSecret ở đâu?</a:t>
            </a:r>
          </a:p>
          <a:p>
            <a:r>
              <a:rPr lang="vi-VN" sz="1600" dirty="0"/>
              <a:t>Đáp: Trong Secret Manager như Vault hoặc Kubernetes Secret, service đọc lúc khởi động. Không để trong code hay file cấu hình đẩy lên Git.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băm chuỗi dữ liệu bằng HashSecret. Thuật toán HMAC-SHA512 là VNPAY quy định. Java có sẵn class Mac nên không cần thư viện.</a:t>
            </a:r>
          </a:p>
          <a:p>
            <a:endParaRPr lang="vi-VN"/>
          </a:p>
          <a:p>
            <a:r>
              <a:rPr lang="vi-VN" sz="1600" b="1" dirty="0"/>
              <a:t>Gõ theo thứ tự</a:t>
            </a:r>
          </a:p>
          <a:p>
            <a:r>
              <a:rPr lang="vi-VN" sz="1600" dirty="0"/>
              <a:t>1. Xoá dòng return ""; có sẵn.</a:t>
            </a:r>
          </a:p>
          <a:p>
            <a:r>
              <a:rPr lang="vi-VN" sz="1600" dirty="0"/>
              <a:t>2. Mở try catch.</a:t>
            </a:r>
          </a:p>
          <a:p>
            <a:r>
              <a:rPr lang="vi-VN" sz="1600" dirty="0"/>
              <a:t>3. Mac.getInstance("HmacSHA512"): lấy thuật toán.</a:t>
            </a:r>
          </a:p>
          <a:p>
            <a:r>
              <a:rPr lang="vi-VN" sz="1600" dirty="0"/>
              <a:t>4. mac.init(new SecretKeySpec(...)): gắn key vào. UTF_8 khai báo sẵn ở đầu file.</a:t>
            </a:r>
          </a:p>
          <a:p>
            <a:r>
              <a:rPr lang="vi-VN" sz="1600" dirty="0"/>
              <a:t>5. mac.doFinal(...): ra mảng 64 byte.</a:t>
            </a:r>
          </a:p>
          <a:p>
            <a:r>
              <a:rPr lang="vi-VN" sz="1600" dirty="0"/>
              <a:t>6. Vòng for đổi từng byte ra 2 ký tự hex bằng String.format("%02x", b).</a:t>
            </a:r>
          </a:p>
          <a:p>
            <a:r>
              <a:rPr lang="vi-VN" sz="1600" dirty="0"/>
              <a:t>7. return hex.toString().</a:t>
            </a:r>
          </a:p>
          <a:p>
            <a:endParaRPr lang="vi-VN"/>
          </a:p>
          <a:p>
            <a:r>
              <a:rPr lang="vi-VN" sz="1600" b="1" dirty="0"/>
              <a:t>Hỏi: Sao chữ ký luôn dài 128 ký tự?</a:t>
            </a:r>
          </a:p>
          <a:p>
            <a:r>
              <a:rPr lang="vi-VN" sz="1600" dirty="0"/>
              <a:t>Đáp: SHA-512 ra 512 bit, chia 8 được 64 byte. Mỗi byte in ra 2 ký tự hex nên 64 x 2 = 128.</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ráp các tham số thành chuỗi để đem đi ký. Cả 3 dòng tô vàng đều là VNPAY bắt buộc, mình đã thử bỏ từng cái và VNPAY đều báo sai chữ ký. Riêng dùng TreeMap là mình chọn cho gọn.</a:t>
            </a:r>
          </a:p>
          <a:p>
            <a:endParaRPr lang="vi-VN"/>
          </a:p>
          <a:p>
            <a:r>
              <a:rPr lang="vi-VN" sz="1600" b="1" dirty="0"/>
              <a:t>Gõ theo thứ tự</a:t>
            </a:r>
          </a:p>
          <a:p>
            <a:r>
              <a:rPr lang="vi-VN" sz="1600" dirty="0"/>
              <a:t>1. Xoá dòng return ""; có sẵn.</a:t>
            </a:r>
          </a:p>
          <a:p>
            <a:r>
              <a:rPr lang="vi-VN" sz="1600" dirty="0"/>
              <a:t>2. Tạo StringBuilder sb.</a:t>
            </a:r>
          </a:p>
          <a:p>
            <a:r>
              <a:rPr lang="vi-VN" sz="1600" dirty="0"/>
              <a:t>3. Vòng for duyệt new TreeMap&lt;&gt;(params).entrySet().</a:t>
            </a:r>
          </a:p>
          <a:p>
            <a:r>
              <a:rPr lang="vi-VN" sz="1600" dirty="0"/>
              <a:t>4. Value null hoặc rỗng thì continue.</a:t>
            </a:r>
          </a:p>
          <a:p>
            <a:r>
              <a:rPr lang="vi-VN" sz="1600" dirty="0"/>
              <a:t>5. sb đã có chữ thì append dấu &amp; trước.</a:t>
            </a:r>
          </a:p>
          <a:p>
            <a:r>
              <a:rPr lang="vi-VN" sz="1600" dirty="0"/>
              <a:t>6. Append key đã encode, dấu =, rồi value đã encode.</a:t>
            </a:r>
          </a:p>
          <a:p>
            <a:r>
              <a:rPr lang="vi-VN" sz="1600" dirty="0"/>
              <a:t>7. return sb.toString().</a:t>
            </a:r>
          </a:p>
          <a:p>
            <a:endParaRPr lang="vi-VN"/>
          </a:p>
          <a:p>
            <a:r>
              <a:rPr lang="vi-VN" sz="1600" b="1" dirty="0"/>
              <a:t>Hỏi: Hàm này dùng mấy lần?</a:t>
            </a:r>
          </a:p>
          <a:p>
            <a:r>
              <a:rPr lang="vi-VN" sz="1600" dirty="0"/>
              <a:t>Đáp: Hai lần: lúc tạo link để ký dữ liệu gửi đi, và lúc nhận IPN để ký lại dữ liệu VNPAY gửi về rồi so.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chiều ngược lại: VNPAY gửi dữ liệu về, mình kiểm tra có đúng là VNPAY ký không. Lấy chữ ký họ gửi, bỏ nó ra, ký lại phần còn lại bằng hai hàm vừa viết rồi so. Tài liệu VNPAY ghi rõ phải kiểm tra checksum khi bắt đầu xử lý.</a:t>
            </a:r>
          </a:p>
          <a:p>
            <a:endParaRPr lang="vi-VN"/>
          </a:p>
          <a:p>
            <a:r>
              <a:rPr lang="vi-VN" sz="1600" b="1" dirty="0"/>
              <a:t>Gõ theo thứ tự</a:t>
            </a:r>
          </a:p>
          <a:p>
            <a:r>
              <a:rPr lang="vi-VN" sz="1600" dirty="0"/>
              <a:t>1. Xoá dòng return false; có sẵn.</a:t>
            </a:r>
          </a:p>
          <a:p>
            <a:r>
              <a:rPr lang="vi-VN" sz="1600" dirty="0"/>
              <a:t>2. Lấy received = params.get("vnp_SecureHash"), rỗng thì return false.</a:t>
            </a:r>
          </a:p>
          <a:p>
            <a:r>
              <a:rPr lang="vi-VN" sz="1600" dirty="0"/>
              <a:t>3. Copy params sang TreeMap clone.</a:t>
            </a:r>
          </a:p>
          <a:p>
            <a:r>
              <a:rPr lang="vi-VN" sz="1600" dirty="0"/>
              <a:t>4. clone.remove vnp_SecureHash và vnp_SecureHashType.</a:t>
            </a:r>
          </a:p>
          <a:p>
            <a:r>
              <a:rPr lang="vi-VN" sz="1600" dirty="0"/>
              <a:t>5. Ký lại clone rồi so với received bằng equalsIgnoreCase.</a:t>
            </a:r>
          </a:p>
          <a:p>
            <a:endParaRPr lang="vi-VN"/>
          </a:p>
          <a:p>
            <a:r>
              <a:rPr lang="vi-VN" sz="1600" b="1" dirty="0"/>
              <a:t>Hỏi: Sao phải remove vnp_SecureHash rồi mới ký lại?</a:t>
            </a:r>
          </a:p>
          <a:p>
            <a:r>
              <a:rPr lang="vi-VN" sz="1600" dirty="0"/>
              <a:t>Đáp: Lúc VNPAY ký thì chưa có chữ ký này. Phải ký đúng phần dữ liệu họ đã ký mới ra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5 tạo thanh toán, chia hai slide. Phần đầu lưu đơn rồi bỏ 13 tham số vào map. Danh sách tham số, đơn vị tiền nhân 100, mã đơn không trùng là VNPAY quy định. Có một bằng chứng: giao dịch thử hôm 20/9 có nội dung đơn viết có dấu, hỏi lại bằng querydr thì VNPAY trả về "C? ph? s?a ??". Tài liệu yêu cầu viết không dấu là vì vậy.</a:t>
            </a:r>
          </a:p>
          <a:p>
            <a:endParaRPr lang="vi-VN"/>
          </a:p>
          <a:p>
            <a:r>
              <a:rPr lang="vi-VN" sz="1600" dirty="0"/>
              <a:t>Lưu đơn trước khi ký và để IpAddr 127.0.0.1 là mình chọn cho bài demo.</a:t>
            </a:r>
          </a:p>
          <a:p>
            <a:endParaRPr lang="vi-VN"/>
          </a:p>
          <a:p>
            <a:r>
              <a:rPr lang="vi-VN" sz="1600" b="1" dirty="0"/>
              <a:t>Gõ theo thứ tự</a:t>
            </a:r>
          </a:p>
          <a:p>
            <a:r>
              <a:rPr lang="vi-VN" sz="1600" dirty="0"/>
              <a:t>1. Xoá dòng return báo lỗi Chưa làm TODO 5.</a:t>
            </a:r>
          </a:p>
          <a:p>
            <a:r>
              <a:rPr lang="vi-VN" sz="1600" dirty="0"/>
              <a:t>2. now, createDate, txnRef. VN, TIME, newTxnRef có sẵn.</a:t>
            </a:r>
          </a:p>
          <a:p>
            <a:r>
              <a:rPr lang="vi-VN" sz="1600" dirty="0"/>
              <a:t>3. ORDERS.put lưu đơn PENDING.</a:t>
            </a:r>
          </a:p>
          <a:p>
            <a:r>
              <a:rPr lang="vi-VN" sz="1600" dirty="0"/>
              <a:t>4. Tạo HashMap p, put 13 tham số, mình đọc từng dòng.</a:t>
            </a:r>
          </a:p>
          <a:p>
            <a:r>
              <a:rPr lang="vi-VN" sz="1600" dirty="0"/>
              <a:t>5. bankCode có giá trị mới put.</a:t>
            </a:r>
          </a:p>
          <a:p>
            <a:endParaRPr lang="vi-VN"/>
          </a:p>
          <a:p>
            <a:r>
              <a:rPr lang="vi-VN" sz="1600" b="1" dirty="0"/>
              <a:t>Hỏi: Sao số tiền phải nhân 100?</a:t>
            </a:r>
          </a:p>
          <a:p>
            <a:r>
              <a:rPr lang="vi-VN" sz="1600" dirty="0"/>
              <a:t>Đáp: VNPAY quy định vậy để khỏi xử lý số lẻ. 25.000đ gửi đi là 2500000.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hai chỉ có 3 dòng: ráp query, ký, gắn chữ ký vào cuối link, trả về cho web.</a:t>
            </a:r>
          </a:p>
          <a:p>
            <a:endParaRPr lang="vi-VN"/>
          </a:p>
          <a:p>
            <a:r>
              <a:rPr lang="vi-VN" sz="1600" dirty="0"/>
              <a:t>Để ý dòng return: định dạng JSON này là mình tự đặt, là hợp đồng giữa web và Payment Service. VNPAY không biết và không quan tâm tới nó. Trong microservice, đây chính là API mà Payment Service công bố cho các bên khác dùng.</a:t>
            </a:r>
          </a:p>
          <a:p>
            <a:endParaRPr lang="vi-VN"/>
          </a:p>
          <a:p>
            <a:r>
              <a:rPr lang="vi-VN" sz="1600" b="1" dirty="0"/>
              <a:t>Gõ theo thứ tự</a:t>
            </a:r>
          </a:p>
          <a:p>
            <a:r>
              <a:rPr lang="vi-VN" sz="1600" dirty="0"/>
              <a:t>1. query = buildQueryString(p).</a:t>
            </a:r>
          </a:p>
          <a:p>
            <a:r>
              <a:rPr lang="vi-VN" sz="1600" dirty="0"/>
              <a:t>2. url = PAY_URL + "?" + query + "&amp;vnp_SecureHash=" + chữ ký.</a:t>
            </a:r>
          </a:p>
          <a:p>
            <a:r>
              <a:rPr lang="vi-VN" sz="1600" dirty="0"/>
              <a:t>3. return JSON có txnRef và paymentUrl, dấu nháy kép viết \".</a:t>
            </a:r>
          </a:p>
          <a:p>
            <a:r>
              <a:rPr lang="vi-VN" sz="1600" dirty="0"/>
              <a:t>4. Đóng ngoặc } của hàm.</a:t>
            </a:r>
          </a:p>
          <a:p>
            <a:endParaRPr lang="vi-VN"/>
          </a:p>
          <a:p>
            <a:r>
              <a:rPr lang="vi-VN" sz="1600" b="1" dirty="0"/>
              <a:t>Hỏi: Sao không để web tự ký bằng JavaScript cho khỏi gọi server?</a:t>
            </a:r>
          </a:p>
          <a:p>
            <a:r>
              <a:rPr lang="vi-VN" sz="1600" dirty="0"/>
              <a:t>Đáp: HashSecret nằm trong JavaScript thì ai mở View Source cũng thấy, rồi tự ký đơn giả được.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Đủ TODO 1 tới 5 rồi, test lần đầu. Qua được trang VNPAY, đúng số tiền là kênh 1 đã chạy.</a:t>
            </a:r>
          </a:p>
          <a:p>
            <a:endParaRPr lang="vi-VN"/>
          </a:p>
          <a:p>
            <a:r>
              <a:rPr lang="vi-VN" sz="1600" b="1" dirty="0"/>
              <a:t>Làm</a:t>
            </a:r>
          </a:p>
          <a:p>
            <a:r>
              <a:rPr lang="vi-VN" sz="1600" dirty="0"/>
              <a:t>1. Ctrl+C dừng server, mũi tên lên, Enter chạy lại.</a:t>
            </a:r>
          </a:p>
          <a:p>
            <a:r>
              <a:rPr lang="vi-VN" sz="1600" dirty="0"/>
              <a:t>2. Log phải hiện TmnCode, không còn dòng Chưa điền.</a:t>
            </a:r>
          </a:p>
          <a:p>
            <a:r>
              <a:rPr lang="vi-VN" sz="1600" dirty="0"/>
              <a:t>3. F5 localhost:8080, bấm Thanh toán.</a:t>
            </a:r>
          </a:p>
          <a:p>
            <a:r>
              <a:rPr lang="vi-VN" sz="1600" dirty="0"/>
              <a:t>4. Sang trang VNPAY đúng số tiền là đạt. Cho khoảng 3 phút.</a:t>
            </a:r>
          </a:p>
          <a:p>
            <a:endParaRPr lang="vi-VN"/>
          </a:p>
          <a:p>
            <a:r>
              <a:rPr lang="vi-VN" sz="1600" b="1" dirty="0"/>
              <a:t>Hỏi: Báo lỗi unreachable statement?</a:t>
            </a:r>
          </a:p>
          <a:p>
            <a:r>
              <a:rPr lang="vi-VN" sz="1600" dirty="0"/>
              <a:t>Đáp: Quên xoá dòng return có sẵn trong hàm, Java thấy code phía sau không bao giờ chạy tới.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Mọi người thanh toán bằng thẻ test. Quay về trang kết quả sẽ thấy PAID. Nhưng nhìn log thì dòng đó ghi querydr: trang kết quả hỏi server, server thấy đơn còn PENDING nên tự gọi querydr qua VNPAY. Kênh 3, tức IPN, chưa chạy vì VNPAY ở ngoài internet không gọi vào localhost được.</a:t>
            </a:r>
          </a:p>
          <a:p>
            <a:endParaRPr lang="vi-VN"/>
          </a:p>
          <a:p>
            <a:r>
              <a:rPr lang="vi-VN" sz="1600" b="1" dirty="0"/>
              <a:t>Làm</a:t>
            </a:r>
          </a:p>
          <a:p>
            <a:r>
              <a:rPr lang="vi-VN" sz="1600" dirty="0"/>
              <a:t>Cho mọi người thanh toán, chỉ vào dòng log querydr.</a:t>
            </a:r>
          </a:p>
          <a:p>
            <a:endParaRPr lang="vi-VN"/>
          </a:p>
          <a:p>
            <a:r>
              <a:rPr lang="vi-VN" sz="1600" b="1" dirty="0"/>
              <a:t>Hỏi: PAID rồi thì cần IPN làm gì nữa?</a:t>
            </a:r>
          </a:p>
          <a:p>
            <a:r>
              <a:rPr lang="vi-VN" sz="1600" dirty="0"/>
              <a:t>Đáp: querydr ở đây chỉ chạy khi có người mở trang kết quả. Khách tắt tab là không ai hỏi, đơn kẹt PENDING. IPN thì VNPAY tự gọi về.</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Muốn có IPN thì VNPAY phải gọi được vào Payment Service. VNPAY yêu cầu URL đó phải public và dùng HTTPS. Máy mình đang chạy localhost nên VNPAY không tới được.</a:t>
            </a:r>
          </a:p>
          <a:p>
            <a:endParaRPr lang="vi-VN"/>
          </a:p>
          <a:p>
            <a:r>
              <a:rPr lang="vi-VN" sz="1600" dirty="0"/>
              <a:t>Lúc dev thì dùng ngrok: nó cho mình một link HTTPS public, ai gọi vào link đó thì nó chuyển về máy mình. Trong hệ thống microservice thật, vai trò này là của API Gateway hoặc Ingress, có domain và chứng chỉ HTTPS đàng hoàng.</a:t>
            </a:r>
          </a:p>
          <a:p>
            <a:endParaRPr lang="vi-VN"/>
          </a:p>
          <a:p>
            <a:r>
              <a:rPr lang="vi-VN" sz="1600" b="1" dirty="0"/>
              <a:t>Hỏi: Mở ngrok thì máy mình có bị lộ không?</a:t>
            </a:r>
          </a:p>
          <a:p>
            <a:r>
              <a:rPr lang="vi-VN" sz="1600" dirty="0"/>
              <a:t>Đáp: Chỉ lộ đúng port 8080 và chỉ trong lúc ngrok chạy, tắt là hết.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cài ngrok mọi người đã làm ở nhà theo file hướng dẫn. Giờ chỉ kiểm tra lại rồi chạy.</a:t>
            </a:r>
          </a:p>
          <a:p>
            <a:endParaRPr lang="vi-VN"/>
          </a:p>
          <a:p>
            <a:r>
              <a:rPr lang="vi-VN" sz="1600" b="1" dirty="0"/>
              <a:t>Làm</a:t>
            </a:r>
          </a:p>
          <a:p>
            <a:r>
              <a:rPr lang="vi-VN" sz="1600" dirty="0"/>
              <a:t>1. Gõ ngrok config check, ra Valid là ok. Chưa có thì chạy lại lệnh add-authtoken trên dashboard ngrok.</a:t>
            </a:r>
          </a:p>
          <a:p>
            <a:r>
              <a:rPr lang="vi-VN" sz="1600" dirty="0"/>
              <a:t>2. Gõ ngrok http 8080. Windows gõ .\ngrok.exe http 8080.</a:t>
            </a:r>
          </a:p>
          <a:p>
            <a:r>
              <a:rPr lang="vi-VN" sz="1600" dirty="0"/>
              <a:t>3. Copy link https ở dòng Forwarding.</a:t>
            </a:r>
          </a:p>
          <a:p>
            <a:r>
              <a:rPr lang="vi-VN" sz="1600" dirty="0"/>
              <a:t>4. Cửa sổ này để yên, bấm dấu + mở terminal thứ hai.</a:t>
            </a:r>
          </a:p>
          <a:p>
            <a:endParaRPr lang="vi-VN"/>
          </a:p>
          <a:p>
            <a:r>
              <a:rPr lang="vi-VN" sz="1600" b="1" dirty="0"/>
              <a:t>Hỏi: Trang cảnh báo của ngrok có chặn IPN không?</a:t>
            </a:r>
          </a:p>
          <a:p>
            <a:r>
              <a:rPr lang="vi-VN" sz="1600" dirty="0"/>
              <a:t>Đáp: Không, trang đó chỉ hiện với trình duyệt. VNPAY gọi IPN từ server nên đi thẳng.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cuối: khai 2 link cho VNPAY biết gọi IPN và đưa khách về đâu. Rồi chạy lại Java với biến VNPAY_RETURN_URL là link ngrok.</a:t>
            </a:r>
          </a:p>
          <a:p>
            <a:endParaRPr lang="vi-VN"/>
          </a:p>
          <a:p>
            <a:r>
              <a:rPr lang="vi-VN" sz="1600" b="1" dirty="0"/>
              <a:t>Làm</a:t>
            </a:r>
          </a:p>
          <a:p>
            <a:r>
              <a:rPr lang="vi-VN" sz="1600" dirty="0"/>
              <a:t>1. Vào trang quản lý VNPAY, Cấu hình, Thông tin website.</a:t>
            </a:r>
          </a:p>
          <a:p>
            <a:r>
              <a:rPr lang="vi-VN" sz="1600" dirty="0"/>
              <a:t>2. URL trả về: link ngrok thêm /vnpay/return. URL IPN: thêm /vnpay/ipn. Lưu.</a:t>
            </a:r>
          </a:p>
          <a:p>
            <a:r>
              <a:rPr lang="vi-VN" sz="1600" dirty="0"/>
              <a:t>3. Ở terminal 2 set biến rồi chạy java ShopStart.java.</a:t>
            </a:r>
          </a:p>
          <a:p>
            <a:r>
              <a:rPr lang="vi-VN" sz="1600" dirty="0"/>
              <a:t>4. Kiểm tra log có dòng ReturnUrl là link https.</a:t>
            </a:r>
          </a:p>
          <a:p>
            <a:endParaRPr lang="vi-VN"/>
          </a:p>
          <a:p>
            <a:r>
              <a:rPr lang="vi-VN" sz="1600" b="1" dirty="0"/>
              <a:t>Hỏi: Trang VNPAY báo lỗi, không lưu được URL IPN?</a:t>
            </a:r>
          </a:p>
          <a:p>
            <a:r>
              <a:rPr lang="vi-VN" sz="1600" dirty="0"/>
              <a:t>Đáp: Trang sandbox thỉnh thoảng bị vậy. Vẫn làm tiếp được, đơn vẫn PAID nhờ querydr, chỉ là không có dòng IPN.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cuối là xử lý IPN, kênh 3. Mã trả về và thứ tự kiểm tra là theo tài liệu VNPAY. Mã 02 rất quan trọng: VNPAY có retry, nên một đơn có thể bị gọi nhiều lần. Đơn đã xử lý thì trả 02, vừa báo VNPAY dừng, vừa không ghi lại lần hai. Trong microservice gọi là xử lý idempotent.</a:t>
            </a:r>
          </a:p>
          <a:p>
            <a:endParaRPr lang="vi-VN"/>
          </a:p>
          <a:p>
            <a:r>
              <a:rPr lang="vi-VN" sz="1600" dirty="0"/>
              <a:t>synchronized và log là mình chọn cho bài demo.</a:t>
            </a:r>
          </a:p>
          <a:p>
            <a:endParaRPr lang="vi-VN"/>
          </a:p>
          <a:p>
            <a:r>
              <a:rPr lang="vi-VN" sz="1600" b="1" dirty="0"/>
              <a:t>Gõ theo thứ tự</a:t>
            </a:r>
          </a:p>
          <a:p>
            <a:r>
              <a:rPr lang="vi-VN" sz="1600" dirty="0"/>
              <a:t>1. Xoá dòng return rsp("99", ...) có sẵn.</a:t>
            </a:r>
          </a:p>
          <a:p>
            <a:r>
              <a:rPr lang="vi-VN" sz="1600" dirty="0"/>
              <a:t>2. Chữ ký sai thì return 97.</a:t>
            </a:r>
          </a:p>
          <a:p>
            <a:r>
              <a:rPr lang="vi-VN" sz="1600" dirty="0"/>
              <a:t>3. Không tìm thấy đơn thì return 01.</a:t>
            </a:r>
          </a:p>
          <a:p>
            <a:r>
              <a:rPr lang="vi-VN" sz="1600" dirty="0"/>
              <a:t>4. Số tiền lệch thì return 04.</a:t>
            </a:r>
          </a:p>
          <a:p>
            <a:r>
              <a:rPr lang="vi-VN" sz="1600" dirty="0"/>
              <a:t>5. synchronized (order), đơn không còn PENDING thì return 02.</a:t>
            </a:r>
          </a:p>
          <a:p>
            <a:r>
              <a:rPr lang="vi-VN" sz="1600" dirty="0"/>
              <a:t>6. Cập nhật status, transactionNo, bankCode, ghi log.</a:t>
            </a:r>
          </a:p>
          <a:p>
            <a:r>
              <a:rPr lang="vi-VN" sz="1600" dirty="0"/>
              <a:t>7. return 00.</a:t>
            </a:r>
          </a:p>
          <a:p>
            <a:endParaRPr lang="vi-VN"/>
          </a:p>
          <a:p>
            <a:r>
              <a:rPr lang="vi-VN" sz="1600" b="1" dirty="0"/>
              <a:t>Hỏi: Bỏ trường hợp 02 thì sao?</a:t>
            </a:r>
          </a:p>
          <a:p>
            <a:r>
              <a:rPr lang="vi-VN" sz="1600" dirty="0"/>
              <a:t>Đáp: VNPAY gọi lại mấy lần là đơn bị xử lý mấy lần, hệ thống thật có khi cộng tiền nhiều lần.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Thanh toán thêm một lần. Lần này log phải có dòng IPN, nghĩa là VNPAY đã gọi về qua ngrok. Mở 127.0.0.1:4040 là trang theo dõi của ngrok, mọi người sẽ thấy tận mắt request VNPAY gửi tới là GET, tham số nằm trên query string, đúng như tài liệu.</a:t>
            </a:r>
          </a:p>
          <a:p>
            <a:endParaRPr lang="vi-VN"/>
          </a:p>
          <a:p>
            <a:r>
              <a:rPr lang="vi-VN" sz="1600" b="1" dirty="0"/>
              <a:t>Làm</a:t>
            </a:r>
          </a:p>
          <a:p>
            <a:r>
              <a:rPr lang="vi-VN" sz="1600" dirty="0"/>
              <a:t>1. Vào localhost:8080, thanh toán như lần trước.</a:t>
            </a:r>
          </a:p>
          <a:p>
            <a:r>
              <a:rPr lang="vi-VN" sz="1600" dirty="0"/>
              <a:t>2. Nhìn terminal Java, có dòng IPN ... -&gt; PAID.</a:t>
            </a:r>
          </a:p>
          <a:p>
            <a:r>
              <a:rPr lang="vi-VN" sz="1600" dirty="0"/>
              <a:t>3. Mở 127.0.0.1:4040, bấm vào request /vnpay/ipn cho lớp xem.</a:t>
            </a:r>
          </a:p>
          <a:p>
            <a:endParaRPr lang="vi-VN"/>
          </a:p>
          <a:p>
            <a:r>
              <a:rPr lang="vi-VN" sz="1600" b="1" dirty="0"/>
              <a:t>Hỏi: Log hiện querydr trước rồi mới tới IPN thì sao?</a:t>
            </a:r>
          </a:p>
          <a:p>
            <a:r>
              <a:rPr lang="vi-VN" sz="1600" dirty="0"/>
              <a:t>Đáp: Không sao. IPN tới sau thấy đơn đã PAID nên trả 02, đơn không bị cập nhật lại.</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Kênh 4 khác hẳn mấy kênh trước: mình gọi API của VNPAY bằng POST, gửi và nhận JSON. Đây là request thật mình gửi lên sandbox, hỏi lại giao dịch đã thanh toán hôm 20/9. VNPAY trả 00, giao dịch 25.000đ thành công. Mình còn kiểm tra lại chữ ký trong response theo đúng thứ tự trong tài liệu, khớp.</a:t>
            </a:r>
          </a:p>
          <a:p>
            <a:endParaRPr lang="vi-VN"/>
          </a:p>
          <a:p>
            <a:r>
              <a:rPr lang="vi-VN" sz="1600" dirty="0"/>
              <a:t>Cách ký của querydr khác lúc tạo link: nối các trường bằng dấu gạch đứng theo thứ tự cố định, không sắp xếp. Nên ở đây không dùng lại buildQueryString được. Hàm reconcile trong file đã viết sẵn phần này.</a:t>
            </a:r>
          </a:p>
          <a:p>
            <a:endParaRPr lang="vi-VN"/>
          </a:p>
          <a:p>
            <a:r>
              <a:rPr lang="vi-VN" sz="1600" b="1" dirty="0"/>
              <a:t>Hỏi: querydr thay hẳn IPN được không?</a:t>
            </a:r>
          </a:p>
          <a:p>
            <a:r>
              <a:rPr lang="vi-VN" sz="1600" dirty="0"/>
              <a:t>Đáp: Demo thì được. Thật thì IPN vẫn là chính vì về ngay, querydr để đối soát và vá khi IPN thất lạc.</a:t>
            </a:r>
          </a:p>
          <a:p>
            <a:endParaRPr lang="vi-VN"/>
          </a:p>
          <a:p>
            <a:r>
              <a:rPr lang="vi-VN" sz="1600" b="1" dirty="0"/>
              <a:t>Hỏi: ResponseCode và TransactionStatus khác nhau sao?</a:t>
            </a:r>
          </a:p>
          <a:p>
            <a:r>
              <a:rPr lang="vi-VN" sz="1600" dirty="0"/>
              <a:t>Đáp: ResponseCode là hỏi có thành công không. TransactionStatus mới cho biết tiền đã trả chưa: 00 thành công, 01 chưa xong, 02 lỗi.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Nhìn lại cả bài theo góc microservice. Payment Service đóng vai cổng duy nhất ra dịch vụ bên ngoài. IPN là webhook. VNPAY retry còn mình trả 02 là cặp retry và idempotency. Đơn đi từ PENDING sang PAID sau một lúc là eventual consistency. querydr là reconciliation, đối soát khi webhook thất lạc. Chữ ký HMAC là xác thực thông điệp giữa hai service không tin nhau.</a:t>
            </a:r>
          </a:p>
          <a:p>
            <a:endParaRPr lang="vi-VN"/>
          </a:p>
          <a:p>
            <a:r>
              <a:rPr lang="vi-VN" sz="1600" dirty="0"/>
              <a:t>Mấy pattern này không riêng gì VNPAY, đổi sang MoMo, Stripe hay bất kỳ dịch vụ bên ngoài nào cũng gặp lại.</a:t>
            </a:r>
          </a:p>
          <a:p>
            <a:endParaRPr lang="vi-VN"/>
          </a:p>
          <a:p>
            <a:r>
              <a:rPr lang="vi-VN" sz="1600" b="1" dirty="0"/>
              <a:t>Hỏi: Sao không gọi đồng bộ, đợi VNPAY trả kết quả luôn cho đơn giản?</a:t>
            </a:r>
          </a:p>
          <a:p>
            <a:r>
              <a:rPr lang="vi-VN" sz="1600" dirty="0"/>
              <a:t>Đáp: Khách có thể mất vài phút để nhập thẻ, nhập OTP. Không thể giữ một request chờ lâu vậy, nên VNPAY báo kết quả sau bằng IPN.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Bài hôm nay gói gọn trong 1 file cho dễ code cùng, nên có nhiều chỗ đơn giản hoá. Bảng này là những chỗ cần đổi khi đưa vào hệ thống thật. Phần giao tiếp với VNPAY, tức mấy hàm ký và xử lý IPN, thì giữ nguyên. Chỉ phần mình chọn là thay đổi.</a:t>
            </a:r>
          </a:p>
          <a:p>
            <a:endParaRPr lang="vi-VN"/>
          </a:p>
          <a:p>
            <a:r>
              <a:rPr lang="vi-VN" sz="1600" dirty="0"/>
              <a:t>Mình nói thẳng một chỗ: hàm reconcile trong file chưa kiểm tra chữ ký trong response querydr. Lúc nãy mình kiểm tra bằng script riêng thì khớp, nhưng code thật nên làm luôn trong service.</a:t>
            </a:r>
          </a:p>
          <a:p>
            <a:endParaRPr lang="vi-VN"/>
          </a:p>
          <a:p>
            <a:r>
              <a:rPr lang="vi-VN" sz="1600" b="1" dirty="0"/>
              <a:t>Hỏi: Event OrderPaid sao phải dùng outbox?</a:t>
            </a:r>
          </a:p>
          <a:p>
            <a:r>
              <a:rPr lang="vi-VN" sz="1600" dirty="0"/>
              <a:t>Đáp: Để việc cập nhật DB và việc gửi event không bị lệch nhau. Ghi event vào bảng outbox cùng transaction, rồi có tiến trình riêng đẩy lên broker.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Slide này để đây cho mọi người tự dò lỗi, mình không đọc hết.</a:t>
            </a:r>
          </a:p>
          <a:p>
            <a:endParaRPr lang="vi-VN"/>
          </a:p>
          <a:p>
            <a:r>
              <a:rPr lang="vi-VN" sz="1600" b="1" dirty="0"/>
              <a:t>Hỏi: Làm sao biết IPN có về không?</a:t>
            </a:r>
          </a:p>
          <a:p>
            <a:r>
              <a:rPr lang="vi-VN" sz="1600" dirty="0"/>
              <a:t>Đáp: Nhìn log terminal chạy Java, hoặc mở 127.0.0.1:4040 xem có request nào gọi vào không.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Tóm lại 5 ý. Muốn nhớ một câu thôi thì là: phần giao tiếp với VNPAY thì làm đúng hợp đồng của VNPAY, còn bên trong Payment Service thì thiết kế sao cho hợp với hệ thống của mình.</a:t>
            </a:r>
          </a:p>
          <a:p>
            <a:endParaRPr lang="vi-VN"/>
          </a:p>
          <a:p>
            <a:r>
              <a:rPr lang="vi-VN" sz="1600" b="1" dirty="0"/>
              <a:t>Làm</a:t>
            </a:r>
          </a:p>
          <a:p>
            <a:r>
              <a:rPr lang="vi-VN" sz="1600" dirty="0"/>
              <a:t>Nhắc file đáp án ShopDone.java mình sẽ để trên Drive sau buổi.</a:t>
            </a:r>
          </a:p>
          <a:p>
            <a:endParaRPr lang="vi-VN"/>
          </a:p>
          <a:p>
            <a:r>
              <a:rPr lang="vi-VN" sz="1600" b="1" dirty="0"/>
              <a:t>Hỏi: Muốn tích hợp thêm MoMo hay ZaloPay thì sao?</a:t>
            </a:r>
          </a:p>
          <a:p>
            <a:r>
              <a:rPr lang="vi-VN" sz="1600" dirty="0"/>
              <a:t>Đáp: Mỗi bên có hợp đồng và cách ký riêng. Tạo một interface PaymentGateway, mỗi cổng viết một class riêng, phần còn lại của Payment Service giữ nguyên.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của mình tới đây là hết, cảm ơn mọi người đã code cùng mình. Ai có câu hỏi gì thì hỏi nha.</a:t>
            </a:r>
          </a:p>
          <a:p>
            <a:endParaRPr lang="vi-VN"/>
          </a:p>
          <a:p>
            <a:r>
              <a:rPr lang="vi-VN" sz="1600" b="1" dirty="0"/>
              <a:t>Hỏi: Muốn chạy thật (production) thì cần đổi gì?</a:t>
            </a:r>
          </a:p>
          <a:p>
            <a:r>
              <a:rPr lang="vi-VN" sz="1600" dirty="0"/>
              <a:t>Đáp: Đổi PAY_URL và API_URL sang link thật, dùng TmnCode và HashSecret VNPAY cấp sau khi ký hợp đồng. Code giữ nguyên.</a:t>
            </a:r>
          </a:p>
          <a:p>
            <a:endParaRPr lang="vi-VN"/>
          </a:p>
          <a:p>
            <a:r>
              <a:rPr lang="vi-VN" sz="1600" b="1" dirty="0"/>
              <a:t>Hỏi: Hoàn tiền thì làm sao?</a:t>
            </a:r>
          </a:p>
          <a:p>
            <a:r>
              <a:rPr lang="vi-VN" sz="1600" dirty="0"/>
              <a:t>Đáp: Dùng API refund cùng địa chỉ với querydr, cũng POST JSON và ký bằng cách nối dấu gạch đứng.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1980225"/>
            <a:ext cx="9810506" cy="1629095"/>
          </a:xfrm>
          <a:prstGeom prst="rect">
            <a:avLst/>
          </a:prstGeom>
          <a:noFill/>
          <a:ln/>
        </p:spPr>
        <p:txBody>
          <a:bodyPr wrap="square" lIns="0" tIns="0" rIns="0" bIns="0" rtlCol="0" anchor="t"/>
          <a:lstStyle/>
          <a:p>
            <a:pPr algn="l" indent="0" marL="0">
              <a:lnSpc>
                <a:spcPts val="5150"/>
              </a:lnSpc>
              <a:buNone/>
            </a:pPr>
            <a:r>
              <a:rPr lang="en-US" sz="4600" b="1" dirty="0">
                <a:solidFill>
                  <a:srgbClr val="111111"/>
                </a:solidFill>
                <a:latin typeface="Arial" pitchFamily="34" charset="0"/>
                <a:ea typeface="Arial" pitchFamily="34" charset="-122"/>
                <a:cs typeface="Arial" pitchFamily="34" charset="-120"/>
              </a:rPr>
              <a:t>Tích hợp VNPAY vào hệ thống microservice</a:t>
            </a:r>
            <a:endParaRPr lang="en-US" sz="4600" dirty="0"/>
          </a:p>
        </p:txBody>
      </p:sp>
      <p:sp>
        <p:nvSpPr>
          <p:cNvPr id="3" name="Text 1"/>
          <p:cNvSpPr txBox="1"/>
          <p:nvPr/>
        </p:nvSpPr>
        <p:spPr>
          <a:xfrm>
            <a:off x="660380" y="3462467"/>
            <a:ext cx="8502457" cy="638160"/>
          </a:xfrm>
          <a:prstGeom prst="rect">
            <a:avLst/>
          </a:prstGeom>
          <a:noFill/>
          <a:ln/>
        </p:spPr>
        <p:txBody>
          <a:bodyPr wrap="square" lIns="0" tIns="0" rIns="0" bIns="0" rtlCol="0" anchor="t"/>
          <a:lstStyle/>
          <a:p>
            <a:pPr algn="l" indent="0" marL="0">
              <a:lnSpc>
                <a:spcPts val="2250"/>
              </a:lnSpc>
              <a:buNone/>
            </a:pPr>
            <a:r>
              <a:rPr lang="en-US" sz="1500" dirty="0">
                <a:solidFill>
                  <a:srgbClr val="3F454D"/>
                </a:solidFill>
                <a:latin typeface="Arial" pitchFamily="34" charset="0"/>
                <a:ea typeface="Arial" pitchFamily="34" charset="-122"/>
                <a:cs typeface="Arial" pitchFamily="34" charset="-120"/>
              </a:rPr>
              <a:t>Payment Service nói chuyện với một dịch vụ thanh toán bên ngoài như thế nào: giao tiếp bằng gì, code gì, vì sao code như vậy</a:t>
            </a:r>
            <a:endParaRPr lang="en-US" sz="1500" dirty="0"/>
          </a:p>
        </p:txBody>
      </p:sp>
      <p:sp>
        <p:nvSpPr>
          <p:cNvPr id="4" name="Text 2"/>
          <p:cNvSpPr txBox="1"/>
          <p:nvPr/>
        </p:nvSpPr>
        <p:spPr>
          <a:xfrm>
            <a:off x="660380" y="4451025"/>
            <a:ext cx="2082272"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Lê Minh Đăng – 520K0108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444526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Hôm nay mình sẽ làm gì</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7855428" cy="266730"/>
          </a:xfrm>
          <a:prstGeom prst="rect">
            <a:avLst/>
          </a:prstGeom>
          <a:noFill/>
          <a:ln/>
        </p:spPr>
        <p:txBody>
          <a:bodyPr wrap="square" lIns="0" tIns="0" rIns="0" bIns="0" rtlCol="0" anchor="ctr"/>
          <a:lstStyle/>
          <a:p>
            <a:pPr algn="l" indent="0" marL="0">
              <a:buNone/>
            </a:pPr>
            <a:r>
              <a:rPr lang="en-US" sz="1400" b="1" dirty="0">
                <a:solidFill>
                  <a:srgbClr val="3F454D"/>
                </a:solidFill>
                <a:latin typeface="Arial" pitchFamily="34" charset="0"/>
                <a:ea typeface="Arial" pitchFamily="34" charset="-122"/>
                <a:cs typeface="Arial" pitchFamily="34" charset="-120"/>
              </a:rPr>
              <a:t>Hiểu</a:t>
            </a:r>
            <a:pPr algn="l" indent="0" marL="0">
              <a:buNone/>
            </a:pPr>
            <a:r>
              <a:rPr lang="en-US" sz="1400" dirty="0">
                <a:solidFill>
                  <a:srgbClr val="3F454D"/>
                </a:solidFill>
                <a:latin typeface="Arial" pitchFamily="34" charset="0"/>
                <a:ea typeface="Arial" pitchFamily="34" charset="-122"/>
                <a:cs typeface="Arial" pitchFamily="34" charset="-120"/>
              </a:rPr>
              <a:t>: Payment Service giao tiếp với VNPAY qua 4 kênh, mỗi kênh dùng giao thức gì và vì sao</a:t>
            </a:r>
            <a:endParaRPr lang="en-US" sz="1400" dirty="0"/>
          </a:p>
        </p:txBody>
      </p:sp>
      <p:sp>
        <p:nvSpPr>
          <p:cNvPr id="6" name="Text 4"/>
          <p:cNvSpPr txBox="1"/>
          <p:nvPr/>
        </p:nvSpPr>
        <p:spPr>
          <a:xfrm>
            <a:off x="660380" y="169228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24010"/>
            <a:ext cx="6707581" cy="266730"/>
          </a:xfrm>
          <a:prstGeom prst="rect">
            <a:avLst/>
          </a:prstGeom>
          <a:noFill/>
          <a:ln/>
        </p:spPr>
        <p:txBody>
          <a:bodyPr wrap="square" lIns="0" tIns="0" rIns="0" bIns="0" rtlCol="0" anchor="ctr"/>
          <a:lstStyle/>
          <a:p>
            <a:pPr algn="l" indent="0" marL="0">
              <a:buNone/>
            </a:pPr>
            <a:r>
              <a:rPr lang="en-US" sz="1400" b="1" dirty="0">
                <a:solidFill>
                  <a:srgbClr val="3F454D"/>
                </a:solidFill>
                <a:latin typeface="Arial" pitchFamily="34" charset="0"/>
                <a:ea typeface="Arial" pitchFamily="34" charset="-122"/>
                <a:cs typeface="Arial" pitchFamily="34" charset="-120"/>
              </a:rPr>
              <a:t>Code</a:t>
            </a:r>
            <a:pPr algn="l" indent="0" marL="0">
              <a:buNone/>
            </a:pPr>
            <a:r>
              <a:rPr lang="en-US" sz="1400" dirty="0">
                <a:solidFill>
                  <a:srgbClr val="3F454D"/>
                </a:solidFill>
                <a:latin typeface="Arial" pitchFamily="34" charset="0"/>
                <a:ea typeface="Arial" pitchFamily="34" charset="-122"/>
                <a:cs typeface="Arial" pitchFamily="34" charset="-120"/>
              </a:rPr>
              <a:t>: một Payment Service tối giản, 1 file Java, 6 chỗ TODO, không cần Spring</a:t>
            </a:r>
            <a:endParaRPr lang="en-US" sz="1400" dirty="0"/>
          </a:p>
        </p:txBody>
      </p:sp>
      <p:sp>
        <p:nvSpPr>
          <p:cNvPr id="8" name="Text 6"/>
          <p:cNvSpPr txBox="1"/>
          <p:nvPr/>
        </p:nvSpPr>
        <p:spPr>
          <a:xfrm>
            <a:off x="660380" y="204789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79620"/>
            <a:ext cx="6820235" cy="266730"/>
          </a:xfrm>
          <a:prstGeom prst="rect">
            <a:avLst/>
          </a:prstGeom>
          <a:noFill/>
          <a:ln/>
        </p:spPr>
        <p:txBody>
          <a:bodyPr wrap="square" lIns="0" tIns="0" rIns="0" bIns="0" rtlCol="0" anchor="ctr"/>
          <a:lstStyle/>
          <a:p>
            <a:pPr algn="l" indent="0" marL="0">
              <a:buNone/>
            </a:pPr>
            <a:r>
              <a:rPr lang="en-US" sz="1400" b="1" dirty="0">
                <a:solidFill>
                  <a:srgbClr val="3F454D"/>
                </a:solidFill>
                <a:latin typeface="Arial" pitchFamily="34" charset="0"/>
                <a:ea typeface="Arial" pitchFamily="34" charset="-122"/>
                <a:cs typeface="Arial" pitchFamily="34" charset="-120"/>
              </a:rPr>
              <a:t>Chạy thật</a:t>
            </a:r>
            <a:pPr algn="l" indent="0" marL="0">
              <a:buNone/>
            </a:pPr>
            <a:r>
              <a:rPr lang="en-US" sz="1400" dirty="0">
                <a:solidFill>
                  <a:srgbClr val="3F454D"/>
                </a:solidFill>
                <a:latin typeface="Arial" pitchFamily="34" charset="0"/>
                <a:ea typeface="Arial" pitchFamily="34" charset="-122"/>
                <a:cs typeface="Arial" pitchFamily="34" charset="-120"/>
              </a:rPr>
              <a:t>: thanh toán bằng thẻ test trên VNPAY sandbox, nhận kết quả về server</a:t>
            </a:r>
            <a:endParaRPr lang="en-US" sz="1400" dirty="0"/>
          </a:p>
        </p:txBody>
      </p:sp>
      <p:sp>
        <p:nvSpPr>
          <p:cNvPr id="10" name="Text 8"/>
          <p:cNvSpPr txBox="1"/>
          <p:nvPr/>
        </p:nvSpPr>
        <p:spPr>
          <a:xfrm>
            <a:off x="660380" y="24035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4.</a:t>
            </a:r>
            <a:endParaRPr lang="en-US" sz="1400" dirty="0"/>
          </a:p>
        </p:txBody>
      </p:sp>
      <p:sp>
        <p:nvSpPr>
          <p:cNvPr id="11" name="Text 9"/>
          <p:cNvSpPr txBox="1"/>
          <p:nvPr/>
        </p:nvSpPr>
        <p:spPr>
          <a:xfrm>
            <a:off x="965149" y="2435230"/>
            <a:ext cx="7364395" cy="266730"/>
          </a:xfrm>
          <a:prstGeom prst="rect">
            <a:avLst/>
          </a:prstGeom>
          <a:noFill/>
          <a:ln/>
        </p:spPr>
        <p:txBody>
          <a:bodyPr wrap="square" lIns="0" tIns="0" rIns="0" bIns="0" rtlCol="0" anchor="ctr"/>
          <a:lstStyle/>
          <a:p>
            <a:pPr algn="l" indent="0" marL="0">
              <a:buNone/>
            </a:pPr>
            <a:r>
              <a:rPr lang="en-US" sz="1400" b="1" dirty="0">
                <a:solidFill>
                  <a:srgbClr val="3F454D"/>
                </a:solidFill>
                <a:latin typeface="Arial" pitchFamily="34" charset="0"/>
                <a:ea typeface="Arial" pitchFamily="34" charset="-122"/>
                <a:cs typeface="Arial" pitchFamily="34" charset="-120"/>
              </a:rPr>
              <a:t>Chứng minh</a:t>
            </a:r>
            <a:pPr algn="l" indent="0" marL="0">
              <a:buNone/>
            </a:pPr>
            <a:r>
              <a:rPr lang="en-US" sz="1400" dirty="0">
                <a:solidFill>
                  <a:srgbClr val="3F454D"/>
                </a:solidFill>
                <a:latin typeface="Arial" pitchFamily="34" charset="0"/>
                <a:ea typeface="Arial" pitchFamily="34" charset="-122"/>
                <a:cs typeface="Arial" pitchFamily="34" charset="-120"/>
              </a:rPr>
              <a:t>: mỗi điều mình nói đều có tài liệu VNPAY hoặc kết quả chạy thật kèm theo</a:t>
            </a:r>
            <a:endParaRPr lang="en-US" sz="1400" dirty="0"/>
          </a:p>
        </p:txBody>
      </p:sp>
      <p:sp>
        <p:nvSpPr>
          <p:cNvPr id="12" name="Shape 10"/>
          <p:cNvSpPr/>
          <p:nvPr/>
        </p:nvSpPr>
        <p:spPr>
          <a:xfrm>
            <a:off x="660380" y="2858597"/>
            <a:ext cx="10870936" cy="793699"/>
          </a:xfrm>
          <a:prstGeom prst="roundRect">
            <a:avLst>
              <a:gd name="adj" fmla="val 11198"/>
            </a:avLst>
          </a:prstGeom>
          <a:solidFill>
            <a:srgbClr val="FFFFFF"/>
          </a:solidFill>
          <a:ln w="6350">
            <a:solidFill>
              <a:srgbClr val="E3E6EA"/>
            </a:solidFill>
            <a:prstDash val="solid"/>
          </a:ln>
        </p:spPr>
      </p:sp>
      <p:sp>
        <p:nvSpPr>
          <p:cNvPr id="13" name="Text 11"/>
          <p:cNvSpPr txBox="1"/>
          <p:nvPr/>
        </p:nvSpPr>
        <p:spPr>
          <a:xfrm>
            <a:off x="831830" y="3020903"/>
            <a:ext cx="3195005"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Mỗi đoạn code sẽ gắn một trong hai nhãn</a:t>
            </a:r>
            <a:endParaRPr lang="en-US" sz="1200" dirty="0"/>
          </a:p>
        </p:txBody>
      </p:sp>
      <p:sp>
        <p:nvSpPr>
          <p:cNvPr id="14" name="Shape 12"/>
          <p:cNvSpPr/>
          <p:nvPr/>
        </p:nvSpPr>
        <p:spPr>
          <a:xfrm>
            <a:off x="831830" y="3296778"/>
            <a:ext cx="982614" cy="209580"/>
          </a:xfrm>
          <a:prstGeom prst="roundRect">
            <a:avLst>
              <a:gd name="adj" fmla="val 50000"/>
            </a:avLst>
          </a:prstGeom>
          <a:solidFill>
            <a:srgbClr val="FDE8E6"/>
          </a:solidFill>
          <a:ln/>
        </p:spPr>
      </p:sp>
      <p:sp>
        <p:nvSpPr>
          <p:cNvPr id="15" name="Text 13"/>
          <p:cNvSpPr txBox="1"/>
          <p:nvPr/>
        </p:nvSpPr>
        <p:spPr>
          <a:xfrm>
            <a:off x="907999" y="332795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6" name="Text 14"/>
          <p:cNvSpPr txBox="1"/>
          <p:nvPr/>
        </p:nvSpPr>
        <p:spPr>
          <a:xfrm>
            <a:off x="1877995" y="3313786"/>
            <a:ext cx="1761683" cy="20958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làm khác là VNPAY từ chối</a:t>
            </a:r>
            <a:endParaRPr lang="en-US" sz="1100" dirty="0"/>
          </a:p>
        </p:txBody>
      </p:sp>
      <p:sp>
        <p:nvSpPr>
          <p:cNvPr id="17" name="Shape 15"/>
          <p:cNvSpPr/>
          <p:nvPr/>
        </p:nvSpPr>
        <p:spPr>
          <a:xfrm>
            <a:off x="3717768" y="3296778"/>
            <a:ext cx="723748" cy="209580"/>
          </a:xfrm>
          <a:prstGeom prst="roundRect">
            <a:avLst>
              <a:gd name="adj" fmla="val 50000"/>
            </a:avLst>
          </a:prstGeom>
          <a:solidFill>
            <a:srgbClr val="DEF3E8"/>
          </a:solidFill>
          <a:ln/>
        </p:spPr>
      </p:sp>
      <p:sp>
        <p:nvSpPr>
          <p:cNvPr id="18" name="Text 16"/>
          <p:cNvSpPr txBox="1"/>
          <p:nvPr/>
        </p:nvSpPr>
        <p:spPr>
          <a:xfrm>
            <a:off x="3793937" y="332795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19" name="Text 17"/>
          <p:cNvSpPr txBox="1"/>
          <p:nvPr/>
        </p:nvSpPr>
        <p:spPr>
          <a:xfrm>
            <a:off x="4504974" y="3313786"/>
            <a:ext cx="2321113" cy="20958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cách mình thiết kế, có thể làm khác</a:t>
            </a:r>
            <a:endParaRPr lang="en-US" sz="1100" dirty="0"/>
          </a:p>
        </p:txBody>
      </p:sp>
      <p:sp>
        <p:nvSpPr>
          <p:cNvPr id="20" name="Text 1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1" name="Text 1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8168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Kiến trúc</a:t>
            </a:r>
            <a:endParaRPr lang="en-US" sz="1100" dirty="0"/>
          </a:p>
        </p:txBody>
      </p:sp>
      <p:sp>
        <p:nvSpPr>
          <p:cNvPr id="3" name="Text 1"/>
          <p:cNvSpPr txBox="1"/>
          <p:nvPr/>
        </p:nvSpPr>
        <p:spPr>
          <a:xfrm>
            <a:off x="660380" y="643829"/>
            <a:ext cx="870710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VNPAY nằm ở đâu trong hệ thống microservice</a:t>
            </a:r>
            <a:endParaRPr lang="en-US" sz="3000" dirty="0"/>
          </a:p>
        </p:txBody>
      </p:sp>
      <p:sp>
        <p:nvSpPr>
          <p:cNvPr id="4" name="Shape 2"/>
          <p:cNvSpPr/>
          <p:nvPr/>
        </p:nvSpPr>
        <p:spPr>
          <a:xfrm>
            <a:off x="660380" y="2290298"/>
            <a:ext cx="1509217" cy="733440"/>
          </a:xfrm>
          <a:prstGeom prst="roundRect">
            <a:avLst>
              <a:gd name="adj" fmla="val 12118"/>
            </a:avLst>
          </a:prstGeom>
          <a:solidFill>
            <a:srgbClr val="FFFFFF"/>
          </a:solidFill>
          <a:ln w="12700">
            <a:solidFill>
              <a:srgbClr val="E3E6EA"/>
            </a:solidFill>
            <a:prstDash val="solid"/>
          </a:ln>
        </p:spPr>
      </p:sp>
      <p:sp>
        <p:nvSpPr>
          <p:cNvPr id="5" name="Text 3"/>
          <p:cNvSpPr txBox="1"/>
          <p:nvPr/>
        </p:nvSpPr>
        <p:spPr>
          <a:xfrm>
            <a:off x="977859" y="2445471"/>
            <a:ext cx="874166"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Arial" pitchFamily="34" charset="0"/>
                <a:ea typeface="Arial" pitchFamily="34" charset="-122"/>
                <a:cs typeface="Arial" pitchFamily="34" charset="-120"/>
              </a:rPr>
              <a:t>Web / App</a:t>
            </a:r>
            <a:endParaRPr lang="en-US" sz="1300" dirty="0"/>
          </a:p>
        </p:txBody>
      </p:sp>
      <p:sp>
        <p:nvSpPr>
          <p:cNvPr id="6" name="Text 4"/>
          <p:cNvSpPr txBox="1"/>
          <p:nvPr/>
        </p:nvSpPr>
        <p:spPr>
          <a:xfrm>
            <a:off x="800100" y="2714854"/>
            <a:ext cx="1229777" cy="180960"/>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trình duyệt của khách</a:t>
            </a:r>
            <a:endParaRPr lang="en-US" sz="950" dirty="0"/>
          </a:p>
        </p:txBody>
      </p:sp>
      <p:sp>
        <p:nvSpPr>
          <p:cNvPr id="7" name="Text 5"/>
          <p:cNvSpPr txBox="1"/>
          <p:nvPr/>
        </p:nvSpPr>
        <p:spPr>
          <a:xfrm>
            <a:off x="2271187" y="2520269"/>
            <a:ext cx="292059" cy="323880"/>
          </a:xfrm>
          <a:prstGeom prst="rect">
            <a:avLst/>
          </a:prstGeom>
          <a:noFill/>
          <a:ln/>
        </p:spPr>
        <p:txBody>
          <a:bodyPr wrap="square" lIns="0" tIns="0" rIns="0" bIns="0" rtlCol="0" anchor="ctr"/>
          <a:lstStyle/>
          <a:p>
            <a:pPr algn="ctr" indent="0" marL="0">
              <a:buNone/>
            </a:pPr>
            <a:r>
              <a:rPr lang="en-US" sz="1700" dirty="0">
                <a:solidFill>
                  <a:srgbClr val="6B7280"/>
                </a:solidFill>
                <a:latin typeface="Arial" pitchFamily="34" charset="0"/>
                <a:ea typeface="Arial" pitchFamily="34" charset="-122"/>
                <a:cs typeface="Arial" pitchFamily="34" charset="-120"/>
              </a:rPr>
              <a:t>→</a:t>
            </a:r>
            <a:endParaRPr lang="en-US" sz="1700" dirty="0"/>
          </a:p>
        </p:txBody>
      </p:sp>
      <p:sp>
        <p:nvSpPr>
          <p:cNvPr id="8" name="Shape 6"/>
          <p:cNvSpPr/>
          <p:nvPr/>
        </p:nvSpPr>
        <p:spPr>
          <a:xfrm>
            <a:off x="2664836" y="2290298"/>
            <a:ext cx="1355781" cy="733440"/>
          </a:xfrm>
          <a:prstGeom prst="roundRect">
            <a:avLst>
              <a:gd name="adj" fmla="val 12118"/>
            </a:avLst>
          </a:prstGeom>
          <a:solidFill>
            <a:srgbClr val="FFFFFF"/>
          </a:solidFill>
          <a:ln w="12700">
            <a:solidFill>
              <a:srgbClr val="E3E6EA"/>
            </a:solidFill>
            <a:prstDash val="solid"/>
          </a:ln>
        </p:spPr>
      </p:sp>
      <p:sp>
        <p:nvSpPr>
          <p:cNvPr id="9" name="Text 7"/>
          <p:cNvSpPr txBox="1"/>
          <p:nvPr/>
        </p:nvSpPr>
        <p:spPr>
          <a:xfrm>
            <a:off x="2804556" y="2445471"/>
            <a:ext cx="1076432"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Arial" pitchFamily="34" charset="0"/>
                <a:ea typeface="Arial" pitchFamily="34" charset="-122"/>
                <a:cs typeface="Arial" pitchFamily="34" charset="-120"/>
              </a:rPr>
              <a:t>API Gateway</a:t>
            </a:r>
            <a:endParaRPr lang="en-US" sz="1300" dirty="0"/>
          </a:p>
        </p:txBody>
      </p:sp>
      <p:sp>
        <p:nvSpPr>
          <p:cNvPr id="10" name="Text 8"/>
          <p:cNvSpPr txBox="1"/>
          <p:nvPr/>
        </p:nvSpPr>
        <p:spPr>
          <a:xfrm>
            <a:off x="2838298" y="2714854"/>
            <a:ext cx="1008858" cy="180960"/>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cửa vào duy nhất</a:t>
            </a:r>
            <a:endParaRPr lang="en-US" sz="950" dirty="0"/>
          </a:p>
        </p:txBody>
      </p:sp>
      <p:sp>
        <p:nvSpPr>
          <p:cNvPr id="11" name="Text 9"/>
          <p:cNvSpPr txBox="1"/>
          <p:nvPr/>
        </p:nvSpPr>
        <p:spPr>
          <a:xfrm>
            <a:off x="4122207" y="2520269"/>
            <a:ext cx="292059" cy="323880"/>
          </a:xfrm>
          <a:prstGeom prst="rect">
            <a:avLst/>
          </a:prstGeom>
          <a:noFill/>
          <a:ln/>
        </p:spPr>
        <p:txBody>
          <a:bodyPr wrap="square" lIns="0" tIns="0" rIns="0" bIns="0" rtlCol="0" anchor="ctr"/>
          <a:lstStyle/>
          <a:p>
            <a:pPr algn="ctr" indent="0" marL="0">
              <a:buNone/>
            </a:pPr>
            <a:r>
              <a:rPr lang="en-US" sz="1700" dirty="0">
                <a:solidFill>
                  <a:srgbClr val="6B7280"/>
                </a:solidFill>
                <a:latin typeface="Arial" pitchFamily="34" charset="0"/>
                <a:ea typeface="Arial" pitchFamily="34" charset="-122"/>
                <a:cs typeface="Arial" pitchFamily="34" charset="-120"/>
              </a:rPr>
              <a:t>→</a:t>
            </a:r>
            <a:endParaRPr lang="en-US" sz="1700" dirty="0"/>
          </a:p>
        </p:txBody>
      </p:sp>
      <p:sp>
        <p:nvSpPr>
          <p:cNvPr id="12" name="Shape 10"/>
          <p:cNvSpPr/>
          <p:nvPr/>
        </p:nvSpPr>
        <p:spPr>
          <a:xfrm>
            <a:off x="4515947" y="1347368"/>
            <a:ext cx="1896923" cy="527060"/>
          </a:xfrm>
          <a:prstGeom prst="roundRect">
            <a:avLst>
              <a:gd name="adj" fmla="val 16863"/>
            </a:avLst>
          </a:prstGeom>
          <a:solidFill>
            <a:srgbClr val="FFFFFF"/>
          </a:solidFill>
          <a:ln w="12700">
            <a:solidFill>
              <a:srgbClr val="E3E6EA"/>
            </a:solidFill>
            <a:prstDash val="solid"/>
          </a:ln>
        </p:spPr>
      </p:sp>
      <p:sp>
        <p:nvSpPr>
          <p:cNvPr id="13" name="Text 11"/>
          <p:cNvSpPr txBox="1"/>
          <p:nvPr/>
        </p:nvSpPr>
        <p:spPr>
          <a:xfrm>
            <a:off x="4884725" y="1502542"/>
            <a:ext cx="1159276"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Arial" pitchFamily="34" charset="0"/>
                <a:ea typeface="Arial" pitchFamily="34" charset="-122"/>
                <a:cs typeface="Arial" pitchFamily="34" charset="-120"/>
              </a:rPr>
              <a:t>Order Service</a:t>
            </a:r>
            <a:endParaRPr lang="en-US" sz="1300" dirty="0"/>
          </a:p>
        </p:txBody>
      </p:sp>
      <p:sp>
        <p:nvSpPr>
          <p:cNvPr id="14" name="Shape 12"/>
          <p:cNvSpPr/>
          <p:nvPr/>
        </p:nvSpPr>
        <p:spPr>
          <a:xfrm>
            <a:off x="4515947" y="1976018"/>
            <a:ext cx="1896923" cy="733440"/>
          </a:xfrm>
          <a:prstGeom prst="roundRect">
            <a:avLst>
              <a:gd name="adj" fmla="val 12118"/>
            </a:avLst>
          </a:prstGeom>
          <a:solidFill>
            <a:srgbClr val="ECF2FF"/>
          </a:solidFill>
          <a:ln w="12700">
            <a:solidFill>
              <a:srgbClr val="0066FF"/>
            </a:solidFill>
            <a:prstDash val="solid"/>
          </a:ln>
        </p:spPr>
      </p:sp>
      <p:sp>
        <p:nvSpPr>
          <p:cNvPr id="15" name="Text 13"/>
          <p:cNvSpPr txBox="1"/>
          <p:nvPr/>
        </p:nvSpPr>
        <p:spPr>
          <a:xfrm>
            <a:off x="4763933" y="2131192"/>
            <a:ext cx="1400952"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Arial" pitchFamily="34" charset="0"/>
                <a:ea typeface="Arial" pitchFamily="34" charset="-122"/>
                <a:cs typeface="Arial" pitchFamily="34" charset="-120"/>
              </a:rPr>
              <a:t>Payment Service</a:t>
            </a:r>
            <a:endParaRPr lang="en-US" sz="1300" dirty="0"/>
          </a:p>
        </p:txBody>
      </p:sp>
      <p:sp>
        <p:nvSpPr>
          <p:cNvPr id="16" name="Text 14"/>
          <p:cNvSpPr txBox="1"/>
          <p:nvPr/>
        </p:nvSpPr>
        <p:spPr>
          <a:xfrm>
            <a:off x="4873020" y="2400574"/>
            <a:ext cx="1182685" cy="180960"/>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hôm nay làm cái này</a:t>
            </a:r>
            <a:endParaRPr lang="en-US" sz="950" dirty="0"/>
          </a:p>
        </p:txBody>
      </p:sp>
      <p:sp>
        <p:nvSpPr>
          <p:cNvPr id="17" name="Shape 15"/>
          <p:cNvSpPr/>
          <p:nvPr/>
        </p:nvSpPr>
        <p:spPr>
          <a:xfrm>
            <a:off x="4515947" y="2810957"/>
            <a:ext cx="1896923" cy="527060"/>
          </a:xfrm>
          <a:prstGeom prst="roundRect">
            <a:avLst>
              <a:gd name="adj" fmla="val 16863"/>
            </a:avLst>
          </a:prstGeom>
          <a:solidFill>
            <a:srgbClr val="FFFFFF"/>
          </a:solidFill>
          <a:ln w="12700">
            <a:solidFill>
              <a:srgbClr val="E3E6EA"/>
            </a:solidFill>
            <a:prstDash val="solid"/>
          </a:ln>
        </p:spPr>
      </p:sp>
      <p:sp>
        <p:nvSpPr>
          <p:cNvPr id="18" name="Text 16"/>
          <p:cNvSpPr txBox="1"/>
          <p:nvPr/>
        </p:nvSpPr>
        <p:spPr>
          <a:xfrm>
            <a:off x="4734763" y="2966222"/>
            <a:ext cx="1459108"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Arial" pitchFamily="34" charset="0"/>
                <a:ea typeface="Arial" pitchFamily="34" charset="-122"/>
                <a:cs typeface="Arial" pitchFamily="34" charset="-120"/>
              </a:rPr>
              <a:t>Inventory Service</a:t>
            </a:r>
            <a:endParaRPr lang="en-US" sz="1300" dirty="0"/>
          </a:p>
        </p:txBody>
      </p:sp>
      <p:sp>
        <p:nvSpPr>
          <p:cNvPr id="19" name="Shape 17"/>
          <p:cNvSpPr/>
          <p:nvPr/>
        </p:nvSpPr>
        <p:spPr>
          <a:xfrm>
            <a:off x="4515947" y="3439607"/>
            <a:ext cx="1896923" cy="527060"/>
          </a:xfrm>
          <a:prstGeom prst="roundRect">
            <a:avLst>
              <a:gd name="adj" fmla="val 16863"/>
            </a:avLst>
          </a:prstGeom>
          <a:solidFill>
            <a:srgbClr val="FFFFFF"/>
          </a:solidFill>
          <a:ln w="12700">
            <a:solidFill>
              <a:srgbClr val="E3E6EA"/>
            </a:solidFill>
            <a:prstDash val="solid"/>
          </a:ln>
        </p:spPr>
      </p:sp>
      <p:sp>
        <p:nvSpPr>
          <p:cNvPr id="20" name="Text 18"/>
          <p:cNvSpPr txBox="1"/>
          <p:nvPr/>
        </p:nvSpPr>
        <p:spPr>
          <a:xfrm>
            <a:off x="4647438" y="3594781"/>
            <a:ext cx="163385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Arial" pitchFamily="34" charset="0"/>
                <a:ea typeface="Arial" pitchFamily="34" charset="-122"/>
                <a:cs typeface="Arial" pitchFamily="34" charset="-120"/>
              </a:rPr>
              <a:t>Notification Service</a:t>
            </a:r>
            <a:endParaRPr lang="en-US" sz="1300" dirty="0"/>
          </a:p>
        </p:txBody>
      </p:sp>
      <p:sp>
        <p:nvSpPr>
          <p:cNvPr id="21" name="Text 19"/>
          <p:cNvSpPr txBox="1"/>
          <p:nvPr/>
        </p:nvSpPr>
        <p:spPr>
          <a:xfrm>
            <a:off x="6514460" y="2520269"/>
            <a:ext cx="292059" cy="323880"/>
          </a:xfrm>
          <a:prstGeom prst="rect">
            <a:avLst/>
          </a:prstGeom>
          <a:noFill/>
          <a:ln/>
        </p:spPr>
        <p:txBody>
          <a:bodyPr wrap="square" lIns="0" tIns="0" rIns="0" bIns="0" rtlCol="0" anchor="ctr"/>
          <a:lstStyle/>
          <a:p>
            <a:pPr algn="ctr" indent="0" marL="0">
              <a:buNone/>
            </a:pPr>
            <a:r>
              <a:rPr lang="en-US" sz="1700" dirty="0">
                <a:solidFill>
                  <a:srgbClr val="6B7280"/>
                </a:solidFill>
                <a:latin typeface="Arial" pitchFamily="34" charset="0"/>
                <a:ea typeface="Arial" pitchFamily="34" charset="-122"/>
                <a:cs typeface="Arial" pitchFamily="34" charset="-120"/>
              </a:rPr>
              <a:t>⇄</a:t>
            </a:r>
            <a:endParaRPr lang="en-US" sz="1700" dirty="0"/>
          </a:p>
        </p:txBody>
      </p:sp>
      <p:sp>
        <p:nvSpPr>
          <p:cNvPr id="22" name="Shape 20"/>
          <p:cNvSpPr/>
          <p:nvPr/>
        </p:nvSpPr>
        <p:spPr>
          <a:xfrm>
            <a:off x="6908109" y="2290298"/>
            <a:ext cx="1301466" cy="733440"/>
          </a:xfrm>
          <a:prstGeom prst="roundRect">
            <a:avLst>
              <a:gd name="adj" fmla="val 12118"/>
            </a:avLst>
          </a:prstGeom>
          <a:solidFill>
            <a:srgbClr val="FFF5F4"/>
          </a:solidFill>
          <a:ln w="12700">
            <a:solidFill>
              <a:srgbClr val="B42318"/>
            </a:solidFill>
            <a:prstDash val="solid"/>
          </a:ln>
        </p:spPr>
      </p:sp>
      <p:sp>
        <p:nvSpPr>
          <p:cNvPr id="23" name="Text 21"/>
          <p:cNvSpPr txBox="1"/>
          <p:nvPr/>
        </p:nvSpPr>
        <p:spPr>
          <a:xfrm>
            <a:off x="7250003" y="2445471"/>
            <a:ext cx="617586"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Arial" pitchFamily="34" charset="0"/>
                <a:ea typeface="Arial" pitchFamily="34" charset="-122"/>
                <a:cs typeface="Arial" pitchFamily="34" charset="-120"/>
              </a:rPr>
              <a:t>VNPAY</a:t>
            </a:r>
            <a:endParaRPr lang="en-US" sz="1300" dirty="0"/>
          </a:p>
        </p:txBody>
      </p:sp>
      <p:sp>
        <p:nvSpPr>
          <p:cNvPr id="24" name="Text 22"/>
          <p:cNvSpPr txBox="1"/>
          <p:nvPr/>
        </p:nvSpPr>
        <p:spPr>
          <a:xfrm>
            <a:off x="7047829" y="2714854"/>
            <a:ext cx="1022025" cy="180960"/>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dịch vụ bên ngoài</a:t>
            </a:r>
            <a:endParaRPr lang="en-US" sz="950" dirty="0"/>
          </a:p>
        </p:txBody>
      </p:sp>
      <p:sp>
        <p:nvSpPr>
          <p:cNvPr id="25" name="Shape 23"/>
          <p:cNvSpPr/>
          <p:nvPr/>
        </p:nvSpPr>
        <p:spPr>
          <a:xfrm>
            <a:off x="698510" y="4267413"/>
            <a:ext cx="63459" cy="63459"/>
          </a:xfrm>
          <a:prstGeom prst="ellipse">
            <a:avLst/>
          </a:prstGeom>
          <a:solidFill>
            <a:srgbClr val="0066FF"/>
          </a:solidFill>
          <a:ln/>
        </p:spPr>
      </p:sp>
      <p:sp>
        <p:nvSpPr>
          <p:cNvPr id="26" name="Text 24"/>
          <p:cNvSpPr txBox="1"/>
          <p:nvPr/>
        </p:nvSpPr>
        <p:spPr>
          <a:xfrm>
            <a:off x="876270" y="4165549"/>
            <a:ext cx="728904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Chỉ </a:t>
            </a:r>
            <a:pPr algn="l" indent="0" marL="0">
              <a:buNone/>
            </a:pPr>
            <a:r>
              <a:rPr lang="en-US" sz="1400" b="1" dirty="0">
                <a:solidFill>
                  <a:srgbClr val="3F454D"/>
                </a:solidFill>
                <a:latin typeface="Arial" pitchFamily="34" charset="0"/>
                <a:ea typeface="Arial" pitchFamily="34" charset="-122"/>
                <a:cs typeface="Arial" pitchFamily="34" charset="-120"/>
              </a:rPr>
              <a:t>Payment Service</a:t>
            </a:r>
            <a:pPr algn="l" indent="0" marL="0">
              <a:buNone/>
            </a:pPr>
            <a:r>
              <a:rPr lang="en-US" sz="1400" dirty="0">
                <a:solidFill>
                  <a:srgbClr val="3F454D"/>
                </a:solidFill>
                <a:latin typeface="Arial" pitchFamily="34" charset="0"/>
                <a:ea typeface="Arial" pitchFamily="34" charset="-122"/>
                <a:cs typeface="Arial" pitchFamily="34" charset="-120"/>
              </a:rPr>
              <a:t> nói chuyện với VNPAY. Các service khác không biết VNPAY là gì</a:t>
            </a:r>
            <a:endParaRPr lang="en-US" sz="1400" dirty="0"/>
          </a:p>
        </p:txBody>
      </p:sp>
      <p:sp>
        <p:nvSpPr>
          <p:cNvPr id="27" name="Shape 25"/>
          <p:cNvSpPr/>
          <p:nvPr/>
        </p:nvSpPr>
        <p:spPr>
          <a:xfrm>
            <a:off x="698510" y="4623024"/>
            <a:ext cx="63459" cy="63459"/>
          </a:xfrm>
          <a:prstGeom prst="ellipse">
            <a:avLst/>
          </a:prstGeom>
          <a:solidFill>
            <a:srgbClr val="0066FF"/>
          </a:solidFill>
          <a:ln/>
        </p:spPr>
      </p:sp>
      <p:sp>
        <p:nvSpPr>
          <p:cNvPr id="28" name="Text 26"/>
          <p:cNvSpPr txBox="1"/>
          <p:nvPr/>
        </p:nvSpPr>
        <p:spPr>
          <a:xfrm>
            <a:off x="876270" y="4521159"/>
            <a:ext cx="671718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Thanh toán xong, Payment Service báo cho service khác qua event </a:t>
            </a:r>
            <a:pPr algn="l" indent="0" marL="0">
              <a:buNone/>
            </a:pPr>
            <a:r>
              <a:rPr lang="en-US" sz="1400" dirty="0">
                <a:solidFill>
                  <a:srgbClr val="3F454D"/>
                </a:solidFill>
                <a:latin typeface="Courier New" pitchFamily="34" charset="0"/>
                <a:ea typeface="Courier New" pitchFamily="34" charset="-122"/>
                <a:cs typeface="Courier New" pitchFamily="34" charset="-120"/>
              </a:rPr>
              <a:t>OrderPaid</a:t>
            </a:r>
            <a:endParaRPr lang="en-US" sz="1400" dirty="0"/>
          </a:p>
        </p:txBody>
      </p:sp>
      <p:sp>
        <p:nvSpPr>
          <p:cNvPr id="29" name="Shape 27"/>
          <p:cNvSpPr/>
          <p:nvPr/>
        </p:nvSpPr>
        <p:spPr>
          <a:xfrm>
            <a:off x="698510" y="4991252"/>
            <a:ext cx="63459" cy="63459"/>
          </a:xfrm>
          <a:prstGeom prst="ellipse">
            <a:avLst/>
          </a:prstGeom>
          <a:solidFill>
            <a:srgbClr val="0066FF"/>
          </a:solidFill>
          <a:ln/>
        </p:spPr>
      </p:sp>
      <p:sp>
        <p:nvSpPr>
          <p:cNvPr id="30" name="Text 28"/>
          <p:cNvSpPr txBox="1"/>
          <p:nvPr/>
        </p:nvSpPr>
        <p:spPr>
          <a:xfrm>
            <a:off x="876270" y="4889388"/>
            <a:ext cx="6034491"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Hôm nay gói Payment Service trong 1 file Java để code cùng cho nhanh</a:t>
            </a:r>
            <a:endParaRPr lang="en-US" sz="1400" dirty="0"/>
          </a:p>
        </p:txBody>
      </p:sp>
      <p:sp>
        <p:nvSpPr>
          <p:cNvPr id="31" name="Text 2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2" name="Text 30"/>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72638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Kiến trúc hướng dịch vụ</a:t>
            </a:r>
            <a:endParaRPr lang="en-US" sz="1100" dirty="0"/>
          </a:p>
        </p:txBody>
      </p:sp>
      <p:sp>
        <p:nvSpPr>
          <p:cNvPr id="3" name="Text 1"/>
          <p:cNvSpPr txBox="1"/>
          <p:nvPr/>
        </p:nvSpPr>
        <p:spPr>
          <a:xfrm>
            <a:off x="660380" y="643829"/>
            <a:ext cx="977210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VNPAY là dịch vụ bên ngoài, hợp đồng do VNPAY đặt</a:t>
            </a:r>
            <a:endParaRPr lang="en-US" sz="3000" dirty="0"/>
          </a:p>
        </p:txBody>
      </p:sp>
      <p:sp>
        <p:nvSpPr>
          <p:cNvPr id="4" name="Text 2"/>
          <p:cNvSpPr txBox="1"/>
          <p:nvPr/>
        </p:nvSpPr>
        <p:spPr>
          <a:xfrm>
            <a:off x="660380" y="1358798"/>
            <a:ext cx="2746675"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VNPAY quy định, mình phải làm theo</a:t>
            </a:r>
            <a:endParaRPr lang="en-US" sz="1000" dirty="0"/>
          </a:p>
        </p:txBody>
      </p:sp>
      <p:sp>
        <p:nvSpPr>
          <p:cNvPr id="5" name="Shape 3"/>
          <p:cNvSpPr/>
          <p:nvPr/>
        </p:nvSpPr>
        <p:spPr>
          <a:xfrm>
            <a:off x="698510" y="1724284"/>
            <a:ext cx="63459" cy="63459"/>
          </a:xfrm>
          <a:prstGeom prst="ellipse">
            <a:avLst/>
          </a:prstGeom>
          <a:solidFill>
            <a:srgbClr val="0066FF"/>
          </a:solidFill>
          <a:ln/>
        </p:spPr>
      </p:sp>
      <p:sp>
        <p:nvSpPr>
          <p:cNvPr id="6" name="Text 4"/>
          <p:cNvSpPr txBox="1"/>
          <p:nvPr/>
        </p:nvSpPr>
        <p:spPr>
          <a:xfrm>
            <a:off x="876270" y="1622420"/>
            <a:ext cx="425607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Địa chỉ gọi tới và phương thức HTTP (GET, POST)</a:t>
            </a:r>
            <a:endParaRPr lang="en-US" sz="1400" dirty="0"/>
          </a:p>
        </p:txBody>
      </p:sp>
      <p:sp>
        <p:nvSpPr>
          <p:cNvPr id="7" name="Shape 5"/>
          <p:cNvSpPr/>
          <p:nvPr/>
        </p:nvSpPr>
        <p:spPr>
          <a:xfrm>
            <a:off x="698510" y="2079894"/>
            <a:ext cx="63459" cy="63459"/>
          </a:xfrm>
          <a:prstGeom prst="ellipse">
            <a:avLst/>
          </a:prstGeom>
          <a:solidFill>
            <a:srgbClr val="0066FF"/>
          </a:solidFill>
          <a:ln/>
        </p:spPr>
      </p:sp>
      <p:sp>
        <p:nvSpPr>
          <p:cNvPr id="8" name="Text 6"/>
          <p:cNvSpPr txBox="1"/>
          <p:nvPr/>
        </p:nvSpPr>
        <p:spPr>
          <a:xfrm>
            <a:off x="876270" y="1978030"/>
            <a:ext cx="323761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Tên và định dạng từng tham số </a:t>
            </a:r>
            <a:pPr algn="l" indent="0" marL="0">
              <a:buNone/>
            </a:pPr>
            <a:r>
              <a:rPr lang="en-US" sz="1400" dirty="0">
                <a:solidFill>
                  <a:srgbClr val="3F454D"/>
                </a:solidFill>
                <a:latin typeface="Courier New" pitchFamily="34" charset="0"/>
                <a:ea typeface="Courier New" pitchFamily="34" charset="-122"/>
                <a:cs typeface="Courier New" pitchFamily="34" charset="-120"/>
              </a:rPr>
              <a:t>vnp_*</a:t>
            </a:r>
            <a:endParaRPr lang="en-US" sz="1400" dirty="0"/>
          </a:p>
        </p:txBody>
      </p:sp>
      <p:sp>
        <p:nvSpPr>
          <p:cNvPr id="9" name="Shape 7"/>
          <p:cNvSpPr/>
          <p:nvPr/>
        </p:nvSpPr>
        <p:spPr>
          <a:xfrm>
            <a:off x="698510" y="2448123"/>
            <a:ext cx="63459" cy="63459"/>
          </a:xfrm>
          <a:prstGeom prst="ellipse">
            <a:avLst/>
          </a:prstGeom>
          <a:solidFill>
            <a:srgbClr val="0066FF"/>
          </a:solidFill>
          <a:ln/>
        </p:spPr>
      </p:sp>
      <p:sp>
        <p:nvSpPr>
          <p:cNvPr id="10" name="Text 8"/>
          <p:cNvSpPr txBox="1"/>
          <p:nvPr/>
        </p:nvSpPr>
        <p:spPr>
          <a:xfrm>
            <a:off x="876270" y="2346350"/>
            <a:ext cx="359304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Cách ký: sắp xếp, encode, HMAC-SHA512</a:t>
            </a:r>
            <a:endParaRPr lang="en-US" sz="1400" dirty="0"/>
          </a:p>
        </p:txBody>
      </p:sp>
      <p:sp>
        <p:nvSpPr>
          <p:cNvPr id="11" name="Shape 9"/>
          <p:cNvSpPr/>
          <p:nvPr/>
        </p:nvSpPr>
        <p:spPr>
          <a:xfrm>
            <a:off x="698510" y="2803733"/>
            <a:ext cx="63459" cy="63459"/>
          </a:xfrm>
          <a:prstGeom prst="ellipse">
            <a:avLst/>
          </a:prstGeom>
          <a:solidFill>
            <a:srgbClr val="0066FF"/>
          </a:solidFill>
          <a:ln/>
        </p:spPr>
      </p:sp>
      <p:sp>
        <p:nvSpPr>
          <p:cNvPr id="12" name="Text 10"/>
          <p:cNvSpPr txBox="1"/>
          <p:nvPr/>
        </p:nvSpPr>
        <p:spPr>
          <a:xfrm>
            <a:off x="876270" y="2701869"/>
            <a:ext cx="339443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Mã trả về cho IPN: 00, 01, 02, 04, 97, 99</a:t>
            </a:r>
            <a:endParaRPr lang="en-US" sz="1400" dirty="0"/>
          </a:p>
        </p:txBody>
      </p:sp>
      <p:sp>
        <p:nvSpPr>
          <p:cNvPr id="13" name="Shape 11"/>
          <p:cNvSpPr/>
          <p:nvPr/>
        </p:nvSpPr>
        <p:spPr>
          <a:xfrm>
            <a:off x="698510" y="3159343"/>
            <a:ext cx="63459" cy="63459"/>
          </a:xfrm>
          <a:prstGeom prst="ellipse">
            <a:avLst/>
          </a:prstGeom>
          <a:solidFill>
            <a:srgbClr val="0066FF"/>
          </a:solidFill>
          <a:ln/>
        </p:spPr>
      </p:sp>
      <p:sp>
        <p:nvSpPr>
          <p:cNvPr id="14" name="Text 12"/>
          <p:cNvSpPr txBox="1"/>
          <p:nvPr/>
        </p:nvSpPr>
        <p:spPr>
          <a:xfrm>
            <a:off x="876270" y="3057479"/>
            <a:ext cx="304577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Thời gian theo giờ Việt Nam GMT+7</a:t>
            </a:r>
            <a:endParaRPr lang="en-US" sz="1400" dirty="0"/>
          </a:p>
        </p:txBody>
      </p:sp>
      <p:sp>
        <p:nvSpPr>
          <p:cNvPr id="15" name="Text 13"/>
          <p:cNvSpPr txBox="1"/>
          <p:nvPr/>
        </p:nvSpPr>
        <p:spPr>
          <a:xfrm>
            <a:off x="6070427" y="1358798"/>
            <a:ext cx="106701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Mình tự quyết</a:t>
            </a:r>
            <a:endParaRPr lang="en-US" sz="1000" dirty="0"/>
          </a:p>
        </p:txBody>
      </p:sp>
      <p:sp>
        <p:nvSpPr>
          <p:cNvPr id="16" name="Shape 14"/>
          <p:cNvSpPr/>
          <p:nvPr/>
        </p:nvSpPr>
        <p:spPr>
          <a:xfrm>
            <a:off x="6108558" y="1826788"/>
            <a:ext cx="63459" cy="63459"/>
          </a:xfrm>
          <a:prstGeom prst="ellipse">
            <a:avLst/>
          </a:prstGeom>
          <a:solidFill>
            <a:srgbClr val="0066FF"/>
          </a:solidFill>
          <a:ln/>
        </p:spPr>
      </p:sp>
      <p:sp>
        <p:nvSpPr>
          <p:cNvPr id="17" name="Text 15"/>
          <p:cNvSpPr txBox="1"/>
          <p:nvPr/>
        </p:nvSpPr>
        <p:spPr>
          <a:xfrm>
            <a:off x="6286317" y="1731508"/>
            <a:ext cx="260969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Payment Service chia hàm thế nào</a:t>
            </a:r>
            <a:endParaRPr lang="en-US" sz="1250" dirty="0"/>
          </a:p>
        </p:txBody>
      </p:sp>
      <p:sp>
        <p:nvSpPr>
          <p:cNvPr id="18" name="Shape 16"/>
          <p:cNvSpPr/>
          <p:nvPr/>
        </p:nvSpPr>
        <p:spPr>
          <a:xfrm>
            <a:off x="6108558" y="2153778"/>
            <a:ext cx="63459" cy="63459"/>
          </a:xfrm>
          <a:prstGeom prst="ellipse">
            <a:avLst/>
          </a:prstGeom>
          <a:solidFill>
            <a:srgbClr val="0066FF"/>
          </a:solidFill>
          <a:ln/>
        </p:spPr>
      </p:sp>
      <p:sp>
        <p:nvSpPr>
          <p:cNvPr id="19" name="Text 17"/>
          <p:cNvSpPr txBox="1"/>
          <p:nvPr/>
        </p:nvSpPr>
        <p:spPr>
          <a:xfrm>
            <a:off x="6286317" y="2058497"/>
            <a:ext cx="3493191"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Lưu đơn ở đâu (hôm nay là Map trong bộ nhớ)</a:t>
            </a:r>
            <a:endParaRPr lang="en-US" sz="1250" dirty="0"/>
          </a:p>
        </p:txBody>
      </p:sp>
      <p:sp>
        <p:nvSpPr>
          <p:cNvPr id="20" name="Shape 18"/>
          <p:cNvSpPr/>
          <p:nvPr/>
        </p:nvSpPr>
        <p:spPr>
          <a:xfrm>
            <a:off x="6108558" y="2480767"/>
            <a:ext cx="63459" cy="63459"/>
          </a:xfrm>
          <a:prstGeom prst="ellipse">
            <a:avLst/>
          </a:prstGeom>
          <a:solidFill>
            <a:srgbClr val="0066FF"/>
          </a:solidFill>
          <a:ln/>
        </p:spPr>
      </p:sp>
      <p:sp>
        <p:nvSpPr>
          <p:cNvPr id="21" name="Text 19"/>
          <p:cNvSpPr txBox="1"/>
          <p:nvPr/>
        </p:nvSpPr>
        <p:spPr>
          <a:xfrm>
            <a:off x="6286317" y="2385578"/>
            <a:ext cx="255382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API giữa web và Payment Service</a:t>
            </a:r>
            <a:endParaRPr lang="en-US" sz="1250" dirty="0"/>
          </a:p>
        </p:txBody>
      </p:sp>
      <p:sp>
        <p:nvSpPr>
          <p:cNvPr id="22" name="Shape 20"/>
          <p:cNvSpPr/>
          <p:nvPr/>
        </p:nvSpPr>
        <p:spPr>
          <a:xfrm>
            <a:off x="6108558" y="2807848"/>
            <a:ext cx="63459" cy="63459"/>
          </a:xfrm>
          <a:prstGeom prst="ellipse">
            <a:avLst/>
          </a:prstGeom>
          <a:solidFill>
            <a:srgbClr val="0066FF"/>
          </a:solidFill>
          <a:ln/>
        </p:spPr>
      </p:sp>
      <p:sp>
        <p:nvSpPr>
          <p:cNvPr id="23" name="Text 21"/>
          <p:cNvSpPr txBox="1"/>
          <p:nvPr/>
        </p:nvSpPr>
        <p:spPr>
          <a:xfrm>
            <a:off x="6286317" y="2712568"/>
            <a:ext cx="2179655"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Khi nào gọi querydr để hỏi lại</a:t>
            </a:r>
            <a:endParaRPr lang="en-US" sz="1250" dirty="0"/>
          </a:p>
        </p:txBody>
      </p:sp>
      <p:sp>
        <p:nvSpPr>
          <p:cNvPr id="24" name="Shape 22"/>
          <p:cNvSpPr/>
          <p:nvPr/>
        </p:nvSpPr>
        <p:spPr>
          <a:xfrm>
            <a:off x="6108558" y="3134838"/>
            <a:ext cx="63459" cy="63459"/>
          </a:xfrm>
          <a:prstGeom prst="ellipse">
            <a:avLst/>
          </a:prstGeom>
          <a:solidFill>
            <a:srgbClr val="0066FF"/>
          </a:solidFill>
          <a:ln/>
        </p:spPr>
      </p:sp>
      <p:sp>
        <p:nvSpPr>
          <p:cNvPr id="25" name="Text 23"/>
          <p:cNvSpPr txBox="1"/>
          <p:nvPr/>
        </p:nvSpPr>
        <p:spPr>
          <a:xfrm>
            <a:off x="6286317" y="3039557"/>
            <a:ext cx="2187245"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Xử lý hai request tới cùng lúc</a:t>
            </a:r>
            <a:endParaRPr lang="en-US" sz="1250" dirty="0"/>
          </a:p>
        </p:txBody>
      </p:sp>
      <p:sp>
        <p:nvSpPr>
          <p:cNvPr id="26" name="Shape 24"/>
          <p:cNvSpPr/>
          <p:nvPr/>
        </p:nvSpPr>
        <p:spPr>
          <a:xfrm>
            <a:off x="660380" y="3480938"/>
            <a:ext cx="10870936" cy="600029"/>
          </a:xfrm>
          <a:prstGeom prst="roundRect">
            <a:avLst>
              <a:gd name="adj" fmla="val 12694"/>
            </a:avLst>
          </a:prstGeom>
          <a:solidFill>
            <a:srgbClr val="FFFFFF"/>
          </a:solidFill>
          <a:ln w="6350">
            <a:solidFill>
              <a:srgbClr val="E3E6EA"/>
            </a:solidFill>
            <a:prstDash val="solid"/>
          </a:ln>
        </p:spPr>
      </p:sp>
      <p:sp>
        <p:nvSpPr>
          <p:cNvPr id="27" name="Text 25"/>
          <p:cNvSpPr txBox="1"/>
          <p:nvPr/>
        </p:nvSpPr>
        <p:spPr>
          <a:xfrm>
            <a:off x="793699" y="3593135"/>
            <a:ext cx="5701741" cy="20958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Tài liệu dùng trong bài: VNPAY API v2.1.0, mục Thanh toán PAY và Truy vấn, hoàn tiền</a:t>
            </a:r>
            <a:endParaRPr lang="en-US" sz="1100" dirty="0"/>
          </a:p>
        </p:txBody>
      </p:sp>
      <p:sp>
        <p:nvSpPr>
          <p:cNvPr id="28" name="Text 26"/>
          <p:cNvSpPr txBox="1"/>
          <p:nvPr/>
        </p:nvSpPr>
        <p:spPr>
          <a:xfrm>
            <a:off x="793699" y="3836365"/>
            <a:ext cx="1692006" cy="161940"/>
          </a:xfrm>
          <a:prstGeom prst="rect">
            <a:avLst/>
          </a:prstGeom>
          <a:noFill/>
          <a:ln/>
        </p:spPr>
        <p:txBody>
          <a:bodyPr wrap="square" lIns="0" tIns="0" rIns="0" bIns="0" rtlCol="0" anchor="ctr"/>
          <a:lstStyle/>
          <a:p>
            <a:pPr algn="l" indent="0" marL="0">
              <a:buNone/>
            </a:pPr>
            <a:r>
              <a:rPr lang="en-US" sz="850" dirty="0">
                <a:solidFill>
                  <a:srgbClr val="6B7280"/>
                </a:solidFill>
                <a:latin typeface="Arial" pitchFamily="34" charset="0"/>
                <a:ea typeface="Arial" pitchFamily="34" charset="-122"/>
                <a:cs typeface="Arial" pitchFamily="34" charset="-120"/>
              </a:rPr>
              <a:t>sandbox.vnpayment.vn/apis/docs</a:t>
            </a:r>
            <a:endParaRPr lang="en-US" sz="850" dirty="0"/>
          </a:p>
        </p:txBody>
      </p:sp>
      <p:sp>
        <p:nvSpPr>
          <p:cNvPr id="29" name="Text 2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0" name="Text 28"/>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43021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Giao tiếp với VNPAY</a:t>
            </a:r>
            <a:endParaRPr lang="en-US" sz="1100" dirty="0"/>
          </a:p>
        </p:txBody>
      </p:sp>
      <p:sp>
        <p:nvSpPr>
          <p:cNvPr id="3" name="Text 1"/>
          <p:cNvSpPr txBox="1"/>
          <p:nvPr/>
        </p:nvSpPr>
        <p:spPr>
          <a:xfrm>
            <a:off x="660380" y="643829"/>
            <a:ext cx="708349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Bốn kênh giao tiếp, mỗi kênh một kiểu</a:t>
            </a:r>
            <a:endParaRPr lang="en-US" sz="3000" dirty="0"/>
          </a:p>
        </p:txBody>
      </p:sp>
      <p:sp>
        <p:nvSpPr>
          <p:cNvPr id="4" name="Shape 2"/>
          <p:cNvSpPr/>
          <p:nvPr/>
        </p:nvSpPr>
        <p:spPr>
          <a:xfrm>
            <a:off x="660380" y="1347368"/>
            <a:ext cx="10870936" cy="1968429"/>
          </a:xfrm>
          <a:prstGeom prst="roundRect">
            <a:avLst>
              <a:gd name="adj" fmla="val 5161"/>
            </a:avLst>
          </a:prstGeom>
          <a:solidFill>
            <a:srgbClr val="FFFFFF"/>
          </a:solidFill>
          <a:ln/>
        </p:spPr>
      </p:sp>
      <p:sp>
        <p:nvSpPr>
          <p:cNvPr id="5" name="Shape 3"/>
          <p:cNvSpPr/>
          <p:nvPr/>
        </p:nvSpPr>
        <p:spPr>
          <a:xfrm>
            <a:off x="660380" y="1347368"/>
            <a:ext cx="434797" cy="422270"/>
          </a:xfrm>
          <a:prstGeom prst="rect">
            <a:avLst/>
          </a:prstGeom>
          <a:solidFill>
            <a:srgbClr val="ECF2FF"/>
          </a:solidFill>
          <a:ln/>
        </p:spPr>
      </p:sp>
      <p:sp>
        <p:nvSpPr>
          <p:cNvPr id="6" name="Text 4"/>
          <p:cNvSpPr txBox="1"/>
          <p:nvPr/>
        </p:nvSpPr>
        <p:spPr>
          <a:xfrm>
            <a:off x="825520" y="1479408"/>
            <a:ext cx="15316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a:t>
            </a:r>
            <a:endParaRPr lang="en-US" sz="1000" dirty="0"/>
          </a:p>
        </p:txBody>
      </p:sp>
      <p:sp>
        <p:nvSpPr>
          <p:cNvPr id="7" name="Shape 5"/>
          <p:cNvSpPr/>
          <p:nvPr/>
        </p:nvSpPr>
        <p:spPr>
          <a:xfrm>
            <a:off x="1095177" y="1347368"/>
            <a:ext cx="1848002" cy="422270"/>
          </a:xfrm>
          <a:prstGeom prst="rect">
            <a:avLst/>
          </a:prstGeom>
          <a:solidFill>
            <a:srgbClr val="ECF2FF"/>
          </a:solidFill>
          <a:ln/>
        </p:spPr>
      </p:sp>
      <p:sp>
        <p:nvSpPr>
          <p:cNvPr id="8" name="Text 6"/>
          <p:cNvSpPr txBox="1"/>
          <p:nvPr/>
        </p:nvSpPr>
        <p:spPr>
          <a:xfrm>
            <a:off x="1260226" y="1479408"/>
            <a:ext cx="46149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KÊNH</a:t>
            </a:r>
            <a:endParaRPr lang="en-US" sz="1000" dirty="0"/>
          </a:p>
        </p:txBody>
      </p:sp>
      <p:sp>
        <p:nvSpPr>
          <p:cNvPr id="9" name="Shape 7"/>
          <p:cNvSpPr/>
          <p:nvPr/>
        </p:nvSpPr>
        <p:spPr>
          <a:xfrm>
            <a:off x="2943179" y="1347368"/>
            <a:ext cx="2717688" cy="422270"/>
          </a:xfrm>
          <a:prstGeom prst="rect">
            <a:avLst/>
          </a:prstGeom>
          <a:solidFill>
            <a:srgbClr val="ECF2FF"/>
          </a:solidFill>
          <a:ln/>
        </p:spPr>
      </p:sp>
      <p:sp>
        <p:nvSpPr>
          <p:cNvPr id="10" name="Text 8"/>
          <p:cNvSpPr txBox="1"/>
          <p:nvPr/>
        </p:nvSpPr>
        <p:spPr>
          <a:xfrm>
            <a:off x="3108228" y="1479408"/>
            <a:ext cx="68607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AI GỌI AI</a:t>
            </a:r>
            <a:endParaRPr lang="en-US" sz="1000" dirty="0"/>
          </a:p>
        </p:txBody>
      </p:sp>
      <p:sp>
        <p:nvSpPr>
          <p:cNvPr id="11" name="Shape 9"/>
          <p:cNvSpPr/>
          <p:nvPr/>
        </p:nvSpPr>
        <p:spPr>
          <a:xfrm>
            <a:off x="5660868" y="1347368"/>
            <a:ext cx="978408" cy="422270"/>
          </a:xfrm>
          <a:prstGeom prst="rect">
            <a:avLst/>
          </a:prstGeom>
          <a:solidFill>
            <a:srgbClr val="ECF2FF"/>
          </a:solidFill>
          <a:ln/>
        </p:spPr>
      </p:sp>
      <p:sp>
        <p:nvSpPr>
          <p:cNvPr id="12" name="Text 10"/>
          <p:cNvSpPr txBox="1"/>
          <p:nvPr/>
        </p:nvSpPr>
        <p:spPr>
          <a:xfrm>
            <a:off x="5826008" y="1479408"/>
            <a:ext cx="43315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HTTP</a:t>
            </a:r>
            <a:endParaRPr lang="en-US" sz="1000" dirty="0"/>
          </a:p>
        </p:txBody>
      </p:sp>
      <p:sp>
        <p:nvSpPr>
          <p:cNvPr id="13" name="Shape 11"/>
          <p:cNvSpPr/>
          <p:nvPr/>
        </p:nvSpPr>
        <p:spPr>
          <a:xfrm>
            <a:off x="6639276" y="1347368"/>
            <a:ext cx="2391522" cy="422270"/>
          </a:xfrm>
          <a:prstGeom prst="rect">
            <a:avLst/>
          </a:prstGeom>
          <a:solidFill>
            <a:srgbClr val="ECF2FF"/>
          </a:solidFill>
          <a:ln/>
        </p:spPr>
      </p:sp>
      <p:sp>
        <p:nvSpPr>
          <p:cNvPr id="14" name="Text 12"/>
          <p:cNvSpPr txBox="1"/>
          <p:nvPr/>
        </p:nvSpPr>
        <p:spPr>
          <a:xfrm>
            <a:off x="6804325" y="1479408"/>
            <a:ext cx="642366"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DỮ LIỆU</a:t>
            </a:r>
            <a:endParaRPr lang="en-US" sz="1000" dirty="0"/>
          </a:p>
        </p:txBody>
      </p:sp>
      <p:sp>
        <p:nvSpPr>
          <p:cNvPr id="15" name="Shape 13"/>
          <p:cNvSpPr/>
          <p:nvPr/>
        </p:nvSpPr>
        <p:spPr>
          <a:xfrm>
            <a:off x="9030797" y="1347368"/>
            <a:ext cx="2500518" cy="422270"/>
          </a:xfrm>
          <a:prstGeom prst="rect">
            <a:avLst/>
          </a:prstGeom>
          <a:solidFill>
            <a:srgbClr val="ECF2FF"/>
          </a:solidFill>
          <a:ln/>
        </p:spPr>
      </p:sp>
      <p:sp>
        <p:nvSpPr>
          <p:cNvPr id="16" name="Text 14"/>
          <p:cNvSpPr txBox="1"/>
          <p:nvPr/>
        </p:nvSpPr>
        <p:spPr>
          <a:xfrm>
            <a:off x="9195846" y="1479408"/>
            <a:ext cx="40507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KIỂU</a:t>
            </a:r>
            <a:endParaRPr lang="en-US" sz="1000" dirty="0"/>
          </a:p>
        </p:txBody>
      </p:sp>
      <p:sp>
        <p:nvSpPr>
          <p:cNvPr id="17" name="Shape 15"/>
          <p:cNvSpPr/>
          <p:nvPr/>
        </p:nvSpPr>
        <p:spPr>
          <a:xfrm>
            <a:off x="660380" y="1769638"/>
            <a:ext cx="434797" cy="6309"/>
          </a:xfrm>
          <a:prstGeom prst="rect">
            <a:avLst/>
          </a:prstGeom>
          <a:solidFill>
            <a:srgbClr val="E3E6EA"/>
          </a:solidFill>
          <a:ln/>
        </p:spPr>
      </p:sp>
      <p:sp>
        <p:nvSpPr>
          <p:cNvPr id="18" name="Text 16"/>
          <p:cNvSpPr txBox="1"/>
          <p:nvPr/>
        </p:nvSpPr>
        <p:spPr>
          <a:xfrm>
            <a:off x="800100" y="1870405"/>
            <a:ext cx="15746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1</a:t>
            </a:r>
            <a:endParaRPr lang="en-US" sz="1150" dirty="0"/>
          </a:p>
        </p:txBody>
      </p:sp>
      <p:sp>
        <p:nvSpPr>
          <p:cNvPr id="19" name="Shape 17"/>
          <p:cNvSpPr/>
          <p:nvPr/>
        </p:nvSpPr>
        <p:spPr>
          <a:xfrm>
            <a:off x="1095177" y="1769638"/>
            <a:ext cx="1848002" cy="6309"/>
          </a:xfrm>
          <a:prstGeom prst="rect">
            <a:avLst/>
          </a:prstGeom>
          <a:solidFill>
            <a:srgbClr val="E3E6EA"/>
          </a:solidFill>
          <a:ln/>
        </p:spPr>
      </p:sp>
      <p:sp>
        <p:nvSpPr>
          <p:cNvPr id="20" name="Text 18"/>
          <p:cNvSpPr txBox="1"/>
          <p:nvPr/>
        </p:nvSpPr>
        <p:spPr>
          <a:xfrm>
            <a:off x="1234806" y="1870405"/>
            <a:ext cx="105869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Tạo thanh toán</a:t>
            </a:r>
            <a:endParaRPr lang="en-US" sz="1150" dirty="0"/>
          </a:p>
        </p:txBody>
      </p:sp>
      <p:sp>
        <p:nvSpPr>
          <p:cNvPr id="21" name="Shape 19"/>
          <p:cNvSpPr/>
          <p:nvPr/>
        </p:nvSpPr>
        <p:spPr>
          <a:xfrm>
            <a:off x="2943179" y="1769638"/>
            <a:ext cx="2717688" cy="6309"/>
          </a:xfrm>
          <a:prstGeom prst="rect">
            <a:avLst/>
          </a:prstGeom>
          <a:solidFill>
            <a:srgbClr val="E3E6EA"/>
          </a:solidFill>
          <a:ln/>
        </p:spPr>
      </p:sp>
      <p:sp>
        <p:nvSpPr>
          <p:cNvPr id="22" name="Text 20"/>
          <p:cNvSpPr txBox="1"/>
          <p:nvPr/>
        </p:nvSpPr>
        <p:spPr>
          <a:xfrm>
            <a:off x="3082808" y="1870405"/>
            <a:ext cx="152000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Trình duyệt → VNPAY</a:t>
            </a:r>
            <a:endParaRPr lang="en-US" sz="1150" dirty="0"/>
          </a:p>
        </p:txBody>
      </p:sp>
      <p:sp>
        <p:nvSpPr>
          <p:cNvPr id="23" name="Shape 21"/>
          <p:cNvSpPr/>
          <p:nvPr/>
        </p:nvSpPr>
        <p:spPr>
          <a:xfrm>
            <a:off x="5660868" y="1769638"/>
            <a:ext cx="978408" cy="6309"/>
          </a:xfrm>
          <a:prstGeom prst="rect">
            <a:avLst/>
          </a:prstGeom>
          <a:solidFill>
            <a:srgbClr val="E3E6EA"/>
          </a:solidFill>
          <a:ln/>
        </p:spPr>
      </p:sp>
      <p:sp>
        <p:nvSpPr>
          <p:cNvPr id="24" name="Text 22"/>
          <p:cNvSpPr txBox="1"/>
          <p:nvPr/>
        </p:nvSpPr>
        <p:spPr>
          <a:xfrm>
            <a:off x="5800588" y="1865285"/>
            <a:ext cx="35067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GET</a:t>
            </a:r>
            <a:endParaRPr lang="en-US" sz="1200" dirty="0"/>
          </a:p>
        </p:txBody>
      </p:sp>
      <p:sp>
        <p:nvSpPr>
          <p:cNvPr id="25" name="Shape 23"/>
          <p:cNvSpPr/>
          <p:nvPr/>
        </p:nvSpPr>
        <p:spPr>
          <a:xfrm>
            <a:off x="6639276" y="1769638"/>
            <a:ext cx="2391522" cy="6309"/>
          </a:xfrm>
          <a:prstGeom prst="rect">
            <a:avLst/>
          </a:prstGeom>
          <a:solidFill>
            <a:srgbClr val="E3E6EA"/>
          </a:solidFill>
          <a:ln/>
        </p:spPr>
      </p:sp>
      <p:sp>
        <p:nvSpPr>
          <p:cNvPr id="26" name="Text 24"/>
          <p:cNvSpPr txBox="1"/>
          <p:nvPr/>
        </p:nvSpPr>
        <p:spPr>
          <a:xfrm>
            <a:off x="6778996" y="1870405"/>
            <a:ext cx="148452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Query string + chữ ký</a:t>
            </a:r>
            <a:endParaRPr lang="en-US" sz="1150" dirty="0"/>
          </a:p>
        </p:txBody>
      </p:sp>
      <p:sp>
        <p:nvSpPr>
          <p:cNvPr id="27" name="Shape 25"/>
          <p:cNvSpPr/>
          <p:nvPr/>
        </p:nvSpPr>
        <p:spPr>
          <a:xfrm>
            <a:off x="9030797" y="1769638"/>
            <a:ext cx="2500518" cy="6309"/>
          </a:xfrm>
          <a:prstGeom prst="rect">
            <a:avLst/>
          </a:prstGeom>
          <a:solidFill>
            <a:srgbClr val="E3E6EA"/>
          </a:solidFill>
          <a:ln/>
        </p:spPr>
      </p:sp>
      <p:sp>
        <p:nvSpPr>
          <p:cNvPr id="28" name="Text 26"/>
          <p:cNvSpPr txBox="1"/>
          <p:nvPr/>
        </p:nvSpPr>
        <p:spPr>
          <a:xfrm>
            <a:off x="9170426" y="1870405"/>
            <a:ext cx="159187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Chuyển trang (redirect)</a:t>
            </a:r>
            <a:endParaRPr lang="en-US" sz="1150" dirty="0"/>
          </a:p>
        </p:txBody>
      </p:sp>
      <p:sp>
        <p:nvSpPr>
          <p:cNvPr id="29" name="Shape 27"/>
          <p:cNvSpPr/>
          <p:nvPr/>
        </p:nvSpPr>
        <p:spPr>
          <a:xfrm>
            <a:off x="660380" y="2156978"/>
            <a:ext cx="434797" cy="6309"/>
          </a:xfrm>
          <a:prstGeom prst="rect">
            <a:avLst/>
          </a:prstGeom>
          <a:solidFill>
            <a:srgbClr val="E3E6EA"/>
          </a:solidFill>
          <a:ln/>
        </p:spPr>
      </p:sp>
      <p:sp>
        <p:nvSpPr>
          <p:cNvPr id="30" name="Text 28"/>
          <p:cNvSpPr txBox="1"/>
          <p:nvPr/>
        </p:nvSpPr>
        <p:spPr>
          <a:xfrm>
            <a:off x="800100" y="2257745"/>
            <a:ext cx="15746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2</a:t>
            </a:r>
            <a:endParaRPr lang="en-US" sz="1150" dirty="0"/>
          </a:p>
        </p:txBody>
      </p:sp>
      <p:sp>
        <p:nvSpPr>
          <p:cNvPr id="31" name="Shape 29"/>
          <p:cNvSpPr/>
          <p:nvPr/>
        </p:nvSpPr>
        <p:spPr>
          <a:xfrm>
            <a:off x="1095177" y="2156978"/>
            <a:ext cx="1848002" cy="6309"/>
          </a:xfrm>
          <a:prstGeom prst="rect">
            <a:avLst/>
          </a:prstGeom>
          <a:solidFill>
            <a:srgbClr val="E3E6EA"/>
          </a:solidFill>
          <a:ln/>
        </p:spPr>
      </p:sp>
      <p:sp>
        <p:nvSpPr>
          <p:cNvPr id="32" name="Text 30"/>
          <p:cNvSpPr txBox="1"/>
          <p:nvPr/>
        </p:nvSpPr>
        <p:spPr>
          <a:xfrm>
            <a:off x="1234806" y="2257745"/>
            <a:ext cx="80668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ReturnURL</a:t>
            </a:r>
            <a:endParaRPr lang="en-US" sz="1150" dirty="0"/>
          </a:p>
        </p:txBody>
      </p:sp>
      <p:sp>
        <p:nvSpPr>
          <p:cNvPr id="33" name="Shape 31"/>
          <p:cNvSpPr/>
          <p:nvPr/>
        </p:nvSpPr>
        <p:spPr>
          <a:xfrm>
            <a:off x="2943179" y="2156978"/>
            <a:ext cx="2717688" cy="6309"/>
          </a:xfrm>
          <a:prstGeom prst="rect">
            <a:avLst/>
          </a:prstGeom>
          <a:solidFill>
            <a:srgbClr val="E3E6EA"/>
          </a:solidFill>
          <a:ln/>
        </p:spPr>
      </p:sp>
      <p:sp>
        <p:nvSpPr>
          <p:cNvPr id="34" name="Text 32"/>
          <p:cNvSpPr txBox="1"/>
          <p:nvPr/>
        </p:nvSpPr>
        <p:spPr>
          <a:xfrm>
            <a:off x="3082808" y="2257745"/>
            <a:ext cx="214243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 trình duyệt → server</a:t>
            </a:r>
            <a:endParaRPr lang="en-US" sz="1150" dirty="0"/>
          </a:p>
        </p:txBody>
      </p:sp>
      <p:sp>
        <p:nvSpPr>
          <p:cNvPr id="35" name="Shape 33"/>
          <p:cNvSpPr/>
          <p:nvPr/>
        </p:nvSpPr>
        <p:spPr>
          <a:xfrm>
            <a:off x="5660868" y="2156978"/>
            <a:ext cx="978408" cy="6309"/>
          </a:xfrm>
          <a:prstGeom prst="rect">
            <a:avLst/>
          </a:prstGeom>
          <a:solidFill>
            <a:srgbClr val="E3E6EA"/>
          </a:solidFill>
          <a:ln/>
        </p:spPr>
      </p:sp>
      <p:sp>
        <p:nvSpPr>
          <p:cNvPr id="36" name="Text 34"/>
          <p:cNvSpPr txBox="1"/>
          <p:nvPr/>
        </p:nvSpPr>
        <p:spPr>
          <a:xfrm>
            <a:off x="5800588" y="2252624"/>
            <a:ext cx="35067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GET</a:t>
            </a:r>
            <a:endParaRPr lang="en-US" sz="1200" dirty="0"/>
          </a:p>
        </p:txBody>
      </p:sp>
      <p:sp>
        <p:nvSpPr>
          <p:cNvPr id="37" name="Shape 35"/>
          <p:cNvSpPr/>
          <p:nvPr/>
        </p:nvSpPr>
        <p:spPr>
          <a:xfrm>
            <a:off x="6639276" y="2156978"/>
            <a:ext cx="2391522" cy="6309"/>
          </a:xfrm>
          <a:prstGeom prst="rect">
            <a:avLst/>
          </a:prstGeom>
          <a:solidFill>
            <a:srgbClr val="E3E6EA"/>
          </a:solidFill>
          <a:ln/>
        </p:spPr>
      </p:sp>
      <p:sp>
        <p:nvSpPr>
          <p:cNvPr id="38" name="Text 36"/>
          <p:cNvSpPr txBox="1"/>
          <p:nvPr/>
        </p:nvSpPr>
        <p:spPr>
          <a:xfrm>
            <a:off x="6778996" y="2257745"/>
            <a:ext cx="148452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Query string + chữ ký</a:t>
            </a:r>
            <a:endParaRPr lang="en-US" sz="1150" dirty="0"/>
          </a:p>
        </p:txBody>
      </p:sp>
      <p:sp>
        <p:nvSpPr>
          <p:cNvPr id="39" name="Shape 37"/>
          <p:cNvSpPr/>
          <p:nvPr/>
        </p:nvSpPr>
        <p:spPr>
          <a:xfrm>
            <a:off x="9030797" y="2156978"/>
            <a:ext cx="2500518" cy="6309"/>
          </a:xfrm>
          <a:prstGeom prst="rect">
            <a:avLst/>
          </a:prstGeom>
          <a:solidFill>
            <a:srgbClr val="E3E6EA"/>
          </a:solidFill>
          <a:ln/>
        </p:spPr>
      </p:sp>
      <p:sp>
        <p:nvSpPr>
          <p:cNvPr id="40" name="Text 38"/>
          <p:cNvSpPr txBox="1"/>
          <p:nvPr/>
        </p:nvSpPr>
        <p:spPr>
          <a:xfrm>
            <a:off x="9170426" y="2257745"/>
            <a:ext cx="197089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Chuyển trang, chỉ để hiển thị</a:t>
            </a:r>
            <a:endParaRPr lang="en-US" sz="1150" dirty="0"/>
          </a:p>
        </p:txBody>
      </p:sp>
      <p:sp>
        <p:nvSpPr>
          <p:cNvPr id="41" name="Shape 39"/>
          <p:cNvSpPr/>
          <p:nvPr/>
        </p:nvSpPr>
        <p:spPr>
          <a:xfrm>
            <a:off x="660380" y="2544318"/>
            <a:ext cx="434797" cy="6309"/>
          </a:xfrm>
          <a:prstGeom prst="rect">
            <a:avLst/>
          </a:prstGeom>
          <a:solidFill>
            <a:srgbClr val="E3E6EA"/>
          </a:solidFill>
          <a:ln/>
        </p:spPr>
      </p:sp>
      <p:sp>
        <p:nvSpPr>
          <p:cNvPr id="42" name="Text 40"/>
          <p:cNvSpPr txBox="1"/>
          <p:nvPr/>
        </p:nvSpPr>
        <p:spPr>
          <a:xfrm>
            <a:off x="800100" y="2645085"/>
            <a:ext cx="15746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3</a:t>
            </a:r>
            <a:endParaRPr lang="en-US" sz="1150" dirty="0"/>
          </a:p>
        </p:txBody>
      </p:sp>
      <p:sp>
        <p:nvSpPr>
          <p:cNvPr id="43" name="Shape 41"/>
          <p:cNvSpPr/>
          <p:nvPr/>
        </p:nvSpPr>
        <p:spPr>
          <a:xfrm>
            <a:off x="1095177" y="2544318"/>
            <a:ext cx="1848002" cy="6309"/>
          </a:xfrm>
          <a:prstGeom prst="rect">
            <a:avLst/>
          </a:prstGeom>
          <a:solidFill>
            <a:srgbClr val="E3E6EA"/>
          </a:solidFill>
          <a:ln/>
        </p:spPr>
      </p:sp>
      <p:sp>
        <p:nvSpPr>
          <p:cNvPr id="44" name="Text 42"/>
          <p:cNvSpPr txBox="1"/>
          <p:nvPr/>
        </p:nvSpPr>
        <p:spPr>
          <a:xfrm>
            <a:off x="1234806" y="2645085"/>
            <a:ext cx="31967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IPN</a:t>
            </a:r>
            <a:endParaRPr lang="en-US" sz="1150" dirty="0"/>
          </a:p>
        </p:txBody>
      </p:sp>
      <p:sp>
        <p:nvSpPr>
          <p:cNvPr id="45" name="Shape 43"/>
          <p:cNvSpPr/>
          <p:nvPr/>
        </p:nvSpPr>
        <p:spPr>
          <a:xfrm>
            <a:off x="2943179" y="2544318"/>
            <a:ext cx="2717688" cy="6309"/>
          </a:xfrm>
          <a:prstGeom prst="rect">
            <a:avLst/>
          </a:prstGeom>
          <a:solidFill>
            <a:srgbClr val="E3E6EA"/>
          </a:solidFill>
          <a:ln/>
        </p:spPr>
      </p:sp>
      <p:sp>
        <p:nvSpPr>
          <p:cNvPr id="46" name="Text 44"/>
          <p:cNvSpPr txBox="1"/>
          <p:nvPr/>
        </p:nvSpPr>
        <p:spPr>
          <a:xfrm>
            <a:off x="3082808" y="2645085"/>
            <a:ext cx="240898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Server VNPAY → Payment Service</a:t>
            </a:r>
            <a:endParaRPr lang="en-US" sz="1150" dirty="0"/>
          </a:p>
        </p:txBody>
      </p:sp>
      <p:sp>
        <p:nvSpPr>
          <p:cNvPr id="47" name="Shape 45"/>
          <p:cNvSpPr/>
          <p:nvPr/>
        </p:nvSpPr>
        <p:spPr>
          <a:xfrm>
            <a:off x="5660868" y="2544318"/>
            <a:ext cx="978408" cy="6309"/>
          </a:xfrm>
          <a:prstGeom prst="rect">
            <a:avLst/>
          </a:prstGeom>
          <a:solidFill>
            <a:srgbClr val="E3E6EA"/>
          </a:solidFill>
          <a:ln/>
        </p:spPr>
      </p:sp>
      <p:sp>
        <p:nvSpPr>
          <p:cNvPr id="48" name="Text 46"/>
          <p:cNvSpPr txBox="1"/>
          <p:nvPr/>
        </p:nvSpPr>
        <p:spPr>
          <a:xfrm>
            <a:off x="5800588" y="2639964"/>
            <a:ext cx="35067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GET</a:t>
            </a:r>
            <a:endParaRPr lang="en-US" sz="1200" dirty="0"/>
          </a:p>
        </p:txBody>
      </p:sp>
      <p:sp>
        <p:nvSpPr>
          <p:cNvPr id="49" name="Shape 47"/>
          <p:cNvSpPr/>
          <p:nvPr/>
        </p:nvSpPr>
        <p:spPr>
          <a:xfrm>
            <a:off x="6639276" y="2544318"/>
            <a:ext cx="2391522" cy="6309"/>
          </a:xfrm>
          <a:prstGeom prst="rect">
            <a:avLst/>
          </a:prstGeom>
          <a:solidFill>
            <a:srgbClr val="E3E6EA"/>
          </a:solidFill>
          <a:ln/>
        </p:spPr>
      </p:sp>
      <p:sp>
        <p:nvSpPr>
          <p:cNvPr id="50" name="Text 48"/>
          <p:cNvSpPr txBox="1"/>
          <p:nvPr/>
        </p:nvSpPr>
        <p:spPr>
          <a:xfrm>
            <a:off x="6778996" y="2645085"/>
            <a:ext cx="195288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Query string, mình trả JSON</a:t>
            </a:r>
            <a:endParaRPr lang="en-US" sz="1150" dirty="0"/>
          </a:p>
        </p:txBody>
      </p:sp>
      <p:sp>
        <p:nvSpPr>
          <p:cNvPr id="51" name="Shape 49"/>
          <p:cNvSpPr/>
          <p:nvPr/>
        </p:nvSpPr>
        <p:spPr>
          <a:xfrm>
            <a:off x="9030797" y="2544318"/>
            <a:ext cx="2500518" cy="6309"/>
          </a:xfrm>
          <a:prstGeom prst="rect">
            <a:avLst/>
          </a:prstGeom>
          <a:solidFill>
            <a:srgbClr val="E3E6EA"/>
          </a:solidFill>
          <a:ln/>
        </p:spPr>
      </p:sp>
      <p:sp>
        <p:nvSpPr>
          <p:cNvPr id="52" name="Text 50"/>
          <p:cNvSpPr txBox="1"/>
          <p:nvPr/>
        </p:nvSpPr>
        <p:spPr>
          <a:xfrm>
            <a:off x="9170426" y="2645085"/>
            <a:ext cx="155512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Webhook, bất đồng bộ</a:t>
            </a:r>
            <a:endParaRPr lang="en-US" sz="1150" dirty="0"/>
          </a:p>
        </p:txBody>
      </p:sp>
      <p:sp>
        <p:nvSpPr>
          <p:cNvPr id="53" name="Shape 51"/>
          <p:cNvSpPr/>
          <p:nvPr/>
        </p:nvSpPr>
        <p:spPr>
          <a:xfrm>
            <a:off x="660380" y="2931658"/>
            <a:ext cx="434797" cy="6309"/>
          </a:xfrm>
          <a:prstGeom prst="rect">
            <a:avLst/>
          </a:prstGeom>
          <a:solidFill>
            <a:srgbClr val="E3E6EA"/>
          </a:solidFill>
          <a:ln/>
        </p:spPr>
      </p:sp>
      <p:sp>
        <p:nvSpPr>
          <p:cNvPr id="54" name="Text 52"/>
          <p:cNvSpPr txBox="1"/>
          <p:nvPr/>
        </p:nvSpPr>
        <p:spPr>
          <a:xfrm>
            <a:off x="800100" y="3032425"/>
            <a:ext cx="15746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4</a:t>
            </a:r>
            <a:endParaRPr lang="en-US" sz="1150" dirty="0"/>
          </a:p>
        </p:txBody>
      </p:sp>
      <p:sp>
        <p:nvSpPr>
          <p:cNvPr id="55" name="Shape 53"/>
          <p:cNvSpPr/>
          <p:nvPr/>
        </p:nvSpPr>
        <p:spPr>
          <a:xfrm>
            <a:off x="1095177" y="2931658"/>
            <a:ext cx="1848002" cy="6309"/>
          </a:xfrm>
          <a:prstGeom prst="rect">
            <a:avLst/>
          </a:prstGeom>
          <a:solidFill>
            <a:srgbClr val="E3E6EA"/>
          </a:solidFill>
          <a:ln/>
        </p:spPr>
      </p:sp>
      <p:sp>
        <p:nvSpPr>
          <p:cNvPr id="56" name="Text 54"/>
          <p:cNvSpPr txBox="1"/>
          <p:nvPr/>
        </p:nvSpPr>
        <p:spPr>
          <a:xfrm>
            <a:off x="1234806" y="3032425"/>
            <a:ext cx="57140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querydr</a:t>
            </a:r>
            <a:endParaRPr lang="en-US" sz="1150" dirty="0"/>
          </a:p>
        </p:txBody>
      </p:sp>
      <p:sp>
        <p:nvSpPr>
          <p:cNvPr id="57" name="Shape 55"/>
          <p:cNvSpPr/>
          <p:nvPr/>
        </p:nvSpPr>
        <p:spPr>
          <a:xfrm>
            <a:off x="2943179" y="2931658"/>
            <a:ext cx="2717688" cy="6309"/>
          </a:xfrm>
          <a:prstGeom prst="rect">
            <a:avLst/>
          </a:prstGeom>
          <a:solidFill>
            <a:srgbClr val="E3E6EA"/>
          </a:solidFill>
          <a:ln/>
        </p:spPr>
      </p:sp>
      <p:sp>
        <p:nvSpPr>
          <p:cNvPr id="58" name="Text 56"/>
          <p:cNvSpPr txBox="1"/>
          <p:nvPr/>
        </p:nvSpPr>
        <p:spPr>
          <a:xfrm>
            <a:off x="3082808" y="3032425"/>
            <a:ext cx="219684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Payment Service → API VNPAY</a:t>
            </a:r>
            <a:endParaRPr lang="en-US" sz="1150" dirty="0"/>
          </a:p>
        </p:txBody>
      </p:sp>
      <p:sp>
        <p:nvSpPr>
          <p:cNvPr id="59" name="Shape 57"/>
          <p:cNvSpPr/>
          <p:nvPr/>
        </p:nvSpPr>
        <p:spPr>
          <a:xfrm>
            <a:off x="5660868" y="2931658"/>
            <a:ext cx="978408" cy="6309"/>
          </a:xfrm>
          <a:prstGeom prst="rect">
            <a:avLst/>
          </a:prstGeom>
          <a:solidFill>
            <a:srgbClr val="E3E6EA"/>
          </a:solidFill>
          <a:ln/>
        </p:spPr>
      </p:sp>
      <p:sp>
        <p:nvSpPr>
          <p:cNvPr id="60" name="Text 58"/>
          <p:cNvSpPr txBox="1"/>
          <p:nvPr/>
        </p:nvSpPr>
        <p:spPr>
          <a:xfrm>
            <a:off x="5800588" y="3027304"/>
            <a:ext cx="442021"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POST</a:t>
            </a:r>
            <a:endParaRPr lang="en-US" sz="1200" dirty="0"/>
          </a:p>
        </p:txBody>
      </p:sp>
      <p:sp>
        <p:nvSpPr>
          <p:cNvPr id="61" name="Shape 59"/>
          <p:cNvSpPr/>
          <p:nvPr/>
        </p:nvSpPr>
        <p:spPr>
          <a:xfrm>
            <a:off x="6639276" y="2931658"/>
            <a:ext cx="2391522" cy="6309"/>
          </a:xfrm>
          <a:prstGeom prst="rect">
            <a:avLst/>
          </a:prstGeom>
          <a:solidFill>
            <a:srgbClr val="E3E6EA"/>
          </a:solidFill>
          <a:ln/>
        </p:spPr>
      </p:sp>
      <p:sp>
        <p:nvSpPr>
          <p:cNvPr id="62" name="Text 60"/>
          <p:cNvSpPr txBox="1"/>
          <p:nvPr/>
        </p:nvSpPr>
        <p:spPr>
          <a:xfrm>
            <a:off x="6778996" y="3032425"/>
            <a:ext cx="128573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JSON cả hai chiều</a:t>
            </a:r>
            <a:endParaRPr lang="en-US" sz="1150" dirty="0"/>
          </a:p>
        </p:txBody>
      </p:sp>
      <p:sp>
        <p:nvSpPr>
          <p:cNvPr id="63" name="Shape 61"/>
          <p:cNvSpPr/>
          <p:nvPr/>
        </p:nvSpPr>
        <p:spPr>
          <a:xfrm>
            <a:off x="9030797" y="2931658"/>
            <a:ext cx="2500518" cy="6309"/>
          </a:xfrm>
          <a:prstGeom prst="rect">
            <a:avLst/>
          </a:prstGeom>
          <a:solidFill>
            <a:srgbClr val="E3E6EA"/>
          </a:solidFill>
          <a:ln/>
        </p:spPr>
      </p:sp>
      <p:sp>
        <p:nvSpPr>
          <p:cNvPr id="64" name="Text 62"/>
          <p:cNvSpPr txBox="1"/>
          <p:nvPr/>
        </p:nvSpPr>
        <p:spPr>
          <a:xfrm>
            <a:off x="9170426" y="3032425"/>
            <a:ext cx="190213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Request/response, đồng bộ</a:t>
            </a:r>
            <a:endParaRPr lang="en-US" sz="1150" dirty="0"/>
          </a:p>
        </p:txBody>
      </p:sp>
      <p:sp>
        <p:nvSpPr>
          <p:cNvPr id="65" name="Shape 63"/>
          <p:cNvSpPr/>
          <p:nvPr/>
        </p:nvSpPr>
        <p:spPr>
          <a:xfrm>
            <a:off x="660380" y="3493648"/>
            <a:ext cx="10870936" cy="400050"/>
          </a:xfrm>
          <a:prstGeom prst="roundRect">
            <a:avLst>
              <a:gd name="adj" fmla="val 19040"/>
            </a:avLst>
          </a:prstGeom>
          <a:solidFill>
            <a:srgbClr val="FFFFFF"/>
          </a:solidFill>
          <a:ln w="6350">
            <a:solidFill>
              <a:srgbClr val="E3E6EA"/>
            </a:solidFill>
            <a:prstDash val="solid"/>
          </a:ln>
        </p:spPr>
      </p:sp>
      <p:sp>
        <p:nvSpPr>
          <p:cNvPr id="66" name="Shape 64"/>
          <p:cNvSpPr/>
          <p:nvPr/>
        </p:nvSpPr>
        <p:spPr>
          <a:xfrm>
            <a:off x="780989" y="3588837"/>
            <a:ext cx="982614" cy="209580"/>
          </a:xfrm>
          <a:prstGeom prst="roundRect">
            <a:avLst>
              <a:gd name="adj" fmla="val 50000"/>
            </a:avLst>
          </a:prstGeom>
          <a:solidFill>
            <a:srgbClr val="FDE8E6"/>
          </a:solidFill>
          <a:ln/>
        </p:spPr>
      </p:sp>
      <p:sp>
        <p:nvSpPr>
          <p:cNvPr id="67" name="Text 65"/>
          <p:cNvSpPr txBox="1"/>
          <p:nvPr/>
        </p:nvSpPr>
        <p:spPr>
          <a:xfrm>
            <a:off x="857250" y="362011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68" name="Text 66"/>
          <p:cNvSpPr txBox="1"/>
          <p:nvPr/>
        </p:nvSpPr>
        <p:spPr>
          <a:xfrm>
            <a:off x="1865285" y="3593135"/>
            <a:ext cx="5037247"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Cả 4 kênh, phương thức HTTP và định dạng dữ liệu đều theo tài liệu VNPAY</a:t>
            </a:r>
            <a:endParaRPr lang="en-US" sz="1100" dirty="0"/>
          </a:p>
        </p:txBody>
      </p:sp>
      <p:sp>
        <p:nvSpPr>
          <p:cNvPr id="69" name="Shape 67"/>
          <p:cNvSpPr/>
          <p:nvPr/>
        </p:nvSpPr>
        <p:spPr>
          <a:xfrm>
            <a:off x="660380" y="3969868"/>
            <a:ext cx="10870936" cy="400050"/>
          </a:xfrm>
          <a:prstGeom prst="roundRect">
            <a:avLst>
              <a:gd name="adj" fmla="val 19040"/>
            </a:avLst>
          </a:prstGeom>
          <a:solidFill>
            <a:srgbClr val="FFFFFF"/>
          </a:solidFill>
          <a:ln w="6350">
            <a:solidFill>
              <a:srgbClr val="E3E6EA"/>
            </a:solidFill>
            <a:prstDash val="solid"/>
          </a:ln>
        </p:spPr>
      </p:sp>
      <p:sp>
        <p:nvSpPr>
          <p:cNvPr id="70" name="Shape 68"/>
          <p:cNvSpPr/>
          <p:nvPr/>
        </p:nvSpPr>
        <p:spPr>
          <a:xfrm>
            <a:off x="780989" y="4065057"/>
            <a:ext cx="723748" cy="209580"/>
          </a:xfrm>
          <a:prstGeom prst="roundRect">
            <a:avLst>
              <a:gd name="adj" fmla="val 50000"/>
            </a:avLst>
          </a:prstGeom>
          <a:solidFill>
            <a:srgbClr val="DEF3E8"/>
          </a:solidFill>
          <a:ln/>
        </p:spPr>
      </p:sp>
      <p:sp>
        <p:nvSpPr>
          <p:cNvPr id="71" name="Text 69"/>
          <p:cNvSpPr txBox="1"/>
          <p:nvPr/>
        </p:nvSpPr>
        <p:spPr>
          <a:xfrm>
            <a:off x="857250" y="409632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72" name="Text 70"/>
          <p:cNvSpPr txBox="1"/>
          <p:nvPr/>
        </p:nvSpPr>
        <p:spPr>
          <a:xfrm>
            <a:off x="1606418" y="4069446"/>
            <a:ext cx="4034058"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Kênh 4 không bắt buộc. Mình dùng để hỏi lại khi IPN chưa về</a:t>
            </a:r>
            <a:endParaRPr lang="en-US" sz="1100" dirty="0"/>
          </a:p>
        </p:txBody>
      </p:sp>
      <p:sp>
        <p:nvSpPr>
          <p:cNvPr id="73" name="Text 7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74" name="Text 72"/>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43021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Giao tiếp với VNPAY</a:t>
            </a:r>
            <a:endParaRPr lang="en-US" sz="1100" dirty="0"/>
          </a:p>
        </p:txBody>
      </p:sp>
      <p:sp>
        <p:nvSpPr>
          <p:cNvPr id="3" name="Text 1"/>
          <p:cNvSpPr txBox="1"/>
          <p:nvPr/>
        </p:nvSpPr>
        <p:spPr>
          <a:xfrm>
            <a:off x="660380" y="643829"/>
            <a:ext cx="682947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Một lần thanh toán đi qua những đâu</a:t>
            </a:r>
            <a:endParaRPr lang="en-US" sz="3000" dirty="0"/>
          </a:p>
        </p:txBody>
      </p:sp>
      <p:sp>
        <p:nvSpPr>
          <p:cNvPr id="4" name="Shape 2"/>
          <p:cNvSpPr/>
          <p:nvPr/>
        </p:nvSpPr>
        <p:spPr>
          <a:xfrm>
            <a:off x="660380" y="1347368"/>
            <a:ext cx="10870936" cy="647670"/>
          </a:xfrm>
          <a:prstGeom prst="roundRect">
            <a:avLst>
              <a:gd name="adj" fmla="val 15685"/>
            </a:avLst>
          </a:prstGeom>
          <a:solidFill>
            <a:srgbClr val="FFFFFF"/>
          </a:solidFill>
          <a:ln w="6350">
            <a:solidFill>
              <a:srgbClr val="E3E6EA"/>
            </a:solidFill>
            <a:prstDash val="solid"/>
          </a:ln>
        </p:spPr>
      </p:sp>
      <p:sp>
        <p:nvSpPr>
          <p:cNvPr id="5" name="Shape 3"/>
          <p:cNvSpPr/>
          <p:nvPr/>
        </p:nvSpPr>
        <p:spPr>
          <a:xfrm>
            <a:off x="844540" y="1493398"/>
            <a:ext cx="355610" cy="355610"/>
          </a:xfrm>
          <a:prstGeom prst="roundRect">
            <a:avLst>
              <a:gd name="adj" fmla="val 21419"/>
            </a:avLst>
          </a:prstGeom>
          <a:solidFill>
            <a:srgbClr val="DDE3EA"/>
          </a:solidFill>
          <a:ln/>
        </p:spPr>
      </p:sp>
      <p:sp>
        <p:nvSpPr>
          <p:cNvPr id="6" name="Text 4"/>
          <p:cNvSpPr txBox="1"/>
          <p:nvPr/>
        </p:nvSpPr>
        <p:spPr>
          <a:xfrm>
            <a:off x="934608" y="156289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1</a:t>
            </a:r>
            <a:endParaRPr lang="en-US" sz="1300" dirty="0"/>
          </a:p>
        </p:txBody>
      </p:sp>
      <p:sp>
        <p:nvSpPr>
          <p:cNvPr id="7" name="Text 5"/>
          <p:cNvSpPr txBox="1"/>
          <p:nvPr/>
        </p:nvSpPr>
        <p:spPr>
          <a:xfrm>
            <a:off x="1377909" y="1583466"/>
            <a:ext cx="1168237"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Web → Payment</a:t>
            </a:r>
            <a:endParaRPr lang="en-US" sz="1100" dirty="0"/>
          </a:p>
        </p:txBody>
      </p:sp>
      <p:sp>
        <p:nvSpPr>
          <p:cNvPr id="8" name="Text 6"/>
          <p:cNvSpPr txBox="1"/>
          <p:nvPr/>
        </p:nvSpPr>
        <p:spPr>
          <a:xfrm>
            <a:off x="3397179" y="1557772"/>
            <a:ext cx="4496471"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POST /api/payments</a:t>
            </a:r>
            <a:pPr algn="l" indent="0" marL="0">
              <a:buNone/>
            </a:pPr>
            <a:r>
              <a:rPr lang="en-US" sz="1350" dirty="0">
                <a:solidFill>
                  <a:srgbClr val="111111"/>
                </a:solidFill>
                <a:latin typeface="Arial" pitchFamily="34" charset="0"/>
                <a:ea typeface="Arial" pitchFamily="34" charset="-122"/>
                <a:cs typeface="Arial" pitchFamily="34" charset="-120"/>
              </a:rPr>
              <a:t>: lưu đơn PENDING, ký, trả link</a:t>
            </a:r>
            <a:endParaRPr lang="en-US" sz="1350" dirty="0"/>
          </a:p>
        </p:txBody>
      </p:sp>
      <p:sp>
        <p:nvSpPr>
          <p:cNvPr id="9" name="Shape 7"/>
          <p:cNvSpPr/>
          <p:nvPr/>
        </p:nvSpPr>
        <p:spPr>
          <a:xfrm>
            <a:off x="10394808" y="1515618"/>
            <a:ext cx="952348" cy="311170"/>
          </a:xfrm>
          <a:prstGeom prst="roundRect">
            <a:avLst>
              <a:gd name="adj" fmla="val 49985"/>
            </a:avLst>
          </a:prstGeom>
          <a:solidFill>
            <a:srgbClr val="DEF3E8"/>
          </a:solidFill>
          <a:ln/>
        </p:spPr>
      </p:sp>
      <p:sp>
        <p:nvSpPr>
          <p:cNvPr id="10" name="Text 8"/>
          <p:cNvSpPr txBox="1"/>
          <p:nvPr/>
        </p:nvSpPr>
        <p:spPr>
          <a:xfrm>
            <a:off x="10521818" y="1583466"/>
            <a:ext cx="774588"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Mình chọn</a:t>
            </a:r>
            <a:endParaRPr lang="en-US" sz="1100" dirty="0"/>
          </a:p>
        </p:txBody>
      </p:sp>
      <p:sp>
        <p:nvSpPr>
          <p:cNvPr id="11" name="Shape 9"/>
          <p:cNvSpPr/>
          <p:nvPr/>
        </p:nvSpPr>
        <p:spPr>
          <a:xfrm>
            <a:off x="660380" y="2172797"/>
            <a:ext cx="10870936" cy="647670"/>
          </a:xfrm>
          <a:prstGeom prst="roundRect">
            <a:avLst>
              <a:gd name="adj" fmla="val 15685"/>
            </a:avLst>
          </a:prstGeom>
          <a:solidFill>
            <a:srgbClr val="FFFFFF"/>
          </a:solidFill>
          <a:ln w="6350">
            <a:solidFill>
              <a:srgbClr val="E3E6EA"/>
            </a:solidFill>
            <a:prstDash val="solid"/>
          </a:ln>
        </p:spPr>
      </p:sp>
      <p:sp>
        <p:nvSpPr>
          <p:cNvPr id="12" name="Shape 10"/>
          <p:cNvSpPr/>
          <p:nvPr/>
        </p:nvSpPr>
        <p:spPr>
          <a:xfrm>
            <a:off x="844540" y="2318918"/>
            <a:ext cx="355610" cy="355610"/>
          </a:xfrm>
          <a:prstGeom prst="roundRect">
            <a:avLst>
              <a:gd name="adj" fmla="val 21419"/>
            </a:avLst>
          </a:prstGeom>
          <a:solidFill>
            <a:srgbClr val="DDE3EA"/>
          </a:solidFill>
          <a:ln/>
        </p:spPr>
      </p:sp>
      <p:sp>
        <p:nvSpPr>
          <p:cNvPr id="13" name="Text 11"/>
          <p:cNvSpPr txBox="1"/>
          <p:nvPr/>
        </p:nvSpPr>
        <p:spPr>
          <a:xfrm>
            <a:off x="934608" y="2388321"/>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2</a:t>
            </a:r>
            <a:endParaRPr lang="en-US" sz="1300" dirty="0"/>
          </a:p>
        </p:txBody>
      </p:sp>
      <p:sp>
        <p:nvSpPr>
          <p:cNvPr id="14" name="Text 12"/>
          <p:cNvSpPr txBox="1"/>
          <p:nvPr/>
        </p:nvSpPr>
        <p:spPr>
          <a:xfrm>
            <a:off x="1377909" y="2408895"/>
            <a:ext cx="1513972"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Trình duyệt → VNPAY</a:t>
            </a:r>
            <a:endParaRPr lang="en-US" sz="1100" dirty="0"/>
          </a:p>
        </p:txBody>
      </p:sp>
      <p:sp>
        <p:nvSpPr>
          <p:cNvPr id="15" name="Text 13"/>
          <p:cNvSpPr txBox="1"/>
          <p:nvPr/>
        </p:nvSpPr>
        <p:spPr>
          <a:xfrm>
            <a:off x="3397179" y="2383201"/>
            <a:ext cx="5320162"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vpcpay.html?vnp_...</a:t>
            </a:r>
            <a:pPr algn="l" indent="0" marL="0">
              <a:buNone/>
            </a:pPr>
            <a:r>
              <a:rPr lang="en-US" sz="1350" dirty="0">
                <a:solidFill>
                  <a:srgbClr val="111111"/>
                </a:solidFill>
                <a:latin typeface="Arial" pitchFamily="34" charset="0"/>
                <a:ea typeface="Arial" pitchFamily="34" charset="-122"/>
                <a:cs typeface="Arial" pitchFamily="34" charset="-120"/>
              </a:rPr>
              <a:t>: khách nhập thẻ trên trang VNPAY</a:t>
            </a:r>
            <a:endParaRPr lang="en-US" sz="1350" dirty="0"/>
          </a:p>
        </p:txBody>
      </p:sp>
      <p:sp>
        <p:nvSpPr>
          <p:cNvPr id="16" name="Shape 14"/>
          <p:cNvSpPr/>
          <p:nvPr/>
        </p:nvSpPr>
        <p:spPr>
          <a:xfrm>
            <a:off x="10635021" y="2341138"/>
            <a:ext cx="712135" cy="311170"/>
          </a:xfrm>
          <a:prstGeom prst="roundRect">
            <a:avLst>
              <a:gd name="adj" fmla="val 49985"/>
            </a:avLst>
          </a:prstGeom>
          <a:solidFill>
            <a:srgbClr val="FDE8E6"/>
          </a:solidFill>
          <a:ln/>
        </p:spPr>
      </p:sp>
      <p:sp>
        <p:nvSpPr>
          <p:cNvPr id="17" name="Text 15"/>
          <p:cNvSpPr txBox="1"/>
          <p:nvPr/>
        </p:nvSpPr>
        <p:spPr>
          <a:xfrm>
            <a:off x="10762031" y="2408895"/>
            <a:ext cx="534375"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VNPAY</a:t>
            </a:r>
            <a:endParaRPr lang="en-US" sz="1100" dirty="0"/>
          </a:p>
        </p:txBody>
      </p:sp>
      <p:sp>
        <p:nvSpPr>
          <p:cNvPr id="18" name="Shape 16"/>
          <p:cNvSpPr/>
          <p:nvPr/>
        </p:nvSpPr>
        <p:spPr>
          <a:xfrm>
            <a:off x="660380" y="2998318"/>
            <a:ext cx="10870936" cy="647670"/>
          </a:xfrm>
          <a:prstGeom prst="roundRect">
            <a:avLst>
              <a:gd name="adj" fmla="val 15685"/>
            </a:avLst>
          </a:prstGeom>
          <a:solidFill>
            <a:srgbClr val="ECF2FF"/>
          </a:solidFill>
          <a:ln w="6350">
            <a:solidFill>
              <a:srgbClr val="E3E6EA"/>
            </a:solidFill>
            <a:prstDash val="solid"/>
          </a:ln>
        </p:spPr>
      </p:sp>
      <p:sp>
        <p:nvSpPr>
          <p:cNvPr id="19" name="Shape 17"/>
          <p:cNvSpPr/>
          <p:nvPr/>
        </p:nvSpPr>
        <p:spPr>
          <a:xfrm>
            <a:off x="844540" y="3144347"/>
            <a:ext cx="355610" cy="355610"/>
          </a:xfrm>
          <a:prstGeom prst="roundRect">
            <a:avLst>
              <a:gd name="adj" fmla="val 21419"/>
            </a:avLst>
          </a:prstGeom>
          <a:solidFill>
            <a:srgbClr val="0066FF"/>
          </a:solidFill>
          <a:ln/>
        </p:spPr>
      </p:sp>
      <p:sp>
        <p:nvSpPr>
          <p:cNvPr id="20" name="Text 18"/>
          <p:cNvSpPr txBox="1"/>
          <p:nvPr/>
        </p:nvSpPr>
        <p:spPr>
          <a:xfrm>
            <a:off x="934608" y="3213842"/>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3</a:t>
            </a:r>
            <a:endParaRPr lang="en-US" sz="1300" dirty="0"/>
          </a:p>
        </p:txBody>
      </p:sp>
      <p:sp>
        <p:nvSpPr>
          <p:cNvPr id="21" name="Text 19"/>
          <p:cNvSpPr txBox="1"/>
          <p:nvPr/>
        </p:nvSpPr>
        <p:spPr>
          <a:xfrm>
            <a:off x="1377909" y="3234416"/>
            <a:ext cx="1331458"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Payment</a:t>
            </a:r>
            <a:endParaRPr lang="en-US" sz="1100" dirty="0"/>
          </a:p>
        </p:txBody>
      </p:sp>
      <p:sp>
        <p:nvSpPr>
          <p:cNvPr id="22" name="Text 20"/>
          <p:cNvSpPr txBox="1"/>
          <p:nvPr/>
        </p:nvSpPr>
        <p:spPr>
          <a:xfrm>
            <a:off x="3397179" y="3208721"/>
            <a:ext cx="4506895"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/vnpay/ipn?vnp_...</a:t>
            </a:r>
            <a:pPr algn="l" indent="0" marL="0">
              <a:buNone/>
            </a:pPr>
            <a:r>
              <a:rPr lang="en-US" sz="1350" dirty="0">
                <a:solidFill>
                  <a:srgbClr val="111111"/>
                </a:solidFill>
                <a:latin typeface="Arial" pitchFamily="34" charset="0"/>
                <a:ea typeface="Arial" pitchFamily="34" charset="-122"/>
                <a:cs typeface="Arial" pitchFamily="34" charset="-120"/>
              </a:rPr>
              <a:t>: cập nhật PAID, trả JSON</a:t>
            </a:r>
            <a:endParaRPr lang="en-US" sz="1350" dirty="0"/>
          </a:p>
        </p:txBody>
      </p:sp>
      <p:sp>
        <p:nvSpPr>
          <p:cNvPr id="23" name="Shape 21"/>
          <p:cNvSpPr/>
          <p:nvPr/>
        </p:nvSpPr>
        <p:spPr>
          <a:xfrm>
            <a:off x="10635021" y="3166567"/>
            <a:ext cx="712135" cy="311170"/>
          </a:xfrm>
          <a:prstGeom prst="roundRect">
            <a:avLst>
              <a:gd name="adj" fmla="val 49985"/>
            </a:avLst>
          </a:prstGeom>
          <a:solidFill>
            <a:srgbClr val="FDE8E6"/>
          </a:solidFill>
          <a:ln/>
        </p:spPr>
      </p:sp>
      <p:sp>
        <p:nvSpPr>
          <p:cNvPr id="24" name="Text 22"/>
          <p:cNvSpPr txBox="1"/>
          <p:nvPr/>
        </p:nvSpPr>
        <p:spPr>
          <a:xfrm>
            <a:off x="10762031" y="3234416"/>
            <a:ext cx="534375"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VNPAY</a:t>
            </a:r>
            <a:endParaRPr lang="en-US" sz="1100" dirty="0"/>
          </a:p>
        </p:txBody>
      </p:sp>
      <p:sp>
        <p:nvSpPr>
          <p:cNvPr id="25" name="Shape 23"/>
          <p:cNvSpPr/>
          <p:nvPr/>
        </p:nvSpPr>
        <p:spPr>
          <a:xfrm>
            <a:off x="660380" y="3823838"/>
            <a:ext cx="10870936" cy="647670"/>
          </a:xfrm>
          <a:prstGeom prst="roundRect">
            <a:avLst>
              <a:gd name="adj" fmla="val 15685"/>
            </a:avLst>
          </a:prstGeom>
          <a:solidFill>
            <a:srgbClr val="FFFFFF"/>
          </a:solidFill>
          <a:ln w="6350">
            <a:solidFill>
              <a:srgbClr val="E3E6EA"/>
            </a:solidFill>
            <a:prstDash val="solid"/>
          </a:ln>
        </p:spPr>
      </p:sp>
      <p:sp>
        <p:nvSpPr>
          <p:cNvPr id="26" name="Shape 24"/>
          <p:cNvSpPr/>
          <p:nvPr/>
        </p:nvSpPr>
        <p:spPr>
          <a:xfrm>
            <a:off x="844540" y="3969868"/>
            <a:ext cx="355610" cy="355610"/>
          </a:xfrm>
          <a:prstGeom prst="roundRect">
            <a:avLst>
              <a:gd name="adj" fmla="val 21419"/>
            </a:avLst>
          </a:prstGeom>
          <a:solidFill>
            <a:srgbClr val="DDE3EA"/>
          </a:solidFill>
          <a:ln/>
        </p:spPr>
      </p:sp>
      <p:sp>
        <p:nvSpPr>
          <p:cNvPr id="27" name="Text 25"/>
          <p:cNvSpPr txBox="1"/>
          <p:nvPr/>
        </p:nvSpPr>
        <p:spPr>
          <a:xfrm>
            <a:off x="934608" y="4039271"/>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4</a:t>
            </a:r>
            <a:endParaRPr lang="en-US" sz="1300" dirty="0"/>
          </a:p>
        </p:txBody>
      </p:sp>
      <p:sp>
        <p:nvSpPr>
          <p:cNvPr id="28" name="Text 26"/>
          <p:cNvSpPr txBox="1"/>
          <p:nvPr/>
        </p:nvSpPr>
        <p:spPr>
          <a:xfrm>
            <a:off x="1377909" y="4059845"/>
            <a:ext cx="1478402"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trình duyệt</a:t>
            </a:r>
            <a:endParaRPr lang="en-US" sz="1100" dirty="0"/>
          </a:p>
        </p:txBody>
      </p:sp>
      <p:sp>
        <p:nvSpPr>
          <p:cNvPr id="29" name="Text 27"/>
          <p:cNvSpPr txBox="1"/>
          <p:nvPr/>
        </p:nvSpPr>
        <p:spPr>
          <a:xfrm>
            <a:off x="3397179" y="4034150"/>
            <a:ext cx="4342943"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/vnpay/return?vnp_...</a:t>
            </a:r>
            <a:pPr algn="l" indent="0" marL="0">
              <a:buNone/>
            </a:pPr>
            <a:r>
              <a:rPr lang="en-US" sz="1350" dirty="0">
                <a:solidFill>
                  <a:srgbClr val="111111"/>
                </a:solidFill>
                <a:latin typeface="Arial" pitchFamily="34" charset="0"/>
                <a:ea typeface="Arial" pitchFamily="34" charset="-122"/>
                <a:cs typeface="Arial" pitchFamily="34" charset="-120"/>
              </a:rPr>
              <a:t>: chỉ hiển thị kết quả</a:t>
            </a:r>
            <a:endParaRPr lang="en-US" sz="1350" dirty="0"/>
          </a:p>
        </p:txBody>
      </p:sp>
      <p:sp>
        <p:nvSpPr>
          <p:cNvPr id="30" name="Shape 28"/>
          <p:cNvSpPr/>
          <p:nvPr/>
        </p:nvSpPr>
        <p:spPr>
          <a:xfrm>
            <a:off x="10635021" y="3992088"/>
            <a:ext cx="712135" cy="311170"/>
          </a:xfrm>
          <a:prstGeom prst="roundRect">
            <a:avLst>
              <a:gd name="adj" fmla="val 49985"/>
            </a:avLst>
          </a:prstGeom>
          <a:solidFill>
            <a:srgbClr val="FDE8E6"/>
          </a:solidFill>
          <a:ln/>
        </p:spPr>
      </p:sp>
      <p:sp>
        <p:nvSpPr>
          <p:cNvPr id="31" name="Text 29"/>
          <p:cNvSpPr txBox="1"/>
          <p:nvPr/>
        </p:nvSpPr>
        <p:spPr>
          <a:xfrm>
            <a:off x="10762031" y="4059845"/>
            <a:ext cx="534375"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VNPAY</a:t>
            </a:r>
            <a:endParaRPr lang="en-US" sz="1100" dirty="0"/>
          </a:p>
        </p:txBody>
      </p:sp>
      <p:sp>
        <p:nvSpPr>
          <p:cNvPr id="32" name="Shape 30"/>
          <p:cNvSpPr/>
          <p:nvPr/>
        </p:nvSpPr>
        <p:spPr>
          <a:xfrm>
            <a:off x="660380" y="4649267"/>
            <a:ext cx="10870936" cy="647670"/>
          </a:xfrm>
          <a:prstGeom prst="roundRect">
            <a:avLst>
              <a:gd name="adj" fmla="val 15685"/>
            </a:avLst>
          </a:prstGeom>
          <a:solidFill>
            <a:srgbClr val="ECF2FF"/>
          </a:solidFill>
          <a:ln w="6350">
            <a:solidFill>
              <a:srgbClr val="E3E6EA"/>
            </a:solidFill>
            <a:prstDash val="solid"/>
          </a:ln>
        </p:spPr>
      </p:sp>
      <p:sp>
        <p:nvSpPr>
          <p:cNvPr id="33" name="Shape 31"/>
          <p:cNvSpPr/>
          <p:nvPr/>
        </p:nvSpPr>
        <p:spPr>
          <a:xfrm>
            <a:off x="844540" y="4795296"/>
            <a:ext cx="355610" cy="355610"/>
          </a:xfrm>
          <a:prstGeom prst="roundRect">
            <a:avLst>
              <a:gd name="adj" fmla="val 21419"/>
            </a:avLst>
          </a:prstGeom>
          <a:solidFill>
            <a:srgbClr val="0066FF"/>
          </a:solidFill>
          <a:ln/>
        </p:spPr>
      </p:sp>
      <p:sp>
        <p:nvSpPr>
          <p:cNvPr id="34" name="Text 32"/>
          <p:cNvSpPr txBox="1"/>
          <p:nvPr/>
        </p:nvSpPr>
        <p:spPr>
          <a:xfrm>
            <a:off x="934608" y="4864791"/>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5</a:t>
            </a:r>
            <a:endParaRPr lang="en-US" sz="1300" dirty="0"/>
          </a:p>
        </p:txBody>
      </p:sp>
      <p:sp>
        <p:nvSpPr>
          <p:cNvPr id="35" name="Text 33"/>
          <p:cNvSpPr txBox="1"/>
          <p:nvPr/>
        </p:nvSpPr>
        <p:spPr>
          <a:xfrm>
            <a:off x="1377909" y="4885365"/>
            <a:ext cx="1333927"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Payment → VNPAY</a:t>
            </a:r>
            <a:endParaRPr lang="en-US" sz="1100" dirty="0"/>
          </a:p>
        </p:txBody>
      </p:sp>
      <p:sp>
        <p:nvSpPr>
          <p:cNvPr id="36" name="Text 34"/>
          <p:cNvSpPr txBox="1"/>
          <p:nvPr/>
        </p:nvSpPr>
        <p:spPr>
          <a:xfrm>
            <a:off x="3397179" y="4859670"/>
            <a:ext cx="3955512"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POST querydr</a:t>
            </a:r>
            <a:pPr algn="l" indent="0" marL="0">
              <a:buNone/>
            </a:pPr>
            <a:r>
              <a:rPr lang="en-US" sz="1350" dirty="0">
                <a:solidFill>
                  <a:srgbClr val="111111"/>
                </a:solidFill>
                <a:latin typeface="Arial" pitchFamily="34" charset="0"/>
                <a:ea typeface="Arial" pitchFamily="34" charset="-122"/>
                <a:cs typeface="Arial" pitchFamily="34" charset="-120"/>
              </a:rPr>
              <a:t> (JSON): hỏi lại nếu IPN chưa về</a:t>
            </a:r>
            <a:endParaRPr lang="en-US" sz="1350" dirty="0"/>
          </a:p>
        </p:txBody>
      </p:sp>
      <p:sp>
        <p:nvSpPr>
          <p:cNvPr id="37" name="Shape 35"/>
          <p:cNvSpPr/>
          <p:nvPr/>
        </p:nvSpPr>
        <p:spPr>
          <a:xfrm>
            <a:off x="10394808" y="4817516"/>
            <a:ext cx="952348" cy="311170"/>
          </a:xfrm>
          <a:prstGeom prst="roundRect">
            <a:avLst>
              <a:gd name="adj" fmla="val 49985"/>
            </a:avLst>
          </a:prstGeom>
          <a:solidFill>
            <a:srgbClr val="DEF3E8"/>
          </a:solidFill>
          <a:ln/>
        </p:spPr>
      </p:sp>
      <p:sp>
        <p:nvSpPr>
          <p:cNvPr id="38" name="Text 36"/>
          <p:cNvSpPr txBox="1"/>
          <p:nvPr/>
        </p:nvSpPr>
        <p:spPr>
          <a:xfrm>
            <a:off x="10521818" y="4885365"/>
            <a:ext cx="774588"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Mình chọn</a:t>
            </a:r>
            <a:endParaRPr lang="en-US" sz="1100" dirty="0"/>
          </a:p>
        </p:txBody>
      </p:sp>
      <p:sp>
        <p:nvSpPr>
          <p:cNvPr id="39" name="Text 3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0" name="Text 38"/>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51415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Chứng minh – kênh 1</a:t>
            </a:r>
            <a:endParaRPr lang="en-US" sz="1100" dirty="0"/>
          </a:p>
        </p:txBody>
      </p:sp>
      <p:sp>
        <p:nvSpPr>
          <p:cNvPr id="3" name="Text 1"/>
          <p:cNvSpPr txBox="1"/>
          <p:nvPr/>
        </p:nvSpPr>
        <p:spPr>
          <a:xfrm>
            <a:off x="660380" y="643829"/>
            <a:ext cx="914445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Vì sao tạo thanh toán bằng redirect + query string</a:t>
            </a:r>
            <a:endParaRPr lang="en-US" sz="3000" dirty="0"/>
          </a:p>
        </p:txBody>
      </p:sp>
      <p:sp>
        <p:nvSpPr>
          <p:cNvPr id="4" name="Shape 2"/>
          <p:cNvSpPr/>
          <p:nvPr/>
        </p:nvSpPr>
        <p:spPr>
          <a:xfrm>
            <a:off x="660380" y="1347368"/>
            <a:ext cx="5206868" cy="581650"/>
          </a:xfrm>
          <a:prstGeom prst="roundRect">
            <a:avLst>
              <a:gd name="adj" fmla="val 13095"/>
            </a:avLst>
          </a:prstGeom>
          <a:solidFill>
            <a:srgbClr val="FFFFFF"/>
          </a:solidFill>
          <a:ln w="6350">
            <a:solidFill>
              <a:srgbClr val="E3E6EA"/>
            </a:solidFill>
            <a:prstDash val="solid"/>
          </a:ln>
        </p:spPr>
      </p:sp>
      <p:sp>
        <p:nvSpPr>
          <p:cNvPr id="5" name="Shape 3"/>
          <p:cNvSpPr/>
          <p:nvPr/>
        </p:nvSpPr>
        <p:spPr>
          <a:xfrm>
            <a:off x="780989" y="1442649"/>
            <a:ext cx="982614" cy="209580"/>
          </a:xfrm>
          <a:prstGeom prst="roundRect">
            <a:avLst>
              <a:gd name="adj" fmla="val 50000"/>
            </a:avLst>
          </a:prstGeom>
          <a:solidFill>
            <a:srgbClr val="FDE8E6"/>
          </a:solidFill>
          <a:ln/>
        </p:spPr>
      </p:sp>
      <p:sp>
        <p:nvSpPr>
          <p:cNvPr id="6" name="Text 4"/>
          <p:cNvSpPr txBox="1"/>
          <p:nvPr/>
        </p:nvSpPr>
        <p:spPr>
          <a:xfrm>
            <a:off x="857250"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7" name="Text 5"/>
          <p:cNvSpPr txBox="1"/>
          <p:nvPr/>
        </p:nvSpPr>
        <p:spPr>
          <a:xfrm>
            <a:off x="1865285" y="1437803"/>
            <a:ext cx="3997757"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Khách nhập thẻ trên trang VNPAY, không phải trang của mình. Server mình không bao giờ chạm vào số thẻ</a:t>
            </a:r>
            <a:endParaRPr lang="en-US" sz="1100" dirty="0"/>
          </a:p>
        </p:txBody>
      </p:sp>
      <p:sp>
        <p:nvSpPr>
          <p:cNvPr id="8" name="Shape 6"/>
          <p:cNvSpPr/>
          <p:nvPr/>
        </p:nvSpPr>
        <p:spPr>
          <a:xfrm>
            <a:off x="660380" y="2005188"/>
            <a:ext cx="5206868" cy="606979"/>
          </a:xfrm>
          <a:prstGeom prst="roundRect">
            <a:avLst>
              <a:gd name="adj" fmla="val 12549"/>
            </a:avLst>
          </a:prstGeom>
          <a:solidFill>
            <a:srgbClr val="FFFFFF"/>
          </a:solidFill>
          <a:ln w="6350">
            <a:solidFill>
              <a:srgbClr val="E3E6EA"/>
            </a:solidFill>
            <a:prstDash val="solid"/>
          </a:ln>
        </p:spPr>
      </p:sp>
      <p:sp>
        <p:nvSpPr>
          <p:cNvPr id="9" name="Shape 7"/>
          <p:cNvSpPr/>
          <p:nvPr/>
        </p:nvSpPr>
        <p:spPr>
          <a:xfrm>
            <a:off x="780989" y="2100377"/>
            <a:ext cx="982614" cy="209580"/>
          </a:xfrm>
          <a:prstGeom prst="roundRect">
            <a:avLst>
              <a:gd name="adj" fmla="val 50000"/>
            </a:avLst>
          </a:prstGeom>
          <a:solidFill>
            <a:srgbClr val="FDE8E6"/>
          </a:solidFill>
          <a:ln/>
        </p:spPr>
      </p:sp>
      <p:sp>
        <p:nvSpPr>
          <p:cNvPr id="10" name="Text 8"/>
          <p:cNvSpPr txBox="1"/>
          <p:nvPr/>
        </p:nvSpPr>
        <p:spPr>
          <a:xfrm>
            <a:off x="857250" y="213164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1" name="Text 9"/>
          <p:cNvSpPr txBox="1"/>
          <p:nvPr/>
        </p:nvSpPr>
        <p:spPr>
          <a:xfrm>
            <a:off x="1865285" y="2095622"/>
            <a:ext cx="3997757" cy="47750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Dữ liệu đơn đi trên URL: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GET vpcpay.html?vnp_Amount=...&amp;vnp_SecureHash=...</a:t>
            </a:r>
            <a:endParaRPr lang="en-US" sz="1100" dirty="0"/>
          </a:p>
        </p:txBody>
      </p:sp>
      <p:sp>
        <p:nvSpPr>
          <p:cNvPr id="12" name="Shape 10"/>
          <p:cNvSpPr/>
          <p:nvPr/>
        </p:nvSpPr>
        <p:spPr>
          <a:xfrm>
            <a:off x="660380" y="2688336"/>
            <a:ext cx="5206868" cy="400050"/>
          </a:xfrm>
          <a:prstGeom prst="roundRect">
            <a:avLst>
              <a:gd name="adj" fmla="val 19040"/>
            </a:avLst>
          </a:prstGeom>
          <a:solidFill>
            <a:srgbClr val="FFFFFF"/>
          </a:solidFill>
          <a:ln w="6350">
            <a:solidFill>
              <a:srgbClr val="E3E6EA"/>
            </a:solidFill>
            <a:prstDash val="solid"/>
          </a:ln>
        </p:spPr>
      </p:sp>
      <p:sp>
        <p:nvSpPr>
          <p:cNvPr id="13" name="Shape 11"/>
          <p:cNvSpPr/>
          <p:nvPr/>
        </p:nvSpPr>
        <p:spPr>
          <a:xfrm>
            <a:off x="780989" y="2783616"/>
            <a:ext cx="982614" cy="209580"/>
          </a:xfrm>
          <a:prstGeom prst="roundRect">
            <a:avLst>
              <a:gd name="adj" fmla="val 50000"/>
            </a:avLst>
          </a:prstGeom>
          <a:solidFill>
            <a:srgbClr val="FDE8E6"/>
          </a:solidFill>
          <a:ln/>
        </p:spPr>
      </p:sp>
      <p:sp>
        <p:nvSpPr>
          <p:cNvPr id="14" name="Text 12"/>
          <p:cNvSpPr txBox="1"/>
          <p:nvPr/>
        </p:nvSpPr>
        <p:spPr>
          <a:xfrm>
            <a:off x="857250" y="281488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5" name="Text 13"/>
          <p:cNvSpPr txBox="1"/>
          <p:nvPr/>
        </p:nvSpPr>
        <p:spPr>
          <a:xfrm>
            <a:off x="1865285" y="2787914"/>
            <a:ext cx="351678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URL thì ai cũng sửa được, nên phải có chữ ký đi kèm</a:t>
            </a:r>
            <a:endParaRPr lang="en-US" sz="1100" dirty="0"/>
          </a:p>
        </p:txBody>
      </p:sp>
      <p:sp>
        <p:nvSpPr>
          <p:cNvPr id="16" name="Shape 14"/>
          <p:cNvSpPr/>
          <p:nvPr/>
        </p:nvSpPr>
        <p:spPr>
          <a:xfrm>
            <a:off x="660380" y="3202686"/>
            <a:ext cx="5206868" cy="600029"/>
          </a:xfrm>
          <a:prstGeom prst="roundRect">
            <a:avLst>
              <a:gd name="adj" fmla="val 12694"/>
            </a:avLst>
          </a:prstGeom>
          <a:solidFill>
            <a:srgbClr val="FFFFFF"/>
          </a:solidFill>
          <a:ln w="6350">
            <a:solidFill>
              <a:srgbClr val="E3E6EA"/>
            </a:solidFill>
            <a:prstDash val="solid"/>
          </a:ln>
        </p:spPr>
      </p:sp>
      <p:sp>
        <p:nvSpPr>
          <p:cNvPr id="17" name="Text 15"/>
          <p:cNvSpPr txBox="1"/>
          <p:nvPr/>
        </p:nvSpPr>
        <p:spPr>
          <a:xfrm>
            <a:off x="793699" y="3314974"/>
            <a:ext cx="3937498" cy="20958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“URL Thanh toán là địa chỉ URL mang thông tin thanh toán.”</a:t>
            </a:r>
            <a:endParaRPr lang="en-US" sz="1100" dirty="0"/>
          </a:p>
        </p:txBody>
      </p:sp>
      <p:sp>
        <p:nvSpPr>
          <p:cNvPr id="18" name="Text 16"/>
          <p:cNvSpPr txBox="1"/>
          <p:nvPr/>
        </p:nvSpPr>
        <p:spPr>
          <a:xfrm>
            <a:off x="793699" y="3558205"/>
            <a:ext cx="1889059" cy="161940"/>
          </a:xfrm>
          <a:prstGeom prst="rect">
            <a:avLst/>
          </a:prstGeom>
          <a:noFill/>
          <a:ln/>
        </p:spPr>
        <p:txBody>
          <a:bodyPr wrap="square" lIns="0" tIns="0" rIns="0" bIns="0" rtlCol="0" anchor="ctr"/>
          <a:lstStyle/>
          <a:p>
            <a:pPr algn="l" indent="0" marL="0">
              <a:buNone/>
            </a:pPr>
            <a:r>
              <a:rPr lang="en-US" sz="850" dirty="0">
                <a:solidFill>
                  <a:srgbClr val="6B7280"/>
                </a:solidFill>
                <a:latin typeface="Arial" pitchFamily="34" charset="0"/>
                <a:ea typeface="Arial" pitchFamily="34" charset="-122"/>
                <a:cs typeface="Arial" pitchFamily="34" charset="-120"/>
              </a:rPr>
              <a:t>Tài liệu VNPAY, mục Thanh toán PAY</a:t>
            </a:r>
            <a:endParaRPr lang="en-US" sz="850" dirty="0"/>
          </a:p>
        </p:txBody>
      </p:sp>
      <p:pic>
        <p:nvPicPr>
          <p:cNvPr id="19" name="Image 0" descr="/Users/minhdang_work/vnpay-seminar/slides-html/vnpay-pay.png">    </p:cNvPr>
          <p:cNvPicPr>
            <a:picLocks noChangeAspect="1"/>
          </p:cNvPicPr>
          <p:nvPr/>
        </p:nvPicPr>
        <p:blipFill>
          <a:blip r:embed="rId1"/>
          <a:stretch>
            <a:fillRect/>
          </a:stretch>
        </p:blipFill>
        <p:spPr>
          <a:xfrm>
            <a:off x="6070427" y="1347368"/>
            <a:ext cx="5460888" cy="4394881"/>
          </a:xfrm>
          <a:prstGeom prst="rect">
            <a:avLst/>
          </a:prstGeom>
        </p:spPr>
      </p:pic>
      <p:sp>
        <p:nvSpPr>
          <p:cNvPr id="20" name="Shape 17"/>
          <p:cNvSpPr/>
          <p:nvPr/>
        </p:nvSpPr>
        <p:spPr>
          <a:xfrm>
            <a:off x="6070427" y="1347368"/>
            <a:ext cx="5460888" cy="4394881"/>
          </a:xfrm>
          <a:prstGeom prst="roundRect">
            <a:avLst>
              <a:gd name="adj" fmla="val 2022"/>
            </a:avLst>
          </a:prstGeom>
          <a:ln w="6350">
            <a:solidFill>
              <a:srgbClr val="E3E6EA"/>
            </a:solidFill>
            <a:prstDash val="solid"/>
          </a:ln>
        </p:spPr>
      </p:sp>
      <p:sp>
        <p:nvSpPr>
          <p:cNvPr id="21" name="Text 18"/>
          <p:cNvSpPr txBox="1"/>
          <p:nvPr/>
        </p:nvSpPr>
        <p:spPr>
          <a:xfrm>
            <a:off x="6070427" y="5933724"/>
            <a:ext cx="5624657" cy="473019"/>
          </a:xfrm>
          <a:prstGeom prst="rect">
            <a:avLst/>
          </a:prstGeom>
          <a:noFill/>
          <a:ln/>
        </p:spPr>
        <p:txBody>
          <a:bodyPr wrap="square" lIns="0" tIns="0" rIns="0" bIns="0" rtlCol="0" anchor="t"/>
          <a:lstStyle/>
          <a:p>
            <a:pPr algn="l" indent="0" marL="0">
              <a:lnSpc>
                <a:spcPts val="1650"/>
              </a:lnSpc>
              <a:buNone/>
            </a:pPr>
            <a:r>
              <a:rPr lang="en-US" sz="1100" dirty="0">
                <a:solidFill>
                  <a:srgbClr val="6B7280"/>
                </a:solidFill>
                <a:latin typeface="Arial" pitchFamily="34" charset="0"/>
                <a:ea typeface="Arial" pitchFamily="34" charset="-122"/>
                <a:cs typeface="Arial" pitchFamily="34" charset="-120"/>
              </a:rPr>
              <a:t>Link do code của mình tạo, mở trên sandbox ngày 10/10: VNPAY đọc đúng 25.000 VND và mã đơn từ query string</a:t>
            </a:r>
            <a:endParaRPr lang="en-US" sz="1100" dirty="0"/>
          </a:p>
        </p:txBody>
      </p:sp>
      <p:sp>
        <p:nvSpPr>
          <p:cNvPr id="22" name="Text 1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3" name="Text 20"/>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84352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Chứng minh – kênh 3 và 4</a:t>
            </a:r>
            <a:endParaRPr lang="en-US" sz="1100" dirty="0"/>
          </a:p>
        </p:txBody>
      </p:sp>
      <p:sp>
        <p:nvSpPr>
          <p:cNvPr id="3" name="Text 1"/>
          <p:cNvSpPr txBox="1"/>
          <p:nvPr/>
        </p:nvSpPr>
        <p:spPr>
          <a:xfrm>
            <a:off x="660380" y="643829"/>
            <a:ext cx="887233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Vì sao IPN là kênh chính, ReturnURL chỉ hiển thị</a:t>
            </a:r>
            <a:endParaRPr lang="en-US" sz="3000" dirty="0"/>
          </a:p>
        </p:txBody>
      </p:sp>
      <p:sp>
        <p:nvSpPr>
          <p:cNvPr id="4" name="Shape 2"/>
          <p:cNvSpPr/>
          <p:nvPr/>
        </p:nvSpPr>
        <p:spPr>
          <a:xfrm>
            <a:off x="660380" y="1347368"/>
            <a:ext cx="10870936" cy="600029"/>
          </a:xfrm>
          <a:prstGeom prst="roundRect">
            <a:avLst>
              <a:gd name="adj" fmla="val 12694"/>
            </a:avLst>
          </a:prstGeom>
          <a:solidFill>
            <a:srgbClr val="FFFFFF"/>
          </a:solidFill>
          <a:ln w="6350">
            <a:solidFill>
              <a:srgbClr val="E3E6EA"/>
            </a:solidFill>
            <a:prstDash val="solid"/>
          </a:ln>
        </p:spPr>
      </p:sp>
      <p:sp>
        <p:nvSpPr>
          <p:cNvPr id="5" name="Text 3"/>
          <p:cNvSpPr txBox="1"/>
          <p:nvPr/>
        </p:nvSpPr>
        <p:spPr>
          <a:xfrm>
            <a:off x="793699" y="1459657"/>
            <a:ext cx="4096512" cy="20958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ReturnURL: “Không cập nhật kết quả giao dịch tại địa chỉ này.”</a:t>
            </a:r>
            <a:endParaRPr lang="en-US" sz="1100" dirty="0"/>
          </a:p>
        </p:txBody>
      </p:sp>
      <p:sp>
        <p:nvSpPr>
          <p:cNvPr id="6" name="Text 4"/>
          <p:cNvSpPr txBox="1"/>
          <p:nvPr/>
        </p:nvSpPr>
        <p:spPr>
          <a:xfrm>
            <a:off x="793699" y="1702796"/>
            <a:ext cx="1889059" cy="161940"/>
          </a:xfrm>
          <a:prstGeom prst="rect">
            <a:avLst/>
          </a:prstGeom>
          <a:noFill/>
          <a:ln/>
        </p:spPr>
        <p:txBody>
          <a:bodyPr wrap="square" lIns="0" tIns="0" rIns="0" bIns="0" rtlCol="0" anchor="ctr"/>
          <a:lstStyle/>
          <a:p>
            <a:pPr algn="l" indent="0" marL="0">
              <a:buNone/>
            </a:pPr>
            <a:r>
              <a:rPr lang="en-US" sz="850" dirty="0">
                <a:solidFill>
                  <a:srgbClr val="6B7280"/>
                </a:solidFill>
                <a:latin typeface="Arial" pitchFamily="34" charset="0"/>
                <a:ea typeface="Arial" pitchFamily="34" charset="-122"/>
                <a:cs typeface="Arial" pitchFamily="34" charset="-120"/>
              </a:rPr>
              <a:t>Tài liệu VNPAY, mục Thanh toán PAY</a:t>
            </a:r>
            <a:endParaRPr lang="en-US" sz="850" dirty="0"/>
          </a:p>
        </p:txBody>
      </p:sp>
      <p:sp>
        <p:nvSpPr>
          <p:cNvPr id="7" name="Shape 5"/>
          <p:cNvSpPr/>
          <p:nvPr/>
        </p:nvSpPr>
        <p:spPr>
          <a:xfrm>
            <a:off x="660380" y="2125248"/>
            <a:ext cx="10870936" cy="600029"/>
          </a:xfrm>
          <a:prstGeom prst="roundRect">
            <a:avLst>
              <a:gd name="adj" fmla="val 12694"/>
            </a:avLst>
          </a:prstGeom>
          <a:solidFill>
            <a:srgbClr val="FFFFFF"/>
          </a:solidFill>
          <a:ln w="6350">
            <a:solidFill>
              <a:srgbClr val="E3E6EA"/>
            </a:solidFill>
            <a:prstDash val="solid"/>
          </a:ln>
        </p:spPr>
      </p:sp>
      <p:sp>
        <p:nvSpPr>
          <p:cNvPr id="8" name="Text 6"/>
          <p:cNvSpPr txBox="1"/>
          <p:nvPr/>
        </p:nvSpPr>
        <p:spPr>
          <a:xfrm>
            <a:off x="793699" y="2237445"/>
            <a:ext cx="5646054" cy="20958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IPN: “Thao tác cập nhật/xử lý kết quả sau khi thanh toán được thực hiện tại URL này.”</a:t>
            </a:r>
            <a:endParaRPr lang="en-US" sz="1100" dirty="0"/>
          </a:p>
        </p:txBody>
      </p:sp>
      <p:sp>
        <p:nvSpPr>
          <p:cNvPr id="9" name="Text 7"/>
          <p:cNvSpPr txBox="1"/>
          <p:nvPr/>
        </p:nvSpPr>
        <p:spPr>
          <a:xfrm>
            <a:off x="793699" y="2480676"/>
            <a:ext cx="1889059" cy="161940"/>
          </a:xfrm>
          <a:prstGeom prst="rect">
            <a:avLst/>
          </a:prstGeom>
          <a:noFill/>
          <a:ln/>
        </p:spPr>
        <p:txBody>
          <a:bodyPr wrap="square" lIns="0" tIns="0" rIns="0" bIns="0" rtlCol="0" anchor="ctr"/>
          <a:lstStyle/>
          <a:p>
            <a:pPr algn="l" indent="0" marL="0">
              <a:buNone/>
            </a:pPr>
            <a:r>
              <a:rPr lang="en-US" sz="850" dirty="0">
                <a:solidFill>
                  <a:srgbClr val="6B7280"/>
                </a:solidFill>
                <a:latin typeface="Arial" pitchFamily="34" charset="0"/>
                <a:ea typeface="Arial" pitchFamily="34" charset="-122"/>
                <a:cs typeface="Arial" pitchFamily="34" charset="-120"/>
              </a:rPr>
              <a:t>Tài liệu VNPAY, mục Thanh toán PAY</a:t>
            </a:r>
            <a:endParaRPr lang="en-US" sz="850" dirty="0"/>
          </a:p>
        </p:txBody>
      </p:sp>
      <p:sp>
        <p:nvSpPr>
          <p:cNvPr id="10" name="Shape 8"/>
          <p:cNvSpPr/>
          <p:nvPr/>
        </p:nvSpPr>
        <p:spPr>
          <a:xfrm>
            <a:off x="660380" y="2903037"/>
            <a:ext cx="10870936" cy="400050"/>
          </a:xfrm>
          <a:prstGeom prst="roundRect">
            <a:avLst>
              <a:gd name="adj" fmla="val 19040"/>
            </a:avLst>
          </a:prstGeom>
          <a:solidFill>
            <a:srgbClr val="FFFFFF"/>
          </a:solidFill>
          <a:ln w="6350">
            <a:solidFill>
              <a:srgbClr val="E3E6EA"/>
            </a:solidFill>
            <a:prstDash val="solid"/>
          </a:ln>
        </p:spPr>
      </p:sp>
      <p:sp>
        <p:nvSpPr>
          <p:cNvPr id="11" name="Shape 9"/>
          <p:cNvSpPr/>
          <p:nvPr/>
        </p:nvSpPr>
        <p:spPr>
          <a:xfrm>
            <a:off x="780989" y="2998318"/>
            <a:ext cx="982614" cy="209580"/>
          </a:xfrm>
          <a:prstGeom prst="roundRect">
            <a:avLst>
              <a:gd name="adj" fmla="val 50000"/>
            </a:avLst>
          </a:prstGeom>
          <a:solidFill>
            <a:srgbClr val="FDE8E6"/>
          </a:solidFill>
          <a:ln/>
        </p:spPr>
      </p:sp>
      <p:sp>
        <p:nvSpPr>
          <p:cNvPr id="12" name="Text 10"/>
          <p:cNvSpPr txBox="1"/>
          <p:nvPr/>
        </p:nvSpPr>
        <p:spPr>
          <a:xfrm>
            <a:off x="857250" y="302959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3" name="Text 11"/>
          <p:cNvSpPr txBox="1"/>
          <p:nvPr/>
        </p:nvSpPr>
        <p:spPr>
          <a:xfrm>
            <a:off x="1865285" y="3002615"/>
            <a:ext cx="407173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IPN gọi bằng </a:t>
            </a:r>
            <a:pPr algn="l" indent="0" marL="0">
              <a:buNone/>
            </a:pPr>
            <a:r>
              <a:rPr lang="en-US" sz="1100" dirty="0">
                <a:solidFill>
                  <a:srgbClr val="3F454D"/>
                </a:solidFill>
                <a:latin typeface="Courier New" pitchFamily="34" charset="0"/>
                <a:ea typeface="Courier New" pitchFamily="34" charset="-122"/>
                <a:cs typeface="Courier New" pitchFamily="34" charset="-120"/>
              </a:rPr>
              <a:t>GET</a:t>
            </a:r>
            <a:pPr algn="l" indent="0" marL="0">
              <a:buNone/>
            </a:pPr>
            <a:r>
              <a:rPr lang="en-US" sz="1100" dirty="0">
                <a:solidFill>
                  <a:srgbClr val="3F454D"/>
                </a:solidFill>
                <a:latin typeface="Arial" pitchFamily="34" charset="0"/>
                <a:ea typeface="Arial" pitchFamily="34" charset="-122"/>
                <a:cs typeface="Arial" pitchFamily="34" charset="-120"/>
              </a:rPr>
              <a:t>, server to server, URL phải là HTTPS public</a:t>
            </a:r>
            <a:endParaRPr lang="en-US" sz="1100" dirty="0"/>
          </a:p>
        </p:txBody>
      </p:sp>
      <p:sp>
        <p:nvSpPr>
          <p:cNvPr id="14" name="Shape 12"/>
          <p:cNvSpPr/>
          <p:nvPr/>
        </p:nvSpPr>
        <p:spPr>
          <a:xfrm>
            <a:off x="660380" y="3379348"/>
            <a:ext cx="10870936" cy="400050"/>
          </a:xfrm>
          <a:prstGeom prst="roundRect">
            <a:avLst>
              <a:gd name="adj" fmla="val 19040"/>
            </a:avLst>
          </a:prstGeom>
          <a:solidFill>
            <a:srgbClr val="FFFFFF"/>
          </a:solidFill>
          <a:ln w="6350">
            <a:solidFill>
              <a:srgbClr val="E3E6EA"/>
            </a:solidFill>
            <a:prstDash val="solid"/>
          </a:ln>
        </p:spPr>
      </p:sp>
      <p:sp>
        <p:nvSpPr>
          <p:cNvPr id="15" name="Shape 13"/>
          <p:cNvSpPr/>
          <p:nvPr/>
        </p:nvSpPr>
        <p:spPr>
          <a:xfrm>
            <a:off x="780989" y="3474537"/>
            <a:ext cx="982614" cy="209580"/>
          </a:xfrm>
          <a:prstGeom prst="roundRect">
            <a:avLst>
              <a:gd name="adj" fmla="val 50000"/>
            </a:avLst>
          </a:prstGeom>
          <a:solidFill>
            <a:srgbClr val="FDE8E6"/>
          </a:solidFill>
          <a:ln/>
        </p:spPr>
      </p:sp>
      <p:sp>
        <p:nvSpPr>
          <p:cNvPr id="16" name="Text 14"/>
          <p:cNvSpPr txBox="1"/>
          <p:nvPr/>
        </p:nvSpPr>
        <p:spPr>
          <a:xfrm>
            <a:off x="857250" y="350581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7" name="Text 15"/>
          <p:cNvSpPr txBox="1"/>
          <p:nvPr/>
        </p:nvSpPr>
        <p:spPr>
          <a:xfrm>
            <a:off x="1865285" y="3478835"/>
            <a:ext cx="802587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Mình trả </a:t>
            </a:r>
            <a:pPr algn="l" indent="0" marL="0">
              <a:buNone/>
            </a:pPr>
            <a:r>
              <a:rPr lang="en-US" sz="1100" dirty="0">
                <a:solidFill>
                  <a:srgbClr val="3F454D"/>
                </a:solidFill>
                <a:latin typeface="Courier New" pitchFamily="34" charset="0"/>
                <a:ea typeface="Courier New" pitchFamily="34" charset="-122"/>
                <a:cs typeface="Courier New" pitchFamily="34" charset="-120"/>
              </a:rPr>
              <a:t>00</a:t>
            </a:r>
            <a:pPr algn="l" indent="0" marL="0">
              <a:buNone/>
            </a:pPr>
            <a:r>
              <a:rPr lang="en-US" sz="1100" dirty="0">
                <a:solidFill>
                  <a:srgbClr val="3F454D"/>
                </a:solidFill>
                <a:latin typeface="Arial" pitchFamily="34" charset="0"/>
                <a:ea typeface="Arial" pitchFamily="34" charset="-122"/>
                <a:cs typeface="Arial" pitchFamily="34" charset="-120"/>
              </a:rPr>
              <a:t> hoặc </a:t>
            </a:r>
            <a:pPr algn="l" indent="0" marL="0">
              <a:buNone/>
            </a:pPr>
            <a:r>
              <a:rPr lang="en-US" sz="1100" dirty="0">
                <a:solidFill>
                  <a:srgbClr val="3F454D"/>
                </a:solidFill>
                <a:latin typeface="Courier New" pitchFamily="34" charset="0"/>
                <a:ea typeface="Courier New" pitchFamily="34" charset="-122"/>
                <a:cs typeface="Courier New" pitchFamily="34" charset="-120"/>
              </a:rPr>
              <a:t>02</a:t>
            </a:r>
            <a:pPr algn="l" indent="0" marL="0">
              <a:buNone/>
            </a:pPr>
            <a:r>
              <a:rPr lang="en-US" sz="1100" dirty="0">
                <a:solidFill>
                  <a:srgbClr val="3F454D"/>
                </a:solidFill>
                <a:latin typeface="Arial" pitchFamily="34" charset="0"/>
                <a:ea typeface="Arial" pitchFamily="34" charset="-122"/>
                <a:cs typeface="Arial" pitchFamily="34" charset="-120"/>
              </a:rPr>
              <a:t> thì VNPAY dừng. Trả mã khác hoặc quá thời gian thì VNPAY gọi lại, tối đa 10 lần, mỗi lần cách 5 phút</a:t>
            </a:r>
            <a:endParaRPr lang="en-US" sz="1100" dirty="0"/>
          </a:p>
        </p:txBody>
      </p:sp>
      <p:sp>
        <p:nvSpPr>
          <p:cNvPr id="18" name="Shape 16"/>
          <p:cNvSpPr/>
          <p:nvPr/>
        </p:nvSpPr>
        <p:spPr>
          <a:xfrm>
            <a:off x="660380" y="3855568"/>
            <a:ext cx="10870936" cy="400050"/>
          </a:xfrm>
          <a:prstGeom prst="roundRect">
            <a:avLst>
              <a:gd name="adj" fmla="val 19040"/>
            </a:avLst>
          </a:prstGeom>
          <a:solidFill>
            <a:srgbClr val="FFFFFF"/>
          </a:solidFill>
          <a:ln w="6350">
            <a:solidFill>
              <a:srgbClr val="E3E6EA"/>
            </a:solidFill>
            <a:prstDash val="solid"/>
          </a:ln>
        </p:spPr>
      </p:sp>
      <p:sp>
        <p:nvSpPr>
          <p:cNvPr id="19" name="Shape 17"/>
          <p:cNvSpPr/>
          <p:nvPr/>
        </p:nvSpPr>
        <p:spPr>
          <a:xfrm>
            <a:off x="780989" y="3950757"/>
            <a:ext cx="723748" cy="209580"/>
          </a:xfrm>
          <a:prstGeom prst="roundRect">
            <a:avLst>
              <a:gd name="adj" fmla="val 50000"/>
            </a:avLst>
          </a:prstGeom>
          <a:solidFill>
            <a:srgbClr val="DEF3E8"/>
          </a:solidFill>
          <a:ln/>
        </p:spPr>
      </p:sp>
      <p:sp>
        <p:nvSpPr>
          <p:cNvPr id="20" name="Text 18"/>
          <p:cNvSpPr txBox="1"/>
          <p:nvPr/>
        </p:nvSpPr>
        <p:spPr>
          <a:xfrm>
            <a:off x="857250" y="398202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21" name="Text 19"/>
          <p:cNvSpPr txBox="1"/>
          <p:nvPr/>
        </p:nvSpPr>
        <p:spPr>
          <a:xfrm>
            <a:off x="1606418" y="3955146"/>
            <a:ext cx="7435901"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Lý do kỹ thuật: ReturnURL đi qua trình duyệt, khách sửa được </a:t>
            </a:r>
            <a:pPr algn="l" indent="0" marL="0">
              <a:buNone/>
            </a:pPr>
            <a:r>
              <a:rPr lang="en-US" sz="1100" dirty="0">
                <a:solidFill>
                  <a:srgbClr val="3F454D"/>
                </a:solidFill>
                <a:latin typeface="Courier New" pitchFamily="34" charset="0"/>
                <a:ea typeface="Courier New" pitchFamily="34" charset="-122"/>
                <a:cs typeface="Courier New" pitchFamily="34" charset="-120"/>
              </a:rPr>
              <a:t>vnp_ResponseCode=00</a:t>
            </a:r>
            <a:pPr algn="l" indent="0" marL="0">
              <a:buNone/>
            </a:pPr>
            <a:r>
              <a:rPr lang="en-US" sz="1100" dirty="0">
                <a:solidFill>
                  <a:srgbClr val="3F454D"/>
                </a:solidFill>
                <a:latin typeface="Arial" pitchFamily="34" charset="0"/>
                <a:ea typeface="Arial" pitchFamily="34" charset="-122"/>
                <a:cs typeface="Arial" pitchFamily="34" charset="-120"/>
              </a:rPr>
              <a:t> hoặc tắt tab là không về</a:t>
            </a:r>
            <a:endParaRPr lang="en-US" sz="1100" dirty="0"/>
          </a:p>
        </p:txBody>
      </p:sp>
      <p:sp>
        <p:nvSpPr>
          <p:cNvPr id="22" name="Text 2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3" name="Text 21"/>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530980"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Chứng minh – chữ ký</a:t>
            </a:r>
            <a:endParaRPr lang="en-US" sz="1100" dirty="0"/>
          </a:p>
        </p:txBody>
      </p:sp>
      <p:sp>
        <p:nvSpPr>
          <p:cNvPr id="3" name="Text 1"/>
          <p:cNvSpPr txBox="1"/>
          <p:nvPr/>
        </p:nvSpPr>
        <p:spPr>
          <a:xfrm>
            <a:off x="660380" y="643829"/>
            <a:ext cx="751143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VNPAY kiểm tra chữ ký thật, mình đã thử</a:t>
            </a:r>
            <a:endParaRPr lang="en-US" sz="3000" dirty="0"/>
          </a:p>
        </p:txBody>
      </p:sp>
      <p:sp>
        <p:nvSpPr>
          <p:cNvPr id="4" name="Shape 2"/>
          <p:cNvSpPr/>
          <p:nvPr/>
        </p:nvSpPr>
        <p:spPr>
          <a:xfrm>
            <a:off x="660380" y="1347368"/>
            <a:ext cx="5714817" cy="2308128"/>
          </a:xfrm>
          <a:prstGeom prst="roundRect">
            <a:avLst>
              <a:gd name="adj" fmla="val 4401"/>
            </a:avLst>
          </a:prstGeom>
          <a:solidFill>
            <a:srgbClr val="FFFFFF"/>
          </a:solidFill>
          <a:ln/>
        </p:spPr>
      </p:sp>
      <p:sp>
        <p:nvSpPr>
          <p:cNvPr id="5" name="Shape 3"/>
          <p:cNvSpPr/>
          <p:nvPr/>
        </p:nvSpPr>
        <p:spPr>
          <a:xfrm>
            <a:off x="660380" y="1347368"/>
            <a:ext cx="2971709" cy="422270"/>
          </a:xfrm>
          <a:prstGeom prst="rect">
            <a:avLst/>
          </a:prstGeom>
          <a:solidFill>
            <a:srgbClr val="ECF2FF"/>
          </a:solidFill>
          <a:ln/>
        </p:spPr>
      </p:sp>
      <p:sp>
        <p:nvSpPr>
          <p:cNvPr id="6" name="Text 4"/>
          <p:cNvSpPr txBox="1"/>
          <p:nvPr/>
        </p:nvSpPr>
        <p:spPr>
          <a:xfrm>
            <a:off x="825520" y="1479408"/>
            <a:ext cx="203106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THỬ TRÊN SANDBOX (10/10)</a:t>
            </a:r>
            <a:endParaRPr lang="en-US" sz="1000" dirty="0"/>
          </a:p>
        </p:txBody>
      </p:sp>
      <p:sp>
        <p:nvSpPr>
          <p:cNvPr id="7" name="Shape 5"/>
          <p:cNvSpPr/>
          <p:nvPr/>
        </p:nvSpPr>
        <p:spPr>
          <a:xfrm>
            <a:off x="3632088" y="1347368"/>
            <a:ext cx="2743109" cy="422270"/>
          </a:xfrm>
          <a:prstGeom prst="rect">
            <a:avLst/>
          </a:prstGeom>
          <a:solidFill>
            <a:srgbClr val="ECF2FF"/>
          </a:solidFill>
          <a:ln/>
        </p:spPr>
      </p:sp>
      <p:sp>
        <p:nvSpPr>
          <p:cNvPr id="8" name="Text 6"/>
          <p:cNvSpPr txBox="1"/>
          <p:nvPr/>
        </p:nvSpPr>
        <p:spPr>
          <a:xfrm>
            <a:off x="3797229" y="1479408"/>
            <a:ext cx="106756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VNPAY TRẢ VỀ</a:t>
            </a:r>
            <a:endParaRPr lang="en-US" sz="1000" dirty="0"/>
          </a:p>
        </p:txBody>
      </p:sp>
      <p:sp>
        <p:nvSpPr>
          <p:cNvPr id="9" name="Shape 7"/>
          <p:cNvSpPr/>
          <p:nvPr/>
        </p:nvSpPr>
        <p:spPr>
          <a:xfrm>
            <a:off x="660380" y="1769638"/>
            <a:ext cx="2971709" cy="6309"/>
          </a:xfrm>
          <a:prstGeom prst="rect">
            <a:avLst/>
          </a:prstGeom>
          <a:solidFill>
            <a:srgbClr val="E3E6EA"/>
          </a:solidFill>
          <a:ln/>
        </p:spPr>
      </p:sp>
      <p:sp>
        <p:nvSpPr>
          <p:cNvPr id="10" name="Text 8"/>
          <p:cNvSpPr txBox="1"/>
          <p:nvPr/>
        </p:nvSpPr>
        <p:spPr>
          <a:xfrm>
            <a:off x="800100" y="1865650"/>
            <a:ext cx="165122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Link đúng do code tạo</a:t>
            </a:r>
            <a:endParaRPr lang="en-US" sz="1150" dirty="0"/>
          </a:p>
        </p:txBody>
      </p:sp>
      <p:sp>
        <p:nvSpPr>
          <p:cNvPr id="11" name="Shape 9"/>
          <p:cNvSpPr/>
          <p:nvPr/>
        </p:nvSpPr>
        <p:spPr>
          <a:xfrm>
            <a:off x="3632088" y="1769638"/>
            <a:ext cx="2743109" cy="6309"/>
          </a:xfrm>
          <a:prstGeom prst="rect">
            <a:avLst/>
          </a:prstGeom>
          <a:solidFill>
            <a:srgbClr val="E3E6EA"/>
          </a:solidFill>
          <a:ln/>
        </p:spPr>
      </p:sp>
      <p:sp>
        <p:nvSpPr>
          <p:cNvPr id="12" name="Text 10"/>
          <p:cNvSpPr txBox="1"/>
          <p:nvPr/>
        </p:nvSpPr>
        <p:spPr>
          <a:xfrm>
            <a:off x="3771809" y="1865650"/>
            <a:ext cx="140113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Mở trang thanh toán</a:t>
            </a:r>
            <a:endParaRPr lang="en-US" sz="1150" dirty="0"/>
          </a:p>
        </p:txBody>
      </p:sp>
      <p:sp>
        <p:nvSpPr>
          <p:cNvPr id="13" name="Shape 11"/>
          <p:cNvSpPr/>
          <p:nvPr/>
        </p:nvSpPr>
        <p:spPr>
          <a:xfrm>
            <a:off x="660380" y="2147468"/>
            <a:ext cx="2971709" cy="6309"/>
          </a:xfrm>
          <a:prstGeom prst="rect">
            <a:avLst/>
          </a:prstGeom>
          <a:solidFill>
            <a:srgbClr val="E3E6EA"/>
          </a:solidFill>
          <a:ln/>
        </p:spPr>
      </p:sp>
      <p:sp>
        <p:nvSpPr>
          <p:cNvPr id="14" name="Text 12"/>
          <p:cNvSpPr txBox="1"/>
          <p:nvPr/>
        </p:nvSpPr>
        <p:spPr>
          <a:xfrm>
            <a:off x="800100" y="2243480"/>
            <a:ext cx="2167951"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Ký xong rồi sửa vnp_Amount</a:t>
            </a:r>
            <a:endParaRPr lang="en-US" sz="1150" dirty="0"/>
          </a:p>
        </p:txBody>
      </p:sp>
      <p:sp>
        <p:nvSpPr>
          <p:cNvPr id="15" name="Shape 13"/>
          <p:cNvSpPr/>
          <p:nvPr/>
        </p:nvSpPr>
        <p:spPr>
          <a:xfrm>
            <a:off x="3632088" y="2147468"/>
            <a:ext cx="2743109" cy="6309"/>
          </a:xfrm>
          <a:prstGeom prst="rect">
            <a:avLst/>
          </a:prstGeom>
          <a:solidFill>
            <a:srgbClr val="E3E6EA"/>
          </a:solidFill>
          <a:ln/>
        </p:spPr>
      </p:sp>
      <p:sp>
        <p:nvSpPr>
          <p:cNvPr id="16" name="Text 14"/>
          <p:cNvSpPr txBox="1"/>
          <p:nvPr/>
        </p:nvSpPr>
        <p:spPr>
          <a:xfrm>
            <a:off x="3771809" y="2243480"/>
            <a:ext cx="131024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 (mã 70)</a:t>
            </a:r>
            <a:endParaRPr lang="en-US" sz="1150" dirty="0"/>
          </a:p>
        </p:txBody>
      </p:sp>
      <p:sp>
        <p:nvSpPr>
          <p:cNvPr id="17" name="Shape 15"/>
          <p:cNvSpPr/>
          <p:nvPr/>
        </p:nvSpPr>
        <p:spPr>
          <a:xfrm>
            <a:off x="660380" y="2525207"/>
            <a:ext cx="2971709" cy="6309"/>
          </a:xfrm>
          <a:prstGeom prst="rect">
            <a:avLst/>
          </a:prstGeom>
          <a:solidFill>
            <a:srgbClr val="E3E6EA"/>
          </a:solidFill>
          <a:ln/>
        </p:spPr>
      </p:sp>
      <p:sp>
        <p:nvSpPr>
          <p:cNvPr id="18" name="Text 16"/>
          <p:cNvSpPr txBox="1"/>
          <p:nvPr/>
        </p:nvSpPr>
        <p:spPr>
          <a:xfrm>
            <a:off x="800100" y="2621219"/>
            <a:ext cx="1780611"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Ký chuỗi không sắp xếp</a:t>
            </a:r>
            <a:endParaRPr lang="en-US" sz="1150" dirty="0"/>
          </a:p>
        </p:txBody>
      </p:sp>
      <p:sp>
        <p:nvSpPr>
          <p:cNvPr id="19" name="Shape 17"/>
          <p:cNvSpPr/>
          <p:nvPr/>
        </p:nvSpPr>
        <p:spPr>
          <a:xfrm>
            <a:off x="3632088" y="2525207"/>
            <a:ext cx="2743109" cy="6309"/>
          </a:xfrm>
          <a:prstGeom prst="rect">
            <a:avLst/>
          </a:prstGeom>
          <a:solidFill>
            <a:srgbClr val="E3E6EA"/>
          </a:solidFill>
          <a:ln/>
        </p:spPr>
      </p:sp>
      <p:sp>
        <p:nvSpPr>
          <p:cNvPr id="20" name="Text 18"/>
          <p:cNvSpPr txBox="1"/>
          <p:nvPr/>
        </p:nvSpPr>
        <p:spPr>
          <a:xfrm>
            <a:off x="3771809" y="2621219"/>
            <a:ext cx="131024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 (mã 70)</a:t>
            </a:r>
            <a:endParaRPr lang="en-US" sz="1150" dirty="0"/>
          </a:p>
        </p:txBody>
      </p:sp>
      <p:sp>
        <p:nvSpPr>
          <p:cNvPr id="21" name="Shape 19"/>
          <p:cNvSpPr/>
          <p:nvPr/>
        </p:nvSpPr>
        <p:spPr>
          <a:xfrm>
            <a:off x="660380" y="2903037"/>
            <a:ext cx="2971709" cy="6309"/>
          </a:xfrm>
          <a:prstGeom prst="rect">
            <a:avLst/>
          </a:prstGeom>
          <a:solidFill>
            <a:srgbClr val="E3E6EA"/>
          </a:solidFill>
          <a:ln/>
        </p:spPr>
      </p:sp>
      <p:sp>
        <p:nvSpPr>
          <p:cNvPr id="22" name="Text 20"/>
          <p:cNvSpPr txBox="1"/>
          <p:nvPr/>
        </p:nvSpPr>
        <p:spPr>
          <a:xfrm>
            <a:off x="800100" y="2999049"/>
            <a:ext cx="166064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Ký chuỗi chưa encode</a:t>
            </a:r>
            <a:endParaRPr lang="en-US" sz="1150" dirty="0"/>
          </a:p>
        </p:txBody>
      </p:sp>
      <p:sp>
        <p:nvSpPr>
          <p:cNvPr id="23" name="Shape 21"/>
          <p:cNvSpPr/>
          <p:nvPr/>
        </p:nvSpPr>
        <p:spPr>
          <a:xfrm>
            <a:off x="3632088" y="2903037"/>
            <a:ext cx="2743109" cy="6309"/>
          </a:xfrm>
          <a:prstGeom prst="rect">
            <a:avLst/>
          </a:prstGeom>
          <a:solidFill>
            <a:srgbClr val="E3E6EA"/>
          </a:solidFill>
          <a:ln/>
        </p:spPr>
      </p:sp>
      <p:sp>
        <p:nvSpPr>
          <p:cNvPr id="24" name="Text 22"/>
          <p:cNvSpPr txBox="1"/>
          <p:nvPr/>
        </p:nvSpPr>
        <p:spPr>
          <a:xfrm>
            <a:off x="3771809" y="2999049"/>
            <a:ext cx="131024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 (mã 70)</a:t>
            </a:r>
            <a:endParaRPr lang="en-US" sz="1150" dirty="0"/>
          </a:p>
        </p:txBody>
      </p:sp>
      <p:sp>
        <p:nvSpPr>
          <p:cNvPr id="25" name="Shape 23"/>
          <p:cNvSpPr/>
          <p:nvPr/>
        </p:nvSpPr>
        <p:spPr>
          <a:xfrm>
            <a:off x="660380" y="3280867"/>
            <a:ext cx="2971709" cy="6309"/>
          </a:xfrm>
          <a:prstGeom prst="rect">
            <a:avLst/>
          </a:prstGeom>
          <a:solidFill>
            <a:srgbClr val="E3E6EA"/>
          </a:solidFill>
          <a:ln/>
        </p:spPr>
      </p:sp>
      <p:sp>
        <p:nvSpPr>
          <p:cNvPr id="26" name="Text 24"/>
          <p:cNvSpPr txBox="1"/>
          <p:nvPr/>
        </p:nvSpPr>
        <p:spPr>
          <a:xfrm>
            <a:off x="800100" y="3376879"/>
            <a:ext cx="123700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Chữ ký viết HOA</a:t>
            </a:r>
            <a:endParaRPr lang="en-US" sz="1150" dirty="0"/>
          </a:p>
        </p:txBody>
      </p:sp>
      <p:sp>
        <p:nvSpPr>
          <p:cNvPr id="27" name="Shape 25"/>
          <p:cNvSpPr/>
          <p:nvPr/>
        </p:nvSpPr>
        <p:spPr>
          <a:xfrm>
            <a:off x="3632088" y="3280867"/>
            <a:ext cx="2743109" cy="6309"/>
          </a:xfrm>
          <a:prstGeom prst="rect">
            <a:avLst/>
          </a:prstGeom>
          <a:solidFill>
            <a:srgbClr val="E3E6EA"/>
          </a:solidFill>
          <a:ln/>
        </p:spPr>
      </p:sp>
      <p:sp>
        <p:nvSpPr>
          <p:cNvPr id="28" name="Text 26"/>
          <p:cNvSpPr txBox="1"/>
          <p:nvPr/>
        </p:nvSpPr>
        <p:spPr>
          <a:xfrm>
            <a:off x="3771809" y="3376879"/>
            <a:ext cx="70152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Vẫn nhận</a:t>
            </a:r>
            <a:endParaRPr lang="en-US" sz="1150" dirty="0"/>
          </a:p>
        </p:txBody>
      </p:sp>
      <p:sp>
        <p:nvSpPr>
          <p:cNvPr id="29" name="Shape 27"/>
          <p:cNvSpPr/>
          <p:nvPr/>
        </p:nvSpPr>
        <p:spPr>
          <a:xfrm>
            <a:off x="660380" y="3769797"/>
            <a:ext cx="5714817" cy="400050"/>
          </a:xfrm>
          <a:prstGeom prst="roundRect">
            <a:avLst>
              <a:gd name="adj" fmla="val 19040"/>
            </a:avLst>
          </a:prstGeom>
          <a:solidFill>
            <a:srgbClr val="FFFFFF"/>
          </a:solidFill>
          <a:ln w="6350">
            <a:solidFill>
              <a:srgbClr val="E3E6EA"/>
            </a:solidFill>
            <a:prstDash val="solid"/>
          </a:ln>
        </p:spPr>
      </p:sp>
      <p:sp>
        <p:nvSpPr>
          <p:cNvPr id="30" name="Shape 28"/>
          <p:cNvSpPr/>
          <p:nvPr/>
        </p:nvSpPr>
        <p:spPr>
          <a:xfrm>
            <a:off x="780989" y="3865077"/>
            <a:ext cx="982614" cy="209580"/>
          </a:xfrm>
          <a:prstGeom prst="roundRect">
            <a:avLst>
              <a:gd name="adj" fmla="val 50000"/>
            </a:avLst>
          </a:prstGeom>
          <a:solidFill>
            <a:srgbClr val="FDE8E6"/>
          </a:solidFill>
          <a:ln/>
        </p:spPr>
      </p:sp>
      <p:sp>
        <p:nvSpPr>
          <p:cNvPr id="31" name="Text 29"/>
          <p:cNvSpPr txBox="1"/>
          <p:nvPr/>
        </p:nvSpPr>
        <p:spPr>
          <a:xfrm>
            <a:off x="857250" y="389635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32" name="Text 30"/>
          <p:cNvSpPr txBox="1"/>
          <p:nvPr/>
        </p:nvSpPr>
        <p:spPr>
          <a:xfrm>
            <a:off x="1865285" y="3869375"/>
            <a:ext cx="320177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Sắp xếp tham số, encode giá trị, HMAC-SHA512</a:t>
            </a:r>
            <a:endParaRPr lang="en-US" sz="1100" dirty="0"/>
          </a:p>
        </p:txBody>
      </p:sp>
      <p:sp>
        <p:nvSpPr>
          <p:cNvPr id="33" name="Shape 31"/>
          <p:cNvSpPr/>
          <p:nvPr/>
        </p:nvSpPr>
        <p:spPr>
          <a:xfrm>
            <a:off x="660380" y="4246016"/>
            <a:ext cx="5714817" cy="581650"/>
          </a:xfrm>
          <a:prstGeom prst="roundRect">
            <a:avLst>
              <a:gd name="adj" fmla="val 13095"/>
            </a:avLst>
          </a:prstGeom>
          <a:solidFill>
            <a:srgbClr val="FFFFFF"/>
          </a:solidFill>
          <a:ln w="6350">
            <a:solidFill>
              <a:srgbClr val="E3E6EA"/>
            </a:solidFill>
            <a:prstDash val="solid"/>
          </a:ln>
        </p:spPr>
      </p:sp>
      <p:sp>
        <p:nvSpPr>
          <p:cNvPr id="34" name="Shape 32"/>
          <p:cNvSpPr/>
          <p:nvPr/>
        </p:nvSpPr>
        <p:spPr>
          <a:xfrm>
            <a:off x="780989" y="4341297"/>
            <a:ext cx="723748" cy="209580"/>
          </a:xfrm>
          <a:prstGeom prst="roundRect">
            <a:avLst>
              <a:gd name="adj" fmla="val 50000"/>
            </a:avLst>
          </a:prstGeom>
          <a:solidFill>
            <a:srgbClr val="DEF3E8"/>
          </a:solidFill>
          <a:ln/>
        </p:spPr>
      </p:sp>
      <p:sp>
        <p:nvSpPr>
          <p:cNvPr id="35" name="Text 33"/>
          <p:cNvSpPr txBox="1"/>
          <p:nvPr/>
        </p:nvSpPr>
        <p:spPr>
          <a:xfrm>
            <a:off x="857250" y="437256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36" name="Text 34"/>
          <p:cNvSpPr txBox="1"/>
          <p:nvPr/>
        </p:nvSpPr>
        <p:spPr>
          <a:xfrm>
            <a:off x="1606418" y="4336542"/>
            <a:ext cx="4787616"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Viết hex chữ thường cho giống code mẫu, VNPAY không phân biệt hoa thường</a:t>
            </a:r>
            <a:endParaRPr lang="en-US" sz="1100" dirty="0"/>
          </a:p>
        </p:txBody>
      </p:sp>
      <p:pic>
        <p:nvPicPr>
          <p:cNvPr id="37" name="Image 0" descr="/Users/minhdang_work/vnpay-seminar/slides-html/vnpay-sai-chu-ky.png">    </p:cNvPr>
          <p:cNvPicPr>
            <a:picLocks noChangeAspect="1"/>
          </p:cNvPicPr>
          <p:nvPr/>
        </p:nvPicPr>
        <p:blipFill>
          <a:blip r:embed="rId1"/>
          <a:stretch>
            <a:fillRect/>
          </a:stretch>
        </p:blipFill>
        <p:spPr>
          <a:xfrm>
            <a:off x="6578468" y="1347368"/>
            <a:ext cx="4952848" cy="3977000"/>
          </a:xfrm>
          <a:prstGeom prst="rect">
            <a:avLst/>
          </a:prstGeom>
        </p:spPr>
      </p:pic>
      <p:sp>
        <p:nvSpPr>
          <p:cNvPr id="38" name="Shape 35"/>
          <p:cNvSpPr/>
          <p:nvPr/>
        </p:nvSpPr>
        <p:spPr>
          <a:xfrm>
            <a:off x="6578468" y="1347368"/>
            <a:ext cx="4952848" cy="3977000"/>
          </a:xfrm>
          <a:prstGeom prst="roundRect">
            <a:avLst>
              <a:gd name="adj" fmla="val 2235"/>
            </a:avLst>
          </a:prstGeom>
          <a:ln w="6350">
            <a:solidFill>
              <a:srgbClr val="E3E6EA"/>
            </a:solidFill>
            <a:prstDash val="solid"/>
          </a:ln>
        </p:spPr>
      </p:sp>
      <p:sp>
        <p:nvSpPr>
          <p:cNvPr id="39" name="Text 36"/>
          <p:cNvSpPr txBox="1"/>
          <p:nvPr/>
        </p:nvSpPr>
        <p:spPr>
          <a:xfrm>
            <a:off x="6578468" y="5531846"/>
            <a:ext cx="2016892"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Sửa số tiền trên link sau khi ký</a:t>
            </a:r>
            <a:endParaRPr lang="en-US" sz="1100" dirty="0"/>
          </a:p>
        </p:txBody>
      </p:sp>
      <p:sp>
        <p:nvSpPr>
          <p:cNvPr id="40" name="Text 3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1" name="Text 38"/>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95335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Bắt đầu code</a:t>
            </a:r>
            <a:endParaRPr lang="en-US" sz="1100" dirty="0"/>
          </a:p>
        </p:txBody>
      </p:sp>
      <p:sp>
        <p:nvSpPr>
          <p:cNvPr id="3" name="Text 1"/>
          <p:cNvSpPr txBox="1"/>
          <p:nvPr/>
        </p:nvSpPr>
        <p:spPr>
          <a:xfrm>
            <a:off x="660380" y="643829"/>
            <a:ext cx="431889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Chạy thử code ban đầu</a:t>
            </a:r>
            <a:endParaRPr lang="en-US" sz="3000" dirty="0"/>
          </a:p>
        </p:txBody>
      </p:sp>
      <p:sp>
        <p:nvSpPr>
          <p:cNvPr id="4" name="Text 2"/>
          <p:cNvSpPr txBox="1"/>
          <p:nvPr/>
        </p:nvSpPr>
        <p:spPr>
          <a:xfrm>
            <a:off x="660380" y="1358798"/>
            <a:ext cx="2342784"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Hai file để chung một thư mục</a:t>
            </a:r>
            <a:endParaRPr lang="en-US" sz="1000" dirty="0"/>
          </a:p>
        </p:txBody>
      </p:sp>
      <p:sp>
        <p:nvSpPr>
          <p:cNvPr id="5" name="Shape 3"/>
          <p:cNvSpPr/>
          <p:nvPr/>
        </p:nvSpPr>
        <p:spPr>
          <a:xfrm>
            <a:off x="660380" y="1601389"/>
            <a:ext cx="5460888" cy="950153"/>
          </a:xfrm>
          <a:prstGeom prst="roundRect">
            <a:avLst>
              <a:gd name="adj" fmla="val 10692"/>
            </a:avLst>
          </a:prstGeom>
          <a:solidFill>
            <a:srgbClr val="0C131E"/>
          </a:solidFill>
          <a:ln/>
        </p:spPr>
      </p:sp>
      <p:sp>
        <p:nvSpPr>
          <p:cNvPr id="6" name="Text 4"/>
          <p:cNvSpPr txBox="1"/>
          <p:nvPr/>
        </p:nvSpPr>
        <p:spPr>
          <a:xfrm>
            <a:off x="907999" y="1783812"/>
            <a:ext cx="1950964"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VNPAY-seminar-chuan-bi/</a:t>
            </a:r>
            <a:endParaRPr lang="en-US" sz="1050" dirty="0"/>
          </a:p>
        </p:txBody>
      </p:sp>
      <p:sp>
        <p:nvSpPr>
          <p:cNvPr id="7" name="Text 5"/>
          <p:cNvSpPr txBox="1"/>
          <p:nvPr/>
        </p:nvSpPr>
        <p:spPr>
          <a:xfrm>
            <a:off x="907999" y="1990557"/>
            <a:ext cx="3562594"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index.html        giao diện, không sửa</a:t>
            </a:r>
            <a:endParaRPr lang="en-US" sz="1050" dirty="0"/>
          </a:p>
        </p:txBody>
      </p:sp>
      <p:sp>
        <p:nvSpPr>
          <p:cNvPr id="8" name="Text 6"/>
          <p:cNvSpPr txBox="1"/>
          <p:nvPr/>
        </p:nvSpPr>
        <p:spPr>
          <a:xfrm>
            <a:off x="907999" y="2197212"/>
            <a:ext cx="415640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ShopStart.java    Payment Service, 6 chỗ TODO</a:t>
            </a:r>
            <a:endParaRPr lang="en-US" sz="1050" dirty="0"/>
          </a:p>
        </p:txBody>
      </p:sp>
      <p:sp>
        <p:nvSpPr>
          <p:cNvPr id="9" name="Text 7"/>
          <p:cNvSpPr txBox="1"/>
          <p:nvPr/>
        </p:nvSpPr>
        <p:spPr>
          <a:xfrm>
            <a:off x="660380" y="2715402"/>
            <a:ext cx="1696486"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trong VSCode</a:t>
            </a:r>
            <a:endParaRPr lang="en-US" sz="1000" dirty="0"/>
          </a:p>
        </p:txBody>
      </p:sp>
      <p:sp>
        <p:nvSpPr>
          <p:cNvPr id="10" name="Shape 8"/>
          <p:cNvSpPr/>
          <p:nvPr/>
        </p:nvSpPr>
        <p:spPr>
          <a:xfrm>
            <a:off x="660380" y="2957901"/>
            <a:ext cx="5460888" cy="625450"/>
          </a:xfrm>
          <a:prstGeom prst="roundRect">
            <a:avLst>
              <a:gd name="adj" fmla="val 16243"/>
            </a:avLst>
          </a:prstGeom>
          <a:solidFill>
            <a:srgbClr val="0C131E"/>
          </a:solidFill>
          <a:ln/>
        </p:spPr>
      </p:sp>
      <p:sp>
        <p:nvSpPr>
          <p:cNvPr id="11" name="Text 9"/>
          <p:cNvSpPr txBox="1"/>
          <p:nvPr/>
        </p:nvSpPr>
        <p:spPr>
          <a:xfrm>
            <a:off x="907999" y="3149742"/>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java ShopStart.java</a:t>
            </a:r>
            <a:endParaRPr lang="en-US" sz="1500" dirty="0"/>
          </a:p>
        </p:txBody>
      </p:sp>
      <p:sp>
        <p:nvSpPr>
          <p:cNvPr id="12" name="Text 10"/>
          <p:cNvSpPr txBox="1"/>
          <p:nvPr/>
        </p:nvSpPr>
        <p:spPr>
          <a:xfrm>
            <a:off x="6324448"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13" name="Shape 11"/>
          <p:cNvSpPr/>
          <p:nvPr/>
        </p:nvSpPr>
        <p:spPr>
          <a:xfrm>
            <a:off x="6324448" y="1715689"/>
            <a:ext cx="5206868" cy="743499"/>
          </a:xfrm>
          <a:prstGeom prst="roundRect">
            <a:avLst>
              <a:gd name="adj" fmla="val 13664"/>
            </a:avLst>
          </a:prstGeom>
          <a:solidFill>
            <a:srgbClr val="0C131E"/>
          </a:solidFill>
          <a:ln/>
        </p:spPr>
      </p:sp>
      <p:sp>
        <p:nvSpPr>
          <p:cNvPr id="14" name="Text 12"/>
          <p:cNvSpPr txBox="1"/>
          <p:nvPr/>
        </p:nvSpPr>
        <p:spPr>
          <a:xfrm>
            <a:off x="6572067" y="1898112"/>
            <a:ext cx="271430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[10:00:01] http://localhost:8080</a:t>
            </a:r>
            <a:endParaRPr lang="en-US" sz="1050" dirty="0"/>
          </a:p>
        </p:txBody>
      </p:sp>
      <p:sp>
        <p:nvSpPr>
          <p:cNvPr id="15" name="Text 13"/>
          <p:cNvSpPr txBox="1"/>
          <p:nvPr/>
        </p:nvSpPr>
        <p:spPr>
          <a:xfrm>
            <a:off x="6572067" y="2104766"/>
            <a:ext cx="483498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[10:00:01] Chưa điền TMN_CODE và HASH_SECRET, xem TODO 1.</a:t>
            </a:r>
            <a:endParaRPr lang="en-US" sz="1050" dirty="0"/>
          </a:p>
        </p:txBody>
      </p:sp>
      <p:sp>
        <p:nvSpPr>
          <p:cNvPr id="16" name="Shape 14"/>
          <p:cNvSpPr/>
          <p:nvPr/>
        </p:nvSpPr>
        <p:spPr>
          <a:xfrm>
            <a:off x="6362578" y="2684587"/>
            <a:ext cx="63459" cy="63459"/>
          </a:xfrm>
          <a:prstGeom prst="ellipse">
            <a:avLst/>
          </a:prstGeom>
          <a:solidFill>
            <a:srgbClr val="0066FF"/>
          </a:solidFill>
          <a:ln/>
        </p:spPr>
      </p:sp>
      <p:sp>
        <p:nvSpPr>
          <p:cNvPr id="17" name="Text 15"/>
          <p:cNvSpPr txBox="1"/>
          <p:nvPr/>
        </p:nvSpPr>
        <p:spPr>
          <a:xfrm>
            <a:off x="6540337" y="2589306"/>
            <a:ext cx="331332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Vào </a:t>
            </a:r>
            <a:pPr algn="l" indent="0" marL="0">
              <a:buNone/>
            </a:pPr>
            <a:r>
              <a:rPr lang="en-US" sz="1250" dirty="0">
                <a:solidFill>
                  <a:srgbClr val="3F454D"/>
                </a:solidFill>
                <a:latin typeface="Courier New" pitchFamily="34" charset="0"/>
                <a:ea typeface="Courier New" pitchFamily="34" charset="-122"/>
                <a:cs typeface="Courier New" pitchFamily="34" charset="-120"/>
              </a:rPr>
              <a:t>localhost:8080</a:t>
            </a:r>
            <a:pPr algn="l" indent="0" marL="0">
              <a:buNone/>
            </a:pPr>
            <a:r>
              <a:rPr lang="en-US" sz="1250" dirty="0">
                <a:solidFill>
                  <a:srgbClr val="3F454D"/>
                </a:solidFill>
                <a:latin typeface="Arial" pitchFamily="34" charset="0"/>
                <a:ea typeface="Arial" pitchFamily="34" charset="-122"/>
                <a:cs typeface="Arial" pitchFamily="34" charset="-120"/>
              </a:rPr>
              <a:t> thấy trang cửa hàng</a:t>
            </a:r>
            <a:endParaRPr lang="en-US" sz="1250" dirty="0"/>
          </a:p>
        </p:txBody>
      </p:sp>
      <p:sp>
        <p:nvSpPr>
          <p:cNvPr id="18" name="Shape 16"/>
          <p:cNvSpPr/>
          <p:nvPr/>
        </p:nvSpPr>
        <p:spPr>
          <a:xfrm>
            <a:off x="6362578" y="3024287"/>
            <a:ext cx="63459" cy="63459"/>
          </a:xfrm>
          <a:prstGeom prst="ellipse">
            <a:avLst/>
          </a:prstGeom>
          <a:solidFill>
            <a:srgbClr val="0066FF"/>
          </a:solidFill>
          <a:ln/>
        </p:spPr>
      </p:sp>
      <p:sp>
        <p:nvSpPr>
          <p:cNvPr id="19" name="Text 17"/>
          <p:cNvSpPr txBox="1"/>
          <p:nvPr/>
        </p:nvSpPr>
        <p:spPr>
          <a:xfrm>
            <a:off x="6540337" y="2929098"/>
            <a:ext cx="3729015"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Bấm Thanh toán báo </a:t>
            </a:r>
            <a:pPr algn="l" indent="0" marL="0">
              <a:buNone/>
            </a:pPr>
            <a:r>
              <a:rPr lang="en-US" sz="1250" dirty="0">
                <a:solidFill>
                  <a:srgbClr val="3F454D"/>
                </a:solidFill>
                <a:latin typeface="Courier New" pitchFamily="34" charset="0"/>
                <a:ea typeface="Courier New" pitchFamily="34" charset="-122"/>
                <a:cs typeface="Courier New" pitchFamily="34" charset="-120"/>
              </a:rPr>
              <a:t>Chưa làm TODO 5</a:t>
            </a:r>
            <a:pPr algn="l" indent="0" marL="0">
              <a:buNone/>
            </a:pPr>
            <a:r>
              <a:rPr lang="en-US" sz="1250" dirty="0">
                <a:solidFill>
                  <a:srgbClr val="3F454D"/>
                </a:solidFill>
                <a:latin typeface="Arial" pitchFamily="34" charset="0"/>
                <a:ea typeface="Arial" pitchFamily="34" charset="-122"/>
                <a:cs typeface="Arial" pitchFamily="34" charset="-120"/>
              </a:rPr>
              <a:t> là đúng</a:t>
            </a:r>
            <a:endParaRPr lang="en-US" sz="1250" dirty="0"/>
          </a:p>
        </p:txBody>
      </p:sp>
      <p:sp>
        <p:nvSpPr>
          <p:cNvPr id="20" name="Text 1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1" name="Text 1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3921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Code – chữ ký</a:t>
            </a:r>
            <a:endParaRPr lang="en-US" sz="1100" dirty="0"/>
          </a:p>
        </p:txBody>
      </p:sp>
      <p:sp>
        <p:nvSpPr>
          <p:cNvPr id="3" name="Text 1"/>
          <p:cNvSpPr txBox="1"/>
          <p:nvPr/>
        </p:nvSpPr>
        <p:spPr>
          <a:xfrm>
            <a:off x="660380" y="643829"/>
            <a:ext cx="74079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1 – Điền TmnCode và HashSecret</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10870936" cy="920709"/>
          </a:xfrm>
          <a:prstGeom prst="roundRect">
            <a:avLst>
              <a:gd name="adj" fmla="val 11034"/>
            </a:avLst>
          </a:prstGeom>
          <a:solidFill>
            <a:srgbClr val="0C131E"/>
          </a:solidFill>
          <a:ln/>
        </p:spPr>
      </p:sp>
      <p:sp>
        <p:nvSpPr>
          <p:cNvPr id="6" name="Shape 4"/>
          <p:cNvSpPr/>
          <p:nvPr/>
        </p:nvSpPr>
        <p:spPr>
          <a:xfrm>
            <a:off x="660380" y="1766438"/>
            <a:ext cx="10870936" cy="295260"/>
          </a:xfrm>
          <a:prstGeom prst="rect">
            <a:avLst/>
          </a:prstGeom>
          <a:solidFill>
            <a:srgbClr val="FFD479">
              <a:alpha val="13000"/>
            </a:srgbClr>
          </a:solidFill>
          <a:ln/>
        </p:spPr>
      </p:sp>
      <p:sp>
        <p:nvSpPr>
          <p:cNvPr id="7" name="Shape 5"/>
          <p:cNvSpPr/>
          <p:nvPr/>
        </p:nvSpPr>
        <p:spPr>
          <a:xfrm>
            <a:off x="660380" y="1766438"/>
            <a:ext cx="31730" cy="295260"/>
          </a:xfrm>
          <a:prstGeom prst="rect">
            <a:avLst/>
          </a:prstGeom>
          <a:solidFill>
            <a:srgbClr val="FFD479"/>
          </a:solidFill>
          <a:ln/>
        </p:spPr>
      </p:sp>
      <p:sp>
        <p:nvSpPr>
          <p:cNvPr id="8" name="Text 6"/>
          <p:cNvSpPr txBox="1"/>
          <p:nvPr/>
        </p:nvSpPr>
        <p:spPr>
          <a:xfrm>
            <a:off x="907999" y="1793138"/>
            <a:ext cx="6786402" cy="295260"/>
          </a:xfrm>
          <a:prstGeom prst="rect">
            <a:avLst/>
          </a:prstGeom>
          <a:noFill/>
          <a:ln/>
        </p:spPr>
        <p:txBody>
          <a:bodyPr wrap="none" lIns="0" tIns="0" rIns="0" bIns="0" rtlCol="0" anchor="ctr"/>
          <a:lstStyle/>
          <a:p>
            <a:pPr algn="l" indent="0" marL="0">
              <a:buNone/>
            </a:pPr>
            <a:r>
              <a:rPr lang="en-US" sz="1500" dirty="0">
                <a:solidFill>
                  <a:srgbClr val="7FC2FF"/>
                </a:solidFill>
                <a:latin typeface="Courier New" pitchFamily="34" charset="0"/>
                <a:ea typeface="Courier New" pitchFamily="34" charset="-122"/>
                <a:cs typeface="Courier New" pitchFamily="34" charset="-120"/>
              </a:rPr>
              <a:t>static</a:t>
            </a:r>
            <a:pPr algn="l" indent="0" marL="0">
              <a:buNone/>
            </a:pPr>
            <a:r>
              <a:rPr lang="en-US" sz="1500" dirty="0">
                <a:solidFill>
                  <a:srgbClr val="E6EDF7"/>
                </a:solidFill>
                <a:latin typeface="Courier New" pitchFamily="34" charset="0"/>
                <a:ea typeface="Courier New" pitchFamily="34" charset="-122"/>
                <a:cs typeface="Courier New" pitchFamily="34" charset="-120"/>
              </a:rPr>
              <a:t> </a:t>
            </a:r>
            <a:pPr algn="l" indent="0" marL="0">
              <a:buNone/>
            </a:pPr>
            <a:r>
              <a:rPr lang="en-US" sz="1500" dirty="0">
                <a:solidFill>
                  <a:srgbClr val="7FC2FF"/>
                </a:solidFill>
                <a:latin typeface="Courier New" pitchFamily="34" charset="0"/>
                <a:ea typeface="Courier New" pitchFamily="34" charset="-122"/>
                <a:cs typeface="Courier New" pitchFamily="34" charset="-120"/>
              </a:rPr>
              <a:t>final</a:t>
            </a:r>
            <a:pPr algn="l" indent="0" marL="0">
              <a:buNone/>
            </a:pPr>
            <a:r>
              <a:rPr lang="en-US" sz="1500" dirty="0">
                <a:solidFill>
                  <a:srgbClr val="E6EDF7"/>
                </a:solidFill>
                <a:latin typeface="Courier New" pitchFamily="34" charset="0"/>
                <a:ea typeface="Courier New" pitchFamily="34" charset="-122"/>
                <a:cs typeface="Courier New" pitchFamily="34" charset="-120"/>
              </a:rPr>
              <a:t> String TMN_CODE    = </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FFD479"/>
                </a:solidFill>
                <a:latin typeface="Courier New" pitchFamily="34" charset="0"/>
                <a:ea typeface="Courier New" pitchFamily="34" charset="-122"/>
                <a:cs typeface="Courier New" pitchFamily="34" charset="-120"/>
              </a:rPr>
              <a:t>8 ký tự trong email</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p:txBody>
      </p:sp>
      <p:sp>
        <p:nvSpPr>
          <p:cNvPr id="9" name="Shape 7"/>
          <p:cNvSpPr/>
          <p:nvPr/>
        </p:nvSpPr>
        <p:spPr>
          <a:xfrm>
            <a:off x="660380" y="2061698"/>
            <a:ext cx="10870936" cy="295260"/>
          </a:xfrm>
          <a:prstGeom prst="rect">
            <a:avLst/>
          </a:prstGeom>
          <a:solidFill>
            <a:srgbClr val="FFD479">
              <a:alpha val="13000"/>
            </a:srgbClr>
          </a:solidFill>
          <a:ln/>
        </p:spPr>
      </p:sp>
      <p:sp>
        <p:nvSpPr>
          <p:cNvPr id="10" name="Shape 8"/>
          <p:cNvSpPr/>
          <p:nvPr/>
        </p:nvSpPr>
        <p:spPr>
          <a:xfrm>
            <a:off x="660380" y="2061698"/>
            <a:ext cx="31730" cy="295260"/>
          </a:xfrm>
          <a:prstGeom prst="rect">
            <a:avLst/>
          </a:prstGeom>
          <a:solidFill>
            <a:srgbClr val="FFD479"/>
          </a:solidFill>
          <a:ln/>
        </p:spPr>
      </p:sp>
      <p:sp>
        <p:nvSpPr>
          <p:cNvPr id="11" name="Text 9"/>
          <p:cNvSpPr txBox="1"/>
          <p:nvPr/>
        </p:nvSpPr>
        <p:spPr>
          <a:xfrm>
            <a:off x="907999" y="2088398"/>
            <a:ext cx="6907560" cy="295260"/>
          </a:xfrm>
          <a:prstGeom prst="rect">
            <a:avLst/>
          </a:prstGeom>
          <a:noFill/>
          <a:ln/>
        </p:spPr>
        <p:txBody>
          <a:bodyPr wrap="none" lIns="0" tIns="0" rIns="0" bIns="0" rtlCol="0" anchor="ctr"/>
          <a:lstStyle/>
          <a:p>
            <a:pPr algn="l" indent="0" marL="0">
              <a:buNone/>
            </a:pPr>
            <a:r>
              <a:rPr lang="en-US" sz="1500" dirty="0">
                <a:solidFill>
                  <a:srgbClr val="7FC2FF"/>
                </a:solidFill>
                <a:latin typeface="Courier New" pitchFamily="34" charset="0"/>
                <a:ea typeface="Courier New" pitchFamily="34" charset="-122"/>
                <a:cs typeface="Courier New" pitchFamily="34" charset="-120"/>
              </a:rPr>
              <a:t>static</a:t>
            </a:r>
            <a:pPr algn="l" indent="0" marL="0">
              <a:buNone/>
            </a:pPr>
            <a:r>
              <a:rPr lang="en-US" sz="1500" dirty="0">
                <a:solidFill>
                  <a:srgbClr val="E6EDF7"/>
                </a:solidFill>
                <a:latin typeface="Courier New" pitchFamily="34" charset="0"/>
                <a:ea typeface="Courier New" pitchFamily="34" charset="-122"/>
                <a:cs typeface="Courier New" pitchFamily="34" charset="-120"/>
              </a:rPr>
              <a:t> </a:t>
            </a:r>
            <a:pPr algn="l" indent="0" marL="0">
              <a:buNone/>
            </a:pPr>
            <a:r>
              <a:rPr lang="en-US" sz="1500" dirty="0">
                <a:solidFill>
                  <a:srgbClr val="7FC2FF"/>
                </a:solidFill>
                <a:latin typeface="Courier New" pitchFamily="34" charset="0"/>
                <a:ea typeface="Courier New" pitchFamily="34" charset="-122"/>
                <a:cs typeface="Courier New" pitchFamily="34" charset="-120"/>
              </a:rPr>
              <a:t>final</a:t>
            </a:r>
            <a:pPr algn="l" indent="0" marL="0">
              <a:buNone/>
            </a:pPr>
            <a:r>
              <a:rPr lang="en-US" sz="1500" dirty="0">
                <a:solidFill>
                  <a:srgbClr val="E6EDF7"/>
                </a:solidFill>
                <a:latin typeface="Courier New" pitchFamily="34" charset="0"/>
                <a:ea typeface="Courier New" pitchFamily="34" charset="-122"/>
                <a:cs typeface="Courier New" pitchFamily="34" charset="-120"/>
              </a:rPr>
              <a:t> String HASH_SECRET = </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FFD479"/>
                </a:solidFill>
                <a:latin typeface="Courier New" pitchFamily="34" charset="0"/>
                <a:ea typeface="Courier New" pitchFamily="34" charset="-122"/>
                <a:cs typeface="Courier New" pitchFamily="34" charset="-120"/>
              </a:rPr>
              <a:t>32 ký tự trong email</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p:txBody>
      </p:sp>
      <p:sp>
        <p:nvSpPr>
          <p:cNvPr id="12" name="Shape 10"/>
          <p:cNvSpPr/>
          <p:nvPr/>
        </p:nvSpPr>
        <p:spPr>
          <a:xfrm>
            <a:off x="660380" y="2699857"/>
            <a:ext cx="10870936" cy="400050"/>
          </a:xfrm>
          <a:prstGeom prst="roundRect">
            <a:avLst>
              <a:gd name="adj" fmla="val 19040"/>
            </a:avLst>
          </a:prstGeom>
          <a:solidFill>
            <a:srgbClr val="FFFFFF"/>
          </a:solidFill>
          <a:ln w="6350">
            <a:solidFill>
              <a:srgbClr val="E3E6EA"/>
            </a:solidFill>
            <a:prstDash val="solid"/>
          </a:ln>
        </p:spPr>
      </p:sp>
      <p:sp>
        <p:nvSpPr>
          <p:cNvPr id="13" name="Shape 11"/>
          <p:cNvSpPr/>
          <p:nvPr/>
        </p:nvSpPr>
        <p:spPr>
          <a:xfrm>
            <a:off x="780989" y="2795138"/>
            <a:ext cx="982614" cy="209580"/>
          </a:xfrm>
          <a:prstGeom prst="roundRect">
            <a:avLst>
              <a:gd name="adj" fmla="val 50000"/>
            </a:avLst>
          </a:prstGeom>
          <a:solidFill>
            <a:srgbClr val="FDE8E6"/>
          </a:solidFill>
          <a:ln/>
        </p:spPr>
      </p:sp>
      <p:sp>
        <p:nvSpPr>
          <p:cNvPr id="14" name="Text 12"/>
          <p:cNvSpPr txBox="1"/>
          <p:nvPr/>
        </p:nvSpPr>
        <p:spPr>
          <a:xfrm>
            <a:off x="857250" y="282631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5" name="Text 13"/>
          <p:cNvSpPr txBox="1"/>
          <p:nvPr/>
        </p:nvSpPr>
        <p:spPr>
          <a:xfrm>
            <a:off x="1865285" y="2799436"/>
            <a:ext cx="5407762" cy="195590"/>
          </a:xfrm>
          <a:prstGeom prst="rect">
            <a:avLst/>
          </a:prstGeom>
          <a:noFill/>
          <a:ln/>
        </p:spPr>
        <p:txBody>
          <a:bodyPr wrap="square" lIns="0" tIns="0" rIns="0" bIns="0" rtlCol="0" anchor="ctr"/>
          <a:lstStyle/>
          <a:p>
            <a:pPr algn="l" indent="0" marL="0">
              <a:buNone/>
            </a:pPr>
            <a:r>
              <a:rPr lang="en-US" sz="1100" b="1" dirty="0">
                <a:solidFill>
                  <a:srgbClr val="3F454D"/>
                </a:solidFill>
                <a:latin typeface="Arial" pitchFamily="34" charset="0"/>
                <a:ea typeface="Arial" pitchFamily="34" charset="-122"/>
                <a:cs typeface="Arial" pitchFamily="34" charset="-120"/>
              </a:rPr>
              <a:t>TmnCode</a:t>
            </a:r>
            <a:pPr algn="l" indent="0" marL="0">
              <a:buNone/>
            </a:pPr>
            <a:r>
              <a:rPr lang="en-US" sz="1100" dirty="0">
                <a:solidFill>
                  <a:srgbClr val="3F454D"/>
                </a:solidFill>
                <a:latin typeface="Arial" pitchFamily="34" charset="0"/>
                <a:ea typeface="Arial" pitchFamily="34" charset="-122"/>
                <a:cs typeface="Arial" pitchFamily="34" charset="-120"/>
              </a:rPr>
              <a:t>: mã website VNPAY cấp, gửi trong mọi request để VNPAY biết bạn là ai</a:t>
            </a:r>
            <a:endParaRPr lang="en-US" sz="1100" dirty="0"/>
          </a:p>
        </p:txBody>
      </p:sp>
      <p:sp>
        <p:nvSpPr>
          <p:cNvPr id="16" name="Shape 14"/>
          <p:cNvSpPr/>
          <p:nvPr/>
        </p:nvSpPr>
        <p:spPr>
          <a:xfrm>
            <a:off x="660380" y="3176077"/>
            <a:ext cx="10870936" cy="400050"/>
          </a:xfrm>
          <a:prstGeom prst="roundRect">
            <a:avLst>
              <a:gd name="adj" fmla="val 19040"/>
            </a:avLst>
          </a:prstGeom>
          <a:solidFill>
            <a:srgbClr val="FFFFFF"/>
          </a:solidFill>
          <a:ln w="6350">
            <a:solidFill>
              <a:srgbClr val="E3E6EA"/>
            </a:solidFill>
            <a:prstDash val="solid"/>
          </a:ln>
        </p:spPr>
      </p:sp>
      <p:sp>
        <p:nvSpPr>
          <p:cNvPr id="17" name="Shape 15"/>
          <p:cNvSpPr/>
          <p:nvPr/>
        </p:nvSpPr>
        <p:spPr>
          <a:xfrm>
            <a:off x="780989" y="3271357"/>
            <a:ext cx="982614" cy="209580"/>
          </a:xfrm>
          <a:prstGeom prst="roundRect">
            <a:avLst>
              <a:gd name="adj" fmla="val 50000"/>
            </a:avLst>
          </a:prstGeom>
          <a:solidFill>
            <a:srgbClr val="FDE8E6"/>
          </a:solidFill>
          <a:ln/>
        </p:spPr>
      </p:sp>
      <p:sp>
        <p:nvSpPr>
          <p:cNvPr id="18" name="Text 16"/>
          <p:cNvSpPr txBox="1"/>
          <p:nvPr/>
        </p:nvSpPr>
        <p:spPr>
          <a:xfrm>
            <a:off x="857250" y="33026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9" name="Text 17"/>
          <p:cNvSpPr txBox="1"/>
          <p:nvPr/>
        </p:nvSpPr>
        <p:spPr>
          <a:xfrm>
            <a:off x="1865285" y="3275655"/>
            <a:ext cx="6048939" cy="195590"/>
          </a:xfrm>
          <a:prstGeom prst="rect">
            <a:avLst/>
          </a:prstGeom>
          <a:noFill/>
          <a:ln/>
        </p:spPr>
        <p:txBody>
          <a:bodyPr wrap="square" lIns="0" tIns="0" rIns="0" bIns="0" rtlCol="0" anchor="ctr"/>
          <a:lstStyle/>
          <a:p>
            <a:pPr algn="l" indent="0" marL="0">
              <a:buNone/>
            </a:pPr>
            <a:r>
              <a:rPr lang="en-US" sz="1100" b="1" dirty="0">
                <a:solidFill>
                  <a:srgbClr val="3F454D"/>
                </a:solidFill>
                <a:latin typeface="Arial" pitchFamily="34" charset="0"/>
                <a:ea typeface="Arial" pitchFamily="34" charset="-122"/>
                <a:cs typeface="Arial" pitchFamily="34" charset="-120"/>
              </a:rPr>
              <a:t>HashSecret</a:t>
            </a:r>
            <a:pPr algn="l" indent="0" marL="0">
              <a:buNone/>
            </a:pPr>
            <a:r>
              <a:rPr lang="en-US" sz="1100" dirty="0">
                <a:solidFill>
                  <a:srgbClr val="3F454D"/>
                </a:solidFill>
                <a:latin typeface="Arial" pitchFamily="34" charset="0"/>
                <a:ea typeface="Arial" pitchFamily="34" charset="-122"/>
                <a:cs typeface="Arial" pitchFamily="34" charset="-120"/>
              </a:rPr>
              <a:t>: khoá bí mật dùng chung giữa mình và VNPAY để ký, chỉ được nằm trên server</a:t>
            </a:r>
            <a:endParaRPr lang="en-US" sz="1100" dirty="0"/>
          </a:p>
        </p:txBody>
      </p:sp>
      <p:sp>
        <p:nvSpPr>
          <p:cNvPr id="20" name="Shape 18"/>
          <p:cNvSpPr/>
          <p:nvPr/>
        </p:nvSpPr>
        <p:spPr>
          <a:xfrm>
            <a:off x="660380" y="3652388"/>
            <a:ext cx="10870936" cy="400050"/>
          </a:xfrm>
          <a:prstGeom prst="roundRect">
            <a:avLst>
              <a:gd name="adj" fmla="val 19040"/>
            </a:avLst>
          </a:prstGeom>
          <a:solidFill>
            <a:srgbClr val="FFFFFF"/>
          </a:solidFill>
          <a:ln w="6350">
            <a:solidFill>
              <a:srgbClr val="E3E6EA"/>
            </a:solidFill>
            <a:prstDash val="solid"/>
          </a:ln>
        </p:spPr>
      </p:sp>
      <p:sp>
        <p:nvSpPr>
          <p:cNvPr id="21" name="Shape 19"/>
          <p:cNvSpPr/>
          <p:nvPr/>
        </p:nvSpPr>
        <p:spPr>
          <a:xfrm>
            <a:off x="780989" y="3747577"/>
            <a:ext cx="723748" cy="209580"/>
          </a:xfrm>
          <a:prstGeom prst="roundRect">
            <a:avLst>
              <a:gd name="adj" fmla="val 50000"/>
            </a:avLst>
          </a:prstGeom>
          <a:solidFill>
            <a:srgbClr val="DEF3E8"/>
          </a:solidFill>
          <a:ln/>
        </p:spPr>
      </p:sp>
      <p:sp>
        <p:nvSpPr>
          <p:cNvPr id="22" name="Text 20"/>
          <p:cNvSpPr txBox="1"/>
          <p:nvPr/>
        </p:nvSpPr>
        <p:spPr>
          <a:xfrm>
            <a:off x="857250" y="377884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23" name="Text 21"/>
          <p:cNvSpPr txBox="1"/>
          <p:nvPr/>
        </p:nvSpPr>
        <p:spPr>
          <a:xfrm>
            <a:off x="1606418" y="3751875"/>
            <a:ext cx="6353891"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Hôm nay ghi thẳng vào code cho dễ. Hệ thống thật đọc từ biến môi trường hoặc Secret Manager</a:t>
            </a:r>
            <a:endParaRPr lang="en-US" sz="1100" dirty="0"/>
          </a:p>
        </p:txBody>
      </p:sp>
      <p:sp>
        <p:nvSpPr>
          <p:cNvPr id="24" name="Text 2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5" name="Text 23"/>
          <p:cNvSpPr txBox="1"/>
          <p:nvPr/>
        </p:nvSpPr>
        <p:spPr>
          <a:xfrm>
            <a:off x="11406043" y="6472763"/>
            <a:ext cx="201534"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3921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Code – chữ ký</a:t>
            </a:r>
            <a:endParaRPr lang="en-US" sz="1100" dirty="0"/>
          </a:p>
        </p:txBody>
      </p:sp>
      <p:sp>
        <p:nvSpPr>
          <p:cNvPr id="3" name="Text 1"/>
          <p:cNvSpPr txBox="1"/>
          <p:nvPr/>
        </p:nvSpPr>
        <p:spPr>
          <a:xfrm>
            <a:off x="660380" y="643829"/>
            <a:ext cx="532839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2 – Hàm hmacSHA512</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145317" cy="3016880"/>
          </a:xfrm>
          <a:prstGeom prst="roundRect">
            <a:avLst>
              <a:gd name="adj" fmla="val 3367"/>
            </a:avLst>
          </a:prstGeom>
          <a:solidFill>
            <a:srgbClr val="0C131E"/>
          </a:solidFill>
          <a:ln/>
        </p:spPr>
      </p:sp>
      <p:sp>
        <p:nvSpPr>
          <p:cNvPr id="6" name="Text 4"/>
          <p:cNvSpPr txBox="1"/>
          <p:nvPr/>
        </p:nvSpPr>
        <p:spPr>
          <a:xfrm>
            <a:off x="907999" y="1783812"/>
            <a:ext cx="4326026" cy="206654"/>
          </a:xfrm>
          <a:prstGeom prst="rect">
            <a:avLst/>
          </a:prstGeom>
          <a:noFill/>
          <a:ln/>
        </p:spPr>
        <p:txBody>
          <a:bodyPr wrap="none" lIns="0" tIns="0" rIns="0" bIns="0" rtlCol="0" anchor="ctr"/>
          <a:lstStyle/>
          <a:p>
            <a:pPr algn="l" indent="0" marL="0">
              <a:buNone/>
            </a:pPr>
            <a:r>
              <a:rPr lang="en-US" sz="1050" dirty="0">
                <a:solidFill>
                  <a:srgbClr val="7FC2FF"/>
                </a:solidFill>
                <a:latin typeface="Courier New" pitchFamily="34" charset="0"/>
                <a:ea typeface="Courier New" pitchFamily="34" charset="-122"/>
                <a:cs typeface="Courier New" pitchFamily="34" charset="-120"/>
              </a:rPr>
              <a:t>static</a:t>
            </a:r>
            <a:pPr algn="l" indent="0" marL="0">
              <a:buNone/>
            </a:pPr>
            <a:r>
              <a:rPr lang="en-US" sz="1050" dirty="0">
                <a:solidFill>
                  <a:srgbClr val="E6EDF7"/>
                </a:solidFill>
                <a:latin typeface="Courier New" pitchFamily="34" charset="0"/>
                <a:ea typeface="Courier New" pitchFamily="34" charset="-122"/>
                <a:cs typeface="Courier New" pitchFamily="34" charset="-120"/>
              </a:rPr>
              <a:t> String hmacSHA512(String key, String data) {</a:t>
            </a:r>
            <a:endParaRPr lang="en-US" sz="1050" dirty="0"/>
          </a:p>
        </p:txBody>
      </p:sp>
      <p:sp>
        <p:nvSpPr>
          <p:cNvPr id="7" name="Text 5"/>
          <p:cNvSpPr txBox="1"/>
          <p:nvPr/>
        </p:nvSpPr>
        <p:spPr>
          <a:xfrm>
            <a:off x="907999" y="1990557"/>
            <a:ext cx="79662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try</a:t>
            </a:r>
            <a:pPr algn="l" indent="0" marL="0">
              <a:buNone/>
            </a:pPr>
            <a:r>
              <a:rPr lang="en-US" sz="1050" dirty="0">
                <a:solidFill>
                  <a:srgbClr val="E6EDF7"/>
                </a:solidFill>
                <a:latin typeface="Courier New" pitchFamily="34" charset="0"/>
                <a:ea typeface="Courier New" pitchFamily="34" charset="-122"/>
                <a:cs typeface="Courier New" pitchFamily="34" charset="-120"/>
              </a:rPr>
              <a:t> {</a:t>
            </a:r>
            <a:endParaRPr lang="en-US" sz="1050" dirty="0"/>
          </a:p>
        </p:txBody>
      </p:sp>
      <p:sp>
        <p:nvSpPr>
          <p:cNvPr id="8" name="Text 6"/>
          <p:cNvSpPr txBox="1"/>
          <p:nvPr/>
        </p:nvSpPr>
        <p:spPr>
          <a:xfrm>
            <a:off x="907999" y="2197212"/>
            <a:ext cx="4071732"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Mac mac = Mac.getInstance(</a:t>
            </a:r>
            <a:pPr algn="l" indent="0" marL="0">
              <a:buNone/>
            </a:pPr>
            <a:r>
              <a:rPr lang="en-US" sz="1050" dirty="0">
                <a:solidFill>
                  <a:srgbClr val="9BE3B4"/>
                </a:solidFill>
                <a:latin typeface="Courier New" pitchFamily="34" charset="0"/>
                <a:ea typeface="Courier New" pitchFamily="34" charset="-122"/>
                <a:cs typeface="Courier New" pitchFamily="34" charset="-120"/>
              </a:rPr>
              <a:t>"HmacSHA512"</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9" name="Text 7"/>
          <p:cNvSpPr txBox="1"/>
          <p:nvPr/>
        </p:nvSpPr>
        <p:spPr>
          <a:xfrm>
            <a:off x="907999" y="2403866"/>
            <a:ext cx="6022696"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mac.init(</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SecretKeySpec(key.getBytes(UTF_8), </a:t>
            </a:r>
            <a:pPr algn="l" indent="0" marL="0">
              <a:buNone/>
            </a:pPr>
            <a:r>
              <a:rPr lang="en-US" sz="1050" dirty="0">
                <a:solidFill>
                  <a:srgbClr val="9BE3B4"/>
                </a:solidFill>
                <a:latin typeface="Courier New" pitchFamily="34" charset="0"/>
                <a:ea typeface="Courier New" pitchFamily="34" charset="-122"/>
                <a:cs typeface="Courier New" pitchFamily="34" charset="-120"/>
              </a:rPr>
              <a:t>"HmacSHA512"</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0" name="Text 8"/>
          <p:cNvSpPr txBox="1"/>
          <p:nvPr/>
        </p:nvSpPr>
        <p:spPr>
          <a:xfrm>
            <a:off x="907999" y="2610521"/>
            <a:ext cx="4835073"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byte</a:t>
            </a:r>
            <a:pPr algn="l" indent="0" marL="0">
              <a:buNone/>
            </a:pPr>
            <a:r>
              <a:rPr lang="en-US" sz="1050" dirty="0">
                <a:solidFill>
                  <a:srgbClr val="E6EDF7"/>
                </a:solidFill>
                <a:latin typeface="Courier New" pitchFamily="34" charset="0"/>
                <a:ea typeface="Courier New" pitchFamily="34" charset="-122"/>
                <a:cs typeface="Courier New" pitchFamily="34" charset="-120"/>
              </a:rPr>
              <a:t>[] bytes = mac.doFinal(data.getBytes(UTF_8));</a:t>
            </a:r>
            <a:endParaRPr lang="en-US" sz="1050" dirty="0"/>
          </a:p>
        </p:txBody>
      </p:sp>
      <p:sp>
        <p:nvSpPr>
          <p:cNvPr id="11" name="Text 9"/>
          <p:cNvSpPr txBox="1"/>
          <p:nvPr/>
        </p:nvSpPr>
        <p:spPr>
          <a:xfrm>
            <a:off x="907999" y="3023829"/>
            <a:ext cx="542870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StringBuilder hex = </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StringBuilder(bytes.length * 2);</a:t>
            </a:r>
            <a:endParaRPr lang="en-US" sz="1050" dirty="0"/>
          </a:p>
        </p:txBody>
      </p:sp>
      <p:sp>
        <p:nvSpPr>
          <p:cNvPr id="12" name="Shape 10"/>
          <p:cNvSpPr/>
          <p:nvPr/>
        </p:nvSpPr>
        <p:spPr>
          <a:xfrm>
            <a:off x="660380" y="3213110"/>
            <a:ext cx="6145317" cy="206654"/>
          </a:xfrm>
          <a:prstGeom prst="rect">
            <a:avLst/>
          </a:prstGeom>
          <a:solidFill>
            <a:srgbClr val="FFD479">
              <a:alpha val="13000"/>
            </a:srgbClr>
          </a:solidFill>
          <a:ln/>
        </p:spPr>
      </p:sp>
      <p:sp>
        <p:nvSpPr>
          <p:cNvPr id="13" name="Shape 11"/>
          <p:cNvSpPr/>
          <p:nvPr/>
        </p:nvSpPr>
        <p:spPr>
          <a:xfrm>
            <a:off x="660380" y="3213110"/>
            <a:ext cx="31730" cy="206654"/>
          </a:xfrm>
          <a:prstGeom prst="rect">
            <a:avLst/>
          </a:prstGeom>
          <a:solidFill>
            <a:srgbClr val="FFD479"/>
          </a:solidFill>
          <a:ln/>
        </p:spPr>
      </p:sp>
      <p:sp>
        <p:nvSpPr>
          <p:cNvPr id="14" name="Text 12"/>
          <p:cNvSpPr txBox="1"/>
          <p:nvPr/>
        </p:nvSpPr>
        <p:spPr>
          <a:xfrm>
            <a:off x="907999" y="3230484"/>
            <a:ext cx="559878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for</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byte</a:t>
            </a:r>
            <a:pPr algn="l" indent="0" marL="0">
              <a:buNone/>
            </a:pPr>
            <a:r>
              <a:rPr lang="en-US" sz="1050" dirty="0">
                <a:solidFill>
                  <a:srgbClr val="E6EDF7"/>
                </a:solidFill>
                <a:latin typeface="Courier New" pitchFamily="34" charset="0"/>
                <a:ea typeface="Courier New" pitchFamily="34" charset="-122"/>
                <a:cs typeface="Courier New" pitchFamily="34" charset="-120"/>
              </a:rPr>
              <a:t> b : bytes) hex.append(String.format(</a:t>
            </a:r>
            <a:pPr algn="l" indent="0" marL="0">
              <a:buNone/>
            </a:pPr>
            <a:r>
              <a:rPr lang="en-US" sz="1050" dirty="0">
                <a:solidFill>
                  <a:srgbClr val="9BE3B4"/>
                </a:solidFill>
                <a:latin typeface="Courier New" pitchFamily="34" charset="0"/>
                <a:ea typeface="Courier New" pitchFamily="34" charset="-122"/>
                <a:cs typeface="Courier New" pitchFamily="34" charset="-120"/>
              </a:rPr>
              <a:t>"%02x"</a:t>
            </a:r>
            <a:pPr algn="l" indent="0" marL="0">
              <a:buNone/>
            </a:pPr>
            <a:r>
              <a:rPr lang="en-US" sz="1050" dirty="0">
                <a:solidFill>
                  <a:srgbClr val="E6EDF7"/>
                </a:solidFill>
                <a:latin typeface="Courier New" pitchFamily="34" charset="0"/>
                <a:ea typeface="Courier New" pitchFamily="34" charset="-122"/>
                <a:cs typeface="Courier New" pitchFamily="34" charset="-120"/>
              </a:rPr>
              <a:t>, b));</a:t>
            </a:r>
            <a:endParaRPr lang="en-US" sz="1050" dirty="0"/>
          </a:p>
        </p:txBody>
      </p:sp>
      <p:sp>
        <p:nvSpPr>
          <p:cNvPr id="15" name="Text 13"/>
          <p:cNvSpPr txBox="1"/>
          <p:nvPr/>
        </p:nvSpPr>
        <p:spPr>
          <a:xfrm>
            <a:off x="907999" y="3437230"/>
            <a:ext cx="2544867"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 hex.toString();</a:t>
            </a:r>
            <a:endParaRPr lang="en-US" sz="1050" dirty="0"/>
          </a:p>
        </p:txBody>
      </p:sp>
      <p:sp>
        <p:nvSpPr>
          <p:cNvPr id="16" name="Text 14"/>
          <p:cNvSpPr txBox="1"/>
          <p:nvPr/>
        </p:nvSpPr>
        <p:spPr>
          <a:xfrm>
            <a:off x="907999" y="3643884"/>
            <a:ext cx="2290389"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 </a:t>
            </a:r>
            <a:pPr algn="l" indent="0" marL="0">
              <a:buNone/>
            </a:pPr>
            <a:r>
              <a:rPr lang="en-US" sz="1050" dirty="0">
                <a:solidFill>
                  <a:srgbClr val="7FC2FF"/>
                </a:solidFill>
                <a:latin typeface="Courier New" pitchFamily="34" charset="0"/>
                <a:ea typeface="Courier New" pitchFamily="34" charset="-122"/>
                <a:cs typeface="Courier New" pitchFamily="34" charset="-120"/>
              </a:rPr>
              <a:t>catch</a:t>
            </a:r>
            <a:pPr algn="l" indent="0" marL="0">
              <a:buNone/>
            </a:pPr>
            <a:r>
              <a:rPr lang="en-US" sz="1050" dirty="0">
                <a:solidFill>
                  <a:srgbClr val="E6EDF7"/>
                </a:solidFill>
                <a:latin typeface="Courier New" pitchFamily="34" charset="0"/>
                <a:ea typeface="Courier New" pitchFamily="34" charset="-122"/>
                <a:cs typeface="Courier New" pitchFamily="34" charset="-120"/>
              </a:rPr>
              <a:t> (Exception e) {</a:t>
            </a:r>
            <a:endParaRPr lang="en-US" sz="1050" dirty="0"/>
          </a:p>
        </p:txBody>
      </p:sp>
      <p:sp>
        <p:nvSpPr>
          <p:cNvPr id="17" name="Text 15"/>
          <p:cNvSpPr txBox="1"/>
          <p:nvPr/>
        </p:nvSpPr>
        <p:spPr>
          <a:xfrm>
            <a:off x="907999" y="3850538"/>
            <a:ext cx="492002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throw</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IllegalStateException(</a:t>
            </a:r>
            <a:pPr algn="l" indent="0" marL="0">
              <a:buNone/>
            </a:pPr>
            <a:r>
              <a:rPr lang="en-US" sz="1050" dirty="0">
                <a:solidFill>
                  <a:srgbClr val="9BE3B4"/>
                </a:solidFill>
                <a:latin typeface="Courier New" pitchFamily="34" charset="0"/>
                <a:ea typeface="Courier New" pitchFamily="34" charset="-122"/>
                <a:cs typeface="Courier New" pitchFamily="34" charset="-120"/>
              </a:rPr>
              <a:t>"HMAC-SHA512"</a:t>
            </a:r>
            <a:pPr algn="l" indent="0" marL="0">
              <a:buNone/>
            </a:pPr>
            <a:r>
              <a:rPr lang="en-US" sz="1050" dirty="0">
                <a:solidFill>
                  <a:srgbClr val="E6EDF7"/>
                </a:solidFill>
                <a:latin typeface="Courier New" pitchFamily="34" charset="0"/>
                <a:ea typeface="Courier New" pitchFamily="34" charset="-122"/>
                <a:cs typeface="Courier New" pitchFamily="34" charset="-120"/>
              </a:rPr>
              <a:t>, e);</a:t>
            </a:r>
            <a:endParaRPr lang="en-US" sz="1050" dirty="0"/>
          </a:p>
        </p:txBody>
      </p:sp>
      <p:sp>
        <p:nvSpPr>
          <p:cNvPr id="18" name="Text 16"/>
          <p:cNvSpPr txBox="1"/>
          <p:nvPr/>
        </p:nvSpPr>
        <p:spPr>
          <a:xfrm>
            <a:off x="907999" y="4057193"/>
            <a:ext cx="47631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endParaRPr lang="en-US" sz="1050" dirty="0"/>
          </a:p>
        </p:txBody>
      </p:sp>
      <p:sp>
        <p:nvSpPr>
          <p:cNvPr id="19" name="Text 17"/>
          <p:cNvSpPr txBox="1"/>
          <p:nvPr/>
        </p:nvSpPr>
        <p:spPr>
          <a:xfrm>
            <a:off x="907999" y="4263847"/>
            <a:ext cx="15627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20" name="Shape 18"/>
          <p:cNvSpPr/>
          <p:nvPr/>
        </p:nvSpPr>
        <p:spPr>
          <a:xfrm>
            <a:off x="7008967" y="1347368"/>
            <a:ext cx="4522348" cy="400050"/>
          </a:xfrm>
          <a:prstGeom prst="roundRect">
            <a:avLst>
              <a:gd name="adj" fmla="val 19040"/>
            </a:avLst>
          </a:prstGeom>
          <a:solidFill>
            <a:srgbClr val="FFFFFF"/>
          </a:solidFill>
          <a:ln w="6350">
            <a:solidFill>
              <a:srgbClr val="E3E6EA"/>
            </a:solidFill>
            <a:prstDash val="solid"/>
          </a:ln>
        </p:spPr>
      </p:sp>
      <p:sp>
        <p:nvSpPr>
          <p:cNvPr id="21" name="Shape 19"/>
          <p:cNvSpPr/>
          <p:nvPr/>
        </p:nvSpPr>
        <p:spPr>
          <a:xfrm>
            <a:off x="7129577" y="1442649"/>
            <a:ext cx="982614" cy="209580"/>
          </a:xfrm>
          <a:prstGeom prst="roundRect">
            <a:avLst>
              <a:gd name="adj" fmla="val 50000"/>
            </a:avLst>
          </a:prstGeom>
          <a:solidFill>
            <a:srgbClr val="FDE8E6"/>
          </a:solidFill>
          <a:ln/>
        </p:spPr>
      </p:sp>
      <p:sp>
        <p:nvSpPr>
          <p:cNvPr id="22" name="Text 20"/>
          <p:cNvSpPr txBox="1"/>
          <p:nvPr/>
        </p:nvSpPr>
        <p:spPr>
          <a:xfrm>
            <a:off x="7205746"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3" name="Text 21"/>
          <p:cNvSpPr txBox="1"/>
          <p:nvPr/>
        </p:nvSpPr>
        <p:spPr>
          <a:xfrm>
            <a:off x="8213781" y="1446947"/>
            <a:ext cx="2845979"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Thuật toán HMAC-SHA512 với HashSecret</a:t>
            </a:r>
            <a:endParaRPr lang="en-US" sz="1100" dirty="0"/>
          </a:p>
        </p:txBody>
      </p:sp>
      <p:sp>
        <p:nvSpPr>
          <p:cNvPr id="24" name="Shape 22"/>
          <p:cNvSpPr/>
          <p:nvPr/>
        </p:nvSpPr>
        <p:spPr>
          <a:xfrm>
            <a:off x="7008967" y="1823588"/>
            <a:ext cx="4522348" cy="594269"/>
          </a:xfrm>
          <a:prstGeom prst="roundRect">
            <a:avLst>
              <a:gd name="adj" fmla="val 12817"/>
            </a:avLst>
          </a:prstGeom>
          <a:solidFill>
            <a:srgbClr val="FFFFFF"/>
          </a:solidFill>
          <a:ln w="6350">
            <a:solidFill>
              <a:srgbClr val="E3E6EA"/>
            </a:solidFill>
            <a:prstDash val="solid"/>
          </a:ln>
        </p:spPr>
      </p:sp>
      <p:sp>
        <p:nvSpPr>
          <p:cNvPr id="25" name="Shape 23"/>
          <p:cNvSpPr/>
          <p:nvPr/>
        </p:nvSpPr>
        <p:spPr>
          <a:xfrm>
            <a:off x="7129577" y="1918868"/>
            <a:ext cx="982614" cy="209580"/>
          </a:xfrm>
          <a:prstGeom prst="roundRect">
            <a:avLst>
              <a:gd name="adj" fmla="val 50000"/>
            </a:avLst>
          </a:prstGeom>
          <a:solidFill>
            <a:srgbClr val="FDE8E6"/>
          </a:solidFill>
          <a:ln/>
        </p:spPr>
      </p:sp>
      <p:sp>
        <p:nvSpPr>
          <p:cNvPr id="26" name="Text 24"/>
          <p:cNvSpPr txBox="1"/>
          <p:nvPr/>
        </p:nvSpPr>
        <p:spPr>
          <a:xfrm>
            <a:off x="7205746" y="195004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7" name="Text 25"/>
          <p:cNvSpPr txBox="1"/>
          <p:nvPr/>
        </p:nvSpPr>
        <p:spPr>
          <a:xfrm>
            <a:off x="8213781" y="1914114"/>
            <a:ext cx="3292754" cy="46479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Kết quả dạng hex, đủ 128 ký tự. Số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02</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giữ đủ 2 chữ số mỗi byte</a:t>
            </a:r>
            <a:endParaRPr lang="en-US" sz="1100" dirty="0"/>
          </a:p>
        </p:txBody>
      </p:sp>
      <p:sp>
        <p:nvSpPr>
          <p:cNvPr id="28" name="Shape 26"/>
          <p:cNvSpPr/>
          <p:nvPr/>
        </p:nvSpPr>
        <p:spPr>
          <a:xfrm>
            <a:off x="7008967" y="2494117"/>
            <a:ext cx="4522348" cy="594269"/>
          </a:xfrm>
          <a:prstGeom prst="roundRect">
            <a:avLst>
              <a:gd name="adj" fmla="val 12817"/>
            </a:avLst>
          </a:prstGeom>
          <a:solidFill>
            <a:srgbClr val="FFFFFF"/>
          </a:solidFill>
          <a:ln w="6350">
            <a:solidFill>
              <a:srgbClr val="E3E6EA"/>
            </a:solidFill>
            <a:prstDash val="solid"/>
          </a:ln>
        </p:spPr>
      </p:sp>
      <p:sp>
        <p:nvSpPr>
          <p:cNvPr id="29" name="Shape 27"/>
          <p:cNvSpPr/>
          <p:nvPr/>
        </p:nvSpPr>
        <p:spPr>
          <a:xfrm>
            <a:off x="7129577" y="2589306"/>
            <a:ext cx="723748" cy="209580"/>
          </a:xfrm>
          <a:prstGeom prst="roundRect">
            <a:avLst>
              <a:gd name="adj" fmla="val 50000"/>
            </a:avLst>
          </a:prstGeom>
          <a:solidFill>
            <a:srgbClr val="DEF3E8"/>
          </a:solidFill>
          <a:ln/>
        </p:spPr>
      </p:sp>
      <p:sp>
        <p:nvSpPr>
          <p:cNvPr id="30" name="Text 28"/>
          <p:cNvSpPr txBox="1"/>
          <p:nvPr/>
        </p:nvSpPr>
        <p:spPr>
          <a:xfrm>
            <a:off x="7205746" y="262057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31" name="Text 29"/>
          <p:cNvSpPr txBox="1"/>
          <p:nvPr/>
        </p:nvSpPr>
        <p:spPr>
          <a:xfrm>
            <a:off x="7955006" y="2584552"/>
            <a:ext cx="3559393" cy="46479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Chữ thường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%02x</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cho giống code mẫu, viết hoa VNPAY vẫn nhận</a:t>
            </a:r>
            <a:endParaRPr lang="en-US" sz="1100" dirty="0"/>
          </a:p>
        </p:txBody>
      </p:sp>
      <p:sp>
        <p:nvSpPr>
          <p:cNvPr id="32" name="Shape 30"/>
          <p:cNvSpPr/>
          <p:nvPr/>
        </p:nvSpPr>
        <p:spPr>
          <a:xfrm>
            <a:off x="7008967" y="3164647"/>
            <a:ext cx="4522348" cy="400050"/>
          </a:xfrm>
          <a:prstGeom prst="roundRect">
            <a:avLst>
              <a:gd name="adj" fmla="val 19040"/>
            </a:avLst>
          </a:prstGeom>
          <a:solidFill>
            <a:srgbClr val="FFFFFF"/>
          </a:solidFill>
          <a:ln w="6350">
            <a:solidFill>
              <a:srgbClr val="E3E6EA"/>
            </a:solidFill>
            <a:prstDash val="solid"/>
          </a:ln>
        </p:spPr>
      </p:sp>
      <p:sp>
        <p:nvSpPr>
          <p:cNvPr id="33" name="Shape 31"/>
          <p:cNvSpPr/>
          <p:nvPr/>
        </p:nvSpPr>
        <p:spPr>
          <a:xfrm>
            <a:off x="7129577" y="3259836"/>
            <a:ext cx="723748" cy="209580"/>
          </a:xfrm>
          <a:prstGeom prst="roundRect">
            <a:avLst>
              <a:gd name="adj" fmla="val 50000"/>
            </a:avLst>
          </a:prstGeom>
          <a:solidFill>
            <a:srgbClr val="DEF3E8"/>
          </a:solidFill>
          <a:ln/>
        </p:spPr>
      </p:sp>
      <p:sp>
        <p:nvSpPr>
          <p:cNvPr id="34" name="Text 32"/>
          <p:cNvSpPr txBox="1"/>
          <p:nvPr/>
        </p:nvSpPr>
        <p:spPr>
          <a:xfrm>
            <a:off x="7205746" y="3291108"/>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35" name="Text 33"/>
          <p:cNvSpPr txBox="1"/>
          <p:nvPr/>
        </p:nvSpPr>
        <p:spPr>
          <a:xfrm>
            <a:off x="7955006" y="3264134"/>
            <a:ext cx="3584265"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Dùng class </a:t>
            </a:r>
            <a:pPr algn="l" indent="0" marL="0">
              <a:buNone/>
            </a:pPr>
            <a:r>
              <a:rPr lang="en-US" sz="1100" dirty="0">
                <a:solidFill>
                  <a:srgbClr val="3F454D"/>
                </a:solidFill>
                <a:latin typeface="Courier New" pitchFamily="34" charset="0"/>
                <a:ea typeface="Courier New" pitchFamily="34" charset="-122"/>
                <a:cs typeface="Courier New" pitchFamily="34" charset="-120"/>
              </a:rPr>
              <a:t>Mac</a:t>
            </a:r>
            <a:pPr algn="l" indent="0" marL="0">
              <a:buNone/>
            </a:pPr>
            <a:r>
              <a:rPr lang="en-US" sz="1100" dirty="0">
                <a:solidFill>
                  <a:srgbClr val="3F454D"/>
                </a:solidFill>
                <a:latin typeface="Arial" pitchFamily="34" charset="0"/>
                <a:ea typeface="Arial" pitchFamily="34" charset="-122"/>
                <a:cs typeface="Arial" pitchFamily="34" charset="-120"/>
              </a:rPr>
              <a:t> có sẵn của Java, không thêm thư viện</a:t>
            </a:r>
            <a:endParaRPr lang="en-US" sz="1100" dirty="0"/>
          </a:p>
        </p:txBody>
      </p:sp>
      <p:sp>
        <p:nvSpPr>
          <p:cNvPr id="36" name="Text 34"/>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7" name="Text 35"/>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3921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Code – chữ ký</a:t>
            </a:r>
            <a:endParaRPr lang="en-US" sz="1100" dirty="0"/>
          </a:p>
        </p:txBody>
      </p:sp>
      <p:sp>
        <p:nvSpPr>
          <p:cNvPr id="3" name="Text 1"/>
          <p:cNvSpPr txBox="1"/>
          <p:nvPr/>
        </p:nvSpPr>
        <p:spPr>
          <a:xfrm>
            <a:off x="660380" y="643829"/>
            <a:ext cx="599672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3 – Hàm buildQueryString</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385255" cy="2396825"/>
          </a:xfrm>
          <a:prstGeom prst="roundRect">
            <a:avLst>
              <a:gd name="adj" fmla="val 4239"/>
            </a:avLst>
          </a:prstGeom>
          <a:solidFill>
            <a:srgbClr val="0C131E"/>
          </a:solidFill>
          <a:ln/>
        </p:spPr>
      </p:sp>
      <p:sp>
        <p:nvSpPr>
          <p:cNvPr id="6" name="Text 4"/>
          <p:cNvSpPr txBox="1"/>
          <p:nvPr/>
        </p:nvSpPr>
        <p:spPr>
          <a:xfrm>
            <a:off x="907999" y="1783812"/>
            <a:ext cx="5089459" cy="206654"/>
          </a:xfrm>
          <a:prstGeom prst="rect">
            <a:avLst/>
          </a:prstGeom>
          <a:noFill/>
          <a:ln/>
        </p:spPr>
        <p:txBody>
          <a:bodyPr wrap="none" lIns="0" tIns="0" rIns="0" bIns="0" rtlCol="0" anchor="ctr"/>
          <a:lstStyle/>
          <a:p>
            <a:pPr algn="l" indent="0" marL="0">
              <a:buNone/>
            </a:pPr>
            <a:r>
              <a:rPr lang="en-US" sz="1050" dirty="0">
                <a:solidFill>
                  <a:srgbClr val="7FC2FF"/>
                </a:solidFill>
                <a:latin typeface="Courier New" pitchFamily="34" charset="0"/>
                <a:ea typeface="Courier New" pitchFamily="34" charset="-122"/>
                <a:cs typeface="Courier New" pitchFamily="34" charset="-120"/>
              </a:rPr>
              <a:t>static</a:t>
            </a:r>
            <a:pPr algn="l" indent="0" marL="0">
              <a:buNone/>
            </a:pPr>
            <a:r>
              <a:rPr lang="en-US" sz="1050" dirty="0">
                <a:solidFill>
                  <a:srgbClr val="E6EDF7"/>
                </a:solidFill>
                <a:latin typeface="Courier New" pitchFamily="34" charset="0"/>
                <a:ea typeface="Courier New" pitchFamily="34" charset="-122"/>
                <a:cs typeface="Courier New" pitchFamily="34" charset="-120"/>
              </a:rPr>
              <a:t> String buildQueryString(Map&lt;String, String&gt; params) {</a:t>
            </a:r>
            <a:endParaRPr lang="en-US" sz="1050" dirty="0"/>
          </a:p>
        </p:txBody>
      </p:sp>
      <p:sp>
        <p:nvSpPr>
          <p:cNvPr id="7" name="Text 5"/>
          <p:cNvSpPr txBox="1"/>
          <p:nvPr/>
        </p:nvSpPr>
        <p:spPr>
          <a:xfrm>
            <a:off x="907999" y="1990557"/>
            <a:ext cx="3647542"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StringBuilder sb = </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StringBuilder();</a:t>
            </a:r>
            <a:endParaRPr lang="en-US" sz="1050" dirty="0"/>
          </a:p>
        </p:txBody>
      </p:sp>
      <p:sp>
        <p:nvSpPr>
          <p:cNvPr id="8" name="Shape 6"/>
          <p:cNvSpPr/>
          <p:nvPr/>
        </p:nvSpPr>
        <p:spPr>
          <a:xfrm>
            <a:off x="660380" y="2179747"/>
            <a:ext cx="6385255" cy="206654"/>
          </a:xfrm>
          <a:prstGeom prst="rect">
            <a:avLst/>
          </a:prstGeom>
          <a:solidFill>
            <a:srgbClr val="FFD479">
              <a:alpha val="13000"/>
            </a:srgbClr>
          </a:solidFill>
          <a:ln/>
        </p:spPr>
      </p:sp>
      <p:sp>
        <p:nvSpPr>
          <p:cNvPr id="9" name="Shape 7"/>
          <p:cNvSpPr/>
          <p:nvPr/>
        </p:nvSpPr>
        <p:spPr>
          <a:xfrm>
            <a:off x="660380" y="2179747"/>
            <a:ext cx="31730" cy="206654"/>
          </a:xfrm>
          <a:prstGeom prst="rect">
            <a:avLst/>
          </a:prstGeom>
          <a:solidFill>
            <a:srgbClr val="FFD479"/>
          </a:solidFill>
          <a:ln/>
        </p:spPr>
      </p:sp>
      <p:sp>
        <p:nvSpPr>
          <p:cNvPr id="10" name="Text 8"/>
          <p:cNvSpPr txBox="1"/>
          <p:nvPr/>
        </p:nvSpPr>
        <p:spPr>
          <a:xfrm>
            <a:off x="907999" y="2197212"/>
            <a:ext cx="627699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for</a:t>
            </a:r>
            <a:pPr algn="l" indent="0" marL="0">
              <a:buNone/>
            </a:pPr>
            <a:r>
              <a:rPr lang="en-US" sz="1050" dirty="0">
                <a:solidFill>
                  <a:srgbClr val="E6EDF7"/>
                </a:solidFill>
                <a:latin typeface="Courier New" pitchFamily="34" charset="0"/>
                <a:ea typeface="Courier New" pitchFamily="34" charset="-122"/>
                <a:cs typeface="Courier New" pitchFamily="34" charset="-120"/>
              </a:rPr>
              <a:t> (Map.Entry&lt;String, String&gt; e : </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TreeMap&lt;&gt;(params).entrySet()) {</a:t>
            </a:r>
            <a:endParaRPr lang="en-US" sz="1050" dirty="0"/>
          </a:p>
        </p:txBody>
      </p:sp>
      <p:sp>
        <p:nvSpPr>
          <p:cNvPr id="11" name="Shape 9"/>
          <p:cNvSpPr/>
          <p:nvPr/>
        </p:nvSpPr>
        <p:spPr>
          <a:xfrm>
            <a:off x="660380" y="2386493"/>
            <a:ext cx="6385255" cy="206654"/>
          </a:xfrm>
          <a:prstGeom prst="rect">
            <a:avLst/>
          </a:prstGeom>
          <a:solidFill>
            <a:srgbClr val="FFD479">
              <a:alpha val="13000"/>
            </a:srgbClr>
          </a:solidFill>
          <a:ln/>
        </p:spPr>
      </p:sp>
      <p:sp>
        <p:nvSpPr>
          <p:cNvPr id="12" name="Shape 10"/>
          <p:cNvSpPr/>
          <p:nvPr/>
        </p:nvSpPr>
        <p:spPr>
          <a:xfrm>
            <a:off x="660380" y="2386493"/>
            <a:ext cx="31730" cy="206654"/>
          </a:xfrm>
          <a:prstGeom prst="rect">
            <a:avLst/>
          </a:prstGeom>
          <a:solidFill>
            <a:srgbClr val="FFD479"/>
          </a:solidFill>
          <a:ln/>
        </p:spPr>
      </p:sp>
      <p:sp>
        <p:nvSpPr>
          <p:cNvPr id="13" name="Text 11"/>
          <p:cNvSpPr txBox="1"/>
          <p:nvPr/>
        </p:nvSpPr>
        <p:spPr>
          <a:xfrm>
            <a:off x="907999" y="2403866"/>
            <a:ext cx="5853166"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if</a:t>
            </a:r>
            <a:pPr algn="l" indent="0" marL="0">
              <a:buNone/>
            </a:pPr>
            <a:r>
              <a:rPr lang="en-US" sz="1050" dirty="0">
                <a:solidFill>
                  <a:srgbClr val="E6EDF7"/>
                </a:solidFill>
                <a:latin typeface="Courier New" pitchFamily="34" charset="0"/>
                <a:ea typeface="Courier New" pitchFamily="34" charset="-122"/>
                <a:cs typeface="Courier New" pitchFamily="34" charset="-120"/>
              </a:rPr>
              <a:t> (e.getValue() == </a:t>
            </a:r>
            <a:pPr algn="l" indent="0" marL="0">
              <a:buNone/>
            </a:pPr>
            <a:r>
              <a:rPr lang="en-US" sz="1050" dirty="0">
                <a:solidFill>
                  <a:srgbClr val="7FC2FF"/>
                </a:solidFill>
                <a:latin typeface="Courier New" pitchFamily="34" charset="0"/>
                <a:ea typeface="Courier New" pitchFamily="34" charset="-122"/>
                <a:cs typeface="Courier New" pitchFamily="34" charset="-120"/>
              </a:rPr>
              <a:t>null</a:t>
            </a:r>
            <a:pPr algn="l" indent="0" marL="0">
              <a:buNone/>
            </a:pPr>
            <a:r>
              <a:rPr lang="en-US" sz="1050" dirty="0">
                <a:solidFill>
                  <a:srgbClr val="E6EDF7"/>
                </a:solidFill>
                <a:latin typeface="Courier New" pitchFamily="34" charset="0"/>
                <a:ea typeface="Courier New" pitchFamily="34" charset="-122"/>
                <a:cs typeface="Courier New" pitchFamily="34" charset="-120"/>
              </a:rPr>
              <a:t> || e.getValue().isEmpty()) </a:t>
            </a:r>
            <a:pPr algn="l" indent="0" marL="0">
              <a:buNone/>
            </a:pPr>
            <a:r>
              <a:rPr lang="en-US" sz="1050" dirty="0">
                <a:solidFill>
                  <a:srgbClr val="7FC2FF"/>
                </a:solidFill>
                <a:latin typeface="Courier New" pitchFamily="34" charset="0"/>
                <a:ea typeface="Courier New" pitchFamily="34" charset="-122"/>
                <a:cs typeface="Courier New" pitchFamily="34" charset="-120"/>
              </a:rPr>
              <a:t>continue</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4" name="Text 12"/>
          <p:cNvSpPr txBox="1"/>
          <p:nvPr/>
        </p:nvSpPr>
        <p:spPr>
          <a:xfrm>
            <a:off x="907999" y="2610521"/>
            <a:ext cx="373258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if</a:t>
            </a:r>
            <a:pPr algn="l" indent="0" marL="0">
              <a:buNone/>
            </a:pPr>
            <a:r>
              <a:rPr lang="en-US" sz="1050" dirty="0">
                <a:solidFill>
                  <a:srgbClr val="E6EDF7"/>
                </a:solidFill>
                <a:latin typeface="Courier New" pitchFamily="34" charset="0"/>
                <a:ea typeface="Courier New" pitchFamily="34" charset="-122"/>
                <a:cs typeface="Courier New" pitchFamily="34" charset="-120"/>
              </a:rPr>
              <a:t> (sb.length() &gt; 0) sb.append(</a:t>
            </a:r>
            <a:pPr algn="l" indent="0" marL="0">
              <a:buNone/>
            </a:pPr>
            <a:r>
              <a:rPr lang="en-US" sz="1050" dirty="0">
                <a:solidFill>
                  <a:srgbClr val="9BE3B4"/>
                </a:solidFill>
                <a:latin typeface="Courier New" pitchFamily="34" charset="0"/>
                <a:ea typeface="Courier New" pitchFamily="34" charset="-122"/>
                <a:cs typeface="Courier New" pitchFamily="34" charset="-120"/>
              </a:rPr>
              <a:t>'&amp;'</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5" name="Text 13"/>
          <p:cNvSpPr txBox="1"/>
          <p:nvPr/>
        </p:nvSpPr>
        <p:spPr>
          <a:xfrm>
            <a:off x="907999" y="2817175"/>
            <a:ext cx="568327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sb.append(URLEncoder.encode(e.getKey(), ASCII)).append(</a:t>
            </a:r>
            <a:pPr algn="l" indent="0" marL="0">
              <a:buNone/>
            </a:pPr>
            <a:r>
              <a:rPr lang="en-US" sz="1050" dirty="0">
                <a:solidFill>
                  <a:srgbClr val="9BE3B4"/>
                </a:solidFill>
                <a:latin typeface="Courier New" pitchFamily="34" charset="0"/>
                <a:ea typeface="Courier New" pitchFamily="34" charset="-122"/>
                <a:cs typeface="Courier New" pitchFamily="34" charset="-120"/>
              </a:rPr>
              <a:t>'='</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6" name="Shape 14"/>
          <p:cNvSpPr/>
          <p:nvPr/>
        </p:nvSpPr>
        <p:spPr>
          <a:xfrm>
            <a:off x="660380" y="3006456"/>
            <a:ext cx="6385255" cy="206654"/>
          </a:xfrm>
          <a:prstGeom prst="rect">
            <a:avLst/>
          </a:prstGeom>
          <a:solidFill>
            <a:srgbClr val="FFD479">
              <a:alpha val="13000"/>
            </a:srgbClr>
          </a:solidFill>
          <a:ln/>
        </p:spPr>
      </p:sp>
      <p:sp>
        <p:nvSpPr>
          <p:cNvPr id="17" name="Shape 15"/>
          <p:cNvSpPr/>
          <p:nvPr/>
        </p:nvSpPr>
        <p:spPr>
          <a:xfrm>
            <a:off x="660380" y="3006456"/>
            <a:ext cx="31730" cy="206654"/>
          </a:xfrm>
          <a:prstGeom prst="rect">
            <a:avLst/>
          </a:prstGeom>
          <a:solidFill>
            <a:srgbClr val="FFD479"/>
          </a:solidFill>
          <a:ln/>
        </p:spPr>
      </p:sp>
      <p:sp>
        <p:nvSpPr>
          <p:cNvPr id="18" name="Text 16"/>
          <p:cNvSpPr txBox="1"/>
          <p:nvPr/>
        </p:nvSpPr>
        <p:spPr>
          <a:xfrm>
            <a:off x="907999" y="3023829"/>
            <a:ext cx="4919746"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.append(URLEncoder.encode(e.getValue(), ASCII));</a:t>
            </a:r>
            <a:endParaRPr lang="en-US" sz="1050" dirty="0"/>
          </a:p>
        </p:txBody>
      </p:sp>
      <p:sp>
        <p:nvSpPr>
          <p:cNvPr id="19" name="Text 17"/>
          <p:cNvSpPr txBox="1"/>
          <p:nvPr/>
        </p:nvSpPr>
        <p:spPr>
          <a:xfrm>
            <a:off x="907999" y="3230484"/>
            <a:ext cx="47631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endParaRPr lang="en-US" sz="1050" dirty="0"/>
          </a:p>
        </p:txBody>
      </p:sp>
      <p:sp>
        <p:nvSpPr>
          <p:cNvPr id="20" name="Text 18"/>
          <p:cNvSpPr txBox="1"/>
          <p:nvPr/>
        </p:nvSpPr>
        <p:spPr>
          <a:xfrm>
            <a:off x="907999" y="3437230"/>
            <a:ext cx="2120768"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 sb.toString();</a:t>
            </a:r>
            <a:endParaRPr lang="en-US" sz="1050" dirty="0"/>
          </a:p>
        </p:txBody>
      </p:sp>
      <p:sp>
        <p:nvSpPr>
          <p:cNvPr id="21" name="Text 19"/>
          <p:cNvSpPr txBox="1"/>
          <p:nvPr/>
        </p:nvSpPr>
        <p:spPr>
          <a:xfrm>
            <a:off x="907999" y="3643884"/>
            <a:ext cx="15627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22" name="Shape 20"/>
          <p:cNvSpPr/>
          <p:nvPr/>
        </p:nvSpPr>
        <p:spPr>
          <a:xfrm>
            <a:off x="7248815" y="1347368"/>
            <a:ext cx="4282501" cy="581650"/>
          </a:xfrm>
          <a:prstGeom prst="roundRect">
            <a:avLst>
              <a:gd name="adj" fmla="val 13095"/>
            </a:avLst>
          </a:prstGeom>
          <a:solidFill>
            <a:srgbClr val="FFFFFF"/>
          </a:solidFill>
          <a:ln w="6350">
            <a:solidFill>
              <a:srgbClr val="E3E6EA"/>
            </a:solidFill>
            <a:prstDash val="solid"/>
          </a:ln>
        </p:spPr>
      </p:sp>
      <p:sp>
        <p:nvSpPr>
          <p:cNvPr id="23" name="Shape 21"/>
          <p:cNvSpPr/>
          <p:nvPr/>
        </p:nvSpPr>
        <p:spPr>
          <a:xfrm>
            <a:off x="7369515" y="1442649"/>
            <a:ext cx="982614" cy="209580"/>
          </a:xfrm>
          <a:prstGeom prst="roundRect">
            <a:avLst>
              <a:gd name="adj" fmla="val 50000"/>
            </a:avLst>
          </a:prstGeom>
          <a:solidFill>
            <a:srgbClr val="FDE8E6"/>
          </a:solidFill>
          <a:ln/>
        </p:spPr>
      </p:sp>
      <p:sp>
        <p:nvSpPr>
          <p:cNvPr id="24" name="Text 22"/>
          <p:cNvSpPr txBox="1"/>
          <p:nvPr/>
        </p:nvSpPr>
        <p:spPr>
          <a:xfrm>
            <a:off x="7445685"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5" name="Text 23"/>
          <p:cNvSpPr txBox="1"/>
          <p:nvPr/>
        </p:nvSpPr>
        <p:spPr>
          <a:xfrm>
            <a:off x="8453719" y="1437803"/>
            <a:ext cx="3045684"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Sắp xếp tên tham số tăng dần (đã thử: không sắp xếp là sai chữ ký)</a:t>
            </a:r>
            <a:endParaRPr lang="en-US" sz="1100" dirty="0"/>
          </a:p>
        </p:txBody>
      </p:sp>
      <p:sp>
        <p:nvSpPr>
          <p:cNvPr id="26" name="Shape 24"/>
          <p:cNvSpPr/>
          <p:nvPr/>
        </p:nvSpPr>
        <p:spPr>
          <a:xfrm>
            <a:off x="7248815" y="2005188"/>
            <a:ext cx="4282501" cy="581650"/>
          </a:xfrm>
          <a:prstGeom prst="roundRect">
            <a:avLst>
              <a:gd name="adj" fmla="val 13095"/>
            </a:avLst>
          </a:prstGeom>
          <a:solidFill>
            <a:srgbClr val="FFFFFF"/>
          </a:solidFill>
          <a:ln w="6350">
            <a:solidFill>
              <a:srgbClr val="E3E6EA"/>
            </a:solidFill>
            <a:prstDash val="solid"/>
          </a:ln>
        </p:spPr>
      </p:sp>
      <p:sp>
        <p:nvSpPr>
          <p:cNvPr id="27" name="Shape 25"/>
          <p:cNvSpPr/>
          <p:nvPr/>
        </p:nvSpPr>
        <p:spPr>
          <a:xfrm>
            <a:off x="7369515" y="2100377"/>
            <a:ext cx="982614" cy="209580"/>
          </a:xfrm>
          <a:prstGeom prst="roundRect">
            <a:avLst>
              <a:gd name="adj" fmla="val 50000"/>
            </a:avLst>
          </a:prstGeom>
          <a:solidFill>
            <a:srgbClr val="FDE8E6"/>
          </a:solidFill>
          <a:ln/>
        </p:spPr>
      </p:sp>
      <p:sp>
        <p:nvSpPr>
          <p:cNvPr id="28" name="Text 26"/>
          <p:cNvSpPr txBox="1"/>
          <p:nvPr/>
        </p:nvSpPr>
        <p:spPr>
          <a:xfrm>
            <a:off x="7445685" y="213164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9" name="Text 27"/>
          <p:cNvSpPr txBox="1"/>
          <p:nvPr/>
        </p:nvSpPr>
        <p:spPr>
          <a:xfrm>
            <a:off x="8453719" y="2095622"/>
            <a:ext cx="3045684"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URL-encode giá trị (đã thử: không encode là sai chữ ký)</a:t>
            </a:r>
            <a:endParaRPr lang="en-US" sz="1100" dirty="0"/>
          </a:p>
        </p:txBody>
      </p:sp>
      <p:sp>
        <p:nvSpPr>
          <p:cNvPr id="30" name="Shape 28"/>
          <p:cNvSpPr/>
          <p:nvPr/>
        </p:nvSpPr>
        <p:spPr>
          <a:xfrm>
            <a:off x="7248815" y="2663007"/>
            <a:ext cx="4282501" cy="400050"/>
          </a:xfrm>
          <a:prstGeom prst="roundRect">
            <a:avLst>
              <a:gd name="adj" fmla="val 19040"/>
            </a:avLst>
          </a:prstGeom>
          <a:solidFill>
            <a:srgbClr val="FFFFFF"/>
          </a:solidFill>
          <a:ln w="6350">
            <a:solidFill>
              <a:srgbClr val="E3E6EA"/>
            </a:solidFill>
            <a:prstDash val="solid"/>
          </a:ln>
        </p:spPr>
      </p:sp>
      <p:sp>
        <p:nvSpPr>
          <p:cNvPr id="31" name="Shape 29"/>
          <p:cNvSpPr/>
          <p:nvPr/>
        </p:nvSpPr>
        <p:spPr>
          <a:xfrm>
            <a:off x="7369515" y="2758196"/>
            <a:ext cx="982614" cy="209580"/>
          </a:xfrm>
          <a:prstGeom prst="roundRect">
            <a:avLst>
              <a:gd name="adj" fmla="val 50000"/>
            </a:avLst>
          </a:prstGeom>
          <a:solidFill>
            <a:srgbClr val="FDE8E6"/>
          </a:solidFill>
          <a:ln/>
        </p:spPr>
      </p:sp>
      <p:sp>
        <p:nvSpPr>
          <p:cNvPr id="32" name="Text 30"/>
          <p:cNvSpPr txBox="1"/>
          <p:nvPr/>
        </p:nvSpPr>
        <p:spPr>
          <a:xfrm>
            <a:off x="7445685" y="278946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33" name="Text 31"/>
          <p:cNvSpPr txBox="1"/>
          <p:nvPr/>
        </p:nvSpPr>
        <p:spPr>
          <a:xfrm>
            <a:off x="8453719" y="2762494"/>
            <a:ext cx="2949580"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Bỏ tham số rỗng, theo code mẫu của VNPAY</a:t>
            </a:r>
            <a:endParaRPr lang="en-US" sz="1100" dirty="0"/>
          </a:p>
        </p:txBody>
      </p:sp>
      <p:sp>
        <p:nvSpPr>
          <p:cNvPr id="34" name="Shape 32"/>
          <p:cNvSpPr/>
          <p:nvPr/>
        </p:nvSpPr>
        <p:spPr>
          <a:xfrm>
            <a:off x="7248815" y="3139227"/>
            <a:ext cx="4282501" cy="400050"/>
          </a:xfrm>
          <a:prstGeom prst="roundRect">
            <a:avLst>
              <a:gd name="adj" fmla="val 19040"/>
            </a:avLst>
          </a:prstGeom>
          <a:solidFill>
            <a:srgbClr val="FFFFFF"/>
          </a:solidFill>
          <a:ln w="6350">
            <a:solidFill>
              <a:srgbClr val="E3E6EA"/>
            </a:solidFill>
            <a:prstDash val="solid"/>
          </a:ln>
        </p:spPr>
      </p:sp>
      <p:sp>
        <p:nvSpPr>
          <p:cNvPr id="35" name="Shape 33"/>
          <p:cNvSpPr/>
          <p:nvPr/>
        </p:nvSpPr>
        <p:spPr>
          <a:xfrm>
            <a:off x="7369515" y="3234416"/>
            <a:ext cx="723748" cy="209580"/>
          </a:xfrm>
          <a:prstGeom prst="roundRect">
            <a:avLst>
              <a:gd name="adj" fmla="val 50000"/>
            </a:avLst>
          </a:prstGeom>
          <a:solidFill>
            <a:srgbClr val="DEF3E8"/>
          </a:solidFill>
          <a:ln/>
        </p:spPr>
      </p:sp>
      <p:sp>
        <p:nvSpPr>
          <p:cNvPr id="36" name="Text 34"/>
          <p:cNvSpPr txBox="1"/>
          <p:nvPr/>
        </p:nvSpPr>
        <p:spPr>
          <a:xfrm>
            <a:off x="7445685" y="3265688"/>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37" name="Text 35"/>
          <p:cNvSpPr txBox="1"/>
          <p:nvPr/>
        </p:nvSpPr>
        <p:spPr>
          <a:xfrm>
            <a:off x="8194853" y="3238805"/>
            <a:ext cx="3026481"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Dùng </a:t>
            </a:r>
            <a:pPr algn="l" indent="0" marL="0">
              <a:buNone/>
            </a:pPr>
            <a:r>
              <a:rPr lang="en-US" sz="1100" dirty="0">
                <a:solidFill>
                  <a:srgbClr val="3F454D"/>
                </a:solidFill>
                <a:latin typeface="Courier New" pitchFamily="34" charset="0"/>
                <a:ea typeface="Courier New" pitchFamily="34" charset="-122"/>
                <a:cs typeface="Courier New" pitchFamily="34" charset="-120"/>
              </a:rPr>
              <a:t>TreeMap</a:t>
            </a:r>
            <a:pPr algn="l" indent="0" marL="0">
              <a:buNone/>
            </a:pPr>
            <a:r>
              <a:rPr lang="en-US" sz="1100" dirty="0">
                <a:solidFill>
                  <a:srgbClr val="3F454D"/>
                </a:solidFill>
                <a:latin typeface="Arial" pitchFamily="34" charset="0"/>
                <a:ea typeface="Arial" pitchFamily="34" charset="-122"/>
                <a:cs typeface="Arial" pitchFamily="34" charset="-120"/>
              </a:rPr>
              <a:t> để có sẵn thứ tự, khỏi gọi sort</a:t>
            </a:r>
            <a:endParaRPr lang="en-US" sz="1100" dirty="0"/>
          </a:p>
        </p:txBody>
      </p:sp>
      <p:sp>
        <p:nvSpPr>
          <p:cNvPr id="38" name="Text 3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9" name="Text 37"/>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3921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Code – chữ ký</a:t>
            </a:r>
            <a:endParaRPr lang="en-US" sz="1100" dirty="0"/>
          </a:p>
        </p:txBody>
      </p:sp>
      <p:sp>
        <p:nvSpPr>
          <p:cNvPr id="3" name="Text 1"/>
          <p:cNvSpPr txBox="1"/>
          <p:nvPr/>
        </p:nvSpPr>
        <p:spPr>
          <a:xfrm>
            <a:off x="660380" y="643829"/>
            <a:ext cx="584054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4 – Hàm isValidSignature</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928134" cy="2249058"/>
          </a:xfrm>
          <a:prstGeom prst="roundRect">
            <a:avLst>
              <a:gd name="adj" fmla="val 4517"/>
            </a:avLst>
          </a:prstGeom>
          <a:solidFill>
            <a:srgbClr val="0C131E"/>
          </a:solidFill>
          <a:ln/>
        </p:spPr>
      </p:sp>
      <p:sp>
        <p:nvSpPr>
          <p:cNvPr id="6" name="Text 4"/>
          <p:cNvSpPr txBox="1"/>
          <p:nvPr/>
        </p:nvSpPr>
        <p:spPr>
          <a:xfrm>
            <a:off x="907999" y="1784452"/>
            <a:ext cx="4804806"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boolean</a:t>
            </a:r>
            <a:pPr algn="l" indent="0" marL="0">
              <a:buNone/>
            </a:pPr>
            <a:r>
              <a:rPr lang="en-US" sz="980" dirty="0">
                <a:solidFill>
                  <a:srgbClr val="E6EDF7"/>
                </a:solidFill>
                <a:latin typeface="Courier New" pitchFamily="34" charset="0"/>
                <a:ea typeface="Courier New" pitchFamily="34" charset="-122"/>
                <a:cs typeface="Courier New" pitchFamily="34" charset="-120"/>
              </a:rPr>
              <a:t> isValidSignature(Map&lt;String, String&gt; params) {</a:t>
            </a:r>
            <a:endParaRPr lang="en-US" sz="980" dirty="0"/>
          </a:p>
        </p:txBody>
      </p:sp>
      <p:sp>
        <p:nvSpPr>
          <p:cNvPr id="7" name="Text 5"/>
          <p:cNvSpPr txBox="1"/>
          <p:nvPr/>
        </p:nvSpPr>
        <p:spPr>
          <a:xfrm>
            <a:off x="907999" y="1976293"/>
            <a:ext cx="401705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received = 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8" name="Text 6"/>
          <p:cNvSpPr txBox="1"/>
          <p:nvPr/>
        </p:nvSpPr>
        <p:spPr>
          <a:xfrm>
            <a:off x="907999" y="2168225"/>
            <a:ext cx="480489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(received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 received.isBlank())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false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9" name="Text 7"/>
          <p:cNvSpPr txBox="1"/>
          <p:nvPr/>
        </p:nvSpPr>
        <p:spPr>
          <a:xfrm>
            <a:off x="907999" y="2551999"/>
            <a:ext cx="425333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Map&lt;String, String&gt; clone =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TreeMap&lt;&gt;(params);</a:t>
            </a:r>
            <a:endParaRPr lang="en-US" sz="980" dirty="0"/>
          </a:p>
        </p:txBody>
      </p:sp>
      <p:sp>
        <p:nvSpPr>
          <p:cNvPr id="10" name="Shape 8"/>
          <p:cNvSpPr/>
          <p:nvPr/>
        </p:nvSpPr>
        <p:spPr>
          <a:xfrm>
            <a:off x="660380" y="2725826"/>
            <a:ext cx="6928134" cy="191841"/>
          </a:xfrm>
          <a:prstGeom prst="rect">
            <a:avLst/>
          </a:prstGeom>
          <a:solidFill>
            <a:srgbClr val="FFD479">
              <a:alpha val="13000"/>
            </a:srgbClr>
          </a:solidFill>
          <a:ln/>
        </p:spPr>
      </p:sp>
      <p:sp>
        <p:nvSpPr>
          <p:cNvPr id="11" name="Shape 9"/>
          <p:cNvSpPr/>
          <p:nvPr/>
        </p:nvSpPr>
        <p:spPr>
          <a:xfrm>
            <a:off x="660380" y="2725826"/>
            <a:ext cx="31730" cy="191841"/>
          </a:xfrm>
          <a:prstGeom prst="rect">
            <a:avLst/>
          </a:prstGeom>
          <a:solidFill>
            <a:srgbClr val="FFD479"/>
          </a:solidFill>
          <a:ln/>
        </p:spPr>
      </p:sp>
      <p:sp>
        <p:nvSpPr>
          <p:cNvPr id="12" name="Text 10"/>
          <p:cNvSpPr txBox="1"/>
          <p:nvPr/>
        </p:nvSpPr>
        <p:spPr>
          <a:xfrm>
            <a:off x="907999" y="2743840"/>
            <a:ext cx="275682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clone.remove(</a:t>
            </a:r>
            <a:pPr algn="l" indent="0" marL="0">
              <a:buNone/>
            </a:pPr>
            <a:r>
              <a:rPr lang="en-US" sz="98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3" name="Shape 11"/>
          <p:cNvSpPr/>
          <p:nvPr/>
        </p:nvSpPr>
        <p:spPr>
          <a:xfrm>
            <a:off x="660380" y="2917759"/>
            <a:ext cx="6928134" cy="191841"/>
          </a:xfrm>
          <a:prstGeom prst="rect">
            <a:avLst/>
          </a:prstGeom>
          <a:solidFill>
            <a:srgbClr val="FFD479">
              <a:alpha val="13000"/>
            </a:srgbClr>
          </a:solidFill>
          <a:ln/>
        </p:spPr>
      </p:sp>
      <p:sp>
        <p:nvSpPr>
          <p:cNvPr id="14" name="Shape 12"/>
          <p:cNvSpPr/>
          <p:nvPr/>
        </p:nvSpPr>
        <p:spPr>
          <a:xfrm>
            <a:off x="660380" y="2917759"/>
            <a:ext cx="31730" cy="191841"/>
          </a:xfrm>
          <a:prstGeom prst="rect">
            <a:avLst/>
          </a:prstGeom>
          <a:solidFill>
            <a:srgbClr val="FFD479"/>
          </a:solidFill>
          <a:ln/>
        </p:spPr>
      </p:sp>
      <p:sp>
        <p:nvSpPr>
          <p:cNvPr id="15" name="Text 13"/>
          <p:cNvSpPr txBox="1"/>
          <p:nvPr/>
        </p:nvSpPr>
        <p:spPr>
          <a:xfrm>
            <a:off x="907999" y="2935681"/>
            <a:ext cx="307192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clone.remove(</a:t>
            </a:r>
            <a:pPr algn="l" indent="0" marL="0">
              <a:buNone/>
            </a:pPr>
            <a:r>
              <a:rPr lang="en-US" sz="980" dirty="0">
                <a:solidFill>
                  <a:srgbClr val="9BE3B4"/>
                </a:solidFill>
                <a:latin typeface="Courier New" pitchFamily="34" charset="0"/>
                <a:ea typeface="Courier New" pitchFamily="34" charset="-122"/>
                <a:cs typeface="Courier New" pitchFamily="34" charset="-120"/>
              </a:rPr>
              <a:t>"vnp_SecureHashType"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6" name="Text 14"/>
          <p:cNvSpPr txBox="1"/>
          <p:nvPr/>
        </p:nvSpPr>
        <p:spPr>
          <a:xfrm>
            <a:off x="907999" y="3319455"/>
            <a:ext cx="6852514"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hmacSHA512(HASH_SECRET, buildQueryString(clone)).equalsIgnoreCase(received);</a:t>
            </a:r>
            <a:endParaRPr lang="en-US" sz="980" dirty="0"/>
          </a:p>
        </p:txBody>
      </p:sp>
      <p:sp>
        <p:nvSpPr>
          <p:cNvPr id="17" name="Text 15"/>
          <p:cNvSpPr txBox="1"/>
          <p:nvPr/>
        </p:nvSpPr>
        <p:spPr>
          <a:xfrm>
            <a:off x="907999" y="3511387"/>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8" name="Shape 16"/>
          <p:cNvSpPr/>
          <p:nvPr/>
        </p:nvSpPr>
        <p:spPr>
          <a:xfrm>
            <a:off x="7791785" y="1347368"/>
            <a:ext cx="3739530" cy="581650"/>
          </a:xfrm>
          <a:prstGeom prst="roundRect">
            <a:avLst>
              <a:gd name="adj" fmla="val 13095"/>
            </a:avLst>
          </a:prstGeom>
          <a:solidFill>
            <a:srgbClr val="FFFFFF"/>
          </a:solidFill>
          <a:ln w="6350">
            <a:solidFill>
              <a:srgbClr val="E3E6EA"/>
            </a:solidFill>
            <a:prstDash val="solid"/>
          </a:ln>
        </p:spPr>
      </p:sp>
      <p:sp>
        <p:nvSpPr>
          <p:cNvPr id="19" name="Shape 17"/>
          <p:cNvSpPr/>
          <p:nvPr/>
        </p:nvSpPr>
        <p:spPr>
          <a:xfrm>
            <a:off x="7912395" y="1442649"/>
            <a:ext cx="982614" cy="209580"/>
          </a:xfrm>
          <a:prstGeom prst="roundRect">
            <a:avLst>
              <a:gd name="adj" fmla="val 50000"/>
            </a:avLst>
          </a:prstGeom>
          <a:solidFill>
            <a:srgbClr val="FDE8E6"/>
          </a:solidFill>
          <a:ln/>
        </p:spPr>
      </p:sp>
      <p:sp>
        <p:nvSpPr>
          <p:cNvPr id="20" name="Text 18"/>
          <p:cNvSpPr txBox="1"/>
          <p:nvPr/>
        </p:nvSpPr>
        <p:spPr>
          <a:xfrm>
            <a:off x="7988564"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1" name="Text 19"/>
          <p:cNvSpPr txBox="1"/>
          <p:nvPr/>
        </p:nvSpPr>
        <p:spPr>
          <a:xfrm>
            <a:off x="8996599" y="1437803"/>
            <a:ext cx="2486436"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Phải kiểm tra checksum trước khi xử lý bất cứ gì</a:t>
            </a:r>
            <a:endParaRPr lang="en-US" sz="1100" dirty="0"/>
          </a:p>
        </p:txBody>
      </p:sp>
      <p:sp>
        <p:nvSpPr>
          <p:cNvPr id="22" name="Shape 20"/>
          <p:cNvSpPr/>
          <p:nvPr/>
        </p:nvSpPr>
        <p:spPr>
          <a:xfrm>
            <a:off x="7791785" y="2005188"/>
            <a:ext cx="3739530" cy="606979"/>
          </a:xfrm>
          <a:prstGeom prst="roundRect">
            <a:avLst>
              <a:gd name="adj" fmla="val 12549"/>
            </a:avLst>
          </a:prstGeom>
          <a:solidFill>
            <a:srgbClr val="FFFFFF"/>
          </a:solidFill>
          <a:ln w="6350">
            <a:solidFill>
              <a:srgbClr val="E3E6EA"/>
            </a:solidFill>
            <a:prstDash val="solid"/>
          </a:ln>
        </p:spPr>
      </p:sp>
      <p:sp>
        <p:nvSpPr>
          <p:cNvPr id="23" name="Shape 21"/>
          <p:cNvSpPr/>
          <p:nvPr/>
        </p:nvSpPr>
        <p:spPr>
          <a:xfrm>
            <a:off x="7912395" y="2100377"/>
            <a:ext cx="982614" cy="209580"/>
          </a:xfrm>
          <a:prstGeom prst="roundRect">
            <a:avLst>
              <a:gd name="adj" fmla="val 50000"/>
            </a:avLst>
          </a:prstGeom>
          <a:solidFill>
            <a:srgbClr val="FDE8E6"/>
          </a:solidFill>
          <a:ln/>
        </p:spPr>
      </p:sp>
      <p:sp>
        <p:nvSpPr>
          <p:cNvPr id="24" name="Text 22"/>
          <p:cNvSpPr txBox="1"/>
          <p:nvPr/>
        </p:nvSpPr>
        <p:spPr>
          <a:xfrm>
            <a:off x="7988564" y="213164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5" name="Text 23"/>
          <p:cNvSpPr txBox="1"/>
          <p:nvPr/>
        </p:nvSpPr>
        <p:spPr>
          <a:xfrm>
            <a:off x="8996599" y="2095622"/>
            <a:ext cx="2486436" cy="47750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Bỏ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vnp_SecureHash</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vnp_SecureHashType</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rồi mới ký lại</a:t>
            </a:r>
            <a:endParaRPr lang="en-US" sz="1100" dirty="0"/>
          </a:p>
        </p:txBody>
      </p:sp>
      <p:sp>
        <p:nvSpPr>
          <p:cNvPr id="26" name="Shape 24"/>
          <p:cNvSpPr/>
          <p:nvPr/>
        </p:nvSpPr>
        <p:spPr>
          <a:xfrm>
            <a:off x="7791785" y="2688336"/>
            <a:ext cx="3739530" cy="400050"/>
          </a:xfrm>
          <a:prstGeom prst="roundRect">
            <a:avLst>
              <a:gd name="adj" fmla="val 19040"/>
            </a:avLst>
          </a:prstGeom>
          <a:solidFill>
            <a:srgbClr val="FFFFFF"/>
          </a:solidFill>
          <a:ln w="6350">
            <a:solidFill>
              <a:srgbClr val="E3E6EA"/>
            </a:solidFill>
            <a:prstDash val="solid"/>
          </a:ln>
        </p:spPr>
      </p:sp>
      <p:sp>
        <p:nvSpPr>
          <p:cNvPr id="27" name="Shape 25"/>
          <p:cNvSpPr/>
          <p:nvPr/>
        </p:nvSpPr>
        <p:spPr>
          <a:xfrm>
            <a:off x="7912395" y="2783616"/>
            <a:ext cx="723748" cy="209580"/>
          </a:xfrm>
          <a:prstGeom prst="roundRect">
            <a:avLst>
              <a:gd name="adj" fmla="val 50000"/>
            </a:avLst>
          </a:prstGeom>
          <a:solidFill>
            <a:srgbClr val="DEF3E8"/>
          </a:solidFill>
          <a:ln/>
        </p:spPr>
      </p:sp>
      <p:sp>
        <p:nvSpPr>
          <p:cNvPr id="28" name="Text 26"/>
          <p:cNvSpPr txBox="1"/>
          <p:nvPr/>
        </p:nvSpPr>
        <p:spPr>
          <a:xfrm>
            <a:off x="7988564" y="281488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29" name="Text 27"/>
          <p:cNvSpPr txBox="1"/>
          <p:nvPr/>
        </p:nvSpPr>
        <p:spPr>
          <a:xfrm>
            <a:off x="8737824" y="2787914"/>
            <a:ext cx="2648468"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So bằng </a:t>
            </a:r>
            <a:pPr algn="l" indent="0" marL="0">
              <a:buNone/>
            </a:pPr>
            <a:r>
              <a:rPr lang="en-US" sz="1100" dirty="0">
                <a:solidFill>
                  <a:srgbClr val="3F454D"/>
                </a:solidFill>
                <a:latin typeface="Courier New" pitchFamily="34" charset="0"/>
                <a:ea typeface="Courier New" pitchFamily="34" charset="-122"/>
                <a:cs typeface="Courier New" pitchFamily="34" charset="-120"/>
              </a:rPr>
              <a:t>equalsIgnoreCase</a:t>
            </a:r>
            <a:pPr algn="l" indent="0" marL="0">
              <a:buNone/>
            </a:pPr>
            <a:r>
              <a:rPr lang="en-US" sz="1100" dirty="0">
                <a:solidFill>
                  <a:srgbClr val="3F454D"/>
                </a:solidFill>
                <a:latin typeface="Arial" pitchFamily="34" charset="0"/>
                <a:ea typeface="Arial" pitchFamily="34" charset="-122"/>
                <a:cs typeface="Arial" pitchFamily="34" charset="-120"/>
              </a:rPr>
              <a:t> cho chắc</a:t>
            </a:r>
            <a:endParaRPr lang="en-US" sz="11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55484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Code – tạo thanh toán</a:t>
            </a:r>
            <a:endParaRPr lang="en-US" sz="1100" dirty="0"/>
          </a:p>
        </p:txBody>
      </p:sp>
      <p:sp>
        <p:nvSpPr>
          <p:cNvPr id="3" name="Text 1"/>
          <p:cNvSpPr txBox="1"/>
          <p:nvPr/>
        </p:nvSpPr>
        <p:spPr>
          <a:xfrm>
            <a:off x="660380" y="643829"/>
            <a:ext cx="64903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5 – Hàm createPayment (1/2)</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482456" cy="4359768"/>
          </a:xfrm>
          <a:prstGeom prst="roundRect">
            <a:avLst>
              <a:gd name="adj" fmla="val 2330"/>
            </a:avLst>
          </a:prstGeom>
          <a:solidFill>
            <a:srgbClr val="0C131E"/>
          </a:solidFill>
          <a:ln/>
        </p:spPr>
      </p:sp>
      <p:sp>
        <p:nvSpPr>
          <p:cNvPr id="6" name="Text 4"/>
          <p:cNvSpPr txBox="1"/>
          <p:nvPr/>
        </p:nvSpPr>
        <p:spPr>
          <a:xfrm>
            <a:off x="907999" y="1784452"/>
            <a:ext cx="6065032"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createPayment(</a:t>
            </a:r>
            <a:pPr algn="l" indent="0" marL="0">
              <a:buNone/>
            </a:pPr>
            <a:r>
              <a:rPr lang="en-US" sz="980" dirty="0">
                <a:solidFill>
                  <a:srgbClr val="7FC2FF"/>
                </a:solidFill>
                <a:latin typeface="Courier New" pitchFamily="34" charset="0"/>
                <a:ea typeface="Courier New" pitchFamily="34" charset="-122"/>
                <a:cs typeface="Courier New" pitchFamily="34" charset="-120"/>
              </a:rPr>
              <a:t>long</a:t>
            </a:r>
            <a:pPr algn="l" indent="0" marL="0">
              <a:buNone/>
            </a:pPr>
            <a:r>
              <a:rPr lang="en-US" sz="980" dirty="0">
                <a:solidFill>
                  <a:srgbClr val="E6EDF7"/>
                </a:solidFill>
                <a:latin typeface="Courier New" pitchFamily="34" charset="0"/>
                <a:ea typeface="Courier New" pitchFamily="34" charset="-122"/>
                <a:cs typeface="Courier New" pitchFamily="34" charset="-120"/>
              </a:rPr>
              <a:t> amount, String orderInfo, String bankCode) {</a:t>
            </a:r>
            <a:endParaRPr lang="en-US" sz="980" dirty="0"/>
          </a:p>
        </p:txBody>
      </p:sp>
      <p:sp>
        <p:nvSpPr>
          <p:cNvPr id="7" name="Text 5"/>
          <p:cNvSpPr txBox="1"/>
          <p:nvPr/>
        </p:nvSpPr>
        <p:spPr>
          <a:xfrm>
            <a:off x="907999" y="1976293"/>
            <a:ext cx="362321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LocalDateTime now = LocalDateTime.now(VN);</a:t>
            </a:r>
            <a:endParaRPr lang="en-US" sz="980" dirty="0"/>
          </a:p>
        </p:txBody>
      </p:sp>
      <p:sp>
        <p:nvSpPr>
          <p:cNvPr id="8" name="Text 6"/>
          <p:cNvSpPr txBox="1"/>
          <p:nvPr/>
        </p:nvSpPr>
        <p:spPr>
          <a:xfrm>
            <a:off x="907999" y="2168225"/>
            <a:ext cx="322929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createDate = now.format(TIME);</a:t>
            </a:r>
            <a:endParaRPr lang="en-US" sz="980" dirty="0"/>
          </a:p>
        </p:txBody>
      </p:sp>
      <p:sp>
        <p:nvSpPr>
          <p:cNvPr id="9" name="Text 7"/>
          <p:cNvSpPr txBox="1"/>
          <p:nvPr/>
        </p:nvSpPr>
        <p:spPr>
          <a:xfrm>
            <a:off x="907999" y="2360066"/>
            <a:ext cx="330811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txnRef = newTxnRef(createDate);</a:t>
            </a:r>
            <a:endParaRPr lang="en-US" sz="980" dirty="0"/>
          </a:p>
        </p:txBody>
      </p:sp>
      <p:sp>
        <p:nvSpPr>
          <p:cNvPr id="10" name="Shape 8"/>
          <p:cNvSpPr/>
          <p:nvPr/>
        </p:nvSpPr>
        <p:spPr>
          <a:xfrm>
            <a:off x="660380" y="2533985"/>
            <a:ext cx="6482456" cy="191841"/>
          </a:xfrm>
          <a:prstGeom prst="rect">
            <a:avLst/>
          </a:prstGeom>
          <a:solidFill>
            <a:srgbClr val="FFD479">
              <a:alpha val="13000"/>
            </a:srgbClr>
          </a:solidFill>
          <a:ln/>
        </p:spPr>
      </p:sp>
      <p:sp>
        <p:nvSpPr>
          <p:cNvPr id="11" name="Shape 9"/>
          <p:cNvSpPr/>
          <p:nvPr/>
        </p:nvSpPr>
        <p:spPr>
          <a:xfrm>
            <a:off x="660380" y="2533985"/>
            <a:ext cx="31730" cy="191841"/>
          </a:xfrm>
          <a:prstGeom prst="rect">
            <a:avLst/>
          </a:prstGeom>
          <a:solidFill>
            <a:srgbClr val="FFD479"/>
          </a:solidFill>
          <a:ln/>
        </p:spPr>
      </p:sp>
      <p:sp>
        <p:nvSpPr>
          <p:cNvPr id="12" name="Text 10"/>
          <p:cNvSpPr txBox="1"/>
          <p:nvPr/>
        </p:nvSpPr>
        <p:spPr>
          <a:xfrm>
            <a:off x="907999" y="2551999"/>
            <a:ext cx="57499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ORDERS.put(txnRef,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Order(txnRef, amount, orderInfo, createDate));</a:t>
            </a:r>
            <a:endParaRPr lang="en-US" sz="980" dirty="0"/>
          </a:p>
        </p:txBody>
      </p:sp>
      <p:sp>
        <p:nvSpPr>
          <p:cNvPr id="13" name="Text 11"/>
          <p:cNvSpPr txBox="1"/>
          <p:nvPr/>
        </p:nvSpPr>
        <p:spPr>
          <a:xfrm>
            <a:off x="907999" y="2935681"/>
            <a:ext cx="346566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Map&lt;String, String&gt; p =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HashMap&lt;&gt;();</a:t>
            </a:r>
            <a:endParaRPr lang="en-US" sz="980" dirty="0"/>
          </a:p>
        </p:txBody>
      </p:sp>
      <p:sp>
        <p:nvSpPr>
          <p:cNvPr id="14" name="Text 12"/>
          <p:cNvSpPr txBox="1"/>
          <p:nvPr/>
        </p:nvSpPr>
        <p:spPr>
          <a:xfrm>
            <a:off x="907999" y="3127614"/>
            <a:ext cx="267809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"vnp_Version"</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"2.1.0"</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5" name="Text 13"/>
          <p:cNvSpPr txBox="1"/>
          <p:nvPr/>
        </p:nvSpPr>
        <p:spPr>
          <a:xfrm>
            <a:off x="907999" y="3319455"/>
            <a:ext cx="252063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"vnp_Command"</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"pay"</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6" name="Text 14"/>
          <p:cNvSpPr txBox="1"/>
          <p:nvPr/>
        </p:nvSpPr>
        <p:spPr>
          <a:xfrm>
            <a:off x="907999" y="3511387"/>
            <a:ext cx="275691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 TMN_CODE);</a:t>
            </a:r>
            <a:endParaRPr lang="en-US" sz="980" dirty="0"/>
          </a:p>
        </p:txBody>
      </p:sp>
      <p:sp>
        <p:nvSpPr>
          <p:cNvPr id="17" name="Shape 15"/>
          <p:cNvSpPr/>
          <p:nvPr/>
        </p:nvSpPr>
        <p:spPr>
          <a:xfrm>
            <a:off x="660380" y="3685306"/>
            <a:ext cx="6482456" cy="191841"/>
          </a:xfrm>
          <a:prstGeom prst="rect">
            <a:avLst/>
          </a:prstGeom>
          <a:solidFill>
            <a:srgbClr val="FFD479">
              <a:alpha val="13000"/>
            </a:srgbClr>
          </a:solidFill>
          <a:ln/>
        </p:spPr>
      </p:sp>
      <p:sp>
        <p:nvSpPr>
          <p:cNvPr id="18" name="Shape 16"/>
          <p:cNvSpPr/>
          <p:nvPr/>
        </p:nvSpPr>
        <p:spPr>
          <a:xfrm>
            <a:off x="660380" y="3685306"/>
            <a:ext cx="31730" cy="191841"/>
          </a:xfrm>
          <a:prstGeom prst="rect">
            <a:avLst/>
          </a:prstGeom>
          <a:solidFill>
            <a:srgbClr val="FFD479"/>
          </a:solidFill>
          <a:ln/>
        </p:spPr>
      </p:sp>
      <p:sp>
        <p:nvSpPr>
          <p:cNvPr id="19" name="Text 17"/>
          <p:cNvSpPr txBox="1"/>
          <p:nvPr/>
        </p:nvSpPr>
        <p:spPr>
          <a:xfrm>
            <a:off x="907999" y="3703229"/>
            <a:ext cx="425342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 String.valueOf(amount * 100));</a:t>
            </a:r>
            <a:endParaRPr lang="en-US" sz="980" dirty="0"/>
          </a:p>
        </p:txBody>
      </p:sp>
      <p:sp>
        <p:nvSpPr>
          <p:cNvPr id="20" name="Text 18"/>
          <p:cNvSpPr txBox="1"/>
          <p:nvPr/>
        </p:nvSpPr>
        <p:spPr>
          <a:xfrm>
            <a:off x="907999" y="3895161"/>
            <a:ext cx="259936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"vnp_CurrCode"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1" name="Shape 19"/>
          <p:cNvSpPr/>
          <p:nvPr/>
        </p:nvSpPr>
        <p:spPr>
          <a:xfrm>
            <a:off x="660380" y="4069080"/>
            <a:ext cx="6482456" cy="191841"/>
          </a:xfrm>
          <a:prstGeom prst="rect">
            <a:avLst/>
          </a:prstGeom>
          <a:solidFill>
            <a:srgbClr val="FFD479">
              <a:alpha val="13000"/>
            </a:srgbClr>
          </a:solidFill>
          <a:ln/>
        </p:spPr>
      </p:sp>
      <p:sp>
        <p:nvSpPr>
          <p:cNvPr id="22" name="Shape 20"/>
          <p:cNvSpPr/>
          <p:nvPr/>
        </p:nvSpPr>
        <p:spPr>
          <a:xfrm>
            <a:off x="660380" y="4069080"/>
            <a:ext cx="31730" cy="191841"/>
          </a:xfrm>
          <a:prstGeom prst="rect">
            <a:avLst/>
          </a:prstGeom>
          <a:solidFill>
            <a:srgbClr val="FFD479"/>
          </a:solidFill>
          <a:ln/>
        </p:spPr>
      </p:sp>
      <p:sp>
        <p:nvSpPr>
          <p:cNvPr id="23" name="Text 21"/>
          <p:cNvSpPr txBox="1"/>
          <p:nvPr/>
        </p:nvSpPr>
        <p:spPr>
          <a:xfrm>
            <a:off x="907999" y="4087002"/>
            <a:ext cx="252072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 txnRef);</a:t>
            </a:r>
            <a:endParaRPr lang="en-US" sz="980" dirty="0"/>
          </a:p>
        </p:txBody>
      </p:sp>
      <p:sp>
        <p:nvSpPr>
          <p:cNvPr id="24" name="Text 22"/>
          <p:cNvSpPr txBox="1"/>
          <p:nvPr/>
        </p:nvSpPr>
        <p:spPr>
          <a:xfrm>
            <a:off x="907999" y="4278935"/>
            <a:ext cx="299310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"vnp_OrderInfo"</a:t>
            </a:r>
            <a:pPr algn="l" indent="0" marL="0">
              <a:buNone/>
            </a:pPr>
            <a:r>
              <a:rPr lang="en-US" sz="980" dirty="0">
                <a:solidFill>
                  <a:srgbClr val="E6EDF7"/>
                </a:solidFill>
                <a:latin typeface="Courier New" pitchFamily="34" charset="0"/>
                <a:ea typeface="Courier New" pitchFamily="34" charset="-122"/>
                <a:cs typeface="Courier New" pitchFamily="34" charset="-120"/>
              </a:rPr>
              <a:t>, orderInfo);</a:t>
            </a:r>
            <a:endParaRPr lang="en-US" sz="980" dirty="0"/>
          </a:p>
        </p:txBody>
      </p:sp>
      <p:sp>
        <p:nvSpPr>
          <p:cNvPr id="25" name="Text 23"/>
          <p:cNvSpPr txBox="1"/>
          <p:nvPr/>
        </p:nvSpPr>
        <p:spPr>
          <a:xfrm>
            <a:off x="907999" y="4470776"/>
            <a:ext cx="283564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"vnp_OrderType"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"other"</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6" name="Text 24"/>
          <p:cNvSpPr txBox="1"/>
          <p:nvPr/>
        </p:nvSpPr>
        <p:spPr>
          <a:xfrm>
            <a:off x="907999" y="4662708"/>
            <a:ext cx="236317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"vnp_Locale"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7" name="Text 25"/>
          <p:cNvSpPr txBox="1"/>
          <p:nvPr/>
        </p:nvSpPr>
        <p:spPr>
          <a:xfrm>
            <a:off x="907999" y="4854550"/>
            <a:ext cx="307192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"vnp_ReturnUrl"</a:t>
            </a:r>
            <a:pPr algn="l" indent="0" marL="0">
              <a:buNone/>
            </a:pPr>
            <a:r>
              <a:rPr lang="en-US" sz="980" dirty="0">
                <a:solidFill>
                  <a:srgbClr val="E6EDF7"/>
                </a:solidFill>
                <a:latin typeface="Courier New" pitchFamily="34" charset="0"/>
                <a:ea typeface="Courier New" pitchFamily="34" charset="-122"/>
                <a:cs typeface="Courier New" pitchFamily="34" charset="-120"/>
              </a:rPr>
              <a:t>, RETURN_URL);</a:t>
            </a:r>
            <a:endParaRPr lang="en-US" sz="980" dirty="0"/>
          </a:p>
        </p:txBody>
      </p:sp>
      <p:sp>
        <p:nvSpPr>
          <p:cNvPr id="28" name="Shape 26"/>
          <p:cNvSpPr/>
          <p:nvPr/>
        </p:nvSpPr>
        <p:spPr>
          <a:xfrm>
            <a:off x="660380" y="5028468"/>
            <a:ext cx="6482456" cy="191841"/>
          </a:xfrm>
          <a:prstGeom prst="rect">
            <a:avLst/>
          </a:prstGeom>
          <a:solidFill>
            <a:srgbClr val="FFD479">
              <a:alpha val="13000"/>
            </a:srgbClr>
          </a:solidFill>
          <a:ln/>
        </p:spPr>
      </p:sp>
      <p:sp>
        <p:nvSpPr>
          <p:cNvPr id="29" name="Shape 27"/>
          <p:cNvSpPr/>
          <p:nvPr/>
        </p:nvSpPr>
        <p:spPr>
          <a:xfrm>
            <a:off x="660380" y="5028468"/>
            <a:ext cx="31730" cy="191841"/>
          </a:xfrm>
          <a:prstGeom prst="rect">
            <a:avLst/>
          </a:prstGeom>
          <a:solidFill>
            <a:srgbClr val="FFD479"/>
          </a:solidFill>
          <a:ln/>
        </p:spPr>
      </p:sp>
      <p:sp>
        <p:nvSpPr>
          <p:cNvPr id="30" name="Text 28"/>
          <p:cNvSpPr txBox="1"/>
          <p:nvPr/>
        </p:nvSpPr>
        <p:spPr>
          <a:xfrm>
            <a:off x="907999" y="5046482"/>
            <a:ext cx="291455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"vnp_IpAddr"</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"127.0.0.1"</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1" name="Text 29"/>
          <p:cNvSpPr txBox="1"/>
          <p:nvPr/>
        </p:nvSpPr>
        <p:spPr>
          <a:xfrm>
            <a:off x="907999" y="5238323"/>
            <a:ext cx="315065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"vnp_CreateDate"</a:t>
            </a:r>
            <a:pPr algn="l" indent="0" marL="0">
              <a:buNone/>
            </a:pPr>
            <a:r>
              <a:rPr lang="en-US" sz="980" dirty="0">
                <a:solidFill>
                  <a:srgbClr val="E6EDF7"/>
                </a:solidFill>
                <a:latin typeface="Courier New" pitchFamily="34" charset="0"/>
                <a:ea typeface="Courier New" pitchFamily="34" charset="-122"/>
                <a:cs typeface="Courier New" pitchFamily="34" charset="-120"/>
              </a:rPr>
              <a:t>, createDate);</a:t>
            </a:r>
            <a:endParaRPr lang="en-US" sz="980" dirty="0"/>
          </a:p>
        </p:txBody>
      </p:sp>
      <p:sp>
        <p:nvSpPr>
          <p:cNvPr id="32" name="Text 30"/>
          <p:cNvSpPr txBox="1"/>
          <p:nvPr/>
        </p:nvSpPr>
        <p:spPr>
          <a:xfrm>
            <a:off x="907999" y="5430256"/>
            <a:ext cx="488353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"vnp_ExpireDate"</a:t>
            </a:r>
            <a:pPr algn="l" indent="0" marL="0">
              <a:buNone/>
            </a:pPr>
            <a:r>
              <a:rPr lang="en-US" sz="980" dirty="0">
                <a:solidFill>
                  <a:srgbClr val="E6EDF7"/>
                </a:solidFill>
                <a:latin typeface="Courier New" pitchFamily="34" charset="0"/>
                <a:ea typeface="Courier New" pitchFamily="34" charset="-122"/>
                <a:cs typeface="Courier New" pitchFamily="34" charset="-120"/>
              </a:rPr>
              <a:t>, now.plusMinutes(15).format(TIME));</a:t>
            </a:r>
            <a:endParaRPr lang="en-US" sz="980" dirty="0"/>
          </a:p>
        </p:txBody>
      </p:sp>
      <p:sp>
        <p:nvSpPr>
          <p:cNvPr id="33" name="Text 31"/>
          <p:cNvSpPr txBox="1"/>
          <p:nvPr/>
        </p:nvSpPr>
        <p:spPr>
          <a:xfrm>
            <a:off x="907999" y="5622097"/>
            <a:ext cx="638013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(bankCode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&amp;&amp; !bankCode.isBlank()) p.put(</a:t>
            </a:r>
            <a:pPr algn="l" indent="0" marL="0">
              <a:buNone/>
            </a:pPr>
            <a:r>
              <a:rPr lang="en-US" sz="980" dirty="0">
                <a:solidFill>
                  <a:srgbClr val="9BE3B4"/>
                </a:solidFill>
                <a:latin typeface="Courier New" pitchFamily="34" charset="0"/>
                <a:ea typeface="Courier New" pitchFamily="34" charset="-122"/>
                <a:cs typeface="Courier New" pitchFamily="34" charset="-120"/>
              </a:rPr>
              <a:t>"vnp_BankCode"</a:t>
            </a:r>
            <a:pPr algn="l" indent="0" marL="0">
              <a:buNone/>
            </a:pPr>
            <a:r>
              <a:rPr lang="en-US" sz="980" dirty="0">
                <a:solidFill>
                  <a:srgbClr val="E6EDF7"/>
                </a:solidFill>
                <a:latin typeface="Courier New" pitchFamily="34" charset="0"/>
                <a:ea typeface="Courier New" pitchFamily="34" charset="-122"/>
                <a:cs typeface="Courier New" pitchFamily="34" charset="-120"/>
              </a:rPr>
              <a:t>, bankCode);</a:t>
            </a:r>
            <a:endParaRPr lang="en-US" sz="980" dirty="0"/>
          </a:p>
        </p:txBody>
      </p:sp>
      <p:sp>
        <p:nvSpPr>
          <p:cNvPr id="34" name="Shape 32"/>
          <p:cNvSpPr/>
          <p:nvPr/>
        </p:nvSpPr>
        <p:spPr>
          <a:xfrm>
            <a:off x="7346107" y="1347368"/>
            <a:ext cx="4185209" cy="400050"/>
          </a:xfrm>
          <a:prstGeom prst="roundRect">
            <a:avLst>
              <a:gd name="adj" fmla="val 19040"/>
            </a:avLst>
          </a:prstGeom>
          <a:solidFill>
            <a:srgbClr val="FFFFFF"/>
          </a:solidFill>
          <a:ln w="6350">
            <a:solidFill>
              <a:srgbClr val="E3E6EA"/>
            </a:solidFill>
            <a:prstDash val="solid"/>
          </a:ln>
        </p:spPr>
      </p:sp>
      <p:sp>
        <p:nvSpPr>
          <p:cNvPr id="35" name="Shape 33"/>
          <p:cNvSpPr/>
          <p:nvPr/>
        </p:nvSpPr>
        <p:spPr>
          <a:xfrm>
            <a:off x="7466716" y="1442649"/>
            <a:ext cx="982614" cy="209580"/>
          </a:xfrm>
          <a:prstGeom prst="roundRect">
            <a:avLst>
              <a:gd name="adj" fmla="val 50000"/>
            </a:avLst>
          </a:prstGeom>
          <a:solidFill>
            <a:srgbClr val="FDE8E6"/>
          </a:solidFill>
          <a:ln/>
        </p:spPr>
      </p:sp>
      <p:sp>
        <p:nvSpPr>
          <p:cNvPr id="36" name="Text 34"/>
          <p:cNvSpPr txBox="1"/>
          <p:nvPr/>
        </p:nvSpPr>
        <p:spPr>
          <a:xfrm>
            <a:off x="7542886"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37" name="Text 35"/>
          <p:cNvSpPr txBox="1"/>
          <p:nvPr/>
        </p:nvSpPr>
        <p:spPr>
          <a:xfrm>
            <a:off x="8550920" y="1446947"/>
            <a:ext cx="2716591"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13 tham số bắt buộc, BankCode tuỳ chọn</a:t>
            </a:r>
            <a:endParaRPr lang="en-US" sz="1100" dirty="0"/>
          </a:p>
        </p:txBody>
      </p:sp>
      <p:sp>
        <p:nvSpPr>
          <p:cNvPr id="38" name="Shape 36"/>
          <p:cNvSpPr/>
          <p:nvPr/>
        </p:nvSpPr>
        <p:spPr>
          <a:xfrm>
            <a:off x="7346107" y="1823588"/>
            <a:ext cx="4185209" cy="594269"/>
          </a:xfrm>
          <a:prstGeom prst="roundRect">
            <a:avLst>
              <a:gd name="adj" fmla="val 12817"/>
            </a:avLst>
          </a:prstGeom>
          <a:solidFill>
            <a:srgbClr val="FFFFFF"/>
          </a:solidFill>
          <a:ln w="6350">
            <a:solidFill>
              <a:srgbClr val="E3E6EA"/>
            </a:solidFill>
            <a:prstDash val="solid"/>
          </a:ln>
        </p:spPr>
      </p:sp>
      <p:sp>
        <p:nvSpPr>
          <p:cNvPr id="39" name="Shape 37"/>
          <p:cNvSpPr/>
          <p:nvPr/>
        </p:nvSpPr>
        <p:spPr>
          <a:xfrm>
            <a:off x="7466716" y="1918868"/>
            <a:ext cx="982614" cy="209580"/>
          </a:xfrm>
          <a:prstGeom prst="roundRect">
            <a:avLst>
              <a:gd name="adj" fmla="val 50000"/>
            </a:avLst>
          </a:prstGeom>
          <a:solidFill>
            <a:srgbClr val="FDE8E6"/>
          </a:solidFill>
          <a:ln/>
        </p:spPr>
      </p:sp>
      <p:sp>
        <p:nvSpPr>
          <p:cNvPr id="40" name="Text 38"/>
          <p:cNvSpPr txBox="1"/>
          <p:nvPr/>
        </p:nvSpPr>
        <p:spPr>
          <a:xfrm>
            <a:off x="7542886" y="195004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41" name="Text 39"/>
          <p:cNvSpPr txBox="1"/>
          <p:nvPr/>
        </p:nvSpPr>
        <p:spPr>
          <a:xfrm>
            <a:off x="8550920" y="1914114"/>
            <a:ext cx="2945465" cy="46479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Số tiền nhân 100.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TxnRef</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không trùng trong ngày. Giờ GMT+7</a:t>
            </a:r>
            <a:endParaRPr lang="en-US" sz="1100" dirty="0"/>
          </a:p>
        </p:txBody>
      </p:sp>
      <p:sp>
        <p:nvSpPr>
          <p:cNvPr id="42" name="Shape 40"/>
          <p:cNvSpPr/>
          <p:nvPr/>
        </p:nvSpPr>
        <p:spPr>
          <a:xfrm>
            <a:off x="7346107" y="2494117"/>
            <a:ext cx="4185209" cy="606979"/>
          </a:xfrm>
          <a:prstGeom prst="roundRect">
            <a:avLst>
              <a:gd name="adj" fmla="val 12549"/>
            </a:avLst>
          </a:prstGeom>
          <a:solidFill>
            <a:srgbClr val="FFFFFF"/>
          </a:solidFill>
          <a:ln w="6350">
            <a:solidFill>
              <a:srgbClr val="E3E6EA"/>
            </a:solidFill>
            <a:prstDash val="solid"/>
          </a:ln>
        </p:spPr>
      </p:sp>
      <p:sp>
        <p:nvSpPr>
          <p:cNvPr id="43" name="Shape 41"/>
          <p:cNvSpPr/>
          <p:nvPr/>
        </p:nvSpPr>
        <p:spPr>
          <a:xfrm>
            <a:off x="7466716" y="2589306"/>
            <a:ext cx="982614" cy="209580"/>
          </a:xfrm>
          <a:prstGeom prst="roundRect">
            <a:avLst>
              <a:gd name="adj" fmla="val 50000"/>
            </a:avLst>
          </a:prstGeom>
          <a:solidFill>
            <a:srgbClr val="FDE8E6"/>
          </a:solidFill>
          <a:ln/>
        </p:spPr>
      </p:sp>
      <p:sp>
        <p:nvSpPr>
          <p:cNvPr id="44" name="Text 42"/>
          <p:cNvSpPr txBox="1"/>
          <p:nvPr/>
        </p:nvSpPr>
        <p:spPr>
          <a:xfrm>
            <a:off x="7542886" y="262057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45" name="Text 43"/>
          <p:cNvSpPr txBox="1"/>
          <p:nvPr/>
        </p:nvSpPr>
        <p:spPr>
          <a:xfrm>
            <a:off x="8550920" y="2584552"/>
            <a:ext cx="2945465" cy="47750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OrderInfo viết không dấu (querydr trả về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C? ph? s?a ??</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khi có dấu)</a:t>
            </a:r>
            <a:endParaRPr lang="en-US" sz="1100" dirty="0"/>
          </a:p>
        </p:txBody>
      </p:sp>
      <p:sp>
        <p:nvSpPr>
          <p:cNvPr id="46" name="Shape 44"/>
          <p:cNvSpPr/>
          <p:nvPr/>
        </p:nvSpPr>
        <p:spPr>
          <a:xfrm>
            <a:off x="7346107" y="3177266"/>
            <a:ext cx="4185209" cy="581650"/>
          </a:xfrm>
          <a:prstGeom prst="roundRect">
            <a:avLst>
              <a:gd name="adj" fmla="val 13095"/>
            </a:avLst>
          </a:prstGeom>
          <a:solidFill>
            <a:srgbClr val="FFFFFF"/>
          </a:solidFill>
          <a:ln w="6350">
            <a:solidFill>
              <a:srgbClr val="E3E6EA"/>
            </a:solidFill>
            <a:prstDash val="solid"/>
          </a:ln>
        </p:spPr>
      </p:sp>
      <p:sp>
        <p:nvSpPr>
          <p:cNvPr id="47" name="Shape 45"/>
          <p:cNvSpPr/>
          <p:nvPr/>
        </p:nvSpPr>
        <p:spPr>
          <a:xfrm>
            <a:off x="7466716" y="3272546"/>
            <a:ext cx="723748" cy="209580"/>
          </a:xfrm>
          <a:prstGeom prst="roundRect">
            <a:avLst>
              <a:gd name="adj" fmla="val 50000"/>
            </a:avLst>
          </a:prstGeom>
          <a:solidFill>
            <a:srgbClr val="DEF3E8"/>
          </a:solidFill>
          <a:ln/>
        </p:spPr>
      </p:sp>
      <p:sp>
        <p:nvSpPr>
          <p:cNvPr id="48" name="Text 46"/>
          <p:cNvSpPr txBox="1"/>
          <p:nvPr/>
        </p:nvSpPr>
        <p:spPr>
          <a:xfrm>
            <a:off x="7542886" y="330381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49" name="Text 47"/>
          <p:cNvSpPr txBox="1"/>
          <p:nvPr/>
        </p:nvSpPr>
        <p:spPr>
          <a:xfrm>
            <a:off x="8292054" y="3267791"/>
            <a:ext cx="3212104"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Lưu đơn PENDING trước khi ký, để IPN về còn tìm được đơn</a:t>
            </a:r>
            <a:endParaRPr lang="en-US" sz="1100" dirty="0"/>
          </a:p>
        </p:txBody>
      </p:sp>
      <p:sp>
        <p:nvSpPr>
          <p:cNvPr id="50" name="Shape 48"/>
          <p:cNvSpPr/>
          <p:nvPr/>
        </p:nvSpPr>
        <p:spPr>
          <a:xfrm>
            <a:off x="7346107" y="3835085"/>
            <a:ext cx="4185209" cy="581650"/>
          </a:xfrm>
          <a:prstGeom prst="roundRect">
            <a:avLst>
              <a:gd name="adj" fmla="val 13095"/>
            </a:avLst>
          </a:prstGeom>
          <a:solidFill>
            <a:srgbClr val="FFFFFF"/>
          </a:solidFill>
          <a:ln w="6350">
            <a:solidFill>
              <a:srgbClr val="E3E6EA"/>
            </a:solidFill>
            <a:prstDash val="solid"/>
          </a:ln>
        </p:spPr>
      </p:sp>
      <p:sp>
        <p:nvSpPr>
          <p:cNvPr id="51" name="Shape 49"/>
          <p:cNvSpPr/>
          <p:nvPr/>
        </p:nvSpPr>
        <p:spPr>
          <a:xfrm>
            <a:off x="7466716" y="3930366"/>
            <a:ext cx="723748" cy="209580"/>
          </a:xfrm>
          <a:prstGeom prst="roundRect">
            <a:avLst>
              <a:gd name="adj" fmla="val 50000"/>
            </a:avLst>
          </a:prstGeom>
          <a:solidFill>
            <a:srgbClr val="DEF3E8"/>
          </a:solidFill>
          <a:ln/>
        </p:spPr>
      </p:sp>
      <p:sp>
        <p:nvSpPr>
          <p:cNvPr id="52" name="Text 50"/>
          <p:cNvSpPr txBox="1"/>
          <p:nvPr/>
        </p:nvSpPr>
        <p:spPr>
          <a:xfrm>
            <a:off x="7542886" y="3961638"/>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53" name="Text 51"/>
          <p:cNvSpPr txBox="1"/>
          <p:nvPr/>
        </p:nvSpPr>
        <p:spPr>
          <a:xfrm>
            <a:off x="8292054" y="3925611"/>
            <a:ext cx="3212104"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IpAddr để 127.0.0.1 cho gọn, thật thì lấy IP của khách</a:t>
            </a:r>
            <a:endParaRPr lang="en-US" sz="1100" dirty="0"/>
          </a:p>
        </p:txBody>
      </p:sp>
      <p:sp>
        <p:nvSpPr>
          <p:cNvPr id="54" name="Text 5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5" name="Text 53"/>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55484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Code – tạo thanh toán</a:t>
            </a:r>
            <a:endParaRPr lang="en-US" sz="1100" dirty="0"/>
          </a:p>
        </p:txBody>
      </p:sp>
      <p:sp>
        <p:nvSpPr>
          <p:cNvPr id="3" name="Text 1"/>
          <p:cNvSpPr txBox="1"/>
          <p:nvPr/>
        </p:nvSpPr>
        <p:spPr>
          <a:xfrm>
            <a:off x="660380" y="643829"/>
            <a:ext cx="64903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5 – Hàm createPayment (2/2)</a:t>
            </a:r>
            <a:endParaRPr lang="en-US" sz="3000" dirty="0"/>
          </a:p>
        </p:txBody>
      </p:sp>
      <p:sp>
        <p:nvSpPr>
          <p:cNvPr id="4" name="Text 2"/>
          <p:cNvSpPr txBox="1"/>
          <p:nvPr/>
        </p:nvSpPr>
        <p:spPr>
          <a:xfrm>
            <a:off x="660380" y="1358798"/>
            <a:ext cx="2908249"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 (viết tiếp phần trên)</a:t>
            </a:r>
            <a:endParaRPr lang="en-US" sz="1000" dirty="0"/>
          </a:p>
        </p:txBody>
      </p:sp>
      <p:sp>
        <p:nvSpPr>
          <p:cNvPr id="5" name="Shape 3"/>
          <p:cNvSpPr/>
          <p:nvPr/>
        </p:nvSpPr>
        <p:spPr>
          <a:xfrm>
            <a:off x="660380" y="1601389"/>
            <a:ext cx="10870936" cy="1156899"/>
          </a:xfrm>
          <a:prstGeom prst="roundRect">
            <a:avLst>
              <a:gd name="adj" fmla="val 8781"/>
            </a:avLst>
          </a:prstGeom>
          <a:solidFill>
            <a:srgbClr val="0C131E"/>
          </a:solidFill>
          <a:ln/>
        </p:spPr>
      </p:sp>
      <p:sp>
        <p:nvSpPr>
          <p:cNvPr id="6" name="Shape 4"/>
          <p:cNvSpPr/>
          <p:nvPr/>
        </p:nvSpPr>
        <p:spPr>
          <a:xfrm>
            <a:off x="660380" y="1766438"/>
            <a:ext cx="10870936" cy="206654"/>
          </a:xfrm>
          <a:prstGeom prst="rect">
            <a:avLst/>
          </a:prstGeom>
          <a:solidFill>
            <a:srgbClr val="FFD479">
              <a:alpha val="13000"/>
            </a:srgbClr>
          </a:solidFill>
          <a:ln/>
        </p:spPr>
      </p:sp>
      <p:sp>
        <p:nvSpPr>
          <p:cNvPr id="7" name="Shape 5"/>
          <p:cNvSpPr/>
          <p:nvPr/>
        </p:nvSpPr>
        <p:spPr>
          <a:xfrm>
            <a:off x="660380" y="1766438"/>
            <a:ext cx="31730" cy="206654"/>
          </a:xfrm>
          <a:prstGeom prst="rect">
            <a:avLst/>
          </a:prstGeom>
          <a:solidFill>
            <a:srgbClr val="FFD479"/>
          </a:solidFill>
          <a:ln/>
        </p:spPr>
      </p:sp>
      <p:sp>
        <p:nvSpPr>
          <p:cNvPr id="8" name="Text 6"/>
          <p:cNvSpPr txBox="1"/>
          <p:nvPr/>
        </p:nvSpPr>
        <p:spPr>
          <a:xfrm>
            <a:off x="907999" y="1783812"/>
            <a:ext cx="3308116"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String query = buildQueryString(p);</a:t>
            </a:r>
            <a:endParaRPr lang="en-US" sz="1050" dirty="0"/>
          </a:p>
        </p:txBody>
      </p:sp>
      <p:sp>
        <p:nvSpPr>
          <p:cNvPr id="9" name="Shape 7"/>
          <p:cNvSpPr/>
          <p:nvPr/>
        </p:nvSpPr>
        <p:spPr>
          <a:xfrm>
            <a:off x="660380" y="1973092"/>
            <a:ext cx="10870936" cy="206654"/>
          </a:xfrm>
          <a:prstGeom prst="rect">
            <a:avLst/>
          </a:prstGeom>
          <a:solidFill>
            <a:srgbClr val="FFD479">
              <a:alpha val="13000"/>
            </a:srgbClr>
          </a:solidFill>
          <a:ln/>
        </p:spPr>
      </p:sp>
      <p:sp>
        <p:nvSpPr>
          <p:cNvPr id="10" name="Shape 8"/>
          <p:cNvSpPr/>
          <p:nvPr/>
        </p:nvSpPr>
        <p:spPr>
          <a:xfrm>
            <a:off x="660380" y="1973092"/>
            <a:ext cx="31730" cy="206654"/>
          </a:xfrm>
          <a:prstGeom prst="rect">
            <a:avLst/>
          </a:prstGeom>
          <a:solidFill>
            <a:srgbClr val="FFD479"/>
          </a:solidFill>
          <a:ln/>
        </p:spPr>
      </p:sp>
      <p:sp>
        <p:nvSpPr>
          <p:cNvPr id="11" name="Text 9"/>
          <p:cNvSpPr txBox="1"/>
          <p:nvPr/>
        </p:nvSpPr>
        <p:spPr>
          <a:xfrm>
            <a:off x="907999" y="1990557"/>
            <a:ext cx="7888712"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String url = PAY_URL + </a:t>
            </a:r>
            <a:pPr algn="l" indent="0" marL="0">
              <a:buNone/>
            </a:pPr>
            <a:r>
              <a:rPr lang="en-US" sz="1050" dirty="0">
                <a:solidFill>
                  <a:srgbClr val="9BE3B4"/>
                </a:solidFill>
                <a:latin typeface="Courier New" pitchFamily="34" charset="0"/>
                <a:ea typeface="Courier New" pitchFamily="34" charset="-122"/>
                <a:cs typeface="Courier New" pitchFamily="34" charset="-120"/>
              </a:rPr>
              <a:t>"?"</a:t>
            </a:r>
            <a:pPr algn="l" indent="0" marL="0">
              <a:buNone/>
            </a:pPr>
            <a:r>
              <a:rPr lang="en-US" sz="1050" dirty="0">
                <a:solidFill>
                  <a:srgbClr val="E6EDF7"/>
                </a:solidFill>
                <a:latin typeface="Courier New" pitchFamily="34" charset="0"/>
                <a:ea typeface="Courier New" pitchFamily="34" charset="-122"/>
                <a:cs typeface="Courier New" pitchFamily="34" charset="-120"/>
              </a:rPr>
              <a:t> + query + </a:t>
            </a:r>
            <a:pPr algn="l" indent="0" marL="0">
              <a:buNone/>
            </a:pPr>
            <a:r>
              <a:rPr lang="en-US" sz="1050" dirty="0">
                <a:solidFill>
                  <a:srgbClr val="9BE3B4"/>
                </a:solidFill>
                <a:latin typeface="Courier New" pitchFamily="34" charset="0"/>
                <a:ea typeface="Courier New" pitchFamily="34" charset="-122"/>
                <a:cs typeface="Courier New" pitchFamily="34" charset="-120"/>
              </a:rPr>
              <a:t>"&amp;vnp_SecureHash="</a:t>
            </a:r>
            <a:pPr algn="l" indent="0" marL="0">
              <a:buNone/>
            </a:pPr>
            <a:r>
              <a:rPr lang="en-US" sz="1050" dirty="0">
                <a:solidFill>
                  <a:srgbClr val="E6EDF7"/>
                </a:solidFill>
                <a:latin typeface="Courier New" pitchFamily="34" charset="0"/>
                <a:ea typeface="Courier New" pitchFamily="34" charset="-122"/>
                <a:cs typeface="Courier New" pitchFamily="34" charset="-120"/>
              </a:rPr>
              <a:t> + hmacSHA512(HASH_SECRET, query);</a:t>
            </a:r>
            <a:endParaRPr lang="en-US" sz="1050" dirty="0"/>
          </a:p>
        </p:txBody>
      </p:sp>
      <p:sp>
        <p:nvSpPr>
          <p:cNvPr id="12" name="Text 10"/>
          <p:cNvSpPr txBox="1"/>
          <p:nvPr/>
        </p:nvSpPr>
        <p:spPr>
          <a:xfrm>
            <a:off x="907999" y="2197212"/>
            <a:ext cx="6446977"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9BE3B4"/>
                </a:solidFill>
                <a:latin typeface="Courier New" pitchFamily="34" charset="0"/>
                <a:ea typeface="Courier New" pitchFamily="34" charset="-122"/>
                <a:cs typeface="Courier New" pitchFamily="34" charset="-120"/>
              </a:rPr>
              <a:t>"{\"txnRef\":\""</a:t>
            </a:r>
            <a:pPr algn="l" indent="0" marL="0">
              <a:buNone/>
            </a:pPr>
            <a:r>
              <a:rPr lang="en-US" sz="1050" dirty="0">
                <a:solidFill>
                  <a:srgbClr val="E6EDF7"/>
                </a:solidFill>
                <a:latin typeface="Courier New" pitchFamily="34" charset="0"/>
                <a:ea typeface="Courier New" pitchFamily="34" charset="-122"/>
                <a:cs typeface="Courier New" pitchFamily="34" charset="-120"/>
              </a:rPr>
              <a:t> + txnRef + </a:t>
            </a:r>
            <a:pPr algn="l" indent="0" marL="0">
              <a:buNone/>
            </a:pPr>
            <a:r>
              <a:rPr lang="en-US" sz="1050" dirty="0">
                <a:solidFill>
                  <a:srgbClr val="9BE3B4"/>
                </a:solidFill>
                <a:latin typeface="Courier New" pitchFamily="34" charset="0"/>
                <a:ea typeface="Courier New" pitchFamily="34" charset="-122"/>
                <a:cs typeface="Courier New" pitchFamily="34" charset="-120"/>
              </a:rPr>
              <a:t>"\",\"paymentUrl\":\""</a:t>
            </a:r>
            <a:pPr algn="l" indent="0" marL="0">
              <a:buNone/>
            </a:pPr>
            <a:r>
              <a:rPr lang="en-US" sz="1050" dirty="0">
                <a:solidFill>
                  <a:srgbClr val="E6EDF7"/>
                </a:solidFill>
                <a:latin typeface="Courier New" pitchFamily="34" charset="0"/>
                <a:ea typeface="Courier New" pitchFamily="34" charset="-122"/>
                <a:cs typeface="Courier New" pitchFamily="34" charset="-120"/>
              </a:rPr>
              <a:t> + url + </a:t>
            </a:r>
            <a:pPr algn="l" indent="0" marL="0">
              <a:buNone/>
            </a:pPr>
            <a:r>
              <a:rPr lang="en-US" sz="1050" dirty="0">
                <a:solidFill>
                  <a:srgbClr val="9BE3B4"/>
                </a:solidFill>
                <a:latin typeface="Courier New" pitchFamily="34" charset="0"/>
                <a:ea typeface="Courier New" pitchFamily="34" charset="-122"/>
                <a:cs typeface="Courier New" pitchFamily="34" charset="-120"/>
              </a:rPr>
              <a:t>"\"}"</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3" name="Text 11"/>
          <p:cNvSpPr txBox="1"/>
          <p:nvPr/>
        </p:nvSpPr>
        <p:spPr>
          <a:xfrm>
            <a:off x="907999" y="2403866"/>
            <a:ext cx="15627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4" name="Shape 12"/>
          <p:cNvSpPr/>
          <p:nvPr/>
        </p:nvSpPr>
        <p:spPr>
          <a:xfrm>
            <a:off x="660380" y="2936047"/>
            <a:ext cx="10870936" cy="400050"/>
          </a:xfrm>
          <a:prstGeom prst="roundRect">
            <a:avLst>
              <a:gd name="adj" fmla="val 19040"/>
            </a:avLst>
          </a:prstGeom>
          <a:solidFill>
            <a:srgbClr val="FFFFFF"/>
          </a:solidFill>
          <a:ln w="6350">
            <a:solidFill>
              <a:srgbClr val="E3E6EA"/>
            </a:solidFill>
            <a:prstDash val="solid"/>
          </a:ln>
        </p:spPr>
      </p:sp>
      <p:sp>
        <p:nvSpPr>
          <p:cNvPr id="15" name="Shape 13"/>
          <p:cNvSpPr/>
          <p:nvPr/>
        </p:nvSpPr>
        <p:spPr>
          <a:xfrm>
            <a:off x="780989" y="3031236"/>
            <a:ext cx="982614" cy="209580"/>
          </a:xfrm>
          <a:prstGeom prst="roundRect">
            <a:avLst>
              <a:gd name="adj" fmla="val 50000"/>
            </a:avLst>
          </a:prstGeom>
          <a:solidFill>
            <a:srgbClr val="FDE8E6"/>
          </a:solidFill>
          <a:ln/>
        </p:spPr>
      </p:sp>
      <p:sp>
        <p:nvSpPr>
          <p:cNvPr id="16" name="Text 14"/>
          <p:cNvSpPr txBox="1"/>
          <p:nvPr/>
        </p:nvSpPr>
        <p:spPr>
          <a:xfrm>
            <a:off x="857250" y="3062508"/>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17" name="Text 15"/>
          <p:cNvSpPr txBox="1"/>
          <p:nvPr/>
        </p:nvSpPr>
        <p:spPr>
          <a:xfrm>
            <a:off x="1865285" y="3035534"/>
            <a:ext cx="4170670"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Gắn </a:t>
            </a:r>
            <a:pPr algn="l" indent="0" marL="0">
              <a:buNone/>
            </a:pPr>
            <a:r>
              <a:rPr lang="en-US" sz="1100" dirty="0">
                <a:solidFill>
                  <a:srgbClr val="3F454D"/>
                </a:solidFill>
                <a:latin typeface="Courier New" pitchFamily="34" charset="0"/>
                <a:ea typeface="Courier New" pitchFamily="34" charset="-122"/>
                <a:cs typeface="Courier New" pitchFamily="34" charset="-120"/>
              </a:rPr>
              <a:t>vnp_SecureHash</a:t>
            </a:r>
            <a:pPr algn="l" indent="0" marL="0">
              <a:buNone/>
            </a:pPr>
            <a:r>
              <a:rPr lang="en-US" sz="1100" dirty="0">
                <a:solidFill>
                  <a:srgbClr val="3F454D"/>
                </a:solidFill>
                <a:latin typeface="Arial" pitchFamily="34" charset="0"/>
                <a:ea typeface="Arial" pitchFamily="34" charset="-122"/>
                <a:cs typeface="Arial" pitchFamily="34" charset="-120"/>
              </a:rPr>
              <a:t> vào cuối link, link trỏ tới </a:t>
            </a:r>
            <a:pPr algn="l" indent="0" marL="0">
              <a:buNone/>
            </a:pPr>
            <a:r>
              <a:rPr lang="en-US" sz="1100" dirty="0">
                <a:solidFill>
                  <a:srgbClr val="3F454D"/>
                </a:solidFill>
                <a:latin typeface="Courier New" pitchFamily="34" charset="0"/>
                <a:ea typeface="Courier New" pitchFamily="34" charset="-122"/>
                <a:cs typeface="Courier New" pitchFamily="34" charset="-120"/>
              </a:rPr>
              <a:t>vpcpay.html</a:t>
            </a:r>
            <a:endParaRPr lang="en-US" sz="1100" dirty="0"/>
          </a:p>
        </p:txBody>
      </p:sp>
      <p:sp>
        <p:nvSpPr>
          <p:cNvPr id="18" name="Shape 16"/>
          <p:cNvSpPr/>
          <p:nvPr/>
        </p:nvSpPr>
        <p:spPr>
          <a:xfrm>
            <a:off x="660380" y="3412266"/>
            <a:ext cx="10870936" cy="400050"/>
          </a:xfrm>
          <a:prstGeom prst="roundRect">
            <a:avLst>
              <a:gd name="adj" fmla="val 19040"/>
            </a:avLst>
          </a:prstGeom>
          <a:solidFill>
            <a:srgbClr val="FFFFFF"/>
          </a:solidFill>
          <a:ln w="6350">
            <a:solidFill>
              <a:srgbClr val="E3E6EA"/>
            </a:solidFill>
            <a:prstDash val="solid"/>
          </a:ln>
        </p:spPr>
      </p:sp>
      <p:sp>
        <p:nvSpPr>
          <p:cNvPr id="19" name="Shape 17"/>
          <p:cNvSpPr/>
          <p:nvPr/>
        </p:nvSpPr>
        <p:spPr>
          <a:xfrm>
            <a:off x="780989" y="3507456"/>
            <a:ext cx="723748" cy="209580"/>
          </a:xfrm>
          <a:prstGeom prst="roundRect">
            <a:avLst>
              <a:gd name="adj" fmla="val 50000"/>
            </a:avLst>
          </a:prstGeom>
          <a:solidFill>
            <a:srgbClr val="DEF3E8"/>
          </a:solidFill>
          <a:ln/>
        </p:spPr>
      </p:sp>
      <p:sp>
        <p:nvSpPr>
          <p:cNvPr id="20" name="Text 18"/>
          <p:cNvSpPr txBox="1"/>
          <p:nvPr/>
        </p:nvSpPr>
        <p:spPr>
          <a:xfrm>
            <a:off x="857250" y="3538728"/>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21" name="Text 19"/>
          <p:cNvSpPr txBox="1"/>
          <p:nvPr/>
        </p:nvSpPr>
        <p:spPr>
          <a:xfrm>
            <a:off x="1606418" y="3511845"/>
            <a:ext cx="7926294"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Payment Service trả JSON </a:t>
            </a:r>
            <a:pPr algn="l" indent="0" marL="0">
              <a:buNone/>
            </a:pPr>
            <a:r>
              <a:rPr lang="en-US" sz="1100" dirty="0">
                <a:solidFill>
                  <a:srgbClr val="3F454D"/>
                </a:solidFill>
                <a:latin typeface="Courier New" pitchFamily="34" charset="0"/>
                <a:ea typeface="Courier New" pitchFamily="34" charset="-122"/>
                <a:cs typeface="Courier New" pitchFamily="34" charset="-120"/>
              </a:rPr>
              <a:t>{txnRef, paymentUrl}</a:t>
            </a:r>
            <a:pPr algn="l" indent="0" marL="0">
              <a:buNone/>
            </a:pPr>
            <a:r>
              <a:rPr lang="en-US" sz="1100" dirty="0">
                <a:solidFill>
                  <a:srgbClr val="3F454D"/>
                </a:solidFill>
                <a:latin typeface="Arial" pitchFamily="34" charset="0"/>
                <a:ea typeface="Arial" pitchFamily="34" charset="-122"/>
                <a:cs typeface="Arial" pitchFamily="34" charset="-120"/>
              </a:rPr>
              <a:t> cho web. Đây là API nội bộ giữa hai bên, VNPAY không quan tâm</a:t>
            </a:r>
            <a:endParaRPr lang="en-US" sz="1100" dirty="0"/>
          </a:p>
        </p:txBody>
      </p:sp>
      <p:sp>
        <p:nvSpPr>
          <p:cNvPr id="22" name="Shape 20"/>
          <p:cNvSpPr/>
          <p:nvPr/>
        </p:nvSpPr>
        <p:spPr>
          <a:xfrm>
            <a:off x="660380" y="3888486"/>
            <a:ext cx="10870936" cy="400050"/>
          </a:xfrm>
          <a:prstGeom prst="roundRect">
            <a:avLst>
              <a:gd name="adj" fmla="val 19040"/>
            </a:avLst>
          </a:prstGeom>
          <a:solidFill>
            <a:srgbClr val="FFFFFF"/>
          </a:solidFill>
          <a:ln w="6350">
            <a:solidFill>
              <a:srgbClr val="E3E6EA"/>
            </a:solidFill>
            <a:prstDash val="solid"/>
          </a:ln>
        </p:spPr>
      </p:sp>
      <p:sp>
        <p:nvSpPr>
          <p:cNvPr id="23" name="Shape 21"/>
          <p:cNvSpPr/>
          <p:nvPr/>
        </p:nvSpPr>
        <p:spPr>
          <a:xfrm>
            <a:off x="780989" y="3983766"/>
            <a:ext cx="723748" cy="209580"/>
          </a:xfrm>
          <a:prstGeom prst="roundRect">
            <a:avLst>
              <a:gd name="adj" fmla="val 50000"/>
            </a:avLst>
          </a:prstGeom>
          <a:solidFill>
            <a:srgbClr val="DEF3E8"/>
          </a:solidFill>
          <a:ln/>
        </p:spPr>
      </p:sp>
      <p:sp>
        <p:nvSpPr>
          <p:cNvPr id="24" name="Text 22"/>
          <p:cNvSpPr txBox="1"/>
          <p:nvPr/>
        </p:nvSpPr>
        <p:spPr>
          <a:xfrm>
            <a:off x="857250" y="4014948"/>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25" name="Text 23"/>
          <p:cNvSpPr txBox="1"/>
          <p:nvPr/>
        </p:nvSpPr>
        <p:spPr>
          <a:xfrm>
            <a:off x="1606418" y="3988064"/>
            <a:ext cx="4220230"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Web không giữ HashSecret, chỉ nhận link đã ký rồi chuyển trang</a:t>
            </a:r>
            <a:endParaRPr lang="en-US" sz="1100" dirty="0"/>
          </a:p>
        </p:txBody>
      </p:sp>
      <p:sp>
        <p:nvSpPr>
          <p:cNvPr id="26" name="Text 24"/>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7" name="Text 25"/>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89640"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Chạy thử</a:t>
            </a:r>
            <a:endParaRPr lang="en-US" sz="1100" dirty="0"/>
          </a:p>
        </p:txBody>
      </p:sp>
      <p:sp>
        <p:nvSpPr>
          <p:cNvPr id="3" name="Text 1"/>
          <p:cNvSpPr txBox="1"/>
          <p:nvPr/>
        </p:nvSpPr>
        <p:spPr>
          <a:xfrm>
            <a:off x="660380" y="643829"/>
            <a:ext cx="68732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Test lần 1: chuyển được sang VNPAY</a:t>
            </a:r>
            <a:endParaRPr lang="en-US" sz="3000" dirty="0"/>
          </a:p>
        </p:txBody>
      </p:sp>
      <p:sp>
        <p:nvSpPr>
          <p:cNvPr id="4" name="Shape 2"/>
          <p:cNvSpPr/>
          <p:nvPr/>
        </p:nvSpPr>
        <p:spPr>
          <a:xfrm>
            <a:off x="660380" y="1347368"/>
            <a:ext cx="4063868" cy="920709"/>
          </a:xfrm>
          <a:prstGeom prst="roundRect">
            <a:avLst>
              <a:gd name="adj" fmla="val 11034"/>
            </a:avLst>
          </a:prstGeom>
          <a:solidFill>
            <a:srgbClr val="0C131E"/>
          </a:solidFill>
          <a:ln/>
        </p:spPr>
      </p:sp>
      <p:sp>
        <p:nvSpPr>
          <p:cNvPr id="5" name="Text 3"/>
          <p:cNvSpPr txBox="1"/>
          <p:nvPr/>
        </p:nvSpPr>
        <p:spPr>
          <a:xfrm>
            <a:off x="907999" y="1539118"/>
            <a:ext cx="2544684" cy="295260"/>
          </a:xfrm>
          <a:prstGeom prst="rect">
            <a:avLst/>
          </a:prstGeom>
          <a:noFill/>
          <a:ln/>
        </p:spPr>
        <p:txBody>
          <a:bodyPr wrap="none" lIns="0" tIns="0" rIns="0" bIns="0" rtlCol="0" anchor="ctr"/>
          <a:lstStyle/>
          <a:p>
            <a:pPr algn="l" indent="0" marL="0">
              <a:buNone/>
            </a:pPr>
            <a:r>
              <a:rPr lang="en-US" sz="1500" dirty="0">
                <a:solidFill>
                  <a:srgbClr val="7D8CA3"/>
                </a:solidFill>
                <a:latin typeface="Courier New" pitchFamily="34" charset="0"/>
                <a:ea typeface="Courier New" pitchFamily="34" charset="-122"/>
                <a:cs typeface="Courier New" pitchFamily="34" charset="-120"/>
              </a:rPr>
              <a:t># Ctrl+C rồi chạy lại</a:t>
            </a:r>
            <a:endParaRPr lang="en-US" sz="1500" dirty="0"/>
          </a:p>
        </p:txBody>
      </p:sp>
      <p:sp>
        <p:nvSpPr>
          <p:cNvPr id="6" name="Text 4"/>
          <p:cNvSpPr txBox="1"/>
          <p:nvPr/>
        </p:nvSpPr>
        <p:spPr>
          <a:xfrm>
            <a:off x="907999" y="1834378"/>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java ShopStart.java</a:t>
            </a:r>
            <a:endParaRPr lang="en-US" sz="1500" dirty="0"/>
          </a:p>
        </p:txBody>
      </p:sp>
      <p:sp>
        <p:nvSpPr>
          <p:cNvPr id="7" name="Shape 5"/>
          <p:cNvSpPr/>
          <p:nvPr/>
        </p:nvSpPr>
        <p:spPr>
          <a:xfrm>
            <a:off x="698510" y="2543404"/>
            <a:ext cx="63459" cy="63459"/>
          </a:xfrm>
          <a:prstGeom prst="ellipse">
            <a:avLst/>
          </a:prstGeom>
          <a:solidFill>
            <a:srgbClr val="0066FF"/>
          </a:solidFill>
          <a:ln/>
        </p:spPr>
      </p:sp>
      <p:sp>
        <p:nvSpPr>
          <p:cNvPr id="8" name="Text 6"/>
          <p:cNvSpPr txBox="1"/>
          <p:nvPr/>
        </p:nvSpPr>
        <p:spPr>
          <a:xfrm>
            <a:off x="876270" y="2441539"/>
            <a:ext cx="138997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Bấm Thanh toán</a:t>
            </a:r>
            <a:endParaRPr lang="en-US" sz="1400" dirty="0"/>
          </a:p>
        </p:txBody>
      </p:sp>
      <p:sp>
        <p:nvSpPr>
          <p:cNvPr id="9" name="Shape 7"/>
          <p:cNvSpPr/>
          <p:nvPr/>
        </p:nvSpPr>
        <p:spPr>
          <a:xfrm>
            <a:off x="698510" y="2899014"/>
            <a:ext cx="63459" cy="63459"/>
          </a:xfrm>
          <a:prstGeom prst="ellipse">
            <a:avLst/>
          </a:prstGeom>
          <a:solidFill>
            <a:srgbClr val="0066FF"/>
          </a:solidFill>
          <a:ln/>
        </p:spPr>
      </p:sp>
      <p:sp>
        <p:nvSpPr>
          <p:cNvPr id="10" name="Text 8"/>
          <p:cNvSpPr txBox="1"/>
          <p:nvPr/>
        </p:nvSpPr>
        <p:spPr>
          <a:xfrm>
            <a:off x="876270" y="2797150"/>
            <a:ext cx="403479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Trang VNPAY hiện đúng số tiền và mã đơn là ok</a:t>
            </a:r>
            <a:endParaRPr lang="en-US" sz="1400" dirty="0"/>
          </a:p>
        </p:txBody>
      </p:sp>
      <p:sp>
        <p:nvSpPr>
          <p:cNvPr id="11" name="Text 9"/>
          <p:cNvSpPr txBox="1"/>
          <p:nvPr/>
        </p:nvSpPr>
        <p:spPr>
          <a:xfrm>
            <a:off x="4927519" y="1358798"/>
            <a:ext cx="83841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Nếu bị lỗi</a:t>
            </a:r>
            <a:endParaRPr lang="en-US" sz="1000" dirty="0"/>
          </a:p>
        </p:txBody>
      </p:sp>
      <p:sp>
        <p:nvSpPr>
          <p:cNvPr id="12" name="Shape 10"/>
          <p:cNvSpPr/>
          <p:nvPr/>
        </p:nvSpPr>
        <p:spPr>
          <a:xfrm>
            <a:off x="4927519" y="1715689"/>
            <a:ext cx="6603797" cy="2308128"/>
          </a:xfrm>
          <a:prstGeom prst="roundRect">
            <a:avLst>
              <a:gd name="adj" fmla="val 4401"/>
            </a:avLst>
          </a:prstGeom>
          <a:solidFill>
            <a:srgbClr val="FFFFFF"/>
          </a:solidFill>
          <a:ln/>
        </p:spPr>
      </p:sp>
      <p:sp>
        <p:nvSpPr>
          <p:cNvPr id="13" name="Shape 11"/>
          <p:cNvSpPr/>
          <p:nvPr/>
        </p:nvSpPr>
        <p:spPr>
          <a:xfrm>
            <a:off x="4927519" y="1715689"/>
            <a:ext cx="2905689" cy="422270"/>
          </a:xfrm>
          <a:prstGeom prst="rect">
            <a:avLst/>
          </a:prstGeom>
          <a:solidFill>
            <a:srgbClr val="ECF2FF"/>
          </a:solidFill>
          <a:ln/>
        </p:spPr>
      </p:sp>
      <p:sp>
        <p:nvSpPr>
          <p:cNvPr id="14" name="Text 12"/>
          <p:cNvSpPr txBox="1"/>
          <p:nvPr/>
        </p:nvSpPr>
        <p:spPr>
          <a:xfrm>
            <a:off x="5092568" y="1847728"/>
            <a:ext cx="3069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LỖI</a:t>
            </a:r>
            <a:endParaRPr lang="en-US" sz="1000" dirty="0"/>
          </a:p>
        </p:txBody>
      </p:sp>
      <p:sp>
        <p:nvSpPr>
          <p:cNvPr id="15" name="Shape 13"/>
          <p:cNvSpPr/>
          <p:nvPr/>
        </p:nvSpPr>
        <p:spPr>
          <a:xfrm>
            <a:off x="7833116" y="1715689"/>
            <a:ext cx="3698199" cy="422270"/>
          </a:xfrm>
          <a:prstGeom prst="rect">
            <a:avLst/>
          </a:prstGeom>
          <a:solidFill>
            <a:srgbClr val="ECF2FF"/>
          </a:solidFill>
          <a:ln/>
        </p:spPr>
      </p:sp>
      <p:sp>
        <p:nvSpPr>
          <p:cNvPr id="16" name="Text 14"/>
          <p:cNvSpPr txBox="1"/>
          <p:nvPr/>
        </p:nvSpPr>
        <p:spPr>
          <a:xfrm>
            <a:off x="7998257" y="1847728"/>
            <a:ext cx="100135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KIỂM TRA LẠI</a:t>
            </a:r>
            <a:endParaRPr lang="en-US" sz="1000" dirty="0"/>
          </a:p>
        </p:txBody>
      </p:sp>
      <p:sp>
        <p:nvSpPr>
          <p:cNvPr id="17" name="Shape 15"/>
          <p:cNvSpPr/>
          <p:nvPr/>
        </p:nvSpPr>
        <p:spPr>
          <a:xfrm>
            <a:off x="4927519" y="2137867"/>
            <a:ext cx="2905689" cy="6309"/>
          </a:xfrm>
          <a:prstGeom prst="rect">
            <a:avLst/>
          </a:prstGeom>
          <a:solidFill>
            <a:srgbClr val="E3E6EA"/>
          </a:solidFill>
          <a:ln/>
        </p:spPr>
      </p:sp>
      <p:sp>
        <p:nvSpPr>
          <p:cNvPr id="18" name="Text 16"/>
          <p:cNvSpPr txBox="1"/>
          <p:nvPr/>
        </p:nvSpPr>
        <p:spPr>
          <a:xfrm>
            <a:off x="5067148" y="2233879"/>
            <a:ext cx="168624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unreachable statement</a:t>
            </a:r>
            <a:endParaRPr lang="en-US" sz="1150" dirty="0"/>
          </a:p>
        </p:txBody>
      </p:sp>
      <p:sp>
        <p:nvSpPr>
          <p:cNvPr id="19" name="Shape 17"/>
          <p:cNvSpPr/>
          <p:nvPr/>
        </p:nvSpPr>
        <p:spPr>
          <a:xfrm>
            <a:off x="7833116" y="2137867"/>
            <a:ext cx="3698199" cy="6309"/>
          </a:xfrm>
          <a:prstGeom prst="rect">
            <a:avLst/>
          </a:prstGeom>
          <a:solidFill>
            <a:srgbClr val="E3E6EA"/>
          </a:solidFill>
          <a:ln/>
        </p:spPr>
      </p:sp>
      <p:sp>
        <p:nvSpPr>
          <p:cNvPr id="20" name="Text 18"/>
          <p:cNvSpPr txBox="1"/>
          <p:nvPr/>
        </p:nvSpPr>
        <p:spPr>
          <a:xfrm>
            <a:off x="7972836" y="2233879"/>
            <a:ext cx="201424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Chưa xoá dòng return có sẵn</a:t>
            </a:r>
            <a:endParaRPr lang="en-US" sz="1150" dirty="0"/>
          </a:p>
        </p:txBody>
      </p:sp>
      <p:sp>
        <p:nvSpPr>
          <p:cNvPr id="21" name="Shape 19"/>
          <p:cNvSpPr/>
          <p:nvPr/>
        </p:nvSpPr>
        <p:spPr>
          <a:xfrm>
            <a:off x="4927519" y="2515697"/>
            <a:ext cx="2905689" cy="6309"/>
          </a:xfrm>
          <a:prstGeom prst="rect">
            <a:avLst/>
          </a:prstGeom>
          <a:solidFill>
            <a:srgbClr val="E3E6EA"/>
          </a:solidFill>
          <a:ln/>
        </p:spPr>
      </p:sp>
      <p:sp>
        <p:nvSpPr>
          <p:cNvPr id="22" name="Text 20"/>
          <p:cNvSpPr txBox="1"/>
          <p:nvPr/>
        </p:nvSpPr>
        <p:spPr>
          <a:xfrm>
            <a:off x="5067148" y="2611709"/>
            <a:ext cx="81527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Sai chữ ký</a:t>
            </a:r>
            <a:endParaRPr lang="en-US" sz="1150" dirty="0"/>
          </a:p>
        </p:txBody>
      </p:sp>
      <p:sp>
        <p:nvSpPr>
          <p:cNvPr id="23" name="Shape 21"/>
          <p:cNvSpPr/>
          <p:nvPr/>
        </p:nvSpPr>
        <p:spPr>
          <a:xfrm>
            <a:off x="7833116" y="2515697"/>
            <a:ext cx="3698199" cy="6309"/>
          </a:xfrm>
          <a:prstGeom prst="rect">
            <a:avLst/>
          </a:prstGeom>
          <a:solidFill>
            <a:srgbClr val="E3E6EA"/>
          </a:solidFill>
          <a:ln/>
        </p:spPr>
      </p:sp>
      <p:sp>
        <p:nvSpPr>
          <p:cNvPr id="24" name="Text 22"/>
          <p:cNvSpPr txBox="1"/>
          <p:nvPr/>
        </p:nvSpPr>
        <p:spPr>
          <a:xfrm>
            <a:off x="7972836" y="2611709"/>
            <a:ext cx="292717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HashSecret, hoặc quên encode ở TODO 3</a:t>
            </a:r>
            <a:endParaRPr lang="en-US" sz="1150" dirty="0"/>
          </a:p>
        </p:txBody>
      </p:sp>
      <p:sp>
        <p:nvSpPr>
          <p:cNvPr id="25" name="Shape 23"/>
          <p:cNvSpPr/>
          <p:nvPr/>
        </p:nvSpPr>
        <p:spPr>
          <a:xfrm>
            <a:off x="4927519" y="2893527"/>
            <a:ext cx="2905689" cy="6309"/>
          </a:xfrm>
          <a:prstGeom prst="rect">
            <a:avLst/>
          </a:prstGeom>
          <a:solidFill>
            <a:srgbClr val="E3E6EA"/>
          </a:solidFill>
          <a:ln/>
        </p:spPr>
      </p:sp>
      <p:sp>
        <p:nvSpPr>
          <p:cNvPr id="26" name="Text 24"/>
          <p:cNvSpPr txBox="1"/>
          <p:nvPr/>
        </p:nvSpPr>
        <p:spPr>
          <a:xfrm>
            <a:off x="5067148" y="2989539"/>
            <a:ext cx="160550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Website không tồn tại</a:t>
            </a:r>
            <a:endParaRPr lang="en-US" sz="1150" dirty="0"/>
          </a:p>
        </p:txBody>
      </p:sp>
      <p:sp>
        <p:nvSpPr>
          <p:cNvPr id="27" name="Shape 25"/>
          <p:cNvSpPr/>
          <p:nvPr/>
        </p:nvSpPr>
        <p:spPr>
          <a:xfrm>
            <a:off x="7833116" y="2893527"/>
            <a:ext cx="3698199" cy="6309"/>
          </a:xfrm>
          <a:prstGeom prst="rect">
            <a:avLst/>
          </a:prstGeom>
          <a:solidFill>
            <a:srgbClr val="E3E6EA"/>
          </a:solidFill>
          <a:ln/>
        </p:spPr>
      </p:sp>
      <p:sp>
        <p:nvSpPr>
          <p:cNvPr id="28" name="Text 26"/>
          <p:cNvSpPr txBox="1"/>
          <p:nvPr/>
        </p:nvSpPr>
        <p:spPr>
          <a:xfrm>
            <a:off x="7972836" y="2989539"/>
            <a:ext cx="71743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TmnCode</a:t>
            </a:r>
            <a:endParaRPr lang="en-US" sz="1150" dirty="0"/>
          </a:p>
        </p:txBody>
      </p:sp>
      <p:sp>
        <p:nvSpPr>
          <p:cNvPr id="29" name="Shape 27"/>
          <p:cNvSpPr/>
          <p:nvPr/>
        </p:nvSpPr>
        <p:spPr>
          <a:xfrm>
            <a:off x="4927519" y="3271357"/>
            <a:ext cx="2905689" cy="6309"/>
          </a:xfrm>
          <a:prstGeom prst="rect">
            <a:avLst/>
          </a:prstGeom>
          <a:solidFill>
            <a:srgbClr val="E3E6EA"/>
          </a:solidFill>
          <a:ln/>
        </p:spPr>
      </p:sp>
      <p:sp>
        <p:nvSpPr>
          <p:cNvPr id="30" name="Text 28"/>
          <p:cNvSpPr txBox="1"/>
          <p:nvPr/>
        </p:nvSpPr>
        <p:spPr>
          <a:xfrm>
            <a:off x="5067148" y="3367369"/>
            <a:ext cx="153774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Số tiền không hợp lệ</a:t>
            </a:r>
            <a:endParaRPr lang="en-US" sz="1150" dirty="0"/>
          </a:p>
        </p:txBody>
      </p:sp>
      <p:sp>
        <p:nvSpPr>
          <p:cNvPr id="31" name="Shape 29"/>
          <p:cNvSpPr/>
          <p:nvPr/>
        </p:nvSpPr>
        <p:spPr>
          <a:xfrm>
            <a:off x="7833116" y="3271357"/>
            <a:ext cx="3698199" cy="6309"/>
          </a:xfrm>
          <a:prstGeom prst="rect">
            <a:avLst/>
          </a:prstGeom>
          <a:solidFill>
            <a:srgbClr val="E3E6EA"/>
          </a:solidFill>
          <a:ln/>
        </p:spPr>
      </p:sp>
      <p:sp>
        <p:nvSpPr>
          <p:cNvPr id="32" name="Text 30"/>
          <p:cNvSpPr txBox="1"/>
          <p:nvPr/>
        </p:nvSpPr>
        <p:spPr>
          <a:xfrm>
            <a:off x="7972836" y="3367369"/>
            <a:ext cx="108319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Quên nhân 100</a:t>
            </a:r>
            <a:endParaRPr lang="en-US" sz="1150" dirty="0"/>
          </a:p>
        </p:txBody>
      </p:sp>
      <p:sp>
        <p:nvSpPr>
          <p:cNvPr id="33" name="Shape 31"/>
          <p:cNvSpPr/>
          <p:nvPr/>
        </p:nvSpPr>
        <p:spPr>
          <a:xfrm>
            <a:off x="4927519" y="3649188"/>
            <a:ext cx="2905689" cy="6309"/>
          </a:xfrm>
          <a:prstGeom prst="rect">
            <a:avLst/>
          </a:prstGeom>
          <a:solidFill>
            <a:srgbClr val="E3E6EA"/>
          </a:solidFill>
          <a:ln/>
        </p:spPr>
      </p:sp>
      <p:sp>
        <p:nvSpPr>
          <p:cNvPr id="34" name="Text 32"/>
          <p:cNvSpPr txBox="1"/>
          <p:nvPr/>
        </p:nvSpPr>
        <p:spPr>
          <a:xfrm>
            <a:off x="5067148" y="3745200"/>
            <a:ext cx="130155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Giao dịch hết hạn</a:t>
            </a:r>
            <a:endParaRPr lang="en-US" sz="1150" dirty="0"/>
          </a:p>
        </p:txBody>
      </p:sp>
      <p:sp>
        <p:nvSpPr>
          <p:cNvPr id="35" name="Shape 33"/>
          <p:cNvSpPr/>
          <p:nvPr/>
        </p:nvSpPr>
        <p:spPr>
          <a:xfrm>
            <a:off x="7833116" y="3649188"/>
            <a:ext cx="3698199" cy="6309"/>
          </a:xfrm>
          <a:prstGeom prst="rect">
            <a:avLst/>
          </a:prstGeom>
          <a:solidFill>
            <a:srgbClr val="E3E6EA"/>
          </a:solidFill>
          <a:ln/>
        </p:spPr>
      </p:sp>
      <p:sp>
        <p:nvSpPr>
          <p:cNvPr id="36" name="Text 34"/>
          <p:cNvSpPr txBox="1"/>
          <p:nvPr/>
        </p:nvSpPr>
        <p:spPr>
          <a:xfrm>
            <a:off x="7972836" y="3745200"/>
            <a:ext cx="145810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Giờ trên máy, ZoneId</a:t>
            </a:r>
            <a:endParaRPr lang="en-US" sz="115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89640"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Chạy thử</a:t>
            </a:r>
            <a:endParaRPr lang="en-US" sz="1100" dirty="0"/>
          </a:p>
        </p:txBody>
      </p:sp>
      <p:sp>
        <p:nvSpPr>
          <p:cNvPr id="3" name="Text 1"/>
          <p:cNvSpPr txBox="1"/>
          <p:nvPr/>
        </p:nvSpPr>
        <p:spPr>
          <a:xfrm>
            <a:off x="660380" y="643829"/>
            <a:ext cx="4607479"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Thanh toán bằng thẻ test</a:t>
            </a:r>
            <a:endParaRPr lang="en-US" sz="3000" dirty="0"/>
          </a:p>
        </p:txBody>
      </p:sp>
      <p:sp>
        <p:nvSpPr>
          <p:cNvPr id="4" name="Shape 2"/>
          <p:cNvSpPr/>
          <p:nvPr/>
        </p:nvSpPr>
        <p:spPr>
          <a:xfrm>
            <a:off x="660380" y="1347368"/>
            <a:ext cx="4825837" cy="2705070"/>
          </a:xfrm>
          <a:prstGeom prst="roundRect">
            <a:avLst>
              <a:gd name="adj" fmla="val 3756"/>
            </a:avLst>
          </a:prstGeom>
          <a:solidFill>
            <a:srgbClr val="FFFFFF"/>
          </a:solidFill>
          <a:ln/>
        </p:spPr>
      </p:sp>
      <p:sp>
        <p:nvSpPr>
          <p:cNvPr id="5" name="Shape 3"/>
          <p:cNvSpPr/>
          <p:nvPr/>
        </p:nvSpPr>
        <p:spPr>
          <a:xfrm>
            <a:off x="660380" y="1347368"/>
            <a:ext cx="2123328" cy="422270"/>
          </a:xfrm>
          <a:prstGeom prst="rect">
            <a:avLst/>
          </a:prstGeom>
          <a:solidFill>
            <a:srgbClr val="ECF2FF"/>
          </a:solidFill>
          <a:ln/>
        </p:spPr>
      </p:sp>
      <p:sp>
        <p:nvSpPr>
          <p:cNvPr id="6" name="Text 4"/>
          <p:cNvSpPr txBox="1"/>
          <p:nvPr/>
        </p:nvSpPr>
        <p:spPr>
          <a:xfrm>
            <a:off x="825520" y="1479408"/>
            <a:ext cx="83183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THÔNG TIN</a:t>
            </a:r>
            <a:endParaRPr lang="en-US" sz="1000" dirty="0"/>
          </a:p>
        </p:txBody>
      </p:sp>
      <p:sp>
        <p:nvSpPr>
          <p:cNvPr id="7" name="Shape 5"/>
          <p:cNvSpPr/>
          <p:nvPr/>
        </p:nvSpPr>
        <p:spPr>
          <a:xfrm>
            <a:off x="2783708" y="1347368"/>
            <a:ext cx="2702509" cy="422270"/>
          </a:xfrm>
          <a:prstGeom prst="rect">
            <a:avLst/>
          </a:prstGeom>
          <a:solidFill>
            <a:srgbClr val="ECF2FF"/>
          </a:solidFill>
          <a:ln/>
        </p:spPr>
      </p:sp>
      <p:sp>
        <p:nvSpPr>
          <p:cNvPr id="8" name="Text 6"/>
          <p:cNvSpPr txBox="1"/>
          <p:nvPr/>
        </p:nvSpPr>
        <p:spPr>
          <a:xfrm>
            <a:off x="2948849" y="1479408"/>
            <a:ext cx="46149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NHẬP</a:t>
            </a:r>
            <a:endParaRPr lang="en-US" sz="1000" dirty="0"/>
          </a:p>
        </p:txBody>
      </p:sp>
      <p:sp>
        <p:nvSpPr>
          <p:cNvPr id="9" name="Shape 7"/>
          <p:cNvSpPr/>
          <p:nvPr/>
        </p:nvSpPr>
        <p:spPr>
          <a:xfrm>
            <a:off x="660380" y="1769638"/>
            <a:ext cx="2123328" cy="6309"/>
          </a:xfrm>
          <a:prstGeom prst="rect">
            <a:avLst/>
          </a:prstGeom>
          <a:solidFill>
            <a:srgbClr val="E3E6EA"/>
          </a:solidFill>
          <a:ln/>
        </p:spPr>
      </p:sp>
      <p:sp>
        <p:nvSpPr>
          <p:cNvPr id="10" name="Text 8"/>
          <p:cNvSpPr txBox="1"/>
          <p:nvPr/>
        </p:nvSpPr>
        <p:spPr>
          <a:xfrm>
            <a:off x="825520" y="1889882"/>
            <a:ext cx="92930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Ngân hàng</a:t>
            </a:r>
            <a:endParaRPr lang="en-US" sz="1300" dirty="0"/>
          </a:p>
        </p:txBody>
      </p:sp>
      <p:sp>
        <p:nvSpPr>
          <p:cNvPr id="11" name="Shape 9"/>
          <p:cNvSpPr/>
          <p:nvPr/>
        </p:nvSpPr>
        <p:spPr>
          <a:xfrm>
            <a:off x="2783708" y="1769638"/>
            <a:ext cx="2702509" cy="6309"/>
          </a:xfrm>
          <a:prstGeom prst="rect">
            <a:avLst/>
          </a:prstGeom>
          <a:solidFill>
            <a:srgbClr val="E3E6EA"/>
          </a:solidFill>
          <a:ln/>
        </p:spPr>
      </p:sp>
      <p:sp>
        <p:nvSpPr>
          <p:cNvPr id="12" name="Text 10"/>
          <p:cNvSpPr txBox="1"/>
          <p:nvPr/>
        </p:nvSpPr>
        <p:spPr>
          <a:xfrm>
            <a:off x="2948849" y="1900215"/>
            <a:ext cx="35067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NCB</a:t>
            </a:r>
            <a:endParaRPr lang="en-US" sz="1200" dirty="0"/>
          </a:p>
        </p:txBody>
      </p:sp>
      <p:sp>
        <p:nvSpPr>
          <p:cNvPr id="13" name="Shape 11"/>
          <p:cNvSpPr/>
          <p:nvPr/>
        </p:nvSpPr>
        <p:spPr>
          <a:xfrm>
            <a:off x="660380" y="2226838"/>
            <a:ext cx="2123328" cy="6309"/>
          </a:xfrm>
          <a:prstGeom prst="rect">
            <a:avLst/>
          </a:prstGeom>
          <a:solidFill>
            <a:srgbClr val="E3E6EA"/>
          </a:solidFill>
          <a:ln/>
        </p:spPr>
      </p:sp>
      <p:sp>
        <p:nvSpPr>
          <p:cNvPr id="14" name="Text 12"/>
          <p:cNvSpPr txBox="1"/>
          <p:nvPr/>
        </p:nvSpPr>
        <p:spPr>
          <a:xfrm>
            <a:off x="825520" y="2347082"/>
            <a:ext cx="58073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Số thẻ</a:t>
            </a:r>
            <a:endParaRPr lang="en-US" sz="1300" dirty="0"/>
          </a:p>
        </p:txBody>
      </p:sp>
      <p:sp>
        <p:nvSpPr>
          <p:cNvPr id="15" name="Shape 13"/>
          <p:cNvSpPr/>
          <p:nvPr/>
        </p:nvSpPr>
        <p:spPr>
          <a:xfrm>
            <a:off x="2783708" y="2226838"/>
            <a:ext cx="2702509" cy="6309"/>
          </a:xfrm>
          <a:prstGeom prst="rect">
            <a:avLst/>
          </a:prstGeom>
          <a:solidFill>
            <a:srgbClr val="E3E6EA"/>
          </a:solidFill>
          <a:ln/>
        </p:spPr>
      </p:sp>
      <p:sp>
        <p:nvSpPr>
          <p:cNvPr id="16" name="Text 14"/>
          <p:cNvSpPr txBox="1"/>
          <p:nvPr/>
        </p:nvSpPr>
        <p:spPr>
          <a:xfrm>
            <a:off x="2948849" y="2357323"/>
            <a:ext cx="1841967"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9704198526191432198</a:t>
            </a:r>
            <a:endParaRPr lang="en-US" sz="1200" dirty="0"/>
          </a:p>
        </p:txBody>
      </p:sp>
      <p:sp>
        <p:nvSpPr>
          <p:cNvPr id="17" name="Shape 15"/>
          <p:cNvSpPr/>
          <p:nvPr/>
        </p:nvSpPr>
        <p:spPr>
          <a:xfrm>
            <a:off x="660380" y="2684038"/>
            <a:ext cx="2123328" cy="6309"/>
          </a:xfrm>
          <a:prstGeom prst="rect">
            <a:avLst/>
          </a:prstGeom>
          <a:solidFill>
            <a:srgbClr val="E3E6EA"/>
          </a:solidFill>
          <a:ln/>
        </p:spPr>
      </p:sp>
      <p:sp>
        <p:nvSpPr>
          <p:cNvPr id="18" name="Text 16"/>
          <p:cNvSpPr txBox="1"/>
          <p:nvPr/>
        </p:nvSpPr>
        <p:spPr>
          <a:xfrm>
            <a:off x="825520" y="2804282"/>
            <a:ext cx="1002640"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Tên chủ thẻ</a:t>
            </a:r>
            <a:endParaRPr lang="en-US" sz="1300" dirty="0"/>
          </a:p>
        </p:txBody>
      </p:sp>
      <p:sp>
        <p:nvSpPr>
          <p:cNvPr id="19" name="Shape 17"/>
          <p:cNvSpPr/>
          <p:nvPr/>
        </p:nvSpPr>
        <p:spPr>
          <a:xfrm>
            <a:off x="2783708" y="2684038"/>
            <a:ext cx="2702509" cy="6309"/>
          </a:xfrm>
          <a:prstGeom prst="rect">
            <a:avLst/>
          </a:prstGeom>
          <a:solidFill>
            <a:srgbClr val="E3E6EA"/>
          </a:solidFill>
          <a:ln/>
        </p:spPr>
      </p:sp>
      <p:sp>
        <p:nvSpPr>
          <p:cNvPr id="20" name="Text 18"/>
          <p:cNvSpPr txBox="1"/>
          <p:nvPr/>
        </p:nvSpPr>
        <p:spPr>
          <a:xfrm>
            <a:off x="2948849" y="2814523"/>
            <a:ext cx="117363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NGUYEN VAN A</a:t>
            </a:r>
            <a:endParaRPr lang="en-US" sz="1200" dirty="0"/>
          </a:p>
        </p:txBody>
      </p:sp>
      <p:sp>
        <p:nvSpPr>
          <p:cNvPr id="21" name="Shape 19"/>
          <p:cNvSpPr/>
          <p:nvPr/>
        </p:nvSpPr>
        <p:spPr>
          <a:xfrm>
            <a:off x="660380" y="3141147"/>
            <a:ext cx="2123328" cy="6309"/>
          </a:xfrm>
          <a:prstGeom prst="rect">
            <a:avLst/>
          </a:prstGeom>
          <a:solidFill>
            <a:srgbClr val="E3E6EA"/>
          </a:solidFill>
          <a:ln/>
        </p:spPr>
      </p:sp>
      <p:sp>
        <p:nvSpPr>
          <p:cNvPr id="22" name="Text 20"/>
          <p:cNvSpPr txBox="1"/>
          <p:nvPr/>
        </p:nvSpPr>
        <p:spPr>
          <a:xfrm>
            <a:off x="825520" y="3261482"/>
            <a:ext cx="1314541"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Ngày phát hành</a:t>
            </a:r>
            <a:endParaRPr lang="en-US" sz="1300" dirty="0"/>
          </a:p>
        </p:txBody>
      </p:sp>
      <p:sp>
        <p:nvSpPr>
          <p:cNvPr id="23" name="Shape 21"/>
          <p:cNvSpPr/>
          <p:nvPr/>
        </p:nvSpPr>
        <p:spPr>
          <a:xfrm>
            <a:off x="2783708" y="3141147"/>
            <a:ext cx="2702509" cy="6309"/>
          </a:xfrm>
          <a:prstGeom prst="rect">
            <a:avLst/>
          </a:prstGeom>
          <a:solidFill>
            <a:srgbClr val="E3E6EA"/>
          </a:solidFill>
          <a:ln/>
        </p:spPr>
      </p:sp>
      <p:sp>
        <p:nvSpPr>
          <p:cNvPr id="24" name="Text 22"/>
          <p:cNvSpPr txBox="1"/>
          <p:nvPr/>
        </p:nvSpPr>
        <p:spPr>
          <a:xfrm>
            <a:off x="2948849" y="3271723"/>
            <a:ext cx="533461"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07/15</a:t>
            </a:r>
            <a:endParaRPr lang="en-US" sz="1200" dirty="0"/>
          </a:p>
        </p:txBody>
      </p:sp>
      <p:sp>
        <p:nvSpPr>
          <p:cNvPr id="25" name="Shape 23"/>
          <p:cNvSpPr/>
          <p:nvPr/>
        </p:nvSpPr>
        <p:spPr>
          <a:xfrm>
            <a:off x="660380" y="3598347"/>
            <a:ext cx="2123328" cy="6309"/>
          </a:xfrm>
          <a:prstGeom prst="rect">
            <a:avLst/>
          </a:prstGeom>
          <a:solidFill>
            <a:srgbClr val="E3E6EA"/>
          </a:solidFill>
          <a:ln/>
        </p:spPr>
      </p:sp>
      <p:sp>
        <p:nvSpPr>
          <p:cNvPr id="26" name="Text 24"/>
          <p:cNvSpPr txBox="1"/>
          <p:nvPr/>
        </p:nvSpPr>
        <p:spPr>
          <a:xfrm>
            <a:off x="825520" y="3718682"/>
            <a:ext cx="41559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OTP</a:t>
            </a:r>
            <a:endParaRPr lang="en-US" sz="1300" dirty="0"/>
          </a:p>
        </p:txBody>
      </p:sp>
      <p:sp>
        <p:nvSpPr>
          <p:cNvPr id="27" name="Shape 25"/>
          <p:cNvSpPr/>
          <p:nvPr/>
        </p:nvSpPr>
        <p:spPr>
          <a:xfrm>
            <a:off x="2783708" y="3598347"/>
            <a:ext cx="2702509" cy="6309"/>
          </a:xfrm>
          <a:prstGeom prst="rect">
            <a:avLst/>
          </a:prstGeom>
          <a:solidFill>
            <a:srgbClr val="E3E6EA"/>
          </a:solidFill>
          <a:ln/>
        </p:spPr>
      </p:sp>
      <p:sp>
        <p:nvSpPr>
          <p:cNvPr id="28" name="Text 26"/>
          <p:cNvSpPr txBox="1"/>
          <p:nvPr/>
        </p:nvSpPr>
        <p:spPr>
          <a:xfrm>
            <a:off x="2948849" y="3728923"/>
            <a:ext cx="62499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123456</a:t>
            </a:r>
            <a:endParaRPr lang="en-US" sz="1200" dirty="0"/>
          </a:p>
        </p:txBody>
      </p:sp>
      <p:sp>
        <p:nvSpPr>
          <p:cNvPr id="29" name="Text 27"/>
          <p:cNvSpPr txBox="1"/>
          <p:nvPr/>
        </p:nvSpPr>
        <p:spPr>
          <a:xfrm>
            <a:off x="5689488"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30" name="Shape 28"/>
          <p:cNvSpPr/>
          <p:nvPr/>
        </p:nvSpPr>
        <p:spPr>
          <a:xfrm>
            <a:off x="5689488" y="1715689"/>
            <a:ext cx="5841827" cy="802477"/>
          </a:xfrm>
          <a:prstGeom prst="roundRect">
            <a:avLst>
              <a:gd name="adj" fmla="val 12660"/>
            </a:avLst>
          </a:prstGeom>
          <a:solidFill>
            <a:srgbClr val="0C131E"/>
          </a:solidFill>
          <a:ln/>
        </p:spPr>
      </p:sp>
      <p:sp>
        <p:nvSpPr>
          <p:cNvPr id="31" name="Text 29"/>
          <p:cNvSpPr txBox="1"/>
          <p:nvPr/>
        </p:nvSpPr>
        <p:spPr>
          <a:xfrm>
            <a:off x="5937108" y="1903324"/>
            <a:ext cx="37807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[10:15:02] querydr 20261010101433482913</a:t>
            </a:r>
            <a:endParaRPr lang="en-US" sz="1200" dirty="0"/>
          </a:p>
        </p:txBody>
      </p:sp>
      <p:sp>
        <p:nvSpPr>
          <p:cNvPr id="32" name="Text 30"/>
          <p:cNvSpPr txBox="1"/>
          <p:nvPr/>
        </p:nvSpPr>
        <p:spPr>
          <a:xfrm>
            <a:off x="5937108" y="2139513"/>
            <a:ext cx="2617470"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-&gt; PAID 15900122</a:t>
            </a:r>
            <a:endParaRPr lang="en-US" sz="1200" dirty="0"/>
          </a:p>
        </p:txBody>
      </p:sp>
      <p:sp>
        <p:nvSpPr>
          <p:cNvPr id="33" name="Shape 31"/>
          <p:cNvSpPr/>
          <p:nvPr/>
        </p:nvSpPr>
        <p:spPr>
          <a:xfrm>
            <a:off x="5727527" y="2743566"/>
            <a:ext cx="63459" cy="63459"/>
          </a:xfrm>
          <a:prstGeom prst="ellipse">
            <a:avLst/>
          </a:prstGeom>
          <a:solidFill>
            <a:srgbClr val="0066FF"/>
          </a:solidFill>
          <a:ln/>
        </p:spPr>
      </p:sp>
      <p:sp>
        <p:nvSpPr>
          <p:cNvPr id="34" name="Text 32"/>
          <p:cNvSpPr txBox="1"/>
          <p:nvPr/>
        </p:nvSpPr>
        <p:spPr>
          <a:xfrm>
            <a:off x="5905378" y="2648285"/>
            <a:ext cx="3547689"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Đơn PAID nhờ kênh 4 (querydr), chưa phải IPN</a:t>
            </a:r>
            <a:endParaRPr lang="en-US" sz="1250" dirty="0"/>
          </a:p>
        </p:txBody>
      </p:sp>
      <p:sp>
        <p:nvSpPr>
          <p:cNvPr id="35" name="Shape 33"/>
          <p:cNvSpPr/>
          <p:nvPr/>
        </p:nvSpPr>
        <p:spPr>
          <a:xfrm>
            <a:off x="5727527" y="3070555"/>
            <a:ext cx="63459" cy="63459"/>
          </a:xfrm>
          <a:prstGeom prst="ellipse">
            <a:avLst/>
          </a:prstGeom>
          <a:solidFill>
            <a:srgbClr val="0066FF"/>
          </a:solidFill>
          <a:ln/>
        </p:spPr>
      </p:sp>
      <p:sp>
        <p:nvSpPr>
          <p:cNvPr id="36" name="Text 34"/>
          <p:cNvSpPr txBox="1"/>
          <p:nvPr/>
        </p:nvSpPr>
        <p:spPr>
          <a:xfrm>
            <a:off x="5905378" y="2975275"/>
            <a:ext cx="3955512"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IPN chưa về vì VNPAY không gọi vào localhost được</a:t>
            </a:r>
            <a:endParaRPr lang="en-US" sz="125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6009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Mở endpoint ra internet</a:t>
            </a:r>
            <a:endParaRPr lang="en-US" sz="1100" dirty="0"/>
          </a:p>
        </p:txBody>
      </p:sp>
      <p:sp>
        <p:nvSpPr>
          <p:cNvPr id="3" name="Text 1"/>
          <p:cNvSpPr txBox="1"/>
          <p:nvPr/>
        </p:nvSpPr>
        <p:spPr>
          <a:xfrm>
            <a:off x="660380" y="643829"/>
            <a:ext cx="725558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IPN cần một URL public, nên cần ngrok</a:t>
            </a:r>
            <a:endParaRPr lang="en-US" sz="3000" dirty="0"/>
          </a:p>
        </p:txBody>
      </p:sp>
      <p:sp>
        <p:nvSpPr>
          <p:cNvPr id="4" name="Shape 2"/>
          <p:cNvSpPr/>
          <p:nvPr/>
        </p:nvSpPr>
        <p:spPr>
          <a:xfrm>
            <a:off x="660380" y="1347368"/>
            <a:ext cx="10870936" cy="400050"/>
          </a:xfrm>
          <a:prstGeom prst="roundRect">
            <a:avLst>
              <a:gd name="adj" fmla="val 19040"/>
            </a:avLst>
          </a:prstGeom>
          <a:solidFill>
            <a:srgbClr val="FFFFFF"/>
          </a:solidFill>
          <a:ln w="6350">
            <a:solidFill>
              <a:srgbClr val="E3E6EA"/>
            </a:solidFill>
            <a:prstDash val="solid"/>
          </a:ln>
        </p:spPr>
      </p:sp>
      <p:sp>
        <p:nvSpPr>
          <p:cNvPr id="5" name="Shape 3"/>
          <p:cNvSpPr/>
          <p:nvPr/>
        </p:nvSpPr>
        <p:spPr>
          <a:xfrm>
            <a:off x="780989" y="1442649"/>
            <a:ext cx="982614" cy="209580"/>
          </a:xfrm>
          <a:prstGeom prst="roundRect">
            <a:avLst>
              <a:gd name="adj" fmla="val 50000"/>
            </a:avLst>
          </a:prstGeom>
          <a:solidFill>
            <a:srgbClr val="FDE8E6"/>
          </a:solidFill>
          <a:ln/>
        </p:spPr>
      </p:sp>
      <p:sp>
        <p:nvSpPr>
          <p:cNvPr id="6" name="Text 4"/>
          <p:cNvSpPr txBox="1"/>
          <p:nvPr/>
        </p:nvSpPr>
        <p:spPr>
          <a:xfrm>
            <a:off x="857250"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7" name="Text 5"/>
          <p:cNvSpPr txBox="1"/>
          <p:nvPr/>
        </p:nvSpPr>
        <p:spPr>
          <a:xfrm>
            <a:off x="1865285" y="1446947"/>
            <a:ext cx="334341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IPN URL phải gọi được từ internet và dùng HTTPS</a:t>
            </a:r>
            <a:endParaRPr lang="en-US" sz="1100" dirty="0"/>
          </a:p>
        </p:txBody>
      </p:sp>
      <p:sp>
        <p:nvSpPr>
          <p:cNvPr id="8" name="Shape 6"/>
          <p:cNvSpPr/>
          <p:nvPr/>
        </p:nvSpPr>
        <p:spPr>
          <a:xfrm>
            <a:off x="660380" y="1823588"/>
            <a:ext cx="10870936" cy="400050"/>
          </a:xfrm>
          <a:prstGeom prst="roundRect">
            <a:avLst>
              <a:gd name="adj" fmla="val 19040"/>
            </a:avLst>
          </a:prstGeom>
          <a:solidFill>
            <a:srgbClr val="FFFFFF"/>
          </a:solidFill>
          <a:ln w="6350">
            <a:solidFill>
              <a:srgbClr val="E3E6EA"/>
            </a:solidFill>
            <a:prstDash val="solid"/>
          </a:ln>
        </p:spPr>
      </p:sp>
      <p:sp>
        <p:nvSpPr>
          <p:cNvPr id="9" name="Shape 7"/>
          <p:cNvSpPr/>
          <p:nvPr/>
        </p:nvSpPr>
        <p:spPr>
          <a:xfrm>
            <a:off x="780989" y="1918868"/>
            <a:ext cx="723748" cy="209580"/>
          </a:xfrm>
          <a:prstGeom prst="roundRect">
            <a:avLst>
              <a:gd name="adj" fmla="val 50000"/>
            </a:avLst>
          </a:prstGeom>
          <a:solidFill>
            <a:srgbClr val="DEF3E8"/>
          </a:solidFill>
          <a:ln/>
        </p:spPr>
      </p:sp>
      <p:sp>
        <p:nvSpPr>
          <p:cNvPr id="10" name="Text 8"/>
          <p:cNvSpPr txBox="1"/>
          <p:nvPr/>
        </p:nvSpPr>
        <p:spPr>
          <a:xfrm>
            <a:off x="857250" y="195004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11" name="Text 9"/>
          <p:cNvSpPr txBox="1"/>
          <p:nvPr/>
        </p:nvSpPr>
        <p:spPr>
          <a:xfrm>
            <a:off x="1606418" y="1923166"/>
            <a:ext cx="4462455"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Lúc dev dùng ngrok tạo link HTTPS public trỏ về </a:t>
            </a:r>
            <a:pPr algn="l" indent="0" marL="0">
              <a:buNone/>
            </a:pPr>
            <a:r>
              <a:rPr lang="en-US" sz="1100" dirty="0">
                <a:solidFill>
                  <a:srgbClr val="3F454D"/>
                </a:solidFill>
                <a:latin typeface="Courier New" pitchFamily="34" charset="0"/>
                <a:ea typeface="Courier New" pitchFamily="34" charset="-122"/>
                <a:cs typeface="Courier New" pitchFamily="34" charset="-120"/>
              </a:rPr>
              <a:t>localhost:8080</a:t>
            </a:r>
            <a:endParaRPr lang="en-US" sz="1100" dirty="0"/>
          </a:p>
        </p:txBody>
      </p:sp>
      <p:sp>
        <p:nvSpPr>
          <p:cNvPr id="12" name="Shape 10"/>
          <p:cNvSpPr/>
          <p:nvPr/>
        </p:nvSpPr>
        <p:spPr>
          <a:xfrm>
            <a:off x="660380" y="2299807"/>
            <a:ext cx="10870936" cy="400050"/>
          </a:xfrm>
          <a:prstGeom prst="roundRect">
            <a:avLst>
              <a:gd name="adj" fmla="val 19040"/>
            </a:avLst>
          </a:prstGeom>
          <a:solidFill>
            <a:srgbClr val="FFFFFF"/>
          </a:solidFill>
          <a:ln w="6350">
            <a:solidFill>
              <a:srgbClr val="E3E6EA"/>
            </a:solidFill>
            <a:prstDash val="solid"/>
          </a:ln>
        </p:spPr>
      </p:sp>
      <p:sp>
        <p:nvSpPr>
          <p:cNvPr id="13" name="Shape 11"/>
          <p:cNvSpPr/>
          <p:nvPr/>
        </p:nvSpPr>
        <p:spPr>
          <a:xfrm>
            <a:off x="780989" y="2395088"/>
            <a:ext cx="723748" cy="209580"/>
          </a:xfrm>
          <a:prstGeom prst="roundRect">
            <a:avLst>
              <a:gd name="adj" fmla="val 50000"/>
            </a:avLst>
          </a:prstGeom>
          <a:solidFill>
            <a:srgbClr val="DEF3E8"/>
          </a:solidFill>
          <a:ln/>
        </p:spPr>
      </p:sp>
      <p:sp>
        <p:nvSpPr>
          <p:cNvPr id="14" name="Text 12"/>
          <p:cNvSpPr txBox="1"/>
          <p:nvPr/>
        </p:nvSpPr>
        <p:spPr>
          <a:xfrm>
            <a:off x="857250" y="2426360"/>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15" name="Text 13"/>
          <p:cNvSpPr txBox="1"/>
          <p:nvPr/>
        </p:nvSpPr>
        <p:spPr>
          <a:xfrm>
            <a:off x="1606418" y="2399386"/>
            <a:ext cx="5474238"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Hệ thống thật: IPN đi qua API Gateway hoặc Ingress, có domain và chứng chỉ riêng</a:t>
            </a:r>
            <a:endParaRPr lang="en-US" sz="1100" dirty="0"/>
          </a:p>
        </p:txBody>
      </p:sp>
      <p:sp>
        <p:nvSpPr>
          <p:cNvPr id="16" name="Shape 14"/>
          <p:cNvSpPr/>
          <p:nvPr/>
        </p:nvSpPr>
        <p:spPr>
          <a:xfrm>
            <a:off x="660380" y="2877708"/>
            <a:ext cx="10870936" cy="1215969"/>
          </a:xfrm>
          <a:prstGeom prst="roundRect">
            <a:avLst>
              <a:gd name="adj" fmla="val 8355"/>
            </a:avLst>
          </a:prstGeom>
          <a:solidFill>
            <a:srgbClr val="0C131E"/>
          </a:solidFill>
          <a:ln/>
        </p:spPr>
      </p:sp>
      <p:sp>
        <p:nvSpPr>
          <p:cNvPr id="17" name="Text 15"/>
          <p:cNvSpPr txBox="1"/>
          <p:nvPr/>
        </p:nvSpPr>
        <p:spPr>
          <a:xfrm>
            <a:off x="907999" y="3069458"/>
            <a:ext cx="3756447"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VNPAY  ---X---&gt;  localhost:8080</a:t>
            </a:r>
            <a:endParaRPr lang="en-US" sz="1500" dirty="0"/>
          </a:p>
        </p:txBody>
      </p:sp>
      <p:sp>
        <p:nvSpPr>
          <p:cNvPr id="18" name="Shape 16"/>
          <p:cNvSpPr/>
          <p:nvPr/>
        </p:nvSpPr>
        <p:spPr>
          <a:xfrm>
            <a:off x="660380" y="3633277"/>
            <a:ext cx="10870936" cy="295260"/>
          </a:xfrm>
          <a:prstGeom prst="rect">
            <a:avLst/>
          </a:prstGeom>
          <a:solidFill>
            <a:srgbClr val="FFD479">
              <a:alpha val="13000"/>
            </a:srgbClr>
          </a:solidFill>
          <a:ln/>
        </p:spPr>
      </p:sp>
      <p:sp>
        <p:nvSpPr>
          <p:cNvPr id="19" name="Shape 17"/>
          <p:cNvSpPr/>
          <p:nvPr/>
        </p:nvSpPr>
        <p:spPr>
          <a:xfrm>
            <a:off x="660380" y="3633277"/>
            <a:ext cx="31730" cy="295260"/>
          </a:xfrm>
          <a:prstGeom prst="rect">
            <a:avLst/>
          </a:prstGeom>
          <a:solidFill>
            <a:srgbClr val="FFD479"/>
          </a:solidFill>
          <a:ln/>
        </p:spPr>
      </p:sp>
      <p:sp>
        <p:nvSpPr>
          <p:cNvPr id="20" name="Text 18"/>
          <p:cNvSpPr txBox="1"/>
          <p:nvPr/>
        </p:nvSpPr>
        <p:spPr>
          <a:xfrm>
            <a:off x="907999" y="3659977"/>
            <a:ext cx="8239933"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VNPAY  ------&gt;  https://a1b2.ngrok-free.app  ------&gt;  localhost:8080</a:t>
            </a:r>
            <a:endParaRPr lang="en-US" sz="1500" dirty="0"/>
          </a:p>
        </p:txBody>
      </p:sp>
      <p:sp>
        <p:nvSpPr>
          <p:cNvPr id="21" name="Text 1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2" name="Text 20"/>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6009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Mở endpoint ra internet</a:t>
            </a:r>
            <a:endParaRPr lang="en-US" sz="1100" dirty="0"/>
          </a:p>
        </p:txBody>
      </p:sp>
      <p:sp>
        <p:nvSpPr>
          <p:cNvPr id="3" name="Text 1"/>
          <p:cNvSpPr txBox="1"/>
          <p:nvPr/>
        </p:nvSpPr>
        <p:spPr>
          <a:xfrm>
            <a:off x="660380" y="643829"/>
            <a:ext cx="2140793"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Chạy ngrok</a:t>
            </a:r>
            <a:endParaRPr lang="en-US" sz="3000" dirty="0"/>
          </a:p>
        </p:txBody>
      </p:sp>
      <p:sp>
        <p:nvSpPr>
          <p:cNvPr id="4" name="Text 2"/>
          <p:cNvSpPr txBox="1"/>
          <p:nvPr/>
        </p:nvSpPr>
        <p:spPr>
          <a:xfrm>
            <a:off x="660380" y="1358798"/>
            <a:ext cx="2181210"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Kiểm tra lại (đã cài ở nhà)</a:t>
            </a:r>
            <a:endParaRPr lang="en-US" sz="1000" dirty="0"/>
          </a:p>
        </p:txBody>
      </p:sp>
      <p:sp>
        <p:nvSpPr>
          <p:cNvPr id="5" name="Shape 3"/>
          <p:cNvSpPr/>
          <p:nvPr/>
        </p:nvSpPr>
        <p:spPr>
          <a:xfrm>
            <a:off x="660380" y="1601389"/>
            <a:ext cx="5460888" cy="802477"/>
          </a:xfrm>
          <a:prstGeom prst="roundRect">
            <a:avLst>
              <a:gd name="adj" fmla="val 12660"/>
            </a:avLst>
          </a:prstGeom>
          <a:solidFill>
            <a:srgbClr val="0C131E"/>
          </a:solidFill>
          <a:ln/>
        </p:spPr>
      </p:sp>
      <p:sp>
        <p:nvSpPr>
          <p:cNvPr id="6" name="Text 4"/>
          <p:cNvSpPr txBox="1"/>
          <p:nvPr/>
        </p:nvSpPr>
        <p:spPr>
          <a:xfrm>
            <a:off x="907999" y="1789024"/>
            <a:ext cx="174495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ngrok config check</a:t>
            </a:r>
            <a:endParaRPr lang="en-US" sz="1200" dirty="0"/>
          </a:p>
        </p:txBody>
      </p:sp>
      <p:sp>
        <p:nvSpPr>
          <p:cNvPr id="7" name="Text 5"/>
          <p:cNvSpPr txBox="1"/>
          <p:nvPr/>
        </p:nvSpPr>
        <p:spPr>
          <a:xfrm>
            <a:off x="907999" y="2025213"/>
            <a:ext cx="3974531"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Valid configuration file at .../ngrok.yml</a:t>
            </a:r>
            <a:endParaRPr lang="en-US" sz="1200" dirty="0"/>
          </a:p>
        </p:txBody>
      </p:sp>
      <p:sp>
        <p:nvSpPr>
          <p:cNvPr id="8" name="Text 6"/>
          <p:cNvSpPr txBox="1"/>
          <p:nvPr/>
        </p:nvSpPr>
        <p:spPr>
          <a:xfrm>
            <a:off x="660380" y="2542215"/>
            <a:ext cx="2261951"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1, để yên không tắt</a:t>
            </a:r>
            <a:endParaRPr lang="en-US" sz="1000" dirty="0"/>
          </a:p>
        </p:txBody>
      </p:sp>
      <p:sp>
        <p:nvSpPr>
          <p:cNvPr id="9" name="Shape 7"/>
          <p:cNvSpPr/>
          <p:nvPr/>
        </p:nvSpPr>
        <p:spPr>
          <a:xfrm>
            <a:off x="660380" y="2784805"/>
            <a:ext cx="5460888" cy="802477"/>
          </a:xfrm>
          <a:prstGeom prst="roundRect">
            <a:avLst>
              <a:gd name="adj" fmla="val 12660"/>
            </a:avLst>
          </a:prstGeom>
          <a:solidFill>
            <a:srgbClr val="0C131E"/>
          </a:solidFill>
          <a:ln/>
        </p:spPr>
      </p:sp>
      <p:sp>
        <p:nvSpPr>
          <p:cNvPr id="10" name="Text 8"/>
          <p:cNvSpPr txBox="1"/>
          <p:nvPr/>
        </p:nvSpPr>
        <p:spPr>
          <a:xfrm>
            <a:off x="907999" y="2972532"/>
            <a:ext cx="14541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ngrok http 8080</a:t>
            </a:r>
            <a:endParaRPr lang="en-US" sz="1200" dirty="0"/>
          </a:p>
        </p:txBody>
      </p:sp>
      <p:sp>
        <p:nvSpPr>
          <p:cNvPr id="11" name="Text 9"/>
          <p:cNvSpPr txBox="1"/>
          <p:nvPr/>
        </p:nvSpPr>
        <p:spPr>
          <a:xfrm>
            <a:off x="907999" y="3208630"/>
            <a:ext cx="3102102" cy="236190"/>
          </a:xfrm>
          <a:prstGeom prst="rect">
            <a:avLst/>
          </a:prstGeom>
          <a:noFill/>
          <a:ln/>
        </p:spPr>
        <p:txBody>
          <a:bodyPr wrap="none" lIns="0" tIns="0" rIns="0" bIns="0" rtlCol="0" anchor="ctr"/>
          <a:lstStyle/>
          <a:p>
            <a:pPr algn="l" indent="0" marL="0">
              <a:buNone/>
            </a:pPr>
            <a:r>
              <a:rPr lang="en-US" sz="1200" dirty="0">
                <a:solidFill>
                  <a:srgbClr val="7D8CA3"/>
                </a:solidFill>
                <a:latin typeface="Courier New" pitchFamily="34" charset="0"/>
                <a:ea typeface="Courier New" pitchFamily="34" charset="-122"/>
                <a:cs typeface="Courier New" pitchFamily="34" charset="-120"/>
              </a:rPr>
              <a:t># Windows: .\ngrok.exe http 8080</a:t>
            </a:r>
            <a:endParaRPr lang="en-US" sz="1200" dirty="0"/>
          </a:p>
        </p:txBody>
      </p:sp>
      <p:sp>
        <p:nvSpPr>
          <p:cNvPr id="12" name="Shape 10"/>
          <p:cNvSpPr/>
          <p:nvPr/>
        </p:nvSpPr>
        <p:spPr>
          <a:xfrm>
            <a:off x="660380" y="3714293"/>
            <a:ext cx="5460888" cy="522031"/>
          </a:xfrm>
          <a:prstGeom prst="roundRect">
            <a:avLst>
              <a:gd name="adj" fmla="val 19460"/>
            </a:avLst>
          </a:prstGeom>
          <a:solidFill>
            <a:srgbClr val="0C131E"/>
          </a:solidFill>
          <a:ln/>
        </p:spPr>
      </p:sp>
      <p:sp>
        <p:nvSpPr>
          <p:cNvPr id="13" name="Shape 11"/>
          <p:cNvSpPr/>
          <p:nvPr/>
        </p:nvSpPr>
        <p:spPr>
          <a:xfrm>
            <a:off x="660380" y="3879342"/>
            <a:ext cx="5460888" cy="191841"/>
          </a:xfrm>
          <a:prstGeom prst="rect">
            <a:avLst/>
          </a:prstGeom>
          <a:solidFill>
            <a:srgbClr val="FFD479">
              <a:alpha val="13000"/>
            </a:srgbClr>
          </a:solidFill>
          <a:ln/>
        </p:spPr>
      </p:sp>
      <p:sp>
        <p:nvSpPr>
          <p:cNvPr id="14" name="Shape 12"/>
          <p:cNvSpPr/>
          <p:nvPr/>
        </p:nvSpPr>
        <p:spPr>
          <a:xfrm>
            <a:off x="660380" y="3879342"/>
            <a:ext cx="31730" cy="191841"/>
          </a:xfrm>
          <a:prstGeom prst="rect">
            <a:avLst/>
          </a:prstGeom>
          <a:solidFill>
            <a:srgbClr val="FFD479"/>
          </a:solidFill>
          <a:ln/>
        </p:spPr>
      </p:sp>
      <p:sp>
        <p:nvSpPr>
          <p:cNvPr id="15" name="Text 13"/>
          <p:cNvSpPr txBox="1"/>
          <p:nvPr/>
        </p:nvSpPr>
        <p:spPr>
          <a:xfrm>
            <a:off x="907999" y="3897356"/>
            <a:ext cx="5040904"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Forwarding  https://a1b2.ngrok-free.app -&gt; http://localhost:8080</a:t>
            </a:r>
            <a:endParaRPr lang="en-US" sz="980" dirty="0"/>
          </a:p>
        </p:txBody>
      </p:sp>
      <p:sp>
        <p:nvSpPr>
          <p:cNvPr id="16" name="Shape 14"/>
          <p:cNvSpPr/>
          <p:nvPr/>
        </p:nvSpPr>
        <p:spPr>
          <a:xfrm>
            <a:off x="6362578" y="1458468"/>
            <a:ext cx="63459" cy="63459"/>
          </a:xfrm>
          <a:prstGeom prst="ellipse">
            <a:avLst/>
          </a:prstGeom>
          <a:solidFill>
            <a:srgbClr val="0066FF"/>
          </a:solidFill>
          <a:ln/>
        </p:spPr>
      </p:sp>
      <p:sp>
        <p:nvSpPr>
          <p:cNvPr id="17" name="Text 15"/>
          <p:cNvSpPr txBox="1"/>
          <p:nvPr/>
        </p:nvSpPr>
        <p:spPr>
          <a:xfrm>
            <a:off x="6540337" y="1363188"/>
            <a:ext cx="257037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Copy link https ở dòng Forwarding</a:t>
            </a:r>
            <a:endParaRPr lang="en-US" sz="1250" dirty="0"/>
          </a:p>
        </p:txBody>
      </p:sp>
      <p:sp>
        <p:nvSpPr>
          <p:cNvPr id="18" name="Shape 16"/>
          <p:cNvSpPr/>
          <p:nvPr/>
        </p:nvSpPr>
        <p:spPr>
          <a:xfrm>
            <a:off x="6362578" y="1785457"/>
            <a:ext cx="63459" cy="63459"/>
          </a:xfrm>
          <a:prstGeom prst="ellipse">
            <a:avLst/>
          </a:prstGeom>
          <a:solidFill>
            <a:srgbClr val="0066FF"/>
          </a:solidFill>
          <a:ln/>
        </p:spPr>
      </p:sp>
      <p:sp>
        <p:nvSpPr>
          <p:cNvPr id="19" name="Text 17"/>
          <p:cNvSpPr txBox="1"/>
          <p:nvPr/>
        </p:nvSpPr>
        <p:spPr>
          <a:xfrm>
            <a:off x="6540337" y="1690268"/>
            <a:ext cx="2151126"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Chạy lại ngrok là ra link khác</a:t>
            </a:r>
            <a:endParaRPr lang="en-US" sz="1250" dirty="0"/>
          </a:p>
        </p:txBody>
      </p:sp>
      <p:sp>
        <p:nvSpPr>
          <p:cNvPr id="20" name="Shape 18"/>
          <p:cNvSpPr/>
          <p:nvPr/>
        </p:nvSpPr>
        <p:spPr>
          <a:xfrm>
            <a:off x="6362578" y="2112538"/>
            <a:ext cx="63459" cy="63459"/>
          </a:xfrm>
          <a:prstGeom prst="ellipse">
            <a:avLst/>
          </a:prstGeom>
          <a:solidFill>
            <a:srgbClr val="0066FF"/>
          </a:solidFill>
          <a:ln/>
        </p:spPr>
      </p:sp>
      <p:sp>
        <p:nvSpPr>
          <p:cNvPr id="21" name="Text 19"/>
          <p:cNvSpPr txBox="1"/>
          <p:nvPr/>
        </p:nvSpPr>
        <p:spPr>
          <a:xfrm>
            <a:off x="6540337" y="2017258"/>
            <a:ext cx="2925989"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Mở thêm terminal thứ hai để chạy Java</a:t>
            </a:r>
            <a:endParaRPr lang="en-US" sz="1250" dirty="0"/>
          </a:p>
        </p:txBody>
      </p:sp>
      <p:sp>
        <p:nvSpPr>
          <p:cNvPr id="22" name="Shape 20"/>
          <p:cNvSpPr/>
          <p:nvPr/>
        </p:nvSpPr>
        <p:spPr>
          <a:xfrm>
            <a:off x="6362578" y="2439528"/>
            <a:ext cx="63459" cy="63459"/>
          </a:xfrm>
          <a:prstGeom prst="ellipse">
            <a:avLst/>
          </a:prstGeom>
          <a:solidFill>
            <a:srgbClr val="0066FF"/>
          </a:solidFill>
          <a:ln/>
        </p:spPr>
      </p:sp>
      <p:sp>
        <p:nvSpPr>
          <p:cNvPr id="23" name="Text 21"/>
          <p:cNvSpPr txBox="1"/>
          <p:nvPr/>
        </p:nvSpPr>
        <p:spPr>
          <a:xfrm>
            <a:off x="6540337" y="2344247"/>
            <a:ext cx="4553346"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Trình duyệt mở link lần đầu có trang cảnh báo, bấm Visit Site</a:t>
            </a:r>
            <a:endParaRPr lang="en-US" sz="1250" dirty="0"/>
          </a:p>
        </p:txBody>
      </p:sp>
      <p:sp>
        <p:nvSpPr>
          <p:cNvPr id="24" name="Text 2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5" name="Text 23"/>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6009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Mở endpoint ra internet</a:t>
            </a:r>
            <a:endParaRPr lang="en-US" sz="1100" dirty="0"/>
          </a:p>
        </p:txBody>
      </p:sp>
      <p:sp>
        <p:nvSpPr>
          <p:cNvPr id="3" name="Text 1"/>
          <p:cNvSpPr txBox="1"/>
          <p:nvPr/>
        </p:nvSpPr>
        <p:spPr>
          <a:xfrm>
            <a:off x="660380" y="643829"/>
            <a:ext cx="70484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Khai URL trên VNPAY rồi chạy lại Java</a:t>
            </a:r>
            <a:endParaRPr lang="en-US" sz="3000" dirty="0"/>
          </a:p>
        </p:txBody>
      </p:sp>
      <p:sp>
        <p:nvSpPr>
          <p:cNvPr id="4" name="Text 2"/>
          <p:cNvSpPr txBox="1"/>
          <p:nvPr/>
        </p:nvSpPr>
        <p:spPr>
          <a:xfrm>
            <a:off x="660380" y="1374069"/>
            <a:ext cx="7198705"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Vào </a:t>
            </a:r>
            <a:pPr algn="l" indent="0" marL="0">
              <a:buNone/>
            </a:pPr>
            <a:r>
              <a:rPr lang="en-US" sz="1500" dirty="0">
                <a:solidFill>
                  <a:srgbClr val="3F454D"/>
                </a:solidFill>
                <a:latin typeface="Courier New" pitchFamily="34" charset="0"/>
                <a:ea typeface="Courier New" pitchFamily="34" charset="-122"/>
                <a:cs typeface="Courier New" pitchFamily="34" charset="-120"/>
              </a:rPr>
              <a:t>sandbox.vnpayment.vn/merchantv2</a:t>
            </a:r>
            <a:pPr algn="l" indent="0" marL="0">
              <a:buNone/>
            </a:pPr>
            <a:r>
              <a:rPr lang="en-US" sz="1500" dirty="0">
                <a:solidFill>
                  <a:srgbClr val="3F454D"/>
                </a:solidFill>
                <a:latin typeface="Arial" pitchFamily="34" charset="0"/>
                <a:ea typeface="Arial" pitchFamily="34" charset="-122"/>
                <a:cs typeface="Arial" pitchFamily="34" charset="-120"/>
              </a:rPr>
              <a:t> → Cấu hình → Thông tin website</a:t>
            </a:r>
            <a:endParaRPr lang="en-US" sz="1500" dirty="0"/>
          </a:p>
        </p:txBody>
      </p:sp>
      <p:sp>
        <p:nvSpPr>
          <p:cNvPr id="5" name="Shape 3"/>
          <p:cNvSpPr/>
          <p:nvPr/>
        </p:nvSpPr>
        <p:spPr>
          <a:xfrm>
            <a:off x="660380" y="1829989"/>
            <a:ext cx="10870936" cy="1193749"/>
          </a:xfrm>
          <a:prstGeom prst="roundRect">
            <a:avLst>
              <a:gd name="adj" fmla="val 8510"/>
            </a:avLst>
          </a:prstGeom>
          <a:solidFill>
            <a:srgbClr val="FFFFFF"/>
          </a:solidFill>
          <a:ln/>
        </p:spPr>
      </p:sp>
      <p:sp>
        <p:nvSpPr>
          <p:cNvPr id="6" name="Shape 4"/>
          <p:cNvSpPr/>
          <p:nvPr/>
        </p:nvSpPr>
        <p:spPr>
          <a:xfrm>
            <a:off x="660380" y="1829989"/>
            <a:ext cx="3261208" cy="422270"/>
          </a:xfrm>
          <a:prstGeom prst="rect">
            <a:avLst/>
          </a:prstGeom>
          <a:solidFill>
            <a:srgbClr val="ECF2FF"/>
          </a:solidFill>
          <a:ln/>
        </p:spPr>
      </p:sp>
      <p:sp>
        <p:nvSpPr>
          <p:cNvPr id="7" name="Text 5"/>
          <p:cNvSpPr txBox="1"/>
          <p:nvPr/>
        </p:nvSpPr>
        <p:spPr>
          <a:xfrm>
            <a:off x="825520" y="1962028"/>
            <a:ext cx="38450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MỤC</a:t>
            </a:r>
            <a:endParaRPr lang="en-US" sz="1000" dirty="0"/>
          </a:p>
        </p:txBody>
      </p:sp>
      <p:sp>
        <p:nvSpPr>
          <p:cNvPr id="8" name="Shape 6"/>
          <p:cNvSpPr/>
          <p:nvPr/>
        </p:nvSpPr>
        <p:spPr>
          <a:xfrm>
            <a:off x="3921587" y="1829989"/>
            <a:ext cx="7609728" cy="422270"/>
          </a:xfrm>
          <a:prstGeom prst="rect">
            <a:avLst/>
          </a:prstGeom>
          <a:solidFill>
            <a:srgbClr val="ECF2FF"/>
          </a:solidFill>
          <a:ln/>
        </p:spPr>
      </p:sp>
      <p:sp>
        <p:nvSpPr>
          <p:cNvPr id="9" name="Text 7"/>
          <p:cNvSpPr txBox="1"/>
          <p:nvPr/>
        </p:nvSpPr>
        <p:spPr>
          <a:xfrm>
            <a:off x="4086728" y="1962028"/>
            <a:ext cx="40507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ĐIỀN</a:t>
            </a:r>
            <a:endParaRPr lang="en-US" sz="1000" dirty="0"/>
          </a:p>
        </p:txBody>
      </p:sp>
      <p:sp>
        <p:nvSpPr>
          <p:cNvPr id="10" name="Shape 8"/>
          <p:cNvSpPr/>
          <p:nvPr/>
        </p:nvSpPr>
        <p:spPr>
          <a:xfrm>
            <a:off x="660380" y="2252167"/>
            <a:ext cx="3261208" cy="6309"/>
          </a:xfrm>
          <a:prstGeom prst="rect">
            <a:avLst/>
          </a:prstGeom>
          <a:solidFill>
            <a:srgbClr val="E3E6EA"/>
          </a:solidFill>
          <a:ln/>
        </p:spPr>
      </p:sp>
      <p:sp>
        <p:nvSpPr>
          <p:cNvPr id="11" name="Text 9"/>
          <p:cNvSpPr txBox="1"/>
          <p:nvPr/>
        </p:nvSpPr>
        <p:spPr>
          <a:xfrm>
            <a:off x="800100" y="2353026"/>
            <a:ext cx="80403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URL trả về</a:t>
            </a:r>
            <a:endParaRPr lang="en-US" sz="1150" dirty="0"/>
          </a:p>
        </p:txBody>
      </p:sp>
      <p:sp>
        <p:nvSpPr>
          <p:cNvPr id="12" name="Shape 10"/>
          <p:cNvSpPr/>
          <p:nvPr/>
        </p:nvSpPr>
        <p:spPr>
          <a:xfrm>
            <a:off x="3921587" y="2252167"/>
            <a:ext cx="7609728" cy="6309"/>
          </a:xfrm>
          <a:prstGeom prst="rect">
            <a:avLst/>
          </a:prstGeom>
          <a:solidFill>
            <a:srgbClr val="E3E6EA"/>
          </a:solidFill>
          <a:ln/>
        </p:spPr>
      </p:sp>
      <p:sp>
        <p:nvSpPr>
          <p:cNvPr id="13" name="Text 11"/>
          <p:cNvSpPr txBox="1"/>
          <p:nvPr/>
        </p:nvSpPr>
        <p:spPr>
          <a:xfrm>
            <a:off x="4061308" y="2347813"/>
            <a:ext cx="387760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https://&lt;id&gt;.ngrok-free.app/vnpay/return</a:t>
            </a:r>
            <a:endParaRPr lang="en-US" sz="1200" dirty="0"/>
          </a:p>
        </p:txBody>
      </p:sp>
      <p:sp>
        <p:nvSpPr>
          <p:cNvPr id="14" name="Shape 12"/>
          <p:cNvSpPr/>
          <p:nvPr/>
        </p:nvSpPr>
        <p:spPr>
          <a:xfrm>
            <a:off x="660380" y="2639507"/>
            <a:ext cx="3261208" cy="6309"/>
          </a:xfrm>
          <a:prstGeom prst="rect">
            <a:avLst/>
          </a:prstGeom>
          <a:solidFill>
            <a:srgbClr val="E3E6EA"/>
          </a:solidFill>
          <a:ln/>
        </p:spPr>
      </p:sp>
      <p:sp>
        <p:nvSpPr>
          <p:cNvPr id="15" name="Text 13"/>
          <p:cNvSpPr txBox="1"/>
          <p:nvPr/>
        </p:nvSpPr>
        <p:spPr>
          <a:xfrm>
            <a:off x="800100" y="2740365"/>
            <a:ext cx="161428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URL nhận kết quả IPN</a:t>
            </a:r>
            <a:endParaRPr lang="en-US" sz="1150" dirty="0"/>
          </a:p>
        </p:txBody>
      </p:sp>
      <p:sp>
        <p:nvSpPr>
          <p:cNvPr id="16" name="Shape 14"/>
          <p:cNvSpPr/>
          <p:nvPr/>
        </p:nvSpPr>
        <p:spPr>
          <a:xfrm>
            <a:off x="3921587" y="2639507"/>
            <a:ext cx="7609728" cy="6309"/>
          </a:xfrm>
          <a:prstGeom prst="rect">
            <a:avLst/>
          </a:prstGeom>
          <a:solidFill>
            <a:srgbClr val="E3E6EA"/>
          </a:solidFill>
          <a:ln/>
        </p:spPr>
      </p:sp>
      <p:sp>
        <p:nvSpPr>
          <p:cNvPr id="17" name="Text 15"/>
          <p:cNvSpPr txBox="1"/>
          <p:nvPr/>
        </p:nvSpPr>
        <p:spPr>
          <a:xfrm>
            <a:off x="4061308" y="2735153"/>
            <a:ext cx="358682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https://&lt;id&gt;.ngrok-free.app/vnpay/ipn</a:t>
            </a:r>
            <a:endParaRPr lang="en-US" sz="1200" dirty="0"/>
          </a:p>
        </p:txBody>
      </p:sp>
      <p:sp>
        <p:nvSpPr>
          <p:cNvPr id="18" name="Text 16"/>
          <p:cNvSpPr txBox="1"/>
          <p:nvPr/>
        </p:nvSpPr>
        <p:spPr>
          <a:xfrm>
            <a:off x="660380" y="3212927"/>
            <a:ext cx="2019635"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2 – macOS, Linux</a:t>
            </a:r>
            <a:endParaRPr lang="en-US" sz="1000" dirty="0"/>
          </a:p>
        </p:txBody>
      </p:sp>
      <p:sp>
        <p:nvSpPr>
          <p:cNvPr id="19" name="Shape 17"/>
          <p:cNvSpPr/>
          <p:nvPr/>
        </p:nvSpPr>
        <p:spPr>
          <a:xfrm>
            <a:off x="660380" y="3455518"/>
            <a:ext cx="10870936" cy="743499"/>
          </a:xfrm>
          <a:prstGeom prst="roundRect">
            <a:avLst>
              <a:gd name="adj" fmla="val 13664"/>
            </a:avLst>
          </a:prstGeom>
          <a:solidFill>
            <a:srgbClr val="0C131E"/>
          </a:solidFill>
          <a:ln/>
        </p:spPr>
      </p:sp>
      <p:sp>
        <p:nvSpPr>
          <p:cNvPr id="20" name="Shape 18"/>
          <p:cNvSpPr/>
          <p:nvPr/>
        </p:nvSpPr>
        <p:spPr>
          <a:xfrm>
            <a:off x="660380" y="3620567"/>
            <a:ext cx="10870936" cy="206654"/>
          </a:xfrm>
          <a:prstGeom prst="rect">
            <a:avLst/>
          </a:prstGeom>
          <a:solidFill>
            <a:srgbClr val="FFD479">
              <a:alpha val="13000"/>
            </a:srgbClr>
          </a:solidFill>
          <a:ln/>
        </p:spPr>
      </p:sp>
      <p:sp>
        <p:nvSpPr>
          <p:cNvPr id="21" name="Shape 19"/>
          <p:cNvSpPr/>
          <p:nvPr/>
        </p:nvSpPr>
        <p:spPr>
          <a:xfrm>
            <a:off x="660380" y="3620567"/>
            <a:ext cx="31730" cy="206654"/>
          </a:xfrm>
          <a:prstGeom prst="rect">
            <a:avLst/>
          </a:prstGeom>
          <a:solidFill>
            <a:srgbClr val="FFD479"/>
          </a:solidFill>
          <a:ln/>
        </p:spPr>
      </p:sp>
      <p:sp>
        <p:nvSpPr>
          <p:cNvPr id="22" name="Text 20"/>
          <p:cNvSpPr txBox="1"/>
          <p:nvPr/>
        </p:nvSpPr>
        <p:spPr>
          <a:xfrm>
            <a:off x="907999" y="3638032"/>
            <a:ext cx="542861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export VNPAY_RETURN_URL=https://&lt;id&gt;.ngrok-free.app/vnpay/return</a:t>
            </a:r>
            <a:endParaRPr lang="en-US" sz="1050" dirty="0"/>
          </a:p>
        </p:txBody>
      </p:sp>
      <p:sp>
        <p:nvSpPr>
          <p:cNvPr id="23" name="Text 21"/>
          <p:cNvSpPr txBox="1"/>
          <p:nvPr/>
        </p:nvSpPr>
        <p:spPr>
          <a:xfrm>
            <a:off x="907999" y="3844686"/>
            <a:ext cx="161172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java ShopStart.java</a:t>
            </a:r>
            <a:endParaRPr lang="en-US" sz="1050" dirty="0"/>
          </a:p>
        </p:txBody>
      </p:sp>
      <p:sp>
        <p:nvSpPr>
          <p:cNvPr id="24" name="Text 22"/>
          <p:cNvSpPr txBox="1"/>
          <p:nvPr/>
        </p:nvSpPr>
        <p:spPr>
          <a:xfrm>
            <a:off x="660380" y="4388297"/>
            <a:ext cx="2504267"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2 – Windows PowerShell</a:t>
            </a:r>
            <a:endParaRPr lang="en-US" sz="1000" dirty="0"/>
          </a:p>
        </p:txBody>
      </p:sp>
      <p:sp>
        <p:nvSpPr>
          <p:cNvPr id="25" name="Shape 23"/>
          <p:cNvSpPr/>
          <p:nvPr/>
        </p:nvSpPr>
        <p:spPr>
          <a:xfrm>
            <a:off x="660380" y="4630796"/>
            <a:ext cx="10870936" cy="743499"/>
          </a:xfrm>
          <a:prstGeom prst="roundRect">
            <a:avLst>
              <a:gd name="adj" fmla="val 13664"/>
            </a:avLst>
          </a:prstGeom>
          <a:solidFill>
            <a:srgbClr val="0C131E"/>
          </a:solidFill>
          <a:ln/>
        </p:spPr>
      </p:sp>
      <p:sp>
        <p:nvSpPr>
          <p:cNvPr id="26" name="Shape 24"/>
          <p:cNvSpPr/>
          <p:nvPr/>
        </p:nvSpPr>
        <p:spPr>
          <a:xfrm>
            <a:off x="660380" y="4795937"/>
            <a:ext cx="10870936" cy="206654"/>
          </a:xfrm>
          <a:prstGeom prst="rect">
            <a:avLst/>
          </a:prstGeom>
          <a:solidFill>
            <a:srgbClr val="FFD479">
              <a:alpha val="13000"/>
            </a:srgbClr>
          </a:solidFill>
          <a:ln/>
        </p:spPr>
      </p:sp>
      <p:sp>
        <p:nvSpPr>
          <p:cNvPr id="27" name="Shape 25"/>
          <p:cNvSpPr/>
          <p:nvPr/>
        </p:nvSpPr>
        <p:spPr>
          <a:xfrm>
            <a:off x="660380" y="4795937"/>
            <a:ext cx="31730" cy="206654"/>
          </a:xfrm>
          <a:prstGeom prst="rect">
            <a:avLst/>
          </a:prstGeom>
          <a:solidFill>
            <a:srgbClr val="FFD479"/>
          </a:solidFill>
          <a:ln/>
        </p:spPr>
      </p:sp>
      <p:sp>
        <p:nvSpPr>
          <p:cNvPr id="28" name="Text 26"/>
          <p:cNvSpPr txBox="1"/>
          <p:nvPr/>
        </p:nvSpPr>
        <p:spPr>
          <a:xfrm>
            <a:off x="907999" y="4813310"/>
            <a:ext cx="542861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$env:VNPAY_RETURN_URL="https://&lt;id&gt;.ngrok-free.app/vnpay/return"</a:t>
            </a:r>
            <a:endParaRPr lang="en-US" sz="1050" dirty="0"/>
          </a:p>
        </p:txBody>
      </p:sp>
      <p:sp>
        <p:nvSpPr>
          <p:cNvPr id="29" name="Text 27"/>
          <p:cNvSpPr txBox="1"/>
          <p:nvPr/>
        </p:nvSpPr>
        <p:spPr>
          <a:xfrm>
            <a:off x="907999" y="5019965"/>
            <a:ext cx="161172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java ShopStart.java</a:t>
            </a:r>
            <a:endParaRPr lang="en-US" sz="105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81363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Code – IPN</a:t>
            </a:r>
            <a:endParaRPr lang="en-US" sz="1100" dirty="0"/>
          </a:p>
        </p:txBody>
      </p:sp>
      <p:sp>
        <p:nvSpPr>
          <p:cNvPr id="3" name="Text 1"/>
          <p:cNvSpPr txBox="1"/>
          <p:nvPr/>
        </p:nvSpPr>
        <p:spPr>
          <a:xfrm>
            <a:off x="660380" y="643829"/>
            <a:ext cx="466206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6 – Hàm handleIpn</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7077182" cy="4359768"/>
          </a:xfrm>
          <a:prstGeom prst="roundRect">
            <a:avLst>
              <a:gd name="adj" fmla="val 2330"/>
            </a:avLst>
          </a:prstGeom>
          <a:solidFill>
            <a:srgbClr val="0C131E"/>
          </a:solidFill>
          <a:ln/>
        </p:spPr>
      </p:sp>
      <p:sp>
        <p:nvSpPr>
          <p:cNvPr id="6" name="Text 4"/>
          <p:cNvSpPr txBox="1"/>
          <p:nvPr/>
        </p:nvSpPr>
        <p:spPr>
          <a:xfrm>
            <a:off x="907999" y="1784452"/>
            <a:ext cx="4174602"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handleIpn(Map&lt;String, String&gt; params) {</a:t>
            </a:r>
            <a:endParaRPr lang="en-US" sz="980" dirty="0"/>
          </a:p>
        </p:txBody>
      </p:sp>
      <p:sp>
        <p:nvSpPr>
          <p:cNvPr id="7" name="Shape 5"/>
          <p:cNvSpPr/>
          <p:nvPr/>
        </p:nvSpPr>
        <p:spPr>
          <a:xfrm>
            <a:off x="660380" y="1958370"/>
            <a:ext cx="7077182" cy="191841"/>
          </a:xfrm>
          <a:prstGeom prst="rect">
            <a:avLst/>
          </a:prstGeom>
          <a:solidFill>
            <a:srgbClr val="FFD479">
              <a:alpha val="13000"/>
            </a:srgbClr>
          </a:solidFill>
          <a:ln/>
        </p:spPr>
      </p:sp>
      <p:sp>
        <p:nvSpPr>
          <p:cNvPr id="8" name="Shape 6"/>
          <p:cNvSpPr/>
          <p:nvPr/>
        </p:nvSpPr>
        <p:spPr>
          <a:xfrm>
            <a:off x="660380" y="1958370"/>
            <a:ext cx="31730" cy="191841"/>
          </a:xfrm>
          <a:prstGeom prst="rect">
            <a:avLst/>
          </a:prstGeom>
          <a:solidFill>
            <a:srgbClr val="FFD479"/>
          </a:solidFill>
          <a:ln/>
        </p:spPr>
      </p:sp>
      <p:sp>
        <p:nvSpPr>
          <p:cNvPr id="9" name="Text 7"/>
          <p:cNvSpPr txBox="1"/>
          <p:nvPr/>
        </p:nvSpPr>
        <p:spPr>
          <a:xfrm>
            <a:off x="907999" y="1976293"/>
            <a:ext cx="567129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(!isValidSignature(params))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"97"</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Checksum"</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0" name="Text 8"/>
          <p:cNvSpPr txBox="1"/>
          <p:nvPr/>
        </p:nvSpPr>
        <p:spPr>
          <a:xfrm>
            <a:off x="907999" y="2360066"/>
            <a:ext cx="433215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 order = ORDERS.get(params.get(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1" name="Shape 9"/>
          <p:cNvSpPr/>
          <p:nvPr/>
        </p:nvSpPr>
        <p:spPr>
          <a:xfrm>
            <a:off x="660380" y="2533985"/>
            <a:ext cx="7077182" cy="191841"/>
          </a:xfrm>
          <a:prstGeom prst="rect">
            <a:avLst/>
          </a:prstGeom>
          <a:solidFill>
            <a:srgbClr val="FFD479">
              <a:alpha val="13000"/>
            </a:srgbClr>
          </a:solidFill>
          <a:ln/>
        </p:spPr>
      </p:sp>
      <p:sp>
        <p:nvSpPr>
          <p:cNvPr id="12" name="Shape 10"/>
          <p:cNvSpPr/>
          <p:nvPr/>
        </p:nvSpPr>
        <p:spPr>
          <a:xfrm>
            <a:off x="660380" y="2533985"/>
            <a:ext cx="31730" cy="191841"/>
          </a:xfrm>
          <a:prstGeom prst="rect">
            <a:avLst/>
          </a:prstGeom>
          <a:solidFill>
            <a:srgbClr val="FFD479"/>
          </a:solidFill>
          <a:ln/>
        </p:spPr>
      </p:sp>
      <p:sp>
        <p:nvSpPr>
          <p:cNvPr id="13" name="Text 11"/>
          <p:cNvSpPr txBox="1"/>
          <p:nvPr/>
        </p:nvSpPr>
        <p:spPr>
          <a:xfrm>
            <a:off x="907999" y="2551999"/>
            <a:ext cx="464743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(order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"01"</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"Order not Found"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4" name="Text 12"/>
          <p:cNvSpPr txBox="1"/>
          <p:nvPr/>
        </p:nvSpPr>
        <p:spPr>
          <a:xfrm>
            <a:off x="907999" y="2935681"/>
            <a:ext cx="677405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(Long.parseLong(params.getOrDefault(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a:t>
            </a:r>
            <a:pPr algn="l" indent="0" marL="0">
              <a:buNone/>
            </a:pPr>
            <a:r>
              <a:rPr lang="en-US" sz="980" dirty="0">
                <a:solidFill>
                  <a:srgbClr val="E6EDF7"/>
                </a:solidFill>
                <a:latin typeface="Courier New" pitchFamily="34" charset="0"/>
                <a:ea typeface="Courier New" pitchFamily="34" charset="-122"/>
                <a:cs typeface="Courier New" pitchFamily="34" charset="-120"/>
              </a:rPr>
              <a:t>)) != order.amount * 100)</a:t>
            </a:r>
            <a:endParaRPr lang="en-US" sz="980" dirty="0"/>
          </a:p>
        </p:txBody>
      </p:sp>
      <p:sp>
        <p:nvSpPr>
          <p:cNvPr id="15" name="Shape 13"/>
          <p:cNvSpPr/>
          <p:nvPr/>
        </p:nvSpPr>
        <p:spPr>
          <a:xfrm>
            <a:off x="660380" y="3109600"/>
            <a:ext cx="7077182" cy="191841"/>
          </a:xfrm>
          <a:prstGeom prst="rect">
            <a:avLst/>
          </a:prstGeom>
          <a:solidFill>
            <a:srgbClr val="FFD479">
              <a:alpha val="13000"/>
            </a:srgbClr>
          </a:solidFill>
          <a:ln/>
        </p:spPr>
      </p:sp>
      <p:sp>
        <p:nvSpPr>
          <p:cNvPr id="16" name="Shape 14"/>
          <p:cNvSpPr/>
          <p:nvPr/>
        </p:nvSpPr>
        <p:spPr>
          <a:xfrm>
            <a:off x="660380" y="3109600"/>
            <a:ext cx="31730" cy="191841"/>
          </a:xfrm>
          <a:prstGeom prst="rect">
            <a:avLst/>
          </a:prstGeom>
          <a:solidFill>
            <a:srgbClr val="FFD479"/>
          </a:solidFill>
          <a:ln/>
        </p:spPr>
      </p:sp>
      <p:sp>
        <p:nvSpPr>
          <p:cNvPr id="17" name="Text 15"/>
          <p:cNvSpPr txBox="1"/>
          <p:nvPr/>
        </p:nvSpPr>
        <p:spPr>
          <a:xfrm>
            <a:off x="907999" y="3127614"/>
            <a:ext cx="338712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"04"</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Amount"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8" name="Text 16"/>
          <p:cNvSpPr txBox="1"/>
          <p:nvPr/>
        </p:nvSpPr>
        <p:spPr>
          <a:xfrm>
            <a:off x="907999" y="3511387"/>
            <a:ext cx="204807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synchronized</a:t>
            </a:r>
            <a:pPr algn="l" indent="0" marL="0">
              <a:buNone/>
            </a:pPr>
            <a:r>
              <a:rPr lang="en-US" sz="980" dirty="0">
                <a:solidFill>
                  <a:srgbClr val="E6EDF7"/>
                </a:solidFill>
                <a:latin typeface="Courier New" pitchFamily="34" charset="0"/>
                <a:ea typeface="Courier New" pitchFamily="34" charset="-122"/>
                <a:cs typeface="Courier New" pitchFamily="34" charset="-120"/>
              </a:rPr>
              <a:t> (order) {</a:t>
            </a:r>
            <a:endParaRPr lang="en-US" sz="980" dirty="0"/>
          </a:p>
        </p:txBody>
      </p:sp>
      <p:sp>
        <p:nvSpPr>
          <p:cNvPr id="19" name="Shape 17"/>
          <p:cNvSpPr/>
          <p:nvPr/>
        </p:nvSpPr>
        <p:spPr>
          <a:xfrm>
            <a:off x="660380" y="3685306"/>
            <a:ext cx="7077182" cy="191841"/>
          </a:xfrm>
          <a:prstGeom prst="rect">
            <a:avLst/>
          </a:prstGeom>
          <a:solidFill>
            <a:srgbClr val="FFD479">
              <a:alpha val="13000"/>
            </a:srgbClr>
          </a:solidFill>
          <a:ln/>
        </p:spPr>
      </p:sp>
      <p:sp>
        <p:nvSpPr>
          <p:cNvPr id="20" name="Shape 18"/>
          <p:cNvSpPr/>
          <p:nvPr/>
        </p:nvSpPr>
        <p:spPr>
          <a:xfrm>
            <a:off x="660380" y="3685306"/>
            <a:ext cx="31730" cy="191841"/>
          </a:xfrm>
          <a:prstGeom prst="rect">
            <a:avLst/>
          </a:prstGeom>
          <a:solidFill>
            <a:srgbClr val="FFD479"/>
          </a:solidFill>
          <a:ln/>
        </p:spPr>
      </p:sp>
      <p:sp>
        <p:nvSpPr>
          <p:cNvPr id="21" name="Text 19"/>
          <p:cNvSpPr txBox="1"/>
          <p:nvPr/>
        </p:nvSpPr>
        <p:spPr>
          <a:xfrm>
            <a:off x="907999" y="3703229"/>
            <a:ext cx="701052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"PENDING"</a:t>
            </a:r>
            <a:pPr algn="l" indent="0" marL="0">
              <a:buNone/>
            </a:pPr>
            <a:r>
              <a:rPr lang="en-US" sz="980" dirty="0">
                <a:solidFill>
                  <a:srgbClr val="E6EDF7"/>
                </a:solidFill>
                <a:latin typeface="Courier New" pitchFamily="34" charset="0"/>
                <a:ea typeface="Courier New" pitchFamily="34" charset="-122"/>
                <a:cs typeface="Courier New" pitchFamily="34" charset="-120"/>
              </a:rPr>
              <a:t>.equals(order.status))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"02"</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"Order already confirmed"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2" name="Text 20"/>
          <p:cNvSpPr txBox="1"/>
          <p:nvPr/>
        </p:nvSpPr>
        <p:spPr>
          <a:xfrm>
            <a:off x="907999" y="4087002"/>
            <a:ext cx="51987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boolean</a:t>
            </a:r>
            <a:pPr algn="l" indent="0" marL="0">
              <a:buNone/>
            </a:pPr>
            <a:r>
              <a:rPr lang="en-US" sz="980" dirty="0">
                <a:solidFill>
                  <a:srgbClr val="E6EDF7"/>
                </a:solidFill>
                <a:latin typeface="Courier New" pitchFamily="34" charset="0"/>
                <a:ea typeface="Courier New" pitchFamily="34" charset="-122"/>
                <a:cs typeface="Courier New" pitchFamily="34" charset="-120"/>
              </a:rPr>
              <a:t> paid =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"vnp_ResponseCode"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3" name="Text 21"/>
          <p:cNvSpPr txBox="1"/>
          <p:nvPr/>
        </p:nvSpPr>
        <p:spPr>
          <a:xfrm>
            <a:off x="907999" y="4278935"/>
            <a:ext cx="567129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"vnp_TransactionStatus"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4" name="Text 22"/>
          <p:cNvSpPr txBox="1"/>
          <p:nvPr/>
        </p:nvSpPr>
        <p:spPr>
          <a:xfrm>
            <a:off x="907999" y="4470776"/>
            <a:ext cx="378086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order.status = paid ? </a:t>
            </a:r>
            <a:pPr algn="l" indent="0" marL="0">
              <a:buNone/>
            </a:pPr>
            <a:r>
              <a:rPr lang="en-US" sz="980" dirty="0">
                <a:solidFill>
                  <a:srgbClr val="9BE3B4"/>
                </a:solidFill>
                <a:latin typeface="Courier New" pitchFamily="34" charset="0"/>
                <a:ea typeface="Courier New" pitchFamily="34" charset="-122"/>
                <a:cs typeface="Courier New" pitchFamily="34" charset="-120"/>
              </a:rPr>
              <a:t>"PAID"</a:t>
            </a:r>
            <a:pPr algn="l" indent="0" marL="0">
              <a:buNone/>
            </a:pPr>
            <a:r>
              <a:rPr lang="en-US" sz="980" dirty="0">
                <a:solidFill>
                  <a:srgbClr val="E6EDF7"/>
                </a:solidFill>
                <a:latin typeface="Courier New" pitchFamily="34" charset="0"/>
                <a:ea typeface="Courier New" pitchFamily="34" charset="-122"/>
                <a:cs typeface="Courier New" pitchFamily="34" charset="-120"/>
              </a:rPr>
              <a:t> : </a:t>
            </a:r>
            <a:pPr algn="l" indent="0" marL="0">
              <a:buNone/>
            </a:pPr>
            <a:r>
              <a:rPr lang="en-US" sz="980" dirty="0">
                <a:solidFill>
                  <a:srgbClr val="9BE3B4"/>
                </a:solidFill>
                <a:latin typeface="Courier New" pitchFamily="34" charset="0"/>
                <a:ea typeface="Courier New" pitchFamily="34" charset="-122"/>
                <a:cs typeface="Courier New" pitchFamily="34" charset="-120"/>
              </a:rPr>
              <a:t>"FAILED"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5" name="Text 23"/>
          <p:cNvSpPr txBox="1"/>
          <p:nvPr/>
        </p:nvSpPr>
        <p:spPr>
          <a:xfrm>
            <a:off x="907999" y="4662708"/>
            <a:ext cx="590748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order.transactionNo = 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"vnp_TransactionNo"</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6" name="Text 24"/>
          <p:cNvSpPr txBox="1"/>
          <p:nvPr/>
        </p:nvSpPr>
        <p:spPr>
          <a:xfrm>
            <a:off x="907999" y="4854550"/>
            <a:ext cx="511972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order.bankCode = 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"vnp_BankCode"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7" name="Text 25"/>
          <p:cNvSpPr txBox="1"/>
          <p:nvPr/>
        </p:nvSpPr>
        <p:spPr>
          <a:xfrm>
            <a:off x="907999" y="5046482"/>
            <a:ext cx="685278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log(</a:t>
            </a:r>
            <a:pPr algn="l" indent="0" marL="0">
              <a:buNone/>
            </a:pPr>
            <a:r>
              <a:rPr lang="en-US" sz="980" dirty="0">
                <a:solidFill>
                  <a:srgbClr val="9BE3B4"/>
                </a:solidFill>
                <a:latin typeface="Courier New" pitchFamily="34" charset="0"/>
                <a:ea typeface="Courier New" pitchFamily="34" charset="-122"/>
                <a:cs typeface="Courier New" pitchFamily="34" charset="-120"/>
              </a:rPr>
              <a:t>"IPN "</a:t>
            </a:r>
            <a:pPr algn="l" indent="0" marL="0">
              <a:buNone/>
            </a:pPr>
            <a:r>
              <a:rPr lang="en-US" sz="980" dirty="0">
                <a:solidFill>
                  <a:srgbClr val="E6EDF7"/>
                </a:solidFill>
                <a:latin typeface="Courier New" pitchFamily="34" charset="0"/>
                <a:ea typeface="Courier New" pitchFamily="34" charset="-122"/>
                <a:cs typeface="Courier New" pitchFamily="34" charset="-120"/>
              </a:rPr>
              <a:t> + order.txnRef + </a:t>
            </a:r>
            <a:pPr algn="l" indent="0" marL="0">
              <a:buNone/>
            </a:pPr>
            <a:r>
              <a:rPr lang="en-US" sz="980" dirty="0">
                <a:solidFill>
                  <a:srgbClr val="9BE3B4"/>
                </a:solidFill>
                <a:latin typeface="Courier New" pitchFamily="34" charset="0"/>
                <a:ea typeface="Courier New" pitchFamily="34" charset="-122"/>
                <a:cs typeface="Courier New" pitchFamily="34" charset="-120"/>
              </a:rPr>
              <a:t>" -&gt; "</a:t>
            </a:r>
            <a:pPr algn="l" indent="0" marL="0">
              <a:buNone/>
            </a:pPr>
            <a:r>
              <a:rPr lang="en-US" sz="980" dirty="0">
                <a:solidFill>
                  <a:srgbClr val="E6EDF7"/>
                </a:solidFill>
                <a:latin typeface="Courier New" pitchFamily="34" charset="0"/>
                <a:ea typeface="Courier New" pitchFamily="34" charset="-122"/>
                <a:cs typeface="Courier New" pitchFamily="34" charset="-120"/>
              </a:rPr>
              <a:t> + order.status + </a:t>
            </a:r>
            <a:pPr algn="l" indent="0" marL="0">
              <a:buNone/>
            </a:pPr>
            <a:r>
              <a:rPr lang="en-US" sz="980" dirty="0">
                <a:solidFill>
                  <a:srgbClr val="9BE3B4"/>
                </a:solidFill>
                <a:latin typeface="Courier New" pitchFamily="34" charset="0"/>
                <a:ea typeface="Courier New" pitchFamily="34" charset="-122"/>
                <a:cs typeface="Courier New" pitchFamily="34" charset="-120"/>
              </a:rPr>
              <a:t>" "</a:t>
            </a:r>
            <a:pPr algn="l" indent="0" marL="0">
              <a:buNone/>
            </a:pPr>
            <a:r>
              <a:rPr lang="en-US" sz="980" dirty="0">
                <a:solidFill>
                  <a:srgbClr val="E6EDF7"/>
                </a:solidFill>
                <a:latin typeface="Courier New" pitchFamily="34" charset="0"/>
                <a:ea typeface="Courier New" pitchFamily="34" charset="-122"/>
                <a:cs typeface="Courier New" pitchFamily="34" charset="-120"/>
              </a:rPr>
              <a:t> + order.transactionNo);</a:t>
            </a:r>
            <a:endParaRPr lang="en-US" sz="980" dirty="0"/>
          </a:p>
        </p:txBody>
      </p:sp>
      <p:sp>
        <p:nvSpPr>
          <p:cNvPr id="28" name="Text 26"/>
          <p:cNvSpPr txBox="1"/>
          <p:nvPr/>
        </p:nvSpPr>
        <p:spPr>
          <a:xfrm>
            <a:off x="907999" y="5238323"/>
            <a:ext cx="44778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endParaRPr lang="en-US" sz="980" dirty="0"/>
          </a:p>
        </p:txBody>
      </p:sp>
      <p:sp>
        <p:nvSpPr>
          <p:cNvPr id="29" name="Shape 27"/>
          <p:cNvSpPr/>
          <p:nvPr/>
        </p:nvSpPr>
        <p:spPr>
          <a:xfrm>
            <a:off x="660380" y="5412242"/>
            <a:ext cx="7077182" cy="191841"/>
          </a:xfrm>
          <a:prstGeom prst="rect">
            <a:avLst/>
          </a:prstGeom>
          <a:solidFill>
            <a:srgbClr val="FFD479">
              <a:alpha val="13000"/>
            </a:srgbClr>
          </a:solidFill>
          <a:ln/>
        </p:spPr>
      </p:sp>
      <p:sp>
        <p:nvSpPr>
          <p:cNvPr id="30" name="Shape 28"/>
          <p:cNvSpPr/>
          <p:nvPr/>
        </p:nvSpPr>
        <p:spPr>
          <a:xfrm>
            <a:off x="660380" y="5412242"/>
            <a:ext cx="31730" cy="191841"/>
          </a:xfrm>
          <a:prstGeom prst="rect">
            <a:avLst/>
          </a:prstGeom>
          <a:solidFill>
            <a:srgbClr val="FFD479"/>
          </a:solidFill>
          <a:ln/>
        </p:spPr>
      </p:sp>
      <p:sp>
        <p:nvSpPr>
          <p:cNvPr id="31" name="Text 29"/>
          <p:cNvSpPr txBox="1"/>
          <p:nvPr/>
        </p:nvSpPr>
        <p:spPr>
          <a:xfrm>
            <a:off x="907999" y="5430256"/>
            <a:ext cx="315074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"Confirm Success"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2" name="Text 30"/>
          <p:cNvSpPr txBox="1"/>
          <p:nvPr/>
        </p:nvSpPr>
        <p:spPr>
          <a:xfrm>
            <a:off x="907999" y="5622097"/>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3" name="Shape 31"/>
          <p:cNvSpPr/>
          <p:nvPr/>
        </p:nvSpPr>
        <p:spPr>
          <a:xfrm>
            <a:off x="7940741" y="1347368"/>
            <a:ext cx="3590574" cy="581650"/>
          </a:xfrm>
          <a:prstGeom prst="roundRect">
            <a:avLst>
              <a:gd name="adj" fmla="val 13095"/>
            </a:avLst>
          </a:prstGeom>
          <a:solidFill>
            <a:srgbClr val="FFFFFF"/>
          </a:solidFill>
          <a:ln w="6350">
            <a:solidFill>
              <a:srgbClr val="E3E6EA"/>
            </a:solidFill>
            <a:prstDash val="solid"/>
          </a:ln>
        </p:spPr>
      </p:sp>
      <p:sp>
        <p:nvSpPr>
          <p:cNvPr id="34" name="Shape 32"/>
          <p:cNvSpPr/>
          <p:nvPr/>
        </p:nvSpPr>
        <p:spPr>
          <a:xfrm>
            <a:off x="8061442" y="1442649"/>
            <a:ext cx="982614" cy="209580"/>
          </a:xfrm>
          <a:prstGeom prst="roundRect">
            <a:avLst>
              <a:gd name="adj" fmla="val 50000"/>
            </a:avLst>
          </a:prstGeom>
          <a:solidFill>
            <a:srgbClr val="FDE8E6"/>
          </a:solidFill>
          <a:ln/>
        </p:spPr>
      </p:sp>
      <p:sp>
        <p:nvSpPr>
          <p:cNvPr id="35" name="Text 33"/>
          <p:cNvSpPr txBox="1"/>
          <p:nvPr/>
        </p:nvSpPr>
        <p:spPr>
          <a:xfrm>
            <a:off x="8137611"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36" name="Text 34"/>
          <p:cNvSpPr txBox="1"/>
          <p:nvPr/>
        </p:nvSpPr>
        <p:spPr>
          <a:xfrm>
            <a:off x="9145646" y="1437803"/>
            <a:ext cx="2333000"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Mã trả về 97, 01, 04, 02, 00 và trả dạng JSON</a:t>
            </a:r>
            <a:endParaRPr lang="en-US" sz="1100" dirty="0"/>
          </a:p>
        </p:txBody>
      </p:sp>
      <p:sp>
        <p:nvSpPr>
          <p:cNvPr id="37" name="Shape 35"/>
          <p:cNvSpPr/>
          <p:nvPr/>
        </p:nvSpPr>
        <p:spPr>
          <a:xfrm>
            <a:off x="7940741" y="2005188"/>
            <a:ext cx="3590574" cy="581650"/>
          </a:xfrm>
          <a:prstGeom prst="roundRect">
            <a:avLst>
              <a:gd name="adj" fmla="val 13095"/>
            </a:avLst>
          </a:prstGeom>
          <a:solidFill>
            <a:srgbClr val="FFFFFF"/>
          </a:solidFill>
          <a:ln w="6350">
            <a:solidFill>
              <a:srgbClr val="E3E6EA"/>
            </a:solidFill>
            <a:prstDash val="solid"/>
          </a:ln>
        </p:spPr>
      </p:sp>
      <p:sp>
        <p:nvSpPr>
          <p:cNvPr id="38" name="Shape 36"/>
          <p:cNvSpPr/>
          <p:nvPr/>
        </p:nvSpPr>
        <p:spPr>
          <a:xfrm>
            <a:off x="8061442" y="2100377"/>
            <a:ext cx="982614" cy="209580"/>
          </a:xfrm>
          <a:prstGeom prst="roundRect">
            <a:avLst>
              <a:gd name="adj" fmla="val 50000"/>
            </a:avLst>
          </a:prstGeom>
          <a:solidFill>
            <a:srgbClr val="FDE8E6"/>
          </a:solidFill>
          <a:ln/>
        </p:spPr>
      </p:sp>
      <p:sp>
        <p:nvSpPr>
          <p:cNvPr id="39" name="Text 37"/>
          <p:cNvSpPr txBox="1"/>
          <p:nvPr/>
        </p:nvSpPr>
        <p:spPr>
          <a:xfrm>
            <a:off x="8137611" y="213164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40" name="Text 38"/>
          <p:cNvSpPr txBox="1"/>
          <p:nvPr/>
        </p:nvSpPr>
        <p:spPr>
          <a:xfrm>
            <a:off x="9145646" y="2095622"/>
            <a:ext cx="2333000"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Thứ tự: chữ ký → tìm đơn → số tiền → trạng thái → cập nhật</a:t>
            </a:r>
            <a:endParaRPr lang="en-US" sz="1100" dirty="0"/>
          </a:p>
        </p:txBody>
      </p:sp>
      <p:sp>
        <p:nvSpPr>
          <p:cNvPr id="41" name="Shape 39"/>
          <p:cNvSpPr/>
          <p:nvPr/>
        </p:nvSpPr>
        <p:spPr>
          <a:xfrm>
            <a:off x="7940741" y="2663007"/>
            <a:ext cx="3590574" cy="789859"/>
          </a:xfrm>
          <a:prstGeom prst="roundRect">
            <a:avLst>
              <a:gd name="adj" fmla="val 9643"/>
            </a:avLst>
          </a:prstGeom>
          <a:solidFill>
            <a:srgbClr val="FFFFFF"/>
          </a:solidFill>
          <a:ln w="6350">
            <a:solidFill>
              <a:srgbClr val="E3E6EA"/>
            </a:solidFill>
            <a:prstDash val="solid"/>
          </a:ln>
        </p:spPr>
      </p:sp>
      <p:sp>
        <p:nvSpPr>
          <p:cNvPr id="42" name="Shape 40"/>
          <p:cNvSpPr/>
          <p:nvPr/>
        </p:nvSpPr>
        <p:spPr>
          <a:xfrm>
            <a:off x="8061442" y="2758196"/>
            <a:ext cx="723748" cy="209580"/>
          </a:xfrm>
          <a:prstGeom prst="roundRect">
            <a:avLst>
              <a:gd name="adj" fmla="val 50000"/>
            </a:avLst>
          </a:prstGeom>
          <a:solidFill>
            <a:srgbClr val="DEF3E8"/>
          </a:solidFill>
          <a:ln/>
        </p:spPr>
      </p:sp>
      <p:sp>
        <p:nvSpPr>
          <p:cNvPr id="43" name="Text 41"/>
          <p:cNvSpPr txBox="1"/>
          <p:nvPr/>
        </p:nvSpPr>
        <p:spPr>
          <a:xfrm>
            <a:off x="8137611" y="2789469"/>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44" name="Text 42"/>
          <p:cNvSpPr txBox="1"/>
          <p:nvPr/>
        </p:nvSpPr>
        <p:spPr>
          <a:xfrm>
            <a:off x="8886779" y="2753441"/>
            <a:ext cx="2599548" cy="66038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synchronized</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để hai IPN tới cùng lúc không ghi đè. Thật thì dùng transaction của DB</a:t>
            </a:r>
            <a:endParaRPr lang="en-US" sz="1100" dirty="0"/>
          </a:p>
        </p:txBody>
      </p:sp>
      <p:sp>
        <p:nvSpPr>
          <p:cNvPr id="45" name="Shape 43"/>
          <p:cNvSpPr/>
          <p:nvPr/>
        </p:nvSpPr>
        <p:spPr>
          <a:xfrm>
            <a:off x="7940741" y="3529035"/>
            <a:ext cx="3590574" cy="400050"/>
          </a:xfrm>
          <a:prstGeom prst="roundRect">
            <a:avLst>
              <a:gd name="adj" fmla="val 19040"/>
            </a:avLst>
          </a:prstGeom>
          <a:solidFill>
            <a:srgbClr val="FFFFFF"/>
          </a:solidFill>
          <a:ln w="6350">
            <a:solidFill>
              <a:srgbClr val="E3E6EA"/>
            </a:solidFill>
            <a:prstDash val="solid"/>
          </a:ln>
        </p:spPr>
      </p:sp>
      <p:sp>
        <p:nvSpPr>
          <p:cNvPr id="46" name="Shape 44"/>
          <p:cNvSpPr/>
          <p:nvPr/>
        </p:nvSpPr>
        <p:spPr>
          <a:xfrm>
            <a:off x="8061442" y="3624316"/>
            <a:ext cx="723748" cy="209580"/>
          </a:xfrm>
          <a:prstGeom prst="roundRect">
            <a:avLst>
              <a:gd name="adj" fmla="val 50000"/>
            </a:avLst>
          </a:prstGeom>
          <a:solidFill>
            <a:srgbClr val="DEF3E8"/>
          </a:solidFill>
          <a:ln/>
        </p:spPr>
      </p:sp>
      <p:sp>
        <p:nvSpPr>
          <p:cNvPr id="47" name="Text 45"/>
          <p:cNvSpPr txBox="1"/>
          <p:nvPr/>
        </p:nvSpPr>
        <p:spPr>
          <a:xfrm>
            <a:off x="8137611" y="3655497"/>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48" name="Text 46"/>
          <p:cNvSpPr txBox="1"/>
          <p:nvPr/>
        </p:nvSpPr>
        <p:spPr>
          <a:xfrm>
            <a:off x="8886779" y="3628614"/>
            <a:ext cx="262460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Ghi log. Thật thì phát event </a:t>
            </a:r>
            <a:pPr algn="l" indent="0" marL="0">
              <a:buNone/>
            </a:pPr>
            <a:r>
              <a:rPr lang="en-US" sz="1100" dirty="0">
                <a:solidFill>
                  <a:srgbClr val="3F454D"/>
                </a:solidFill>
                <a:latin typeface="Courier New" pitchFamily="34" charset="0"/>
                <a:ea typeface="Courier New" pitchFamily="34" charset="-122"/>
                <a:cs typeface="Courier New" pitchFamily="34" charset="-120"/>
              </a:rPr>
              <a:t>OrderPaid</a:t>
            </a:r>
            <a:endParaRPr lang="en-US" sz="1100" dirty="0"/>
          </a:p>
        </p:txBody>
      </p:sp>
      <p:sp>
        <p:nvSpPr>
          <p:cNvPr id="49" name="Text 4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0" name="Text 48"/>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89640"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Chạy thử</a:t>
            </a:r>
            <a:endParaRPr lang="en-US" sz="1100" dirty="0"/>
          </a:p>
        </p:txBody>
      </p:sp>
      <p:sp>
        <p:nvSpPr>
          <p:cNvPr id="3" name="Text 1"/>
          <p:cNvSpPr txBox="1"/>
          <p:nvPr/>
        </p:nvSpPr>
        <p:spPr>
          <a:xfrm>
            <a:off x="660380" y="643829"/>
            <a:ext cx="479090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Test lần 2: nhận được IPN</a:t>
            </a:r>
            <a:endParaRPr lang="en-US" sz="3000" dirty="0"/>
          </a:p>
        </p:txBody>
      </p:sp>
      <p:sp>
        <p:nvSpPr>
          <p:cNvPr id="4" name="Text 2"/>
          <p:cNvSpPr txBox="1"/>
          <p:nvPr/>
        </p:nvSpPr>
        <p:spPr>
          <a:xfrm>
            <a:off x="660380" y="1358798"/>
            <a:ext cx="1454170"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2 sẽ hiện</a:t>
            </a:r>
            <a:endParaRPr lang="en-US" sz="1000" dirty="0"/>
          </a:p>
        </p:txBody>
      </p:sp>
      <p:sp>
        <p:nvSpPr>
          <p:cNvPr id="5" name="Shape 3"/>
          <p:cNvSpPr/>
          <p:nvPr/>
        </p:nvSpPr>
        <p:spPr>
          <a:xfrm>
            <a:off x="660380" y="1601389"/>
            <a:ext cx="5206868" cy="802477"/>
          </a:xfrm>
          <a:prstGeom prst="roundRect">
            <a:avLst>
              <a:gd name="adj" fmla="val 12660"/>
            </a:avLst>
          </a:prstGeom>
          <a:solidFill>
            <a:srgbClr val="0C131E"/>
          </a:solidFill>
          <a:ln/>
        </p:spPr>
      </p:sp>
      <p:sp>
        <p:nvSpPr>
          <p:cNvPr id="6" name="Text 4"/>
          <p:cNvSpPr txBox="1"/>
          <p:nvPr/>
        </p:nvSpPr>
        <p:spPr>
          <a:xfrm>
            <a:off x="907999" y="1789024"/>
            <a:ext cx="3392973"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[10:21:40] IPN 20261010102118733051</a:t>
            </a:r>
            <a:endParaRPr lang="en-US" sz="1200" dirty="0"/>
          </a:p>
        </p:txBody>
      </p:sp>
      <p:sp>
        <p:nvSpPr>
          <p:cNvPr id="7" name="Text 5"/>
          <p:cNvSpPr txBox="1"/>
          <p:nvPr/>
        </p:nvSpPr>
        <p:spPr>
          <a:xfrm>
            <a:off x="907999" y="2025213"/>
            <a:ext cx="2617470"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-&gt; PAID 15900123</a:t>
            </a:r>
            <a:endParaRPr lang="en-US" sz="1200" dirty="0"/>
          </a:p>
        </p:txBody>
      </p:sp>
      <p:sp>
        <p:nvSpPr>
          <p:cNvPr id="8" name="Shape 6"/>
          <p:cNvSpPr/>
          <p:nvPr/>
        </p:nvSpPr>
        <p:spPr>
          <a:xfrm>
            <a:off x="698510" y="2679101"/>
            <a:ext cx="63459" cy="63459"/>
          </a:xfrm>
          <a:prstGeom prst="ellipse">
            <a:avLst/>
          </a:prstGeom>
          <a:solidFill>
            <a:srgbClr val="0066FF"/>
          </a:solidFill>
          <a:ln/>
        </p:spPr>
      </p:sp>
      <p:sp>
        <p:nvSpPr>
          <p:cNvPr id="9" name="Text 7"/>
          <p:cNvSpPr txBox="1"/>
          <p:nvPr/>
        </p:nvSpPr>
        <p:spPr>
          <a:xfrm>
            <a:off x="876270" y="2577328"/>
            <a:ext cx="310173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Lần này VNPAY tự gọi về qua kênh 3</a:t>
            </a:r>
            <a:endParaRPr lang="en-US" sz="1400" dirty="0"/>
          </a:p>
        </p:txBody>
      </p:sp>
      <p:sp>
        <p:nvSpPr>
          <p:cNvPr id="10" name="Shape 8"/>
          <p:cNvSpPr/>
          <p:nvPr/>
        </p:nvSpPr>
        <p:spPr>
          <a:xfrm>
            <a:off x="698510" y="3034711"/>
            <a:ext cx="63459" cy="63459"/>
          </a:xfrm>
          <a:prstGeom prst="ellipse">
            <a:avLst/>
          </a:prstGeom>
          <a:solidFill>
            <a:srgbClr val="0066FF"/>
          </a:solidFill>
          <a:ln/>
        </p:spPr>
      </p:sp>
      <p:sp>
        <p:nvSpPr>
          <p:cNvPr id="11" name="Text 9"/>
          <p:cNvSpPr txBox="1"/>
          <p:nvPr/>
        </p:nvSpPr>
        <p:spPr>
          <a:xfrm>
            <a:off x="876270" y="2932847"/>
            <a:ext cx="284396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Khách có tắt tab thì đơn vẫn PAID</a:t>
            </a:r>
            <a:endParaRPr lang="en-US" sz="1400" dirty="0"/>
          </a:p>
        </p:txBody>
      </p:sp>
      <p:sp>
        <p:nvSpPr>
          <p:cNvPr id="12" name="Shape 10"/>
          <p:cNvSpPr/>
          <p:nvPr/>
        </p:nvSpPr>
        <p:spPr>
          <a:xfrm>
            <a:off x="698510" y="3390321"/>
            <a:ext cx="63459" cy="63459"/>
          </a:xfrm>
          <a:prstGeom prst="ellipse">
            <a:avLst/>
          </a:prstGeom>
          <a:solidFill>
            <a:srgbClr val="0066FF"/>
          </a:solidFill>
          <a:ln/>
        </p:spPr>
      </p:sp>
      <p:sp>
        <p:nvSpPr>
          <p:cNvPr id="13" name="Text 11"/>
          <p:cNvSpPr txBox="1"/>
          <p:nvPr/>
        </p:nvSpPr>
        <p:spPr>
          <a:xfrm>
            <a:off x="876270" y="3268066"/>
            <a:ext cx="5140665" cy="609539"/>
          </a:xfrm>
          <a:prstGeom prst="rect">
            <a:avLst/>
          </a:prstGeom>
          <a:noFill/>
          <a:ln/>
        </p:spPr>
        <p:txBody>
          <a:bodyPr wrap="square" lIns="0" tIns="0" rIns="0" bIns="0" rtlCol="0" anchor="t"/>
          <a:lstStyle/>
          <a:p>
            <a:pPr algn="l" indent="0" marL="0">
              <a:lnSpc>
                <a:spcPts val="2100"/>
              </a:lnSpc>
              <a:buNone/>
            </a:pPr>
            <a:r>
              <a:rPr lang="en-US" sz="1400" dirty="0">
                <a:solidFill>
                  <a:srgbClr val="3F454D"/>
                </a:solidFill>
                <a:latin typeface="Arial" pitchFamily="34" charset="0"/>
                <a:ea typeface="Arial" pitchFamily="34" charset="-122"/>
                <a:cs typeface="Arial" pitchFamily="34" charset="-120"/>
              </a:rPr>
              <a:t>Mở </a:t>
            </a:r>
            <a:pPr algn="l" indent="0" marL="0">
              <a:lnSpc>
                <a:spcPts val="2100"/>
              </a:lnSpc>
              <a:buNone/>
            </a:pPr>
            <a:r>
              <a:rPr lang="en-US" sz="1400" dirty="0">
                <a:solidFill>
                  <a:srgbClr val="3F454D"/>
                </a:solidFill>
                <a:latin typeface="Courier New" pitchFamily="34" charset="0"/>
                <a:ea typeface="Courier New" pitchFamily="34" charset="-122"/>
                <a:cs typeface="Courier New" pitchFamily="34" charset="-120"/>
              </a:rPr>
              <a:t>127.0.0.1:4040</a:t>
            </a:r>
            <a:pPr algn="l" indent="0" marL="0">
              <a:lnSpc>
                <a:spcPts val="2100"/>
              </a:lnSpc>
              <a:buNone/>
            </a:pPr>
            <a:r>
              <a:rPr lang="en-US" sz="1400" dirty="0">
                <a:solidFill>
                  <a:srgbClr val="3F454D"/>
                </a:solidFill>
                <a:latin typeface="Arial" pitchFamily="34" charset="0"/>
                <a:ea typeface="Arial" pitchFamily="34" charset="-122"/>
                <a:cs typeface="Arial" pitchFamily="34" charset="-120"/>
              </a:rPr>
              <a:t> xem request IPN: phương thức GET, tham số trên query string</a:t>
            </a:r>
            <a:endParaRPr lang="en-US" sz="1400" dirty="0"/>
          </a:p>
        </p:txBody>
      </p:sp>
      <p:pic>
        <p:nvPicPr>
          <p:cNvPr id="14" name="Image 0" descr="/Users/minhdang_work/vnpay-seminar/slides-html/paid.png">    </p:cNvPr>
          <p:cNvPicPr>
            <a:picLocks noChangeAspect="1"/>
          </p:cNvPicPr>
          <p:nvPr/>
        </p:nvPicPr>
        <p:blipFill>
          <a:blip r:embed="rId1"/>
          <a:stretch>
            <a:fillRect/>
          </a:stretch>
        </p:blipFill>
        <p:spPr>
          <a:xfrm>
            <a:off x="6070427" y="1347368"/>
            <a:ext cx="5460888" cy="2907060"/>
          </a:xfrm>
          <a:prstGeom prst="rect">
            <a:avLst/>
          </a:prstGeom>
        </p:spPr>
      </p:pic>
      <p:sp>
        <p:nvSpPr>
          <p:cNvPr id="15" name="Shape 12"/>
          <p:cNvSpPr/>
          <p:nvPr/>
        </p:nvSpPr>
        <p:spPr>
          <a:xfrm>
            <a:off x="6070427" y="1347368"/>
            <a:ext cx="5460888" cy="2907060"/>
          </a:xfrm>
          <a:prstGeom prst="roundRect">
            <a:avLst>
              <a:gd name="adj" fmla="val 3057"/>
            </a:avLst>
          </a:prstGeom>
          <a:ln w="6350">
            <a:solidFill>
              <a:srgbClr val="E3E6EA"/>
            </a:solidFill>
            <a:prstDash val="solid"/>
          </a:ln>
        </p:spPr>
      </p:sp>
      <p:sp>
        <p:nvSpPr>
          <p:cNvPr id="16" name="Text 1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7" name="Text 1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51415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Chứng minh – kênh 4</a:t>
            </a:r>
            <a:endParaRPr lang="en-US" sz="1100" dirty="0"/>
          </a:p>
        </p:txBody>
      </p:sp>
      <p:sp>
        <p:nvSpPr>
          <p:cNvPr id="3" name="Text 1"/>
          <p:cNvSpPr txBox="1"/>
          <p:nvPr/>
        </p:nvSpPr>
        <p:spPr>
          <a:xfrm>
            <a:off x="660380" y="643829"/>
            <a:ext cx="655460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querydr: POST JSON, mình gọi thật</a:t>
            </a:r>
            <a:endParaRPr lang="en-US" sz="3000" dirty="0"/>
          </a:p>
        </p:txBody>
      </p:sp>
      <p:sp>
        <p:nvSpPr>
          <p:cNvPr id="4" name="Text 2"/>
          <p:cNvSpPr txBox="1"/>
          <p:nvPr/>
        </p:nvSpPr>
        <p:spPr>
          <a:xfrm>
            <a:off x="660380" y="1358798"/>
            <a:ext cx="2827508"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Request Payment Service gửi (10/10)</a:t>
            </a:r>
            <a:endParaRPr lang="en-US" sz="1000" dirty="0"/>
          </a:p>
        </p:txBody>
      </p:sp>
      <p:sp>
        <p:nvSpPr>
          <p:cNvPr id="5" name="Shape 3"/>
          <p:cNvSpPr/>
          <p:nvPr/>
        </p:nvSpPr>
        <p:spPr>
          <a:xfrm>
            <a:off x="660380" y="1601389"/>
            <a:ext cx="5714817" cy="1481511"/>
          </a:xfrm>
          <a:prstGeom prst="roundRect">
            <a:avLst>
              <a:gd name="adj" fmla="val 6857"/>
            </a:avLst>
          </a:prstGeom>
          <a:solidFill>
            <a:srgbClr val="0C131E"/>
          </a:solidFill>
          <a:ln/>
        </p:spPr>
      </p:sp>
      <p:sp>
        <p:nvSpPr>
          <p:cNvPr id="6" name="Text 4"/>
          <p:cNvSpPr txBox="1"/>
          <p:nvPr/>
        </p:nvSpPr>
        <p:spPr>
          <a:xfrm>
            <a:off x="907999" y="1784452"/>
            <a:ext cx="291437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POST /merchant_webapi/api/transaction</a:t>
            </a:r>
            <a:endParaRPr lang="en-US" sz="980" dirty="0"/>
          </a:p>
        </p:txBody>
      </p:sp>
      <p:sp>
        <p:nvSpPr>
          <p:cNvPr id="7" name="Text 5"/>
          <p:cNvSpPr txBox="1"/>
          <p:nvPr/>
        </p:nvSpPr>
        <p:spPr>
          <a:xfrm>
            <a:off x="907999" y="1976293"/>
            <a:ext cx="236290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Content-Type: application/json</a:t>
            </a:r>
            <a:endParaRPr lang="en-US" sz="980" dirty="0"/>
          </a:p>
        </p:txBody>
      </p:sp>
      <p:sp>
        <p:nvSpPr>
          <p:cNvPr id="8" name="Text 6"/>
          <p:cNvSpPr txBox="1"/>
          <p:nvPr/>
        </p:nvSpPr>
        <p:spPr>
          <a:xfrm>
            <a:off x="907999" y="2168225"/>
            <a:ext cx="196916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{"vnp_Command":"querydr",</a:t>
            </a:r>
            <a:endParaRPr lang="en-US" sz="980" dirty="0"/>
          </a:p>
        </p:txBody>
      </p:sp>
      <p:sp>
        <p:nvSpPr>
          <p:cNvPr id="9" name="Text 7"/>
          <p:cNvSpPr txBox="1"/>
          <p:nvPr/>
        </p:nvSpPr>
        <p:spPr>
          <a:xfrm>
            <a:off x="907999" y="2360066"/>
            <a:ext cx="291437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"vnp_TxnRef":"20260920125606777443",</a:t>
            </a:r>
            <a:endParaRPr lang="en-US" sz="980" dirty="0"/>
          </a:p>
        </p:txBody>
      </p:sp>
      <p:sp>
        <p:nvSpPr>
          <p:cNvPr id="10" name="Text 8"/>
          <p:cNvSpPr txBox="1"/>
          <p:nvPr/>
        </p:nvSpPr>
        <p:spPr>
          <a:xfrm>
            <a:off x="907999" y="2551999"/>
            <a:ext cx="354439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"vnp_TransactionDate":"20260920125606", ...,</a:t>
            </a:r>
            <a:endParaRPr lang="en-US" sz="980" dirty="0"/>
          </a:p>
        </p:txBody>
      </p:sp>
      <p:sp>
        <p:nvSpPr>
          <p:cNvPr id="11" name="Text 9"/>
          <p:cNvSpPr txBox="1"/>
          <p:nvPr/>
        </p:nvSpPr>
        <p:spPr>
          <a:xfrm>
            <a:off x="907999" y="2743840"/>
            <a:ext cx="220544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"vnp_SecureHash":"7276..."}</a:t>
            </a:r>
            <a:endParaRPr lang="en-US" sz="980" dirty="0"/>
          </a:p>
        </p:txBody>
      </p:sp>
      <p:sp>
        <p:nvSpPr>
          <p:cNvPr id="12" name="Text 10"/>
          <p:cNvSpPr txBox="1"/>
          <p:nvPr/>
        </p:nvSpPr>
        <p:spPr>
          <a:xfrm>
            <a:off x="660380" y="3094238"/>
            <a:ext cx="99075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VNPAY trả về</a:t>
            </a:r>
            <a:endParaRPr lang="en-US" sz="1000" dirty="0"/>
          </a:p>
        </p:txBody>
      </p:sp>
      <p:sp>
        <p:nvSpPr>
          <p:cNvPr id="13" name="Shape 11"/>
          <p:cNvSpPr/>
          <p:nvPr/>
        </p:nvSpPr>
        <p:spPr>
          <a:xfrm>
            <a:off x="660380" y="3336828"/>
            <a:ext cx="5714817" cy="1289578"/>
          </a:xfrm>
          <a:prstGeom prst="roundRect">
            <a:avLst>
              <a:gd name="adj" fmla="val 7878"/>
            </a:avLst>
          </a:prstGeom>
          <a:solidFill>
            <a:srgbClr val="0C131E"/>
          </a:solidFill>
          <a:ln/>
        </p:spPr>
      </p:sp>
      <p:sp>
        <p:nvSpPr>
          <p:cNvPr id="14" name="Text 12"/>
          <p:cNvSpPr txBox="1"/>
          <p:nvPr/>
        </p:nvSpPr>
        <p:spPr>
          <a:xfrm>
            <a:off x="907999" y="3519891"/>
            <a:ext cx="204789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HTTP 200  application/json</a:t>
            </a:r>
            <a:endParaRPr lang="en-US" sz="980" dirty="0"/>
          </a:p>
        </p:txBody>
      </p:sp>
      <p:sp>
        <p:nvSpPr>
          <p:cNvPr id="15" name="Text 13"/>
          <p:cNvSpPr txBox="1"/>
          <p:nvPr/>
        </p:nvSpPr>
        <p:spPr>
          <a:xfrm>
            <a:off x="907999" y="3711824"/>
            <a:ext cx="456834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{"vnp_ResponseCode":"00", "vnp_Message":"QueryDR success",</a:t>
            </a:r>
            <a:endParaRPr lang="en-US" sz="980" dirty="0"/>
          </a:p>
        </p:txBody>
      </p:sp>
      <p:sp>
        <p:nvSpPr>
          <p:cNvPr id="16" name="Shape 14"/>
          <p:cNvSpPr/>
          <p:nvPr/>
        </p:nvSpPr>
        <p:spPr>
          <a:xfrm>
            <a:off x="660380" y="3885743"/>
            <a:ext cx="5714817" cy="191841"/>
          </a:xfrm>
          <a:prstGeom prst="rect">
            <a:avLst/>
          </a:prstGeom>
          <a:solidFill>
            <a:srgbClr val="FFD479">
              <a:alpha val="13000"/>
            </a:srgbClr>
          </a:solidFill>
          <a:ln/>
        </p:spPr>
      </p:sp>
      <p:sp>
        <p:nvSpPr>
          <p:cNvPr id="17" name="Shape 15"/>
          <p:cNvSpPr/>
          <p:nvPr/>
        </p:nvSpPr>
        <p:spPr>
          <a:xfrm>
            <a:off x="660380" y="3885743"/>
            <a:ext cx="31730" cy="191841"/>
          </a:xfrm>
          <a:prstGeom prst="rect">
            <a:avLst/>
          </a:prstGeom>
          <a:solidFill>
            <a:srgbClr val="FFD479"/>
          </a:solidFill>
          <a:ln/>
        </p:spPr>
      </p:sp>
      <p:sp>
        <p:nvSpPr>
          <p:cNvPr id="18" name="Text 16"/>
          <p:cNvSpPr txBox="1"/>
          <p:nvPr/>
        </p:nvSpPr>
        <p:spPr>
          <a:xfrm>
            <a:off x="907999" y="3903665"/>
            <a:ext cx="425324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"vnp_TransactionStatus":"00", "vnp_Amount":"2500000",</a:t>
            </a:r>
            <a:endParaRPr lang="en-US" sz="980" dirty="0"/>
          </a:p>
        </p:txBody>
      </p:sp>
      <p:sp>
        <p:nvSpPr>
          <p:cNvPr id="19" name="Text 17"/>
          <p:cNvSpPr txBox="1"/>
          <p:nvPr/>
        </p:nvSpPr>
        <p:spPr>
          <a:xfrm>
            <a:off x="907999" y="4095598"/>
            <a:ext cx="252045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"vnp_TransactionNo":"15683165",</a:t>
            </a:r>
            <a:endParaRPr lang="en-US" sz="980" dirty="0"/>
          </a:p>
        </p:txBody>
      </p:sp>
      <p:sp>
        <p:nvSpPr>
          <p:cNvPr id="20" name="Text 18"/>
          <p:cNvSpPr txBox="1"/>
          <p:nvPr/>
        </p:nvSpPr>
        <p:spPr>
          <a:xfrm>
            <a:off x="907999" y="4287439"/>
            <a:ext cx="220544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"vnp_SecureHash":"8e52..."}</a:t>
            </a:r>
            <a:endParaRPr lang="en-US" sz="980" dirty="0"/>
          </a:p>
        </p:txBody>
      </p:sp>
      <p:sp>
        <p:nvSpPr>
          <p:cNvPr id="21" name="Shape 19"/>
          <p:cNvSpPr/>
          <p:nvPr/>
        </p:nvSpPr>
        <p:spPr>
          <a:xfrm>
            <a:off x="6578468" y="1347368"/>
            <a:ext cx="4952848" cy="594269"/>
          </a:xfrm>
          <a:prstGeom prst="roundRect">
            <a:avLst>
              <a:gd name="adj" fmla="val 12817"/>
            </a:avLst>
          </a:prstGeom>
          <a:solidFill>
            <a:srgbClr val="FFFFFF"/>
          </a:solidFill>
          <a:ln w="6350">
            <a:solidFill>
              <a:srgbClr val="E3E6EA"/>
            </a:solidFill>
            <a:prstDash val="solid"/>
          </a:ln>
        </p:spPr>
      </p:sp>
      <p:sp>
        <p:nvSpPr>
          <p:cNvPr id="22" name="Shape 20"/>
          <p:cNvSpPr/>
          <p:nvPr/>
        </p:nvSpPr>
        <p:spPr>
          <a:xfrm>
            <a:off x="6699077" y="1442649"/>
            <a:ext cx="982614" cy="209580"/>
          </a:xfrm>
          <a:prstGeom prst="roundRect">
            <a:avLst>
              <a:gd name="adj" fmla="val 50000"/>
            </a:avLst>
          </a:prstGeom>
          <a:solidFill>
            <a:srgbClr val="FDE8E6"/>
          </a:solidFill>
          <a:ln/>
        </p:spPr>
      </p:sp>
      <p:sp>
        <p:nvSpPr>
          <p:cNvPr id="23" name="Text 21"/>
          <p:cNvSpPr txBox="1"/>
          <p:nvPr/>
        </p:nvSpPr>
        <p:spPr>
          <a:xfrm>
            <a:off x="6775247" y="1473830"/>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4" name="Text 22"/>
          <p:cNvSpPr txBox="1"/>
          <p:nvPr/>
        </p:nvSpPr>
        <p:spPr>
          <a:xfrm>
            <a:off x="7783281" y="1437803"/>
            <a:ext cx="3736147" cy="46479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POST, body JSON, gửi tới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merchant_webapi/api/transaction</a:t>
            </a:r>
            <a:endParaRPr lang="en-US" sz="1100" dirty="0"/>
          </a:p>
        </p:txBody>
      </p:sp>
      <p:sp>
        <p:nvSpPr>
          <p:cNvPr id="25" name="Shape 23"/>
          <p:cNvSpPr/>
          <p:nvPr/>
        </p:nvSpPr>
        <p:spPr>
          <a:xfrm>
            <a:off x="6578468" y="2017898"/>
            <a:ext cx="4952848" cy="594269"/>
          </a:xfrm>
          <a:prstGeom prst="roundRect">
            <a:avLst>
              <a:gd name="adj" fmla="val 12817"/>
            </a:avLst>
          </a:prstGeom>
          <a:solidFill>
            <a:srgbClr val="FFFFFF"/>
          </a:solidFill>
          <a:ln w="6350">
            <a:solidFill>
              <a:srgbClr val="E3E6EA"/>
            </a:solidFill>
            <a:prstDash val="solid"/>
          </a:ln>
        </p:spPr>
      </p:sp>
      <p:sp>
        <p:nvSpPr>
          <p:cNvPr id="26" name="Shape 24"/>
          <p:cNvSpPr/>
          <p:nvPr/>
        </p:nvSpPr>
        <p:spPr>
          <a:xfrm>
            <a:off x="6699077" y="2113087"/>
            <a:ext cx="982614" cy="209580"/>
          </a:xfrm>
          <a:prstGeom prst="roundRect">
            <a:avLst>
              <a:gd name="adj" fmla="val 50000"/>
            </a:avLst>
          </a:prstGeom>
          <a:solidFill>
            <a:srgbClr val="FDE8E6"/>
          </a:solidFill>
          <a:ln/>
        </p:spPr>
      </p:sp>
      <p:sp>
        <p:nvSpPr>
          <p:cNvPr id="27" name="Text 25"/>
          <p:cNvSpPr txBox="1"/>
          <p:nvPr/>
        </p:nvSpPr>
        <p:spPr>
          <a:xfrm>
            <a:off x="6775247" y="214435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28" name="Text 26"/>
          <p:cNvSpPr txBox="1"/>
          <p:nvPr/>
        </p:nvSpPr>
        <p:spPr>
          <a:xfrm>
            <a:off x="7783281" y="2108332"/>
            <a:ext cx="3736147" cy="46479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Ký bằng cách nối các trường với dấu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theo thứ tự cố định, không sắp xếp</a:t>
            </a:r>
            <a:endParaRPr lang="en-US" sz="1100" dirty="0"/>
          </a:p>
        </p:txBody>
      </p:sp>
      <p:sp>
        <p:nvSpPr>
          <p:cNvPr id="29" name="Shape 27"/>
          <p:cNvSpPr/>
          <p:nvPr/>
        </p:nvSpPr>
        <p:spPr>
          <a:xfrm>
            <a:off x="6578468" y="2688336"/>
            <a:ext cx="4952848" cy="594269"/>
          </a:xfrm>
          <a:prstGeom prst="roundRect">
            <a:avLst>
              <a:gd name="adj" fmla="val 12817"/>
            </a:avLst>
          </a:prstGeom>
          <a:solidFill>
            <a:srgbClr val="FFFFFF"/>
          </a:solidFill>
          <a:ln w="6350">
            <a:solidFill>
              <a:srgbClr val="E3E6EA"/>
            </a:solidFill>
            <a:prstDash val="solid"/>
          </a:ln>
        </p:spPr>
      </p:sp>
      <p:sp>
        <p:nvSpPr>
          <p:cNvPr id="30" name="Shape 28"/>
          <p:cNvSpPr/>
          <p:nvPr/>
        </p:nvSpPr>
        <p:spPr>
          <a:xfrm>
            <a:off x="6699077" y="2783616"/>
            <a:ext cx="982614" cy="209580"/>
          </a:xfrm>
          <a:prstGeom prst="roundRect">
            <a:avLst>
              <a:gd name="adj" fmla="val 50000"/>
            </a:avLst>
          </a:prstGeom>
          <a:solidFill>
            <a:srgbClr val="FDE8E6"/>
          </a:solidFill>
          <a:ln/>
        </p:spPr>
      </p:sp>
      <p:sp>
        <p:nvSpPr>
          <p:cNvPr id="31" name="Text 29"/>
          <p:cNvSpPr txBox="1"/>
          <p:nvPr/>
        </p:nvSpPr>
        <p:spPr>
          <a:xfrm>
            <a:off x="6775247" y="2814889"/>
            <a:ext cx="906445" cy="171450"/>
          </a:xfrm>
          <a:prstGeom prst="rect">
            <a:avLst/>
          </a:prstGeom>
          <a:noFill/>
          <a:ln/>
        </p:spPr>
        <p:txBody>
          <a:bodyPr wrap="square" lIns="0" tIns="0" rIns="0" bIns="0" rtlCol="0" anchor="ctr"/>
          <a:lstStyle/>
          <a:p>
            <a:pPr algn="l" indent="0" marL="0">
              <a:buNone/>
            </a:pPr>
            <a:r>
              <a:rPr lang="en-US" sz="900" b="1" dirty="0">
                <a:solidFill>
                  <a:srgbClr val="B42318"/>
                </a:solidFill>
                <a:latin typeface="Arial" pitchFamily="34" charset="0"/>
                <a:ea typeface="Arial" pitchFamily="34" charset="-122"/>
                <a:cs typeface="Arial" pitchFamily="34" charset="-120"/>
              </a:rPr>
              <a:t>VNPAY yêu cầu</a:t>
            </a:r>
            <a:endParaRPr lang="en-US" sz="900" dirty="0"/>
          </a:p>
        </p:txBody>
      </p:sp>
      <p:sp>
        <p:nvSpPr>
          <p:cNvPr id="32" name="Text 30"/>
          <p:cNvSpPr txBox="1"/>
          <p:nvPr/>
        </p:nvSpPr>
        <p:spPr>
          <a:xfrm>
            <a:off x="7783281" y="2778862"/>
            <a:ext cx="3736147" cy="464790"/>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ResponseCode</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là kết quả hỏi, </a:t>
            </a:r>
            <a:pPr algn="l" indent="0" marL="0">
              <a:lnSpc>
                <a:spcPts val="1540"/>
              </a:lnSpc>
              <a:buNone/>
            </a:pPr>
            <a:r>
              <a:rPr lang="en-US" sz="1100" dirty="0">
                <a:solidFill>
                  <a:srgbClr val="3F454D"/>
                </a:solidFill>
                <a:latin typeface="Courier New" pitchFamily="34" charset="0"/>
                <a:ea typeface="Courier New" pitchFamily="34" charset="-122"/>
                <a:cs typeface="Courier New" pitchFamily="34" charset="-120"/>
              </a:rPr>
              <a:t>TransactionStatus</a:t>
            </a:r>
            <a:pPr algn="l" indent="0" marL="0">
              <a:lnSpc>
                <a:spcPts val="1540"/>
              </a:lnSpc>
              <a:buNone/>
            </a:pPr>
            <a:r>
              <a:rPr lang="en-US" sz="1100" dirty="0">
                <a:solidFill>
                  <a:srgbClr val="3F454D"/>
                </a:solidFill>
                <a:latin typeface="Arial" pitchFamily="34" charset="0"/>
                <a:ea typeface="Arial" pitchFamily="34" charset="-122"/>
                <a:cs typeface="Arial" pitchFamily="34" charset="-120"/>
              </a:rPr>
              <a:t> mới là trạng thái tiền</a:t>
            </a:r>
            <a:endParaRPr lang="en-US" sz="1100" dirty="0"/>
          </a:p>
        </p:txBody>
      </p:sp>
      <p:sp>
        <p:nvSpPr>
          <p:cNvPr id="33" name="Shape 31"/>
          <p:cNvSpPr/>
          <p:nvPr/>
        </p:nvSpPr>
        <p:spPr>
          <a:xfrm>
            <a:off x="6578468" y="3358866"/>
            <a:ext cx="4952848" cy="581650"/>
          </a:xfrm>
          <a:prstGeom prst="roundRect">
            <a:avLst>
              <a:gd name="adj" fmla="val 13095"/>
            </a:avLst>
          </a:prstGeom>
          <a:solidFill>
            <a:srgbClr val="FFFFFF"/>
          </a:solidFill>
          <a:ln w="6350">
            <a:solidFill>
              <a:srgbClr val="E3E6EA"/>
            </a:solidFill>
            <a:prstDash val="solid"/>
          </a:ln>
        </p:spPr>
      </p:sp>
      <p:sp>
        <p:nvSpPr>
          <p:cNvPr id="34" name="Shape 32"/>
          <p:cNvSpPr/>
          <p:nvPr/>
        </p:nvSpPr>
        <p:spPr>
          <a:xfrm>
            <a:off x="6699077" y="3454146"/>
            <a:ext cx="723748" cy="209580"/>
          </a:xfrm>
          <a:prstGeom prst="roundRect">
            <a:avLst>
              <a:gd name="adj" fmla="val 50000"/>
            </a:avLst>
          </a:prstGeom>
          <a:solidFill>
            <a:srgbClr val="DEF3E8"/>
          </a:solidFill>
          <a:ln/>
        </p:spPr>
      </p:sp>
      <p:sp>
        <p:nvSpPr>
          <p:cNvPr id="35" name="Text 33"/>
          <p:cNvSpPr txBox="1"/>
          <p:nvPr/>
        </p:nvSpPr>
        <p:spPr>
          <a:xfrm>
            <a:off x="6775247" y="3485327"/>
            <a:ext cx="647578" cy="171450"/>
          </a:xfrm>
          <a:prstGeom prst="rect">
            <a:avLst/>
          </a:prstGeom>
          <a:noFill/>
          <a:ln/>
        </p:spPr>
        <p:txBody>
          <a:bodyPr wrap="square" lIns="0" tIns="0" rIns="0" bIns="0" rtlCol="0" anchor="ctr"/>
          <a:lstStyle/>
          <a:p>
            <a:pPr algn="l" indent="0" marL="0">
              <a:buNone/>
            </a:pPr>
            <a:r>
              <a:rPr lang="en-US" sz="900" b="1" dirty="0">
                <a:solidFill>
                  <a:srgbClr val="0B6B47"/>
                </a:solidFill>
                <a:latin typeface="Arial" pitchFamily="34" charset="0"/>
                <a:ea typeface="Arial" pitchFamily="34" charset="-122"/>
                <a:cs typeface="Arial" pitchFamily="34" charset="-120"/>
              </a:rPr>
              <a:t>Mình chọn</a:t>
            </a:r>
            <a:endParaRPr lang="en-US" sz="900" dirty="0"/>
          </a:p>
        </p:txBody>
      </p:sp>
      <p:sp>
        <p:nvSpPr>
          <p:cNvPr id="36" name="Text 34"/>
          <p:cNvSpPr txBox="1"/>
          <p:nvPr/>
        </p:nvSpPr>
        <p:spPr>
          <a:xfrm>
            <a:off x="7524506" y="3449391"/>
            <a:ext cx="4002786"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Gọi khi trang kết quả hỏi mà đơn còn PENDING. Thật thì chạy job định kỳ</a:t>
            </a:r>
            <a:endParaRPr lang="en-US" sz="110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843430"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Nhìn lại theo microservice</a:t>
            </a:r>
            <a:endParaRPr lang="en-US" sz="1100" dirty="0"/>
          </a:p>
        </p:txBody>
      </p:sp>
      <p:sp>
        <p:nvSpPr>
          <p:cNvPr id="3" name="Text 1"/>
          <p:cNvSpPr txBox="1"/>
          <p:nvPr/>
        </p:nvSpPr>
        <p:spPr>
          <a:xfrm>
            <a:off x="660380" y="643829"/>
            <a:ext cx="7301393"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Các pattern microservice nằm trong bài</a:t>
            </a:r>
            <a:endParaRPr lang="en-US" sz="3000" dirty="0"/>
          </a:p>
        </p:txBody>
      </p:sp>
      <p:sp>
        <p:nvSpPr>
          <p:cNvPr id="4" name="Shape 2"/>
          <p:cNvSpPr/>
          <p:nvPr/>
        </p:nvSpPr>
        <p:spPr>
          <a:xfrm>
            <a:off x="660380" y="1347368"/>
            <a:ext cx="10870936" cy="2685959"/>
          </a:xfrm>
          <a:prstGeom prst="roundRect">
            <a:avLst>
              <a:gd name="adj" fmla="val 3782"/>
            </a:avLst>
          </a:prstGeom>
          <a:solidFill>
            <a:srgbClr val="FFFFFF"/>
          </a:solidFill>
          <a:ln/>
        </p:spPr>
      </p:sp>
      <p:sp>
        <p:nvSpPr>
          <p:cNvPr id="5" name="Shape 3"/>
          <p:cNvSpPr/>
          <p:nvPr/>
        </p:nvSpPr>
        <p:spPr>
          <a:xfrm>
            <a:off x="660380" y="1347368"/>
            <a:ext cx="2826410" cy="422270"/>
          </a:xfrm>
          <a:prstGeom prst="rect">
            <a:avLst/>
          </a:prstGeom>
          <a:solidFill>
            <a:srgbClr val="ECF2FF"/>
          </a:solidFill>
          <a:ln/>
        </p:spPr>
      </p:sp>
      <p:sp>
        <p:nvSpPr>
          <p:cNvPr id="6" name="Text 4"/>
          <p:cNvSpPr txBox="1"/>
          <p:nvPr/>
        </p:nvSpPr>
        <p:spPr>
          <a:xfrm>
            <a:off x="825520" y="1479408"/>
            <a:ext cx="70152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PATTERN</a:t>
            </a:r>
            <a:endParaRPr lang="en-US" sz="1000" dirty="0"/>
          </a:p>
        </p:txBody>
      </p:sp>
      <p:sp>
        <p:nvSpPr>
          <p:cNvPr id="7" name="Shape 5"/>
          <p:cNvSpPr/>
          <p:nvPr/>
        </p:nvSpPr>
        <p:spPr>
          <a:xfrm>
            <a:off x="3486790" y="1347368"/>
            <a:ext cx="3478652" cy="422270"/>
          </a:xfrm>
          <a:prstGeom prst="rect">
            <a:avLst/>
          </a:prstGeom>
          <a:solidFill>
            <a:srgbClr val="ECF2FF"/>
          </a:solidFill>
          <a:ln/>
        </p:spPr>
      </p:sp>
      <p:sp>
        <p:nvSpPr>
          <p:cNvPr id="8" name="Text 6"/>
          <p:cNvSpPr txBox="1"/>
          <p:nvPr/>
        </p:nvSpPr>
        <p:spPr>
          <a:xfrm>
            <a:off x="3651839" y="1479408"/>
            <a:ext cx="1338133"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Ở ĐÂU TRONG BÀI</a:t>
            </a:r>
            <a:endParaRPr lang="en-US" sz="1000" dirty="0"/>
          </a:p>
        </p:txBody>
      </p:sp>
      <p:sp>
        <p:nvSpPr>
          <p:cNvPr id="9" name="Shape 7"/>
          <p:cNvSpPr/>
          <p:nvPr/>
        </p:nvSpPr>
        <p:spPr>
          <a:xfrm>
            <a:off x="6965351" y="1347368"/>
            <a:ext cx="4565965" cy="422270"/>
          </a:xfrm>
          <a:prstGeom prst="rect">
            <a:avLst/>
          </a:prstGeom>
          <a:solidFill>
            <a:srgbClr val="ECF2FF"/>
          </a:solidFill>
          <a:ln/>
        </p:spPr>
      </p:sp>
      <p:sp>
        <p:nvSpPr>
          <p:cNvPr id="10" name="Text 8"/>
          <p:cNvSpPr txBox="1"/>
          <p:nvPr/>
        </p:nvSpPr>
        <p:spPr>
          <a:xfrm>
            <a:off x="7130491" y="1479408"/>
            <a:ext cx="78958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ĐỂ LÀM GÌ</a:t>
            </a:r>
            <a:endParaRPr lang="en-US" sz="1000" dirty="0"/>
          </a:p>
        </p:txBody>
      </p:sp>
      <p:sp>
        <p:nvSpPr>
          <p:cNvPr id="11" name="Shape 9"/>
          <p:cNvSpPr/>
          <p:nvPr/>
        </p:nvSpPr>
        <p:spPr>
          <a:xfrm>
            <a:off x="660380" y="1769638"/>
            <a:ext cx="2826410" cy="6309"/>
          </a:xfrm>
          <a:prstGeom prst="rect">
            <a:avLst/>
          </a:prstGeom>
          <a:solidFill>
            <a:srgbClr val="E3E6EA"/>
          </a:solidFill>
          <a:ln/>
        </p:spPr>
      </p:sp>
      <p:sp>
        <p:nvSpPr>
          <p:cNvPr id="12" name="Text 10"/>
          <p:cNvSpPr txBox="1"/>
          <p:nvPr/>
        </p:nvSpPr>
        <p:spPr>
          <a:xfrm>
            <a:off x="800100" y="1865650"/>
            <a:ext cx="199576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Gateway cho dịch vụ ngoài</a:t>
            </a:r>
            <a:endParaRPr lang="en-US" sz="1150" dirty="0"/>
          </a:p>
        </p:txBody>
      </p:sp>
      <p:sp>
        <p:nvSpPr>
          <p:cNvPr id="13" name="Shape 11"/>
          <p:cNvSpPr/>
          <p:nvPr/>
        </p:nvSpPr>
        <p:spPr>
          <a:xfrm>
            <a:off x="3486790" y="1769638"/>
            <a:ext cx="3478652" cy="6309"/>
          </a:xfrm>
          <a:prstGeom prst="rect">
            <a:avLst/>
          </a:prstGeom>
          <a:solidFill>
            <a:srgbClr val="E3E6EA"/>
          </a:solidFill>
          <a:ln/>
        </p:spPr>
      </p:sp>
      <p:sp>
        <p:nvSpPr>
          <p:cNvPr id="14" name="Text 12"/>
          <p:cNvSpPr txBox="1"/>
          <p:nvPr/>
        </p:nvSpPr>
        <p:spPr>
          <a:xfrm>
            <a:off x="3626419" y="1865650"/>
            <a:ext cx="30384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Chỉ Payment Service nói chuyện với VNPAY</a:t>
            </a:r>
            <a:endParaRPr lang="en-US" sz="1150" dirty="0"/>
          </a:p>
        </p:txBody>
      </p:sp>
      <p:sp>
        <p:nvSpPr>
          <p:cNvPr id="15" name="Shape 13"/>
          <p:cNvSpPr/>
          <p:nvPr/>
        </p:nvSpPr>
        <p:spPr>
          <a:xfrm>
            <a:off x="6965351" y="1769638"/>
            <a:ext cx="4565965" cy="6309"/>
          </a:xfrm>
          <a:prstGeom prst="rect">
            <a:avLst/>
          </a:prstGeom>
          <a:solidFill>
            <a:srgbClr val="E3E6EA"/>
          </a:solidFill>
          <a:ln/>
        </p:spPr>
      </p:sp>
      <p:sp>
        <p:nvSpPr>
          <p:cNvPr id="16" name="Text 14"/>
          <p:cNvSpPr txBox="1"/>
          <p:nvPr/>
        </p:nvSpPr>
        <p:spPr>
          <a:xfrm>
            <a:off x="7105071" y="1865650"/>
            <a:ext cx="253051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Đổi cổng thanh toán chỉ sửa một chỗ</a:t>
            </a:r>
            <a:endParaRPr lang="en-US" sz="1150" dirty="0"/>
          </a:p>
        </p:txBody>
      </p:sp>
      <p:sp>
        <p:nvSpPr>
          <p:cNvPr id="17" name="Shape 15"/>
          <p:cNvSpPr/>
          <p:nvPr/>
        </p:nvSpPr>
        <p:spPr>
          <a:xfrm>
            <a:off x="660380" y="2147468"/>
            <a:ext cx="2826410" cy="6309"/>
          </a:xfrm>
          <a:prstGeom prst="rect">
            <a:avLst/>
          </a:prstGeom>
          <a:solidFill>
            <a:srgbClr val="E3E6EA"/>
          </a:solidFill>
          <a:ln/>
        </p:spPr>
      </p:sp>
      <p:sp>
        <p:nvSpPr>
          <p:cNvPr id="18" name="Text 16"/>
          <p:cNvSpPr txBox="1"/>
          <p:nvPr/>
        </p:nvSpPr>
        <p:spPr>
          <a:xfrm>
            <a:off x="800100" y="2243480"/>
            <a:ext cx="73069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Webhook</a:t>
            </a:r>
            <a:endParaRPr lang="en-US" sz="1150" dirty="0"/>
          </a:p>
        </p:txBody>
      </p:sp>
      <p:sp>
        <p:nvSpPr>
          <p:cNvPr id="19" name="Shape 17"/>
          <p:cNvSpPr/>
          <p:nvPr/>
        </p:nvSpPr>
        <p:spPr>
          <a:xfrm>
            <a:off x="3486790" y="2147468"/>
            <a:ext cx="3478652" cy="6309"/>
          </a:xfrm>
          <a:prstGeom prst="rect">
            <a:avLst/>
          </a:prstGeom>
          <a:solidFill>
            <a:srgbClr val="E3E6EA"/>
          </a:solidFill>
          <a:ln/>
        </p:spPr>
      </p:sp>
      <p:sp>
        <p:nvSpPr>
          <p:cNvPr id="20" name="Text 18"/>
          <p:cNvSpPr txBox="1"/>
          <p:nvPr/>
        </p:nvSpPr>
        <p:spPr>
          <a:xfrm>
            <a:off x="3626419" y="2243480"/>
            <a:ext cx="83932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IPN, kênh 3</a:t>
            </a:r>
            <a:endParaRPr lang="en-US" sz="1150" dirty="0"/>
          </a:p>
        </p:txBody>
      </p:sp>
      <p:sp>
        <p:nvSpPr>
          <p:cNvPr id="21" name="Shape 19"/>
          <p:cNvSpPr/>
          <p:nvPr/>
        </p:nvSpPr>
        <p:spPr>
          <a:xfrm>
            <a:off x="6965351" y="2147468"/>
            <a:ext cx="4565965" cy="6309"/>
          </a:xfrm>
          <a:prstGeom prst="rect">
            <a:avLst/>
          </a:prstGeom>
          <a:solidFill>
            <a:srgbClr val="E3E6EA"/>
          </a:solidFill>
          <a:ln/>
        </p:spPr>
      </p:sp>
      <p:sp>
        <p:nvSpPr>
          <p:cNvPr id="22" name="Text 20"/>
          <p:cNvSpPr txBox="1"/>
          <p:nvPr/>
        </p:nvSpPr>
        <p:spPr>
          <a:xfrm>
            <a:off x="7105071" y="2243480"/>
            <a:ext cx="373523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Bên ngoài báo kết quả mà không cần mình hỏi liên tục</a:t>
            </a:r>
            <a:endParaRPr lang="en-US" sz="1150" dirty="0"/>
          </a:p>
        </p:txBody>
      </p:sp>
      <p:sp>
        <p:nvSpPr>
          <p:cNvPr id="23" name="Shape 21"/>
          <p:cNvSpPr/>
          <p:nvPr/>
        </p:nvSpPr>
        <p:spPr>
          <a:xfrm>
            <a:off x="660380" y="2525207"/>
            <a:ext cx="2826410" cy="6309"/>
          </a:xfrm>
          <a:prstGeom prst="rect">
            <a:avLst/>
          </a:prstGeom>
          <a:solidFill>
            <a:srgbClr val="E3E6EA"/>
          </a:solidFill>
          <a:ln/>
        </p:spPr>
      </p:sp>
      <p:sp>
        <p:nvSpPr>
          <p:cNvPr id="24" name="Text 22"/>
          <p:cNvSpPr txBox="1"/>
          <p:nvPr/>
        </p:nvSpPr>
        <p:spPr>
          <a:xfrm>
            <a:off x="800100" y="2621219"/>
            <a:ext cx="152713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Retry + idempotency</a:t>
            </a:r>
            <a:endParaRPr lang="en-US" sz="1150" dirty="0"/>
          </a:p>
        </p:txBody>
      </p:sp>
      <p:sp>
        <p:nvSpPr>
          <p:cNvPr id="25" name="Shape 23"/>
          <p:cNvSpPr/>
          <p:nvPr/>
        </p:nvSpPr>
        <p:spPr>
          <a:xfrm>
            <a:off x="3486790" y="2525207"/>
            <a:ext cx="3478652" cy="6309"/>
          </a:xfrm>
          <a:prstGeom prst="rect">
            <a:avLst/>
          </a:prstGeom>
          <a:solidFill>
            <a:srgbClr val="E3E6EA"/>
          </a:solidFill>
          <a:ln/>
        </p:spPr>
      </p:sp>
      <p:sp>
        <p:nvSpPr>
          <p:cNvPr id="26" name="Text 24"/>
          <p:cNvSpPr txBox="1"/>
          <p:nvPr/>
        </p:nvSpPr>
        <p:spPr>
          <a:xfrm>
            <a:off x="3626419" y="2621219"/>
            <a:ext cx="228051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gọi lại 10 lần, mình trả 02</a:t>
            </a:r>
            <a:endParaRPr lang="en-US" sz="1150" dirty="0"/>
          </a:p>
        </p:txBody>
      </p:sp>
      <p:sp>
        <p:nvSpPr>
          <p:cNvPr id="27" name="Shape 25"/>
          <p:cNvSpPr/>
          <p:nvPr/>
        </p:nvSpPr>
        <p:spPr>
          <a:xfrm>
            <a:off x="6965351" y="2525207"/>
            <a:ext cx="4565965" cy="6309"/>
          </a:xfrm>
          <a:prstGeom prst="rect">
            <a:avLst/>
          </a:prstGeom>
          <a:solidFill>
            <a:srgbClr val="E3E6EA"/>
          </a:solidFill>
          <a:ln/>
        </p:spPr>
      </p:sp>
      <p:sp>
        <p:nvSpPr>
          <p:cNvPr id="28" name="Text 26"/>
          <p:cNvSpPr txBox="1"/>
          <p:nvPr/>
        </p:nvSpPr>
        <p:spPr>
          <a:xfrm>
            <a:off x="7105071" y="2621219"/>
            <a:ext cx="255620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mất kết quả, không ghi hai lần</a:t>
            </a:r>
            <a:endParaRPr lang="en-US" sz="1150" dirty="0"/>
          </a:p>
        </p:txBody>
      </p:sp>
      <p:sp>
        <p:nvSpPr>
          <p:cNvPr id="29" name="Shape 27"/>
          <p:cNvSpPr/>
          <p:nvPr/>
        </p:nvSpPr>
        <p:spPr>
          <a:xfrm>
            <a:off x="660380" y="2903037"/>
            <a:ext cx="2826410" cy="6309"/>
          </a:xfrm>
          <a:prstGeom prst="rect">
            <a:avLst/>
          </a:prstGeom>
          <a:solidFill>
            <a:srgbClr val="E3E6EA"/>
          </a:solidFill>
          <a:ln/>
        </p:spPr>
      </p:sp>
      <p:sp>
        <p:nvSpPr>
          <p:cNvPr id="30" name="Text 28"/>
          <p:cNvSpPr txBox="1"/>
          <p:nvPr/>
        </p:nvSpPr>
        <p:spPr>
          <a:xfrm>
            <a:off x="800100" y="2999049"/>
            <a:ext cx="1583101"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Eventual consistency</a:t>
            </a:r>
            <a:endParaRPr lang="en-US" sz="1150" dirty="0"/>
          </a:p>
        </p:txBody>
      </p:sp>
      <p:sp>
        <p:nvSpPr>
          <p:cNvPr id="31" name="Shape 29"/>
          <p:cNvSpPr/>
          <p:nvPr/>
        </p:nvSpPr>
        <p:spPr>
          <a:xfrm>
            <a:off x="3486790" y="2903037"/>
            <a:ext cx="3478652" cy="6309"/>
          </a:xfrm>
          <a:prstGeom prst="rect">
            <a:avLst/>
          </a:prstGeom>
          <a:solidFill>
            <a:srgbClr val="E3E6EA"/>
          </a:solidFill>
          <a:ln/>
        </p:spPr>
      </p:sp>
      <p:sp>
        <p:nvSpPr>
          <p:cNvPr id="32" name="Text 30"/>
          <p:cNvSpPr txBox="1"/>
          <p:nvPr/>
        </p:nvSpPr>
        <p:spPr>
          <a:xfrm>
            <a:off x="3626419" y="2999049"/>
            <a:ext cx="196358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PENDING rồi mới PAID</a:t>
            </a:r>
            <a:endParaRPr lang="en-US" sz="1150" dirty="0"/>
          </a:p>
        </p:txBody>
      </p:sp>
      <p:sp>
        <p:nvSpPr>
          <p:cNvPr id="33" name="Shape 31"/>
          <p:cNvSpPr/>
          <p:nvPr/>
        </p:nvSpPr>
        <p:spPr>
          <a:xfrm>
            <a:off x="6965351" y="2903037"/>
            <a:ext cx="4565965" cy="6309"/>
          </a:xfrm>
          <a:prstGeom prst="rect">
            <a:avLst/>
          </a:prstGeom>
          <a:solidFill>
            <a:srgbClr val="E3E6EA"/>
          </a:solidFill>
          <a:ln/>
        </p:spPr>
      </p:sp>
      <p:sp>
        <p:nvSpPr>
          <p:cNvPr id="34" name="Text 32"/>
          <p:cNvSpPr txBox="1"/>
          <p:nvPr/>
        </p:nvSpPr>
        <p:spPr>
          <a:xfrm>
            <a:off x="7105071" y="2999049"/>
            <a:ext cx="266803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Chấp nhận trạng thái đúng sau một lúc</a:t>
            </a:r>
            <a:endParaRPr lang="en-US" sz="1150" dirty="0"/>
          </a:p>
        </p:txBody>
      </p:sp>
      <p:sp>
        <p:nvSpPr>
          <p:cNvPr id="35" name="Shape 33"/>
          <p:cNvSpPr/>
          <p:nvPr/>
        </p:nvSpPr>
        <p:spPr>
          <a:xfrm>
            <a:off x="660380" y="3280867"/>
            <a:ext cx="2826410" cy="6309"/>
          </a:xfrm>
          <a:prstGeom prst="rect">
            <a:avLst/>
          </a:prstGeom>
          <a:solidFill>
            <a:srgbClr val="E3E6EA"/>
          </a:solidFill>
          <a:ln/>
        </p:spPr>
      </p:sp>
      <p:sp>
        <p:nvSpPr>
          <p:cNvPr id="36" name="Text 34"/>
          <p:cNvSpPr txBox="1"/>
          <p:nvPr/>
        </p:nvSpPr>
        <p:spPr>
          <a:xfrm>
            <a:off x="800100" y="3376879"/>
            <a:ext cx="107442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Reconciliation</a:t>
            </a:r>
            <a:endParaRPr lang="en-US" sz="1150" dirty="0"/>
          </a:p>
        </p:txBody>
      </p:sp>
      <p:sp>
        <p:nvSpPr>
          <p:cNvPr id="37" name="Shape 35"/>
          <p:cNvSpPr/>
          <p:nvPr/>
        </p:nvSpPr>
        <p:spPr>
          <a:xfrm>
            <a:off x="3486790" y="3280867"/>
            <a:ext cx="3478652" cy="6309"/>
          </a:xfrm>
          <a:prstGeom prst="rect">
            <a:avLst/>
          </a:prstGeom>
          <a:solidFill>
            <a:srgbClr val="E3E6EA"/>
          </a:solidFill>
          <a:ln/>
        </p:spPr>
      </p:sp>
      <p:sp>
        <p:nvSpPr>
          <p:cNvPr id="38" name="Text 36"/>
          <p:cNvSpPr txBox="1"/>
          <p:nvPr/>
        </p:nvSpPr>
        <p:spPr>
          <a:xfrm>
            <a:off x="3626419" y="3376879"/>
            <a:ext cx="108301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querydr, kênh 4</a:t>
            </a:r>
            <a:endParaRPr lang="en-US" sz="1150" dirty="0"/>
          </a:p>
        </p:txBody>
      </p:sp>
      <p:sp>
        <p:nvSpPr>
          <p:cNvPr id="39" name="Shape 37"/>
          <p:cNvSpPr/>
          <p:nvPr/>
        </p:nvSpPr>
        <p:spPr>
          <a:xfrm>
            <a:off x="6965351" y="3280867"/>
            <a:ext cx="4565965" cy="6309"/>
          </a:xfrm>
          <a:prstGeom prst="rect">
            <a:avLst/>
          </a:prstGeom>
          <a:solidFill>
            <a:srgbClr val="E3E6EA"/>
          </a:solidFill>
          <a:ln/>
        </p:spPr>
      </p:sp>
      <p:sp>
        <p:nvSpPr>
          <p:cNvPr id="40" name="Text 38"/>
          <p:cNvSpPr txBox="1"/>
          <p:nvPr/>
        </p:nvSpPr>
        <p:spPr>
          <a:xfrm>
            <a:off x="7105071" y="3376879"/>
            <a:ext cx="209150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Tự hỏi lại khi webhook thất lạc</a:t>
            </a:r>
            <a:endParaRPr lang="en-US" sz="1150" dirty="0"/>
          </a:p>
        </p:txBody>
      </p:sp>
      <p:sp>
        <p:nvSpPr>
          <p:cNvPr id="41" name="Shape 39"/>
          <p:cNvSpPr/>
          <p:nvPr/>
        </p:nvSpPr>
        <p:spPr>
          <a:xfrm>
            <a:off x="660380" y="3658697"/>
            <a:ext cx="2826410" cy="6309"/>
          </a:xfrm>
          <a:prstGeom prst="rect">
            <a:avLst/>
          </a:prstGeom>
          <a:solidFill>
            <a:srgbClr val="E3E6EA"/>
          </a:solidFill>
          <a:ln/>
        </p:spPr>
      </p:sp>
      <p:sp>
        <p:nvSpPr>
          <p:cNvPr id="42" name="Text 40"/>
          <p:cNvSpPr txBox="1"/>
          <p:nvPr/>
        </p:nvSpPr>
        <p:spPr>
          <a:xfrm>
            <a:off x="800100" y="3754709"/>
            <a:ext cx="175491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Message authentication</a:t>
            </a:r>
            <a:endParaRPr lang="en-US" sz="1150" dirty="0"/>
          </a:p>
        </p:txBody>
      </p:sp>
      <p:sp>
        <p:nvSpPr>
          <p:cNvPr id="43" name="Shape 41"/>
          <p:cNvSpPr/>
          <p:nvPr/>
        </p:nvSpPr>
        <p:spPr>
          <a:xfrm>
            <a:off x="3486790" y="3658697"/>
            <a:ext cx="3478652" cy="6309"/>
          </a:xfrm>
          <a:prstGeom prst="rect">
            <a:avLst/>
          </a:prstGeom>
          <a:solidFill>
            <a:srgbClr val="E3E6EA"/>
          </a:solidFill>
          <a:ln/>
        </p:spPr>
      </p:sp>
      <p:sp>
        <p:nvSpPr>
          <p:cNvPr id="44" name="Text 42"/>
          <p:cNvSpPr txBox="1"/>
          <p:nvPr/>
        </p:nvSpPr>
        <p:spPr>
          <a:xfrm>
            <a:off x="3626419" y="3754709"/>
            <a:ext cx="219218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HMAC-SHA512 với HashSecret</a:t>
            </a:r>
            <a:endParaRPr lang="en-US" sz="1150" dirty="0"/>
          </a:p>
        </p:txBody>
      </p:sp>
      <p:sp>
        <p:nvSpPr>
          <p:cNvPr id="45" name="Shape 43"/>
          <p:cNvSpPr/>
          <p:nvPr/>
        </p:nvSpPr>
        <p:spPr>
          <a:xfrm>
            <a:off x="6965351" y="3658697"/>
            <a:ext cx="4565965" cy="6309"/>
          </a:xfrm>
          <a:prstGeom prst="rect">
            <a:avLst/>
          </a:prstGeom>
          <a:solidFill>
            <a:srgbClr val="E3E6EA"/>
          </a:solidFill>
          <a:ln/>
        </p:spPr>
      </p:sp>
      <p:sp>
        <p:nvSpPr>
          <p:cNvPr id="46" name="Text 44"/>
          <p:cNvSpPr txBox="1"/>
          <p:nvPr/>
        </p:nvSpPr>
        <p:spPr>
          <a:xfrm>
            <a:off x="7105071" y="3754709"/>
            <a:ext cx="350343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Biết chắc dữ liệu đúng là của VNPAY, không bị sửa</a:t>
            </a:r>
            <a:endParaRPr lang="en-US" sz="1150" dirty="0"/>
          </a:p>
        </p:txBody>
      </p:sp>
      <p:sp>
        <p:nvSpPr>
          <p:cNvPr id="47" name="Text 4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8" name="Text 4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843430"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Nhìn lại theo microservice</a:t>
            </a:r>
            <a:endParaRPr lang="en-US" sz="1100" dirty="0"/>
          </a:p>
        </p:txBody>
      </p:sp>
      <p:sp>
        <p:nvSpPr>
          <p:cNvPr id="3" name="Text 1"/>
          <p:cNvSpPr txBox="1"/>
          <p:nvPr/>
        </p:nvSpPr>
        <p:spPr>
          <a:xfrm>
            <a:off x="660380" y="643829"/>
            <a:ext cx="6599773"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Từ demo hôm nay lên hệ thống thật</a:t>
            </a:r>
            <a:endParaRPr lang="en-US" sz="3000" dirty="0"/>
          </a:p>
        </p:txBody>
      </p:sp>
      <p:sp>
        <p:nvSpPr>
          <p:cNvPr id="4" name="Shape 2"/>
          <p:cNvSpPr/>
          <p:nvPr/>
        </p:nvSpPr>
        <p:spPr>
          <a:xfrm>
            <a:off x="660380" y="1347368"/>
            <a:ext cx="10870936" cy="3473348"/>
          </a:xfrm>
          <a:prstGeom prst="roundRect">
            <a:avLst>
              <a:gd name="adj" fmla="val 2925"/>
            </a:avLst>
          </a:prstGeom>
          <a:solidFill>
            <a:srgbClr val="FFFFFF"/>
          </a:solidFill>
          <a:ln/>
        </p:spPr>
      </p:sp>
      <p:sp>
        <p:nvSpPr>
          <p:cNvPr id="5" name="Shape 3"/>
          <p:cNvSpPr/>
          <p:nvPr/>
        </p:nvSpPr>
        <p:spPr>
          <a:xfrm>
            <a:off x="660380" y="1347368"/>
            <a:ext cx="3913449" cy="422270"/>
          </a:xfrm>
          <a:prstGeom prst="rect">
            <a:avLst/>
          </a:prstGeom>
          <a:solidFill>
            <a:srgbClr val="ECF2FF"/>
          </a:solidFill>
          <a:ln/>
        </p:spPr>
      </p:sp>
      <p:sp>
        <p:nvSpPr>
          <p:cNvPr id="6" name="Text 4"/>
          <p:cNvSpPr txBox="1"/>
          <p:nvPr/>
        </p:nvSpPr>
        <p:spPr>
          <a:xfrm>
            <a:off x="825520" y="1479408"/>
            <a:ext cx="1669786"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HÔM NAY (1 FILE JAVA)</a:t>
            </a:r>
            <a:endParaRPr lang="en-US" sz="1000" dirty="0"/>
          </a:p>
        </p:txBody>
      </p:sp>
      <p:sp>
        <p:nvSpPr>
          <p:cNvPr id="7" name="Shape 5"/>
          <p:cNvSpPr/>
          <p:nvPr/>
        </p:nvSpPr>
        <p:spPr>
          <a:xfrm>
            <a:off x="4573829" y="1347368"/>
            <a:ext cx="6957487" cy="422270"/>
          </a:xfrm>
          <a:prstGeom prst="rect">
            <a:avLst/>
          </a:prstGeom>
          <a:solidFill>
            <a:srgbClr val="ECF2FF"/>
          </a:solidFill>
          <a:ln/>
        </p:spPr>
      </p:sp>
      <p:sp>
        <p:nvSpPr>
          <p:cNvPr id="8" name="Text 6"/>
          <p:cNvSpPr txBox="1"/>
          <p:nvPr/>
        </p:nvSpPr>
        <p:spPr>
          <a:xfrm>
            <a:off x="4738969" y="1479408"/>
            <a:ext cx="235640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HỆ THỐNG MICROSERVICE THẬT</a:t>
            </a:r>
            <a:endParaRPr lang="en-US" sz="1000" dirty="0"/>
          </a:p>
        </p:txBody>
      </p:sp>
      <p:sp>
        <p:nvSpPr>
          <p:cNvPr id="9" name="Shape 7"/>
          <p:cNvSpPr/>
          <p:nvPr/>
        </p:nvSpPr>
        <p:spPr>
          <a:xfrm>
            <a:off x="660380" y="1769638"/>
            <a:ext cx="3913449" cy="6309"/>
          </a:xfrm>
          <a:prstGeom prst="rect">
            <a:avLst/>
          </a:prstGeom>
          <a:solidFill>
            <a:srgbClr val="E3E6EA"/>
          </a:solidFill>
          <a:ln/>
        </p:spPr>
      </p:sp>
      <p:sp>
        <p:nvSpPr>
          <p:cNvPr id="10" name="Text 8"/>
          <p:cNvSpPr txBox="1"/>
          <p:nvPr/>
        </p:nvSpPr>
        <p:spPr>
          <a:xfrm>
            <a:off x="800100" y="1873606"/>
            <a:ext cx="202786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Map ORDERS trong bộ nhớ</a:t>
            </a:r>
            <a:endParaRPr lang="en-US" sz="1150" dirty="0"/>
          </a:p>
        </p:txBody>
      </p:sp>
      <p:sp>
        <p:nvSpPr>
          <p:cNvPr id="11" name="Shape 9"/>
          <p:cNvSpPr/>
          <p:nvPr/>
        </p:nvSpPr>
        <p:spPr>
          <a:xfrm>
            <a:off x="4573829" y="1769638"/>
            <a:ext cx="6957487" cy="6309"/>
          </a:xfrm>
          <a:prstGeom prst="rect">
            <a:avLst/>
          </a:prstGeom>
          <a:solidFill>
            <a:srgbClr val="E3E6EA"/>
          </a:solidFill>
          <a:ln/>
        </p:spPr>
      </p:sp>
      <p:sp>
        <p:nvSpPr>
          <p:cNvPr id="12" name="Text 10"/>
          <p:cNvSpPr txBox="1"/>
          <p:nvPr/>
        </p:nvSpPr>
        <p:spPr>
          <a:xfrm>
            <a:off x="4713549" y="1865285"/>
            <a:ext cx="409596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Database riêng của Payment Service, </a:t>
            </a:r>
            <a:pPr algn="l" indent="0" marL="0">
              <a:buNone/>
            </a:pPr>
            <a:r>
              <a:rPr lang="en-US" sz="1200" dirty="0">
                <a:solidFill>
                  <a:srgbClr val="3F454D"/>
                </a:solidFill>
                <a:latin typeface="Courier New" pitchFamily="34" charset="0"/>
                <a:ea typeface="Courier New" pitchFamily="34" charset="-122"/>
                <a:cs typeface="Courier New" pitchFamily="34" charset="-120"/>
              </a:rPr>
              <a:t>UNIQUE(txn_ref)</a:t>
            </a:r>
            <a:endParaRPr lang="en-US" sz="1150" dirty="0"/>
          </a:p>
        </p:txBody>
      </p:sp>
      <p:sp>
        <p:nvSpPr>
          <p:cNvPr id="13" name="Shape 11"/>
          <p:cNvSpPr/>
          <p:nvPr/>
        </p:nvSpPr>
        <p:spPr>
          <a:xfrm>
            <a:off x="660380" y="2163288"/>
            <a:ext cx="3913449" cy="6309"/>
          </a:xfrm>
          <a:prstGeom prst="rect">
            <a:avLst/>
          </a:prstGeom>
          <a:solidFill>
            <a:srgbClr val="E3E6EA"/>
          </a:solidFill>
          <a:ln/>
        </p:spPr>
      </p:sp>
      <p:sp>
        <p:nvSpPr>
          <p:cNvPr id="14" name="Text 12"/>
          <p:cNvSpPr txBox="1"/>
          <p:nvPr/>
        </p:nvSpPr>
        <p:spPr>
          <a:xfrm>
            <a:off x="800100" y="2259300"/>
            <a:ext cx="101763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synchronized</a:t>
            </a:r>
            <a:endParaRPr lang="en-US" sz="1150" dirty="0"/>
          </a:p>
        </p:txBody>
      </p:sp>
      <p:sp>
        <p:nvSpPr>
          <p:cNvPr id="15" name="Shape 13"/>
          <p:cNvSpPr/>
          <p:nvPr/>
        </p:nvSpPr>
        <p:spPr>
          <a:xfrm>
            <a:off x="4573829" y="2163288"/>
            <a:ext cx="6957487" cy="6309"/>
          </a:xfrm>
          <a:prstGeom prst="rect">
            <a:avLst/>
          </a:prstGeom>
          <a:solidFill>
            <a:srgbClr val="E3E6EA"/>
          </a:solidFill>
          <a:ln/>
        </p:spPr>
      </p:sp>
      <p:sp>
        <p:nvSpPr>
          <p:cNvPr id="16" name="Text 14"/>
          <p:cNvSpPr txBox="1"/>
          <p:nvPr/>
        </p:nvSpPr>
        <p:spPr>
          <a:xfrm>
            <a:off x="4713549" y="2259300"/>
            <a:ext cx="273899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Transaction hoặc optimistic lock của DB</a:t>
            </a:r>
            <a:endParaRPr lang="en-US" sz="1150" dirty="0"/>
          </a:p>
        </p:txBody>
      </p:sp>
      <p:sp>
        <p:nvSpPr>
          <p:cNvPr id="17" name="Shape 15"/>
          <p:cNvSpPr/>
          <p:nvPr/>
        </p:nvSpPr>
        <p:spPr>
          <a:xfrm>
            <a:off x="660380" y="2541118"/>
            <a:ext cx="3913449" cy="6309"/>
          </a:xfrm>
          <a:prstGeom prst="rect">
            <a:avLst/>
          </a:prstGeom>
          <a:solidFill>
            <a:srgbClr val="E3E6EA"/>
          </a:solidFill>
          <a:ln/>
        </p:spPr>
      </p:sp>
      <p:sp>
        <p:nvSpPr>
          <p:cNvPr id="18" name="Text 16"/>
          <p:cNvSpPr txBox="1"/>
          <p:nvPr/>
        </p:nvSpPr>
        <p:spPr>
          <a:xfrm>
            <a:off x="800100" y="2645085"/>
            <a:ext cx="120947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Ghi log khi PAID</a:t>
            </a:r>
            <a:endParaRPr lang="en-US" sz="1150" dirty="0"/>
          </a:p>
        </p:txBody>
      </p:sp>
      <p:sp>
        <p:nvSpPr>
          <p:cNvPr id="19" name="Shape 17"/>
          <p:cNvSpPr/>
          <p:nvPr/>
        </p:nvSpPr>
        <p:spPr>
          <a:xfrm>
            <a:off x="4573829" y="2541118"/>
            <a:ext cx="6957487" cy="6309"/>
          </a:xfrm>
          <a:prstGeom prst="rect">
            <a:avLst/>
          </a:prstGeom>
          <a:solidFill>
            <a:srgbClr val="E3E6EA"/>
          </a:solidFill>
          <a:ln/>
        </p:spPr>
      </p:sp>
      <p:sp>
        <p:nvSpPr>
          <p:cNvPr id="20" name="Text 18"/>
          <p:cNvSpPr txBox="1"/>
          <p:nvPr/>
        </p:nvSpPr>
        <p:spPr>
          <a:xfrm>
            <a:off x="4713549" y="2636764"/>
            <a:ext cx="372087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Phát event </a:t>
            </a:r>
            <a:pPr algn="l" indent="0" marL="0">
              <a:buNone/>
            </a:pPr>
            <a:r>
              <a:rPr lang="en-US" sz="1200" dirty="0">
                <a:solidFill>
                  <a:srgbClr val="3F454D"/>
                </a:solidFill>
                <a:latin typeface="Courier New" pitchFamily="34" charset="0"/>
                <a:ea typeface="Courier New" pitchFamily="34" charset="-122"/>
                <a:cs typeface="Courier New" pitchFamily="34" charset="-120"/>
              </a:rPr>
              <a:t>OrderPaid</a:t>
            </a:r>
            <a:pPr algn="l" indent="0" marL="0">
              <a:buNone/>
            </a:pPr>
            <a:r>
              <a:rPr lang="en-US" sz="1150" dirty="0">
                <a:solidFill>
                  <a:srgbClr val="3F454D"/>
                </a:solidFill>
                <a:latin typeface="Arial" pitchFamily="34" charset="0"/>
                <a:ea typeface="Arial" pitchFamily="34" charset="-122"/>
                <a:cs typeface="Arial" pitchFamily="34" charset="-120"/>
              </a:rPr>
              <a:t> qua message broker (outbox)</a:t>
            </a:r>
            <a:endParaRPr lang="en-US" sz="1150" dirty="0"/>
          </a:p>
        </p:txBody>
      </p:sp>
      <p:sp>
        <p:nvSpPr>
          <p:cNvPr id="21" name="Shape 19"/>
          <p:cNvSpPr/>
          <p:nvPr/>
        </p:nvSpPr>
        <p:spPr>
          <a:xfrm>
            <a:off x="660380" y="2934858"/>
            <a:ext cx="3913449" cy="6309"/>
          </a:xfrm>
          <a:prstGeom prst="rect">
            <a:avLst/>
          </a:prstGeom>
          <a:solidFill>
            <a:srgbClr val="E3E6EA"/>
          </a:solidFill>
          <a:ln/>
        </p:spPr>
      </p:sp>
      <p:sp>
        <p:nvSpPr>
          <p:cNvPr id="22" name="Text 20"/>
          <p:cNvSpPr txBox="1"/>
          <p:nvPr/>
        </p:nvSpPr>
        <p:spPr>
          <a:xfrm>
            <a:off x="800100" y="3030870"/>
            <a:ext cx="213329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querydr khi trang kết quả hỏi</a:t>
            </a:r>
            <a:endParaRPr lang="en-US" sz="1150" dirty="0"/>
          </a:p>
        </p:txBody>
      </p:sp>
      <p:sp>
        <p:nvSpPr>
          <p:cNvPr id="23" name="Shape 21"/>
          <p:cNvSpPr/>
          <p:nvPr/>
        </p:nvSpPr>
        <p:spPr>
          <a:xfrm>
            <a:off x="4573829" y="2934858"/>
            <a:ext cx="6957487" cy="6309"/>
          </a:xfrm>
          <a:prstGeom prst="rect">
            <a:avLst/>
          </a:prstGeom>
          <a:solidFill>
            <a:srgbClr val="E3E6EA"/>
          </a:solidFill>
          <a:ln/>
        </p:spPr>
      </p:sp>
      <p:sp>
        <p:nvSpPr>
          <p:cNvPr id="24" name="Text 22"/>
          <p:cNvSpPr txBox="1"/>
          <p:nvPr/>
        </p:nvSpPr>
        <p:spPr>
          <a:xfrm>
            <a:off x="4713549" y="3030870"/>
            <a:ext cx="305336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Job định kỳ quét đơn PENDING quá 15 phút</a:t>
            </a:r>
            <a:endParaRPr lang="en-US" sz="1150" dirty="0"/>
          </a:p>
        </p:txBody>
      </p:sp>
      <p:sp>
        <p:nvSpPr>
          <p:cNvPr id="25" name="Shape 23"/>
          <p:cNvSpPr/>
          <p:nvPr/>
        </p:nvSpPr>
        <p:spPr>
          <a:xfrm>
            <a:off x="660380" y="3312597"/>
            <a:ext cx="3913449" cy="6309"/>
          </a:xfrm>
          <a:prstGeom prst="rect">
            <a:avLst/>
          </a:prstGeom>
          <a:solidFill>
            <a:srgbClr val="E3E6EA"/>
          </a:solidFill>
          <a:ln/>
        </p:spPr>
      </p:sp>
      <p:sp>
        <p:nvSpPr>
          <p:cNvPr id="26" name="Text 24"/>
          <p:cNvSpPr txBox="1"/>
          <p:nvPr/>
        </p:nvSpPr>
        <p:spPr>
          <a:xfrm>
            <a:off x="800100" y="3408609"/>
            <a:ext cx="48188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ngrok</a:t>
            </a:r>
            <a:endParaRPr lang="en-US" sz="1150" dirty="0"/>
          </a:p>
        </p:txBody>
      </p:sp>
      <p:sp>
        <p:nvSpPr>
          <p:cNvPr id="27" name="Shape 25"/>
          <p:cNvSpPr/>
          <p:nvPr/>
        </p:nvSpPr>
        <p:spPr>
          <a:xfrm>
            <a:off x="4573829" y="3312597"/>
            <a:ext cx="6957487" cy="6309"/>
          </a:xfrm>
          <a:prstGeom prst="rect">
            <a:avLst/>
          </a:prstGeom>
          <a:solidFill>
            <a:srgbClr val="E3E6EA"/>
          </a:solidFill>
          <a:ln/>
        </p:spPr>
      </p:sp>
      <p:sp>
        <p:nvSpPr>
          <p:cNvPr id="28" name="Text 26"/>
          <p:cNvSpPr txBox="1"/>
          <p:nvPr/>
        </p:nvSpPr>
        <p:spPr>
          <a:xfrm>
            <a:off x="4713549" y="3408609"/>
            <a:ext cx="357091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API Gateway hoặc Ingress, domain và HTTPS riêng</a:t>
            </a:r>
            <a:endParaRPr lang="en-US" sz="1150" dirty="0"/>
          </a:p>
        </p:txBody>
      </p:sp>
      <p:sp>
        <p:nvSpPr>
          <p:cNvPr id="29" name="Shape 27"/>
          <p:cNvSpPr/>
          <p:nvPr/>
        </p:nvSpPr>
        <p:spPr>
          <a:xfrm>
            <a:off x="660380" y="3690427"/>
            <a:ext cx="3913449" cy="6309"/>
          </a:xfrm>
          <a:prstGeom prst="rect">
            <a:avLst/>
          </a:prstGeom>
          <a:solidFill>
            <a:srgbClr val="E3E6EA"/>
          </a:solidFill>
          <a:ln/>
        </p:spPr>
      </p:sp>
      <p:sp>
        <p:nvSpPr>
          <p:cNvPr id="30" name="Text 28"/>
          <p:cNvSpPr txBox="1"/>
          <p:nvPr/>
        </p:nvSpPr>
        <p:spPr>
          <a:xfrm>
            <a:off x="800100" y="3786439"/>
            <a:ext cx="140205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Key ghi trong code</a:t>
            </a:r>
            <a:endParaRPr lang="en-US" sz="1150" dirty="0"/>
          </a:p>
        </p:txBody>
      </p:sp>
      <p:sp>
        <p:nvSpPr>
          <p:cNvPr id="31" name="Shape 29"/>
          <p:cNvSpPr/>
          <p:nvPr/>
        </p:nvSpPr>
        <p:spPr>
          <a:xfrm>
            <a:off x="4573829" y="3690427"/>
            <a:ext cx="6957487" cy="6309"/>
          </a:xfrm>
          <a:prstGeom prst="rect">
            <a:avLst/>
          </a:prstGeom>
          <a:solidFill>
            <a:srgbClr val="E3E6EA"/>
          </a:solidFill>
          <a:ln/>
        </p:spPr>
      </p:sp>
      <p:sp>
        <p:nvSpPr>
          <p:cNvPr id="32" name="Text 30"/>
          <p:cNvSpPr txBox="1"/>
          <p:nvPr/>
        </p:nvSpPr>
        <p:spPr>
          <a:xfrm>
            <a:off x="4713549" y="3786439"/>
            <a:ext cx="204533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Vault hoặc Kubernetes Secret</a:t>
            </a:r>
            <a:endParaRPr lang="en-US" sz="1150" dirty="0"/>
          </a:p>
        </p:txBody>
      </p:sp>
      <p:sp>
        <p:nvSpPr>
          <p:cNvPr id="33" name="Shape 31"/>
          <p:cNvSpPr/>
          <p:nvPr/>
        </p:nvSpPr>
        <p:spPr>
          <a:xfrm>
            <a:off x="660380" y="4068257"/>
            <a:ext cx="3913449" cy="6309"/>
          </a:xfrm>
          <a:prstGeom prst="rect">
            <a:avLst/>
          </a:prstGeom>
          <a:solidFill>
            <a:srgbClr val="E3E6EA"/>
          </a:solidFill>
          <a:ln/>
        </p:spPr>
      </p:sp>
      <p:sp>
        <p:nvSpPr>
          <p:cNvPr id="34" name="Text 32"/>
          <p:cNvSpPr txBox="1"/>
          <p:nvPr/>
        </p:nvSpPr>
        <p:spPr>
          <a:xfrm>
            <a:off x="800100" y="4164269"/>
            <a:ext cx="119649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IpAddr 127.0.0.1</a:t>
            </a:r>
            <a:endParaRPr lang="en-US" sz="1150" dirty="0"/>
          </a:p>
        </p:txBody>
      </p:sp>
      <p:sp>
        <p:nvSpPr>
          <p:cNvPr id="35" name="Shape 33"/>
          <p:cNvSpPr/>
          <p:nvPr/>
        </p:nvSpPr>
        <p:spPr>
          <a:xfrm>
            <a:off x="4573829" y="4068257"/>
            <a:ext cx="6957487" cy="6309"/>
          </a:xfrm>
          <a:prstGeom prst="rect">
            <a:avLst/>
          </a:prstGeom>
          <a:solidFill>
            <a:srgbClr val="E3E6EA"/>
          </a:solidFill>
          <a:ln/>
        </p:spPr>
      </p:sp>
      <p:sp>
        <p:nvSpPr>
          <p:cNvPr id="36" name="Text 34"/>
          <p:cNvSpPr txBox="1"/>
          <p:nvPr/>
        </p:nvSpPr>
        <p:spPr>
          <a:xfrm>
            <a:off x="4713549" y="4164269"/>
            <a:ext cx="243267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IP thật của khách, lấy qua Gateway</a:t>
            </a:r>
            <a:endParaRPr lang="en-US" sz="1150" dirty="0"/>
          </a:p>
        </p:txBody>
      </p:sp>
      <p:sp>
        <p:nvSpPr>
          <p:cNvPr id="37" name="Shape 35"/>
          <p:cNvSpPr/>
          <p:nvPr/>
        </p:nvSpPr>
        <p:spPr>
          <a:xfrm>
            <a:off x="660380" y="4446087"/>
            <a:ext cx="3913449" cy="6309"/>
          </a:xfrm>
          <a:prstGeom prst="rect">
            <a:avLst/>
          </a:prstGeom>
          <a:solidFill>
            <a:srgbClr val="E3E6EA"/>
          </a:solidFill>
          <a:ln/>
        </p:spPr>
      </p:sp>
      <p:sp>
        <p:nvSpPr>
          <p:cNvPr id="38" name="Text 36"/>
          <p:cNvSpPr txBox="1"/>
          <p:nvPr/>
        </p:nvSpPr>
        <p:spPr>
          <a:xfrm>
            <a:off x="800100" y="4542099"/>
            <a:ext cx="2943088"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Chưa kiểm tra chữ ký response querydr</a:t>
            </a:r>
            <a:endParaRPr lang="en-US" sz="1150" dirty="0"/>
          </a:p>
        </p:txBody>
      </p:sp>
      <p:sp>
        <p:nvSpPr>
          <p:cNvPr id="39" name="Shape 37"/>
          <p:cNvSpPr/>
          <p:nvPr/>
        </p:nvSpPr>
        <p:spPr>
          <a:xfrm>
            <a:off x="4573829" y="4446087"/>
            <a:ext cx="6957487" cy="6309"/>
          </a:xfrm>
          <a:prstGeom prst="rect">
            <a:avLst/>
          </a:prstGeom>
          <a:solidFill>
            <a:srgbClr val="E3E6EA"/>
          </a:solidFill>
          <a:ln/>
        </p:spPr>
      </p:sp>
      <p:sp>
        <p:nvSpPr>
          <p:cNvPr id="40" name="Text 38"/>
          <p:cNvSpPr txBox="1"/>
          <p:nvPr/>
        </p:nvSpPr>
        <p:spPr>
          <a:xfrm>
            <a:off x="4713549" y="4542099"/>
            <a:ext cx="227246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Kiểm tra theo thứ tự trong tài liệu</a:t>
            </a:r>
            <a:endParaRPr lang="en-US" sz="1150" dirty="0"/>
          </a:p>
        </p:txBody>
      </p:sp>
      <p:sp>
        <p:nvSpPr>
          <p:cNvPr id="41" name="Text 3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2" name="Text 40"/>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5889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Tra cứu</a:t>
            </a:r>
            <a:endParaRPr lang="en-US" sz="1100" dirty="0"/>
          </a:p>
        </p:txBody>
      </p:sp>
      <p:sp>
        <p:nvSpPr>
          <p:cNvPr id="3" name="Text 1"/>
          <p:cNvSpPr txBox="1"/>
          <p:nvPr/>
        </p:nvSpPr>
        <p:spPr>
          <a:xfrm>
            <a:off x="660380" y="643829"/>
            <a:ext cx="337733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Một số lỗi hay gặp</a:t>
            </a:r>
            <a:endParaRPr lang="en-US" sz="3000" dirty="0"/>
          </a:p>
        </p:txBody>
      </p:sp>
      <p:sp>
        <p:nvSpPr>
          <p:cNvPr id="4" name="Shape 2"/>
          <p:cNvSpPr/>
          <p:nvPr/>
        </p:nvSpPr>
        <p:spPr>
          <a:xfrm>
            <a:off x="660380" y="1347368"/>
            <a:ext cx="10870936" cy="3162178"/>
          </a:xfrm>
          <a:prstGeom prst="roundRect">
            <a:avLst>
              <a:gd name="adj" fmla="val 3213"/>
            </a:avLst>
          </a:prstGeom>
          <a:solidFill>
            <a:srgbClr val="FFFFFF"/>
          </a:solidFill>
          <a:ln/>
        </p:spPr>
      </p:sp>
      <p:sp>
        <p:nvSpPr>
          <p:cNvPr id="5" name="Shape 3"/>
          <p:cNvSpPr/>
          <p:nvPr/>
        </p:nvSpPr>
        <p:spPr>
          <a:xfrm>
            <a:off x="660380" y="1347368"/>
            <a:ext cx="4348338" cy="422270"/>
          </a:xfrm>
          <a:prstGeom prst="rect">
            <a:avLst/>
          </a:prstGeom>
          <a:solidFill>
            <a:srgbClr val="ECF2FF"/>
          </a:solidFill>
          <a:ln/>
        </p:spPr>
      </p:sp>
      <p:sp>
        <p:nvSpPr>
          <p:cNvPr id="6" name="Text 4"/>
          <p:cNvSpPr txBox="1"/>
          <p:nvPr/>
        </p:nvSpPr>
        <p:spPr>
          <a:xfrm>
            <a:off x="825520" y="1479408"/>
            <a:ext cx="3069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LỖI</a:t>
            </a:r>
            <a:endParaRPr lang="en-US" sz="1000" dirty="0"/>
          </a:p>
        </p:txBody>
      </p:sp>
      <p:sp>
        <p:nvSpPr>
          <p:cNvPr id="7" name="Shape 5"/>
          <p:cNvSpPr/>
          <p:nvPr/>
        </p:nvSpPr>
        <p:spPr>
          <a:xfrm>
            <a:off x="5008717" y="1347368"/>
            <a:ext cx="6522598" cy="422270"/>
          </a:xfrm>
          <a:prstGeom prst="rect">
            <a:avLst/>
          </a:prstGeom>
          <a:solidFill>
            <a:srgbClr val="ECF2FF"/>
          </a:solidFill>
          <a:ln/>
        </p:spPr>
      </p:sp>
      <p:sp>
        <p:nvSpPr>
          <p:cNvPr id="8" name="Text 6"/>
          <p:cNvSpPr txBox="1"/>
          <p:nvPr/>
        </p:nvSpPr>
        <p:spPr>
          <a:xfrm>
            <a:off x="5173858" y="1479408"/>
            <a:ext cx="81098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CÁCH SỬA</a:t>
            </a:r>
            <a:endParaRPr lang="en-US" sz="1000" dirty="0"/>
          </a:p>
        </p:txBody>
      </p:sp>
      <p:sp>
        <p:nvSpPr>
          <p:cNvPr id="9" name="Shape 7"/>
          <p:cNvSpPr/>
          <p:nvPr/>
        </p:nvSpPr>
        <p:spPr>
          <a:xfrm>
            <a:off x="660380" y="1769638"/>
            <a:ext cx="4348338" cy="6309"/>
          </a:xfrm>
          <a:prstGeom prst="rect">
            <a:avLst/>
          </a:prstGeom>
          <a:solidFill>
            <a:srgbClr val="E3E6EA"/>
          </a:solidFill>
          <a:ln/>
        </p:spPr>
      </p:sp>
      <p:sp>
        <p:nvSpPr>
          <p:cNvPr id="10" name="Text 8"/>
          <p:cNvSpPr txBox="1"/>
          <p:nvPr/>
        </p:nvSpPr>
        <p:spPr>
          <a:xfrm>
            <a:off x="825520" y="1889882"/>
            <a:ext cx="1916217"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Address already in use</a:t>
            </a:r>
            <a:endParaRPr lang="en-US" sz="1300" dirty="0"/>
          </a:p>
        </p:txBody>
      </p:sp>
      <p:sp>
        <p:nvSpPr>
          <p:cNvPr id="11" name="Shape 9"/>
          <p:cNvSpPr/>
          <p:nvPr/>
        </p:nvSpPr>
        <p:spPr>
          <a:xfrm>
            <a:off x="5008717" y="1769638"/>
            <a:ext cx="6522598" cy="6309"/>
          </a:xfrm>
          <a:prstGeom prst="rect">
            <a:avLst/>
          </a:prstGeom>
          <a:solidFill>
            <a:srgbClr val="E3E6EA"/>
          </a:solidFill>
          <a:ln/>
        </p:spPr>
      </p:sp>
      <p:sp>
        <p:nvSpPr>
          <p:cNvPr id="12" name="Text 10"/>
          <p:cNvSpPr txBox="1"/>
          <p:nvPr/>
        </p:nvSpPr>
        <p:spPr>
          <a:xfrm>
            <a:off x="5173858" y="1889882"/>
            <a:ext cx="3093415"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Port 8080 đang bị chiếm, tắt terminal cũ</a:t>
            </a:r>
            <a:endParaRPr lang="en-US" sz="1300" dirty="0"/>
          </a:p>
        </p:txBody>
      </p:sp>
      <p:sp>
        <p:nvSpPr>
          <p:cNvPr id="13" name="Shape 11"/>
          <p:cNvSpPr/>
          <p:nvPr/>
        </p:nvSpPr>
        <p:spPr>
          <a:xfrm>
            <a:off x="660380" y="2226838"/>
            <a:ext cx="4348338" cy="6309"/>
          </a:xfrm>
          <a:prstGeom prst="rect">
            <a:avLst/>
          </a:prstGeom>
          <a:solidFill>
            <a:srgbClr val="E3E6EA"/>
          </a:solidFill>
          <a:ln/>
        </p:spPr>
      </p:sp>
      <p:sp>
        <p:nvSpPr>
          <p:cNvPr id="14" name="Text 12"/>
          <p:cNvSpPr txBox="1"/>
          <p:nvPr/>
        </p:nvSpPr>
        <p:spPr>
          <a:xfrm>
            <a:off x="825520" y="2347082"/>
            <a:ext cx="221732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Lỗi unreachable statement</a:t>
            </a:r>
            <a:endParaRPr lang="en-US" sz="1300" dirty="0"/>
          </a:p>
        </p:txBody>
      </p:sp>
      <p:sp>
        <p:nvSpPr>
          <p:cNvPr id="15" name="Shape 13"/>
          <p:cNvSpPr/>
          <p:nvPr/>
        </p:nvSpPr>
        <p:spPr>
          <a:xfrm>
            <a:off x="5008717" y="2226838"/>
            <a:ext cx="6522598" cy="6309"/>
          </a:xfrm>
          <a:prstGeom prst="rect">
            <a:avLst/>
          </a:prstGeom>
          <a:solidFill>
            <a:srgbClr val="E3E6EA"/>
          </a:solidFill>
          <a:ln/>
        </p:spPr>
      </p:sp>
      <p:sp>
        <p:nvSpPr>
          <p:cNvPr id="16" name="Text 14"/>
          <p:cNvSpPr txBox="1"/>
          <p:nvPr/>
        </p:nvSpPr>
        <p:spPr>
          <a:xfrm>
            <a:off x="5173858" y="2347082"/>
            <a:ext cx="3113532"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xoá dòng return có sẵn trong hàm</a:t>
            </a:r>
            <a:endParaRPr lang="en-US" sz="1300" dirty="0"/>
          </a:p>
        </p:txBody>
      </p:sp>
      <p:sp>
        <p:nvSpPr>
          <p:cNvPr id="17" name="Shape 15"/>
          <p:cNvSpPr/>
          <p:nvPr/>
        </p:nvSpPr>
        <p:spPr>
          <a:xfrm>
            <a:off x="660380" y="2684038"/>
            <a:ext cx="4348338" cy="6309"/>
          </a:xfrm>
          <a:prstGeom prst="rect">
            <a:avLst/>
          </a:prstGeom>
          <a:solidFill>
            <a:srgbClr val="E3E6EA"/>
          </a:solidFill>
          <a:ln/>
        </p:spPr>
      </p:sp>
      <p:sp>
        <p:nvSpPr>
          <p:cNvPr id="18" name="Text 16"/>
          <p:cNvSpPr txBox="1"/>
          <p:nvPr/>
        </p:nvSpPr>
        <p:spPr>
          <a:xfrm>
            <a:off x="825520" y="2804282"/>
            <a:ext cx="184525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VNPAY báo sai chữ ký</a:t>
            </a:r>
            <a:endParaRPr lang="en-US" sz="1300" dirty="0"/>
          </a:p>
        </p:txBody>
      </p:sp>
      <p:sp>
        <p:nvSpPr>
          <p:cNvPr id="19" name="Shape 17"/>
          <p:cNvSpPr/>
          <p:nvPr/>
        </p:nvSpPr>
        <p:spPr>
          <a:xfrm>
            <a:off x="5008717" y="2684038"/>
            <a:ext cx="6522598" cy="6309"/>
          </a:xfrm>
          <a:prstGeom prst="rect">
            <a:avLst/>
          </a:prstGeom>
          <a:solidFill>
            <a:srgbClr val="E3E6EA"/>
          </a:solidFill>
          <a:ln/>
        </p:spPr>
      </p:sp>
      <p:sp>
        <p:nvSpPr>
          <p:cNvPr id="20" name="Text 18"/>
          <p:cNvSpPr txBox="1"/>
          <p:nvPr/>
        </p:nvSpPr>
        <p:spPr>
          <a:xfrm>
            <a:off x="5173858" y="2804282"/>
            <a:ext cx="3813505"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Kiểm tra HashSecret, xem có encode value chưa</a:t>
            </a:r>
            <a:endParaRPr lang="en-US" sz="1300" dirty="0"/>
          </a:p>
        </p:txBody>
      </p:sp>
      <p:sp>
        <p:nvSpPr>
          <p:cNvPr id="21" name="Shape 19"/>
          <p:cNvSpPr/>
          <p:nvPr/>
        </p:nvSpPr>
        <p:spPr>
          <a:xfrm>
            <a:off x="660380" y="3141147"/>
            <a:ext cx="4348338" cy="6309"/>
          </a:xfrm>
          <a:prstGeom prst="rect">
            <a:avLst/>
          </a:prstGeom>
          <a:solidFill>
            <a:srgbClr val="E3E6EA"/>
          </a:solidFill>
          <a:ln/>
        </p:spPr>
      </p:sp>
      <p:sp>
        <p:nvSpPr>
          <p:cNvPr id="22" name="Text 20"/>
          <p:cNvSpPr txBox="1"/>
          <p:nvPr/>
        </p:nvSpPr>
        <p:spPr>
          <a:xfrm>
            <a:off x="825520" y="3261482"/>
            <a:ext cx="1779057"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Không thấy dòng IPN</a:t>
            </a:r>
            <a:endParaRPr lang="en-US" sz="1300" dirty="0"/>
          </a:p>
        </p:txBody>
      </p:sp>
      <p:sp>
        <p:nvSpPr>
          <p:cNvPr id="23" name="Shape 21"/>
          <p:cNvSpPr/>
          <p:nvPr/>
        </p:nvSpPr>
        <p:spPr>
          <a:xfrm>
            <a:off x="5008717" y="3141147"/>
            <a:ext cx="6522598" cy="6309"/>
          </a:xfrm>
          <a:prstGeom prst="rect">
            <a:avLst/>
          </a:prstGeom>
          <a:solidFill>
            <a:srgbClr val="E3E6EA"/>
          </a:solidFill>
          <a:ln/>
        </p:spPr>
      </p:sp>
      <p:sp>
        <p:nvSpPr>
          <p:cNvPr id="24" name="Text 22"/>
          <p:cNvSpPr txBox="1"/>
          <p:nvPr/>
        </p:nvSpPr>
        <p:spPr>
          <a:xfrm>
            <a:off x="5173858" y="3261482"/>
            <a:ext cx="3340212"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khai URL IPN, hoặc link ngrok đã đổi</a:t>
            </a:r>
            <a:endParaRPr lang="en-US" sz="1300" dirty="0"/>
          </a:p>
        </p:txBody>
      </p:sp>
      <p:sp>
        <p:nvSpPr>
          <p:cNvPr id="25" name="Shape 23"/>
          <p:cNvSpPr/>
          <p:nvPr/>
        </p:nvSpPr>
        <p:spPr>
          <a:xfrm>
            <a:off x="660380" y="3598347"/>
            <a:ext cx="4348338" cy="6309"/>
          </a:xfrm>
          <a:prstGeom prst="rect">
            <a:avLst/>
          </a:prstGeom>
          <a:solidFill>
            <a:srgbClr val="E3E6EA"/>
          </a:solidFill>
          <a:ln/>
        </p:spPr>
      </p:sp>
      <p:sp>
        <p:nvSpPr>
          <p:cNvPr id="26" name="Text 24"/>
          <p:cNvSpPr txBox="1"/>
          <p:nvPr/>
        </p:nvSpPr>
        <p:spPr>
          <a:xfrm>
            <a:off x="825520" y="3718682"/>
            <a:ext cx="106737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IPN trả về 97</a:t>
            </a:r>
            <a:endParaRPr lang="en-US" sz="1300" dirty="0"/>
          </a:p>
        </p:txBody>
      </p:sp>
      <p:sp>
        <p:nvSpPr>
          <p:cNvPr id="27" name="Shape 25"/>
          <p:cNvSpPr/>
          <p:nvPr/>
        </p:nvSpPr>
        <p:spPr>
          <a:xfrm>
            <a:off x="5008717" y="3598347"/>
            <a:ext cx="6522598" cy="6309"/>
          </a:xfrm>
          <a:prstGeom prst="rect">
            <a:avLst/>
          </a:prstGeom>
          <a:solidFill>
            <a:srgbClr val="E3E6EA"/>
          </a:solidFill>
          <a:ln/>
        </p:spPr>
      </p:sp>
      <p:sp>
        <p:nvSpPr>
          <p:cNvPr id="28" name="Text 26"/>
          <p:cNvSpPr txBox="1"/>
          <p:nvPr/>
        </p:nvSpPr>
        <p:spPr>
          <a:xfrm>
            <a:off x="5173858" y="3718682"/>
            <a:ext cx="3174340"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HashSecret trong code khác trên VNPAY</a:t>
            </a:r>
            <a:endParaRPr lang="en-US" sz="1300" dirty="0"/>
          </a:p>
        </p:txBody>
      </p:sp>
      <p:sp>
        <p:nvSpPr>
          <p:cNvPr id="29" name="Shape 27"/>
          <p:cNvSpPr/>
          <p:nvPr/>
        </p:nvSpPr>
        <p:spPr>
          <a:xfrm>
            <a:off x="660380" y="4055547"/>
            <a:ext cx="4348338" cy="6309"/>
          </a:xfrm>
          <a:prstGeom prst="rect">
            <a:avLst/>
          </a:prstGeom>
          <a:solidFill>
            <a:srgbClr val="E3E6EA"/>
          </a:solidFill>
          <a:ln/>
        </p:spPr>
      </p:sp>
      <p:sp>
        <p:nvSpPr>
          <p:cNvPr id="30" name="Text 28"/>
          <p:cNvSpPr txBox="1"/>
          <p:nvPr/>
        </p:nvSpPr>
        <p:spPr>
          <a:xfrm>
            <a:off x="825520" y="4175790"/>
            <a:ext cx="307247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Thanh toán xong không quay về web</a:t>
            </a:r>
            <a:endParaRPr lang="en-US" sz="1300" dirty="0"/>
          </a:p>
        </p:txBody>
      </p:sp>
      <p:sp>
        <p:nvSpPr>
          <p:cNvPr id="31" name="Shape 29"/>
          <p:cNvSpPr/>
          <p:nvPr/>
        </p:nvSpPr>
        <p:spPr>
          <a:xfrm>
            <a:off x="5008717" y="4055547"/>
            <a:ext cx="6522598" cy="6309"/>
          </a:xfrm>
          <a:prstGeom prst="rect">
            <a:avLst/>
          </a:prstGeom>
          <a:solidFill>
            <a:srgbClr val="E3E6EA"/>
          </a:solidFill>
          <a:ln/>
        </p:spPr>
      </p:sp>
      <p:sp>
        <p:nvSpPr>
          <p:cNvPr id="32" name="Text 30"/>
          <p:cNvSpPr txBox="1"/>
          <p:nvPr/>
        </p:nvSpPr>
        <p:spPr>
          <a:xfrm>
            <a:off x="5173858" y="4175790"/>
            <a:ext cx="3488710"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set VNPAY_RETURN_URL rồi chạy lại</a:t>
            </a:r>
            <a:endParaRPr lang="en-US" sz="1300" dirty="0"/>
          </a:p>
        </p:txBody>
      </p:sp>
      <p:sp>
        <p:nvSpPr>
          <p:cNvPr id="33" name="Text 3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4" name="Text 3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5827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Tổng kết</a:t>
            </a:r>
            <a:endParaRPr lang="en-US" sz="1100" dirty="0"/>
          </a:p>
        </p:txBody>
      </p:sp>
      <p:sp>
        <p:nvSpPr>
          <p:cNvPr id="3" name="Text 1"/>
          <p:cNvSpPr txBox="1"/>
          <p:nvPr/>
        </p:nvSpPr>
        <p:spPr>
          <a:xfrm>
            <a:off x="660380" y="643829"/>
            <a:ext cx="135724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Tóm lại</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469453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Payment Service là chỗ duy nhất nói chuyện với VNPAY</a:t>
            </a:r>
            <a:endParaRPr lang="en-US" sz="1400" dirty="0"/>
          </a:p>
        </p:txBody>
      </p:sp>
      <p:sp>
        <p:nvSpPr>
          <p:cNvPr id="6" name="Text 4"/>
          <p:cNvSpPr txBox="1"/>
          <p:nvPr/>
        </p:nvSpPr>
        <p:spPr>
          <a:xfrm>
            <a:off x="660380" y="169228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24010"/>
            <a:ext cx="799908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Giao tiếp qua 4 kênh: redirect GET, ReturnURL GET, IPN GET (webhook), querydr POST JSON</a:t>
            </a:r>
            <a:endParaRPr lang="en-US" sz="1400" dirty="0"/>
          </a:p>
        </p:txBody>
      </p:sp>
      <p:sp>
        <p:nvSpPr>
          <p:cNvPr id="8" name="Text 6"/>
          <p:cNvSpPr txBox="1"/>
          <p:nvPr/>
        </p:nvSpPr>
        <p:spPr>
          <a:xfrm>
            <a:off x="660380" y="204789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79620"/>
            <a:ext cx="409248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Chỉ IPN và querydr được cập nhật trạng thái đơn</a:t>
            </a:r>
            <a:endParaRPr lang="en-US" sz="1400" dirty="0"/>
          </a:p>
        </p:txBody>
      </p:sp>
      <p:sp>
        <p:nvSpPr>
          <p:cNvPr id="10" name="Text 8"/>
          <p:cNvSpPr txBox="1"/>
          <p:nvPr/>
        </p:nvSpPr>
        <p:spPr>
          <a:xfrm>
            <a:off x="660380" y="24035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4.</a:t>
            </a:r>
            <a:endParaRPr lang="en-US" sz="1400" dirty="0"/>
          </a:p>
        </p:txBody>
      </p:sp>
      <p:sp>
        <p:nvSpPr>
          <p:cNvPr id="11" name="Text 9"/>
          <p:cNvSpPr txBox="1"/>
          <p:nvPr/>
        </p:nvSpPr>
        <p:spPr>
          <a:xfrm>
            <a:off x="965149" y="2435230"/>
            <a:ext cx="673638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Chữ ký HMAC-SHA512 và định dạng tham số là VNPAY bắt, làm sai là bị từ chối</a:t>
            </a:r>
            <a:endParaRPr lang="en-US" sz="1400" dirty="0"/>
          </a:p>
        </p:txBody>
      </p:sp>
      <p:sp>
        <p:nvSpPr>
          <p:cNvPr id="12" name="Text 10"/>
          <p:cNvSpPr txBox="1"/>
          <p:nvPr/>
        </p:nvSpPr>
        <p:spPr>
          <a:xfrm>
            <a:off x="660380" y="2759019"/>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5.</a:t>
            </a:r>
            <a:endParaRPr lang="en-US" sz="1400" dirty="0"/>
          </a:p>
        </p:txBody>
      </p:sp>
      <p:sp>
        <p:nvSpPr>
          <p:cNvPr id="13" name="Text 11"/>
          <p:cNvSpPr txBox="1"/>
          <p:nvPr/>
        </p:nvSpPr>
        <p:spPr>
          <a:xfrm>
            <a:off x="965149" y="2790840"/>
            <a:ext cx="616945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Cách lưu đơn, khoá, phát event là mình chọn, đổi theo hệ thống của mình</a:t>
            </a:r>
            <a:endParaRPr lang="en-US" sz="1400" dirty="0"/>
          </a:p>
        </p:txBody>
      </p:sp>
      <p:sp>
        <p:nvSpPr>
          <p:cNvPr id="14" name="Shape 12"/>
          <p:cNvSpPr/>
          <p:nvPr/>
        </p:nvSpPr>
        <p:spPr>
          <a:xfrm>
            <a:off x="660380" y="3214207"/>
            <a:ext cx="10870936" cy="1130290"/>
          </a:xfrm>
          <a:prstGeom prst="roundRect">
            <a:avLst>
              <a:gd name="adj" fmla="val 7863"/>
            </a:avLst>
          </a:prstGeom>
          <a:solidFill>
            <a:srgbClr val="FFFFFF"/>
          </a:solidFill>
          <a:ln w="6350">
            <a:solidFill>
              <a:srgbClr val="E3E6EA"/>
            </a:solidFill>
            <a:prstDash val="solid"/>
          </a:ln>
        </p:spPr>
      </p:sp>
      <p:sp>
        <p:nvSpPr>
          <p:cNvPr id="15" name="Text 13"/>
          <p:cNvSpPr txBox="1"/>
          <p:nvPr/>
        </p:nvSpPr>
        <p:spPr>
          <a:xfrm>
            <a:off x="831830" y="3376513"/>
            <a:ext cx="1983425"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Chuyển sang Spring Boot</a:t>
            </a:r>
            <a:endParaRPr lang="en-US" sz="1200" dirty="0"/>
          </a:p>
        </p:txBody>
      </p:sp>
      <p:sp>
        <p:nvSpPr>
          <p:cNvPr id="16" name="Shape 14"/>
          <p:cNvSpPr/>
          <p:nvPr/>
        </p:nvSpPr>
        <p:spPr>
          <a:xfrm>
            <a:off x="869960" y="3759556"/>
            <a:ext cx="63459" cy="63459"/>
          </a:xfrm>
          <a:prstGeom prst="ellipse">
            <a:avLst/>
          </a:prstGeom>
          <a:solidFill>
            <a:srgbClr val="0066FF"/>
          </a:solidFill>
          <a:ln/>
        </p:spPr>
      </p:sp>
      <p:sp>
        <p:nvSpPr>
          <p:cNvPr id="17" name="Text 15"/>
          <p:cNvSpPr txBox="1"/>
          <p:nvPr/>
        </p:nvSpPr>
        <p:spPr>
          <a:xfrm>
            <a:off x="1047720" y="3668573"/>
            <a:ext cx="5203850"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Hai hàm </a:t>
            </a:r>
            <a:pPr algn="l" indent="0" marL="0">
              <a:buNone/>
            </a:pPr>
            <a:r>
              <a:rPr lang="en-US" sz="1200" dirty="0">
                <a:solidFill>
                  <a:srgbClr val="3F454D"/>
                </a:solidFill>
                <a:latin typeface="Courier New" pitchFamily="34" charset="0"/>
                <a:ea typeface="Courier New" pitchFamily="34" charset="-122"/>
                <a:cs typeface="Courier New" pitchFamily="34" charset="-120"/>
              </a:rPr>
              <a:t>hmacSHA512</a:t>
            </a:r>
            <a:pPr algn="l" indent="0" marL="0">
              <a:buNone/>
            </a:pPr>
            <a:r>
              <a:rPr lang="en-US" sz="1200" dirty="0">
                <a:solidFill>
                  <a:srgbClr val="3F454D"/>
                </a:solidFill>
                <a:latin typeface="Arial" pitchFamily="34" charset="0"/>
                <a:ea typeface="Arial" pitchFamily="34" charset="-122"/>
                <a:cs typeface="Arial" pitchFamily="34" charset="-120"/>
              </a:rPr>
              <a:t>, </a:t>
            </a:r>
            <a:pPr algn="l" indent="0" marL="0">
              <a:buNone/>
            </a:pPr>
            <a:r>
              <a:rPr lang="en-US" sz="1200" dirty="0">
                <a:solidFill>
                  <a:srgbClr val="3F454D"/>
                </a:solidFill>
                <a:latin typeface="Courier New" pitchFamily="34" charset="0"/>
                <a:ea typeface="Courier New" pitchFamily="34" charset="-122"/>
                <a:cs typeface="Courier New" pitchFamily="34" charset="-120"/>
              </a:rPr>
              <a:t>buildQueryString</a:t>
            </a:r>
            <a:pPr algn="l" indent="0" marL="0">
              <a:buNone/>
            </a:pPr>
            <a:r>
              <a:rPr lang="en-US" sz="1200" dirty="0">
                <a:solidFill>
                  <a:srgbClr val="3F454D"/>
                </a:solidFill>
                <a:latin typeface="Arial" pitchFamily="34" charset="0"/>
                <a:ea typeface="Arial" pitchFamily="34" charset="-122"/>
                <a:cs typeface="Arial" pitchFamily="34" charset="-120"/>
              </a:rPr>
              <a:t> và logic IPN dùng lại được</a:t>
            </a:r>
            <a:endParaRPr lang="en-US" sz="1200" dirty="0"/>
          </a:p>
        </p:txBody>
      </p:sp>
      <p:sp>
        <p:nvSpPr>
          <p:cNvPr id="18" name="Shape 16"/>
          <p:cNvSpPr/>
          <p:nvPr/>
        </p:nvSpPr>
        <p:spPr>
          <a:xfrm>
            <a:off x="869960" y="4064325"/>
            <a:ext cx="63459" cy="63459"/>
          </a:xfrm>
          <a:prstGeom prst="ellipse">
            <a:avLst/>
          </a:prstGeom>
          <a:solidFill>
            <a:srgbClr val="0066FF"/>
          </a:solidFill>
          <a:ln/>
        </p:spPr>
      </p:sp>
      <p:sp>
        <p:nvSpPr>
          <p:cNvPr id="19" name="Text 17"/>
          <p:cNvSpPr txBox="1"/>
          <p:nvPr/>
        </p:nvSpPr>
        <p:spPr>
          <a:xfrm>
            <a:off x="1047720" y="3973434"/>
            <a:ext cx="536414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ORDERS</a:t>
            </a:r>
            <a:pPr algn="l" indent="0" marL="0">
              <a:buNone/>
            </a:pPr>
            <a:r>
              <a:rPr lang="en-US" sz="1200" dirty="0">
                <a:solidFill>
                  <a:srgbClr val="3F454D"/>
                </a:solidFill>
                <a:latin typeface="Arial" pitchFamily="34" charset="0"/>
                <a:ea typeface="Arial" pitchFamily="34" charset="-122"/>
                <a:cs typeface="Arial" pitchFamily="34" charset="-120"/>
              </a:rPr>
              <a:t> đổi thành Repository, </a:t>
            </a:r>
            <a:pPr algn="l" indent="0" marL="0">
              <a:buNone/>
            </a:pPr>
            <a:r>
              <a:rPr lang="en-US" sz="1200" dirty="0">
                <a:solidFill>
                  <a:srgbClr val="3F454D"/>
                </a:solidFill>
                <a:latin typeface="Courier New" pitchFamily="34" charset="0"/>
                <a:ea typeface="Courier New" pitchFamily="34" charset="-122"/>
                <a:cs typeface="Courier New" pitchFamily="34" charset="-120"/>
              </a:rPr>
              <a:t>HttpServer</a:t>
            </a:r>
            <a:pPr algn="l" indent="0" marL="0">
              <a:buNone/>
            </a:pPr>
            <a:r>
              <a:rPr lang="en-US" sz="1200" dirty="0">
                <a:solidFill>
                  <a:srgbClr val="3F454D"/>
                </a:solidFill>
                <a:latin typeface="Arial" pitchFamily="34" charset="0"/>
                <a:ea typeface="Arial" pitchFamily="34" charset="-122"/>
                <a:cs typeface="Arial" pitchFamily="34" charset="-120"/>
              </a:rPr>
              <a:t> đổi thành </a:t>
            </a:r>
            <a:pPr algn="l" indent="0" marL="0">
              <a:buNone/>
            </a:pPr>
            <a:r>
              <a:rPr lang="en-US" sz="1200" dirty="0">
                <a:solidFill>
                  <a:srgbClr val="3F454D"/>
                </a:solidFill>
                <a:latin typeface="Courier New" pitchFamily="34" charset="0"/>
                <a:ea typeface="Courier New" pitchFamily="34" charset="-122"/>
                <a:cs typeface="Courier New" pitchFamily="34" charset="-120"/>
              </a:rPr>
              <a:t>@RestController</a:t>
            </a:r>
            <a:endParaRPr lang="en-US" sz="1200" dirty="0"/>
          </a:p>
        </p:txBody>
      </p:sp>
      <p:sp>
        <p:nvSpPr>
          <p:cNvPr id="20" name="Text 1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1" name="Text 1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2406335"/>
            <a:ext cx="9420515" cy="654253"/>
          </a:xfrm>
          <a:prstGeom prst="rect">
            <a:avLst/>
          </a:prstGeom>
          <a:noFill/>
          <a:ln/>
        </p:spPr>
        <p:txBody>
          <a:bodyPr wrap="square" lIns="0" tIns="0" rIns="0" bIns="0" rtlCol="0" anchor="ctr"/>
          <a:lstStyle/>
          <a:p>
            <a:pPr algn="l" indent="0" marL="0">
              <a:buNone/>
            </a:pPr>
            <a:r>
              <a:rPr lang="en-US" sz="4600" b="1" dirty="0">
                <a:solidFill>
                  <a:srgbClr val="111111"/>
                </a:solidFill>
                <a:latin typeface="Arial" pitchFamily="34" charset="0"/>
                <a:ea typeface="Arial" pitchFamily="34" charset="-122"/>
                <a:cs typeface="Arial" pitchFamily="34" charset="-120"/>
              </a:rPr>
              <a:t>Cảm ơn mọi người đã lắng nghe!</a:t>
            </a:r>
            <a:endParaRPr lang="en-US" sz="4600" dirty="0"/>
          </a:p>
        </p:txBody>
      </p:sp>
      <p:sp>
        <p:nvSpPr>
          <p:cNvPr id="3" name="Text 1"/>
          <p:cNvSpPr txBox="1"/>
          <p:nvPr/>
        </p:nvSpPr>
        <p:spPr>
          <a:xfrm>
            <a:off x="660380" y="3300070"/>
            <a:ext cx="478506"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Q&amp;A</a:t>
            </a:r>
            <a:endParaRPr lang="en-US" sz="1500" dirty="0"/>
          </a:p>
        </p:txBody>
      </p:sp>
      <p:sp>
        <p:nvSpPr>
          <p:cNvPr id="4" name="Text 2"/>
          <p:cNvSpPr txBox="1"/>
          <p:nvPr/>
        </p:nvSpPr>
        <p:spPr>
          <a:xfrm>
            <a:off x="660380" y="3981023"/>
            <a:ext cx="4387657"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File đáp án ShopDone.java mình để trong thư mục Drive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Tích hợp VNPAY Sandbox</dc:title>
  <dc:subject>PptxGenJS Presentation</dc:subject>
  <dc:creator>Lê Minh Đăng</dc:creator>
  <cp:lastModifiedBy>Lê Minh Đăng</cp:lastModifiedBy>
  <cp:revision>1</cp:revision>
  <dcterms:created xsi:type="dcterms:W3CDTF">2026-10-10T08:39:22Z</dcterms:created>
  <dcterms:modified xsi:type="dcterms:W3CDTF">2026-10-10T08:39:22Z</dcterms:modified>
</cp:coreProperties>
</file>