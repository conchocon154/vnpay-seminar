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1737360"/>
            <a:ext cx="10874959" cy="2011680"/>
          </a:xfrm>
          <a:prstGeom prst="rect">
            <a:avLst/>
          </a:prstGeom>
          <a:noFill/>
        </p:spPr>
        <p:txBody>
          <a:bodyPr wrap="square">
            <a:spAutoFit/>
          </a:bodyPr>
          <a:lstStyle/>
          <a:p>
            <a:pPr>
              <a:lnSpc>
                <a:spcPct val="118000"/>
              </a:lnSpc>
              <a:spcAft>
                <a:spcPts val="1000"/>
              </a:spcAft>
            </a:pPr>
            <a:r>
              <a:rPr sz="1200" b="1">
                <a:solidFill>
                  <a:srgbClr val="0066FF"/>
                </a:solidFill>
                <a:latin typeface="Be Vietnam Pro"/>
              </a:rPr>
              <a:t>SEMINAR · SPRING BOOT MICROSERVICES</a:t>
            </a:r>
          </a:p>
          <a:p>
            <a:pPr>
              <a:lnSpc>
                <a:spcPct val="118000"/>
              </a:lnSpc>
              <a:spcAft>
                <a:spcPts val="1000"/>
              </a:spcAft>
            </a:pPr>
            <a:r>
              <a:rPr sz="4000" b="1">
                <a:solidFill>
                  <a:srgbClr val="111111"/>
                </a:solidFill>
                <a:latin typeface="Be Vietnam Pro"/>
              </a:rPr>
              <a:t>Nhúng VNPAY vào cửa hàng có sẵn</a:t>
            </a:r>
          </a:p>
          <a:p>
            <a:pPr>
              <a:lnSpc>
                <a:spcPct val="118000"/>
              </a:lnSpc>
              <a:spcAft>
                <a:spcPts val="0"/>
              </a:spcAft>
            </a:pPr>
            <a:r>
              <a:rPr sz="1700" b="0">
                <a:solidFill>
                  <a:srgbClr val="3F454D"/>
                </a:solidFill>
                <a:latin typeface="Be Vietnam Pro"/>
              </a:rPr>
              <a:t>Mở ShopStart.java đã tải trước. Hôm nay điền sáu chỗ TODO trong đó.</a:t>
            </a:r>
          </a:p>
        </p:txBody>
      </p:sp>
      <p:pic>
        <p:nvPicPr>
          <p:cNvPr id="3" name="Picture 2" descr="cua-hang.jpg"/>
          <p:cNvPicPr>
            <a:picLocks noChangeAspect="1"/>
          </p:cNvPicPr>
          <p:nvPr/>
        </p:nvPicPr>
        <p:blipFill>
          <a:blip r:embed="rId2"/>
          <a:stretch>
            <a:fillRect/>
          </a:stretch>
        </p:blipFill>
        <p:spPr>
          <a:xfrm>
            <a:off x="4348141" y="3931920"/>
            <a:ext cx="3495413" cy="2286000"/>
          </a:xfrm>
          <a:prstGeom prst="rect">
            <a:avLst/>
          </a:prstGeom>
        </p:spPr>
      </p:pic>
      <p:sp>
        <p:nvSpPr>
          <p:cNvPr id="4" name="TextBox 3"/>
          <p:cNvSpPr txBox="1"/>
          <p:nvPr/>
        </p:nvSpPr>
        <p:spPr>
          <a:xfrm>
            <a:off x="658368" y="6309360"/>
            <a:ext cx="10874959" cy="274320"/>
          </a:xfrm>
          <a:prstGeom prst="rect">
            <a:avLst/>
          </a:prstGeom>
          <a:noFill/>
        </p:spPr>
        <p:txBody>
          <a:bodyPr wrap="square">
            <a:spAutoFit/>
          </a:bodyPr>
          <a:lstStyle/>
          <a:p>
            <a:pPr>
              <a:lnSpc>
                <a:spcPct val="118000"/>
              </a:lnSpc>
              <a:spcAft>
                <a:spcPts val="0"/>
              </a:spcAft>
            </a:pPr>
            <a:r>
              <a:rPr sz="1200" b="0">
                <a:solidFill>
                  <a:srgbClr val="6B7280"/>
                </a:solidFill>
                <a:latin typeface="Be Vietnam Pro"/>
              </a:rPr>
              <a:t>Cửa hàng chạy sẵn. Nút Thanh toán chưa nối gì, đó là việc hôm nay.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VẤN ĐỀ</a:t>
            </a:r>
          </a:p>
          <a:p>
            <a:pPr>
              <a:lnSpc>
                <a:spcPct val="118000"/>
              </a:lnSpc>
              <a:spcAft>
                <a:spcPts val="0"/>
              </a:spcAft>
            </a:pPr>
            <a:r>
              <a:rPr sz="3000" b="1">
                <a:solidFill>
                  <a:srgbClr val="111111"/>
                </a:solidFill>
                <a:latin typeface="Be Vietnam Pro"/>
              </a:rPr>
              <a:t>Tự nhận thẻ là vi phạm PCI-DSS</a:t>
            </a:r>
          </a:p>
        </p:txBody>
      </p:sp>
      <p:sp>
        <p:nvSpPr>
          <p:cNvPr id="3" name="Rounded Rectangle 2"/>
          <p:cNvSpPr/>
          <p:nvPr/>
        </p:nvSpPr>
        <p:spPr>
          <a:xfrm>
            <a:off x="658368" y="1719072"/>
            <a:ext cx="3490874" cy="287350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65376"/>
            <a:ext cx="3088538" cy="259918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Vướng pháp lý</a:t>
            </a:r>
          </a:p>
          <a:p>
            <a:pPr>
              <a:lnSpc>
                <a:spcPct val="118000"/>
              </a:lnSpc>
              <a:spcAft>
                <a:spcPts val="0"/>
              </a:spcAft>
            </a:pPr>
            <a:r>
              <a:rPr sz="1350" b="0">
                <a:solidFill>
                  <a:srgbClr val="3F454D"/>
                </a:solidFill>
                <a:latin typeface="Be Vietnam Pro"/>
              </a:rPr>
              <a:t>Lưu số thẻ trên server của mình là vi phạm PCI-DSS. Ngân hàng cũng không cấp API trực tiếp cho một đồ án sinh viên.</a:t>
            </a:r>
          </a:p>
        </p:txBody>
      </p:sp>
      <p:sp>
        <p:nvSpPr>
          <p:cNvPr id="5" name="Rounded Rectangle 4"/>
          <p:cNvSpPr/>
          <p:nvPr/>
        </p:nvSpPr>
        <p:spPr>
          <a:xfrm>
            <a:off x="4350410" y="1719072"/>
            <a:ext cx="3490874" cy="287350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51578" y="1865376"/>
            <a:ext cx="3088538" cy="259918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Vướng kỹ thuật</a:t>
            </a:r>
          </a:p>
          <a:p>
            <a:pPr>
              <a:lnSpc>
                <a:spcPct val="118000"/>
              </a:lnSpc>
              <a:spcAft>
                <a:spcPts val="0"/>
              </a:spcAft>
            </a:pPr>
            <a:r>
              <a:rPr sz="1350" b="0">
                <a:solidFill>
                  <a:srgbClr val="3F454D"/>
                </a:solidFill>
                <a:latin typeface="Be Vietnam Pro"/>
              </a:rPr>
              <a:t>Việt Nam có hàng chục ngân hàng nội địa, mỗi nơi một giao thức. Tự nối từng cái là bất khả thi.</a:t>
            </a:r>
          </a:p>
        </p:txBody>
      </p:sp>
      <p:sp>
        <p:nvSpPr>
          <p:cNvPr id="7" name="Rounded Rectangle 6"/>
          <p:cNvSpPr/>
          <p:nvPr/>
        </p:nvSpPr>
        <p:spPr>
          <a:xfrm>
            <a:off x="8042452" y="1719072"/>
            <a:ext cx="3490874" cy="287350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43620" y="1865376"/>
            <a:ext cx="3088538" cy="259918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Cách VNPAY giải</a:t>
            </a:r>
          </a:p>
          <a:p>
            <a:pPr>
              <a:lnSpc>
                <a:spcPct val="118000"/>
              </a:lnSpc>
              <a:spcAft>
                <a:spcPts val="0"/>
              </a:spcAft>
            </a:pPr>
            <a:r>
              <a:rPr sz="1350" b="0">
                <a:solidFill>
                  <a:srgbClr val="3F454D"/>
                </a:solidFill>
                <a:latin typeface="Be Vietnam Pro"/>
              </a:rPr>
              <a:t>Khách nhập thẻ trên trang của VNPAY. Server mình chỉ trao đổi chữ ký, không bao giờ thấy số thẻ.</a:t>
            </a:r>
          </a:p>
        </p:txBody>
      </p:sp>
      <p:sp>
        <p:nvSpPr>
          <p:cNvPr id="9" name="Rounded Rectangle 8"/>
          <p:cNvSpPr/>
          <p:nvPr/>
        </p:nvSpPr>
        <p:spPr>
          <a:xfrm>
            <a:off x="658368" y="4775454"/>
            <a:ext cx="10874959" cy="798385"/>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30318"/>
            <a:ext cx="40640" cy="688657"/>
          </a:xfrm>
          <a:prstGeom prst="rect">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894326"/>
            <a:ext cx="10417759" cy="560641"/>
          </a:xfrm>
          <a:prstGeom prst="rect">
            <a:avLst/>
          </a:prstGeom>
          <a:noFill/>
        </p:spPr>
        <p:txBody>
          <a:bodyPr wrap="square">
            <a:spAutoFit/>
          </a:bodyPr>
          <a:lstStyle/>
          <a:p>
            <a:pPr>
              <a:lnSpc>
                <a:spcPct val="118000"/>
              </a:lnSpc>
              <a:spcAft>
                <a:spcPts val="400"/>
              </a:spcAft>
            </a:pPr>
            <a:r>
              <a:rPr sz="1400" b="1">
                <a:solidFill>
                  <a:srgbClr val="0066FF"/>
                </a:solidFill>
                <a:latin typeface="Be Vietnam Pro"/>
              </a:rPr>
              <a:t>Câu chốt cho cả buổi</a:t>
            </a:r>
          </a:p>
          <a:p>
            <a:pPr>
              <a:lnSpc>
                <a:spcPct val="118000"/>
              </a:lnSpc>
              <a:spcAft>
                <a:spcPts val="0"/>
              </a:spcAft>
            </a:pPr>
            <a:r>
              <a:rPr sz="1350" b="0">
                <a:solidFill>
                  <a:srgbClr val="3F454D"/>
                </a:solidFill>
                <a:latin typeface="Be Vietnam Pro"/>
              </a:rPr>
              <a:t>VNPAY không có SDK. Nó chỉ là redirect cộng một chữ ký HMAC-SHA512. Nắm được chữ ký là xong chín phần mười.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KIẾN TRÚC</a:t>
            </a:r>
          </a:p>
          <a:p>
            <a:pPr>
              <a:lnSpc>
                <a:spcPct val="118000"/>
              </a:lnSpc>
              <a:spcAft>
                <a:spcPts val="0"/>
              </a:spcAft>
            </a:pPr>
            <a:r>
              <a:rPr sz="3000" b="1">
                <a:solidFill>
                  <a:srgbClr val="111111"/>
                </a:solidFill>
                <a:latin typeface="Be Vietnam Pro"/>
              </a:rPr>
              <a:t>Chỉ hai trong bốn đường được phép cộng tiền</a:t>
            </a:r>
          </a:p>
        </p:txBody>
      </p:sp>
      <p:sp>
        <p:nvSpPr>
          <p:cNvPr id="3" name="Rounded Rectangle 2"/>
          <p:cNvSpPr/>
          <p:nvPr/>
        </p:nvSpPr>
        <p:spPr>
          <a:xfrm>
            <a:off x="658368" y="1719072"/>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74520"/>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1</a:t>
            </a:r>
          </a:p>
        </p:txBody>
      </p:sp>
      <p:sp>
        <p:nvSpPr>
          <p:cNvPr id="5" name="TextBox 4"/>
          <p:cNvSpPr txBox="1"/>
          <p:nvPr/>
        </p:nvSpPr>
        <p:spPr>
          <a:xfrm>
            <a:off x="1371600" y="1801368"/>
            <a:ext cx="1828800" cy="502920"/>
          </a:xfrm>
          <a:prstGeom prst="rect">
            <a:avLst/>
          </a:prstGeom>
          <a:noFill/>
        </p:spPr>
        <p:txBody>
          <a:bodyPr wrap="square">
            <a:spAutoFit/>
          </a:bodyPr>
          <a:lstStyle/>
          <a:p>
            <a:pPr>
              <a:lnSpc>
                <a:spcPct val="118000"/>
              </a:lnSpc>
              <a:spcAft>
                <a:spcPts val="0"/>
              </a:spcAft>
            </a:pPr>
            <a:r>
              <a:rPr sz="1100" b="1">
                <a:solidFill>
                  <a:srgbClr val="6B7280"/>
                </a:solidFill>
                <a:latin typeface="Be Vietnam Pro"/>
              </a:rPr>
              <a:t>Browser đến server</a:t>
            </a:r>
          </a:p>
        </p:txBody>
      </p:sp>
      <p:sp>
        <p:nvSpPr>
          <p:cNvPr id="6" name="TextBox 5"/>
          <p:cNvSpPr txBox="1"/>
          <p:nvPr/>
        </p:nvSpPr>
        <p:spPr>
          <a:xfrm>
            <a:off x="3264408" y="1874520"/>
            <a:ext cx="8131759" cy="457200"/>
          </a:xfrm>
          <a:prstGeom prst="rect">
            <a:avLst/>
          </a:prstGeom>
          <a:noFill/>
        </p:spPr>
        <p:txBody>
          <a:bodyPr wrap="square">
            <a:spAutoFit/>
          </a:bodyPr>
          <a:lstStyle/>
          <a:p>
            <a:pPr>
              <a:lnSpc>
                <a:spcPct val="118000"/>
              </a:lnSpc>
              <a:spcAft>
                <a:spcPts val="0"/>
              </a:spcAft>
            </a:pPr>
            <a:r>
              <a:rPr sz="1350" b="0">
                <a:solidFill>
                  <a:srgbClr val="111111"/>
                </a:solidFill>
                <a:latin typeface="Be Vietnam Pro"/>
              </a:rPr>
              <a:t>Tạo đơn PENDING, ký tham số, trả về paymentUrl</a:t>
            </a:r>
          </a:p>
        </p:txBody>
      </p:sp>
      <p:sp>
        <p:nvSpPr>
          <p:cNvPr id="7" name="Rounded Rectangle 6"/>
          <p:cNvSpPr/>
          <p:nvPr/>
        </p:nvSpPr>
        <p:spPr>
          <a:xfrm>
            <a:off x="658368" y="2468880"/>
            <a:ext cx="10874959" cy="658368"/>
          </a:xfrm>
          <a:prstGeom prst="roundRect">
            <a:avLst>
              <a:gd name="adj" fmla="val 3500"/>
            </a:avLst>
          </a:prstGeom>
          <a:solidFill>
            <a:srgbClr val="ECF2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2624328"/>
            <a:ext cx="384048" cy="347472"/>
          </a:xfrm>
          <a:prstGeom prst="roundRect">
            <a:avLst>
              <a:gd name="adj" fmla="val 35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FFFFFF"/>
                </a:solidFill>
                <a:latin typeface="Roboto Mono"/>
              </a:rPr>
              <a:t>2</a:t>
            </a:r>
          </a:p>
        </p:txBody>
      </p:sp>
      <p:sp>
        <p:nvSpPr>
          <p:cNvPr id="9" name="TextBox 8"/>
          <p:cNvSpPr txBox="1"/>
          <p:nvPr/>
        </p:nvSpPr>
        <p:spPr>
          <a:xfrm>
            <a:off x="1371600" y="2551176"/>
            <a:ext cx="1828800" cy="502920"/>
          </a:xfrm>
          <a:prstGeom prst="rect">
            <a:avLst/>
          </a:prstGeom>
          <a:noFill/>
        </p:spPr>
        <p:txBody>
          <a:bodyPr wrap="square">
            <a:spAutoFit/>
          </a:bodyPr>
          <a:lstStyle/>
          <a:p>
            <a:pPr>
              <a:lnSpc>
                <a:spcPct val="118000"/>
              </a:lnSpc>
              <a:spcAft>
                <a:spcPts val="0"/>
              </a:spcAft>
            </a:pPr>
            <a:r>
              <a:rPr sz="1100" b="1">
                <a:solidFill>
                  <a:srgbClr val="6B7280"/>
                </a:solidFill>
                <a:latin typeface="Be Vietnam Pro"/>
              </a:rPr>
              <a:t>VNPAY đến server</a:t>
            </a:r>
          </a:p>
        </p:txBody>
      </p:sp>
      <p:sp>
        <p:nvSpPr>
          <p:cNvPr id="10" name="TextBox 9"/>
          <p:cNvSpPr txBox="1"/>
          <p:nvPr/>
        </p:nvSpPr>
        <p:spPr>
          <a:xfrm>
            <a:off x="3264408" y="2624328"/>
            <a:ext cx="6760159" cy="457200"/>
          </a:xfrm>
          <a:prstGeom prst="rect">
            <a:avLst/>
          </a:prstGeom>
          <a:noFill/>
        </p:spPr>
        <p:txBody>
          <a:bodyPr wrap="square">
            <a:spAutoFit/>
          </a:bodyPr>
          <a:lstStyle/>
          <a:p>
            <a:pPr>
              <a:lnSpc>
                <a:spcPct val="118000"/>
              </a:lnSpc>
              <a:spcAft>
                <a:spcPts val="0"/>
              </a:spcAft>
            </a:pPr>
            <a:r>
              <a:rPr sz="1350" b="0">
                <a:solidFill>
                  <a:srgbClr val="111111"/>
                </a:solidFill>
                <a:latin typeface="Be Vietnam Pro"/>
              </a:rPr>
              <a:t>IPN, gọi thẳng vào server mình</a:t>
            </a:r>
          </a:p>
        </p:txBody>
      </p:sp>
      <p:sp>
        <p:nvSpPr>
          <p:cNvPr id="11" name="Rounded Rectangle 10"/>
          <p:cNvSpPr/>
          <p:nvPr/>
        </p:nvSpPr>
        <p:spPr>
          <a:xfrm>
            <a:off x="10024567" y="2642616"/>
            <a:ext cx="1298448" cy="310896"/>
          </a:xfrm>
          <a:prstGeom prst="roundRect">
            <a:avLst>
              <a:gd name="adj" fmla="val 3500"/>
            </a:avLst>
          </a:prstGeom>
          <a:solidFill>
            <a:srgbClr val="DEF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150" b="1">
                <a:solidFill>
                  <a:srgbClr val="0B6B47"/>
                </a:solidFill>
                <a:latin typeface="Be Vietnam Pro"/>
              </a:rPr>
              <a:t>Tin được</a:t>
            </a:r>
          </a:p>
        </p:txBody>
      </p:sp>
      <p:sp>
        <p:nvSpPr>
          <p:cNvPr id="12" name="Rounded Rectangle 11"/>
          <p:cNvSpPr/>
          <p:nvPr/>
        </p:nvSpPr>
        <p:spPr>
          <a:xfrm>
            <a:off x="658368" y="3218688"/>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 y="3374136"/>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3</a:t>
            </a:r>
          </a:p>
        </p:txBody>
      </p:sp>
      <p:sp>
        <p:nvSpPr>
          <p:cNvPr id="14" name="TextBox 13"/>
          <p:cNvSpPr txBox="1"/>
          <p:nvPr/>
        </p:nvSpPr>
        <p:spPr>
          <a:xfrm>
            <a:off x="1371600" y="3300984"/>
            <a:ext cx="1828800" cy="502920"/>
          </a:xfrm>
          <a:prstGeom prst="rect">
            <a:avLst/>
          </a:prstGeom>
          <a:noFill/>
        </p:spPr>
        <p:txBody>
          <a:bodyPr wrap="square">
            <a:spAutoFit/>
          </a:bodyPr>
          <a:lstStyle/>
          <a:p>
            <a:pPr>
              <a:lnSpc>
                <a:spcPct val="118000"/>
              </a:lnSpc>
              <a:spcAft>
                <a:spcPts val="0"/>
              </a:spcAft>
            </a:pPr>
            <a:r>
              <a:rPr sz="1100" b="1">
                <a:solidFill>
                  <a:srgbClr val="6B7280"/>
                </a:solidFill>
                <a:latin typeface="Be Vietnam Pro"/>
              </a:rPr>
              <a:t>VNPAY đến browser</a:t>
            </a:r>
          </a:p>
        </p:txBody>
      </p:sp>
      <p:sp>
        <p:nvSpPr>
          <p:cNvPr id="15" name="TextBox 14"/>
          <p:cNvSpPr txBox="1"/>
          <p:nvPr/>
        </p:nvSpPr>
        <p:spPr>
          <a:xfrm>
            <a:off x="3264408" y="3374136"/>
            <a:ext cx="6760159" cy="457200"/>
          </a:xfrm>
          <a:prstGeom prst="rect">
            <a:avLst/>
          </a:prstGeom>
          <a:noFill/>
        </p:spPr>
        <p:txBody>
          <a:bodyPr wrap="square">
            <a:spAutoFit/>
          </a:bodyPr>
          <a:lstStyle/>
          <a:p>
            <a:pPr>
              <a:lnSpc>
                <a:spcPct val="118000"/>
              </a:lnSpc>
              <a:spcAft>
                <a:spcPts val="0"/>
              </a:spcAft>
            </a:pPr>
            <a:r>
              <a:rPr sz="1350" b="0">
                <a:solidFill>
                  <a:srgbClr val="111111"/>
                </a:solidFill>
                <a:latin typeface="Be Vietnam Pro"/>
              </a:rPr>
              <a:t>ReturnURL, trình duyệt khách quay về</a:t>
            </a:r>
          </a:p>
        </p:txBody>
      </p:sp>
      <p:sp>
        <p:nvSpPr>
          <p:cNvPr id="16" name="Rounded Rectangle 15"/>
          <p:cNvSpPr/>
          <p:nvPr/>
        </p:nvSpPr>
        <p:spPr>
          <a:xfrm>
            <a:off x="10024567" y="3392424"/>
            <a:ext cx="1298448" cy="310896"/>
          </a:xfrm>
          <a:prstGeom prst="roundRect">
            <a:avLst>
              <a:gd name="adj" fmla="val 3500"/>
            </a:avLst>
          </a:prstGeom>
          <a:solidFill>
            <a:srgbClr val="FD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150" b="1">
                <a:solidFill>
                  <a:srgbClr val="C42B22"/>
                </a:solidFill>
                <a:latin typeface="Be Vietnam Pro"/>
              </a:rPr>
              <a:t>Không tin</a:t>
            </a:r>
          </a:p>
        </p:txBody>
      </p:sp>
      <p:sp>
        <p:nvSpPr>
          <p:cNvPr id="17" name="Rounded Rectangle 16"/>
          <p:cNvSpPr/>
          <p:nvPr/>
        </p:nvSpPr>
        <p:spPr>
          <a:xfrm>
            <a:off x="658368" y="3968496"/>
            <a:ext cx="10874959" cy="658368"/>
          </a:xfrm>
          <a:prstGeom prst="roundRect">
            <a:avLst>
              <a:gd name="adj" fmla="val 3500"/>
            </a:avLst>
          </a:prstGeom>
          <a:solidFill>
            <a:srgbClr val="ECF2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2960" y="4123944"/>
            <a:ext cx="384048" cy="347472"/>
          </a:xfrm>
          <a:prstGeom prst="roundRect">
            <a:avLst>
              <a:gd name="adj" fmla="val 35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FFFFFF"/>
                </a:solidFill>
                <a:latin typeface="Roboto Mono"/>
              </a:rPr>
              <a:t>4</a:t>
            </a:r>
          </a:p>
        </p:txBody>
      </p:sp>
      <p:sp>
        <p:nvSpPr>
          <p:cNvPr id="19" name="TextBox 18"/>
          <p:cNvSpPr txBox="1"/>
          <p:nvPr/>
        </p:nvSpPr>
        <p:spPr>
          <a:xfrm>
            <a:off x="1371600" y="4050792"/>
            <a:ext cx="1828800" cy="502920"/>
          </a:xfrm>
          <a:prstGeom prst="rect">
            <a:avLst/>
          </a:prstGeom>
          <a:noFill/>
        </p:spPr>
        <p:txBody>
          <a:bodyPr wrap="square">
            <a:spAutoFit/>
          </a:bodyPr>
          <a:lstStyle/>
          <a:p>
            <a:pPr>
              <a:lnSpc>
                <a:spcPct val="118000"/>
              </a:lnSpc>
              <a:spcAft>
                <a:spcPts val="0"/>
              </a:spcAft>
            </a:pPr>
            <a:r>
              <a:rPr sz="1100" b="1">
                <a:solidFill>
                  <a:srgbClr val="6B7280"/>
                </a:solidFill>
                <a:latin typeface="Be Vietnam Pro"/>
              </a:rPr>
              <a:t>Server đến VNPAY</a:t>
            </a:r>
          </a:p>
        </p:txBody>
      </p:sp>
      <p:sp>
        <p:nvSpPr>
          <p:cNvPr id="20" name="TextBox 19"/>
          <p:cNvSpPr txBox="1"/>
          <p:nvPr/>
        </p:nvSpPr>
        <p:spPr>
          <a:xfrm>
            <a:off x="3264408" y="4123944"/>
            <a:ext cx="6760159" cy="457200"/>
          </a:xfrm>
          <a:prstGeom prst="rect">
            <a:avLst/>
          </a:prstGeom>
          <a:noFill/>
        </p:spPr>
        <p:txBody>
          <a:bodyPr wrap="square">
            <a:spAutoFit/>
          </a:bodyPr>
          <a:lstStyle/>
          <a:p>
            <a:pPr>
              <a:lnSpc>
                <a:spcPct val="118000"/>
              </a:lnSpc>
              <a:spcAft>
                <a:spcPts val="0"/>
              </a:spcAft>
            </a:pPr>
            <a:r>
              <a:rPr sz="1350" b="0">
                <a:solidFill>
                  <a:srgbClr val="111111"/>
                </a:solidFill>
                <a:latin typeface="Be Vietnam Pro"/>
              </a:rPr>
              <a:t>querydr, hỏi lại trạng thái thật</a:t>
            </a:r>
          </a:p>
        </p:txBody>
      </p:sp>
      <p:sp>
        <p:nvSpPr>
          <p:cNvPr id="21" name="Rounded Rectangle 20"/>
          <p:cNvSpPr/>
          <p:nvPr/>
        </p:nvSpPr>
        <p:spPr>
          <a:xfrm>
            <a:off x="10024567" y="4142232"/>
            <a:ext cx="1298448" cy="310896"/>
          </a:xfrm>
          <a:prstGeom prst="roundRect">
            <a:avLst>
              <a:gd name="adj" fmla="val 3500"/>
            </a:avLst>
          </a:prstGeom>
          <a:solidFill>
            <a:srgbClr val="DEF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150" b="1">
                <a:solidFill>
                  <a:srgbClr val="0B6B47"/>
                </a:solidFill>
                <a:latin typeface="Be Vietnam Pro"/>
              </a:rPr>
              <a:t>Tin được</a:t>
            </a:r>
          </a:p>
        </p:txBody>
      </p:sp>
      <p:sp>
        <p:nvSpPr>
          <p:cNvPr id="22" name="Rounded Rectangle 21"/>
          <p:cNvSpPr/>
          <p:nvPr/>
        </p:nvSpPr>
        <p:spPr>
          <a:xfrm>
            <a:off x="658368" y="4901184"/>
            <a:ext cx="10874959" cy="102984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4956048"/>
            <a:ext cx="40640" cy="920114"/>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5020056"/>
            <a:ext cx="10417759" cy="792098"/>
          </a:xfrm>
          <a:prstGeom prst="rect">
            <a:avLst/>
          </a:prstGeom>
          <a:noFill/>
        </p:spPr>
        <p:txBody>
          <a:bodyPr wrap="square">
            <a:spAutoFit/>
          </a:bodyPr>
          <a:lstStyle/>
          <a:p>
            <a:pPr>
              <a:lnSpc>
                <a:spcPct val="118000"/>
              </a:lnSpc>
              <a:spcAft>
                <a:spcPts val="400"/>
              </a:spcAft>
            </a:pPr>
            <a:r>
              <a:rPr sz="1400" b="1">
                <a:solidFill>
                  <a:srgbClr val="C42B22"/>
                </a:solidFill>
                <a:latin typeface="Be Vietnam Pro"/>
              </a:rPr>
              <a:t>Hỏi cả lớp trước khi sang slide sau</a:t>
            </a:r>
          </a:p>
          <a:p>
            <a:pPr>
              <a:lnSpc>
                <a:spcPct val="118000"/>
              </a:lnSpc>
              <a:spcAft>
                <a:spcPts val="0"/>
              </a:spcAft>
            </a:pPr>
            <a:r>
              <a:rPr sz="1350" b="0">
                <a:solidFill>
                  <a:srgbClr val="3F454D"/>
                </a:solidFill>
                <a:latin typeface="Be Vietnam Pro"/>
              </a:rPr>
              <a:t>Sao không cộng tiền luôn ở ReturnURL cho nhanh? Vì đó là URL trên trình duyệt của khách. Sửa vnp_ResponseCode=00 là mua hàng miễn phí. Khách tắt tab sau khi trả tiền thì ReturnURL không bao giờ về, mình mất đơn đã thu tiền.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LỘ TRÌNH</a:t>
            </a:r>
          </a:p>
          <a:p>
            <a:pPr>
              <a:lnSpc>
                <a:spcPct val="118000"/>
              </a:lnSpc>
              <a:spcAft>
                <a:spcPts val="0"/>
              </a:spcAft>
            </a:pPr>
            <a:r>
              <a:rPr sz="3000" b="1">
                <a:solidFill>
                  <a:srgbClr val="111111"/>
                </a:solidFill>
                <a:latin typeface="Be Vietnam Pro"/>
              </a:rPr>
              <a:t>Sáu chỗ trống cần điền trong ShopStart.java</a:t>
            </a:r>
          </a:p>
        </p:txBody>
      </p:sp>
      <p:graphicFrame>
        <p:nvGraphicFramePr>
          <p:cNvPr id="3" name="Table 2"/>
          <p:cNvGraphicFramePr>
            <a:graphicFrameLocks noGrp="1"/>
          </p:cNvGraphicFramePr>
          <p:nvPr/>
        </p:nvGraphicFramePr>
        <p:xfrm>
          <a:off x="658368" y="1719072"/>
          <a:ext cx="10874958" cy="2468880"/>
        </p:xfrm>
        <a:graphic>
          <a:graphicData uri="http://schemas.openxmlformats.org/drawingml/2006/table">
            <a:tbl>
              <a:tblPr firstRow="1" bandRow="1">
                <a:tableStyleId>{5C22544A-7EE6-4342-B048-85BDC9FD1C3A}</a:tableStyleId>
              </a:tblPr>
              <a:tblGrid>
                <a:gridCol w="1691660"/>
                <a:gridCol w="7249972"/>
                <a:gridCol w="1933326"/>
              </a:tblGrid>
              <a:tr h="384048">
                <a:tc>
                  <a:txBody>
                    <a:bodyPr wrap="square"/>
                    <a:lstStyle/>
                    <a:p>
                      <a:pPr>
                        <a:lnSpc>
                          <a:spcPct val="118000"/>
                        </a:lnSpc>
                        <a:spcAft>
                          <a:spcPts val="0"/>
                        </a:spcAft>
                      </a:pPr>
                      <a:r>
                        <a:rPr sz="1200" b="1">
                          <a:solidFill>
                            <a:srgbClr val="0066FF"/>
                          </a:solidFill>
                          <a:latin typeface="Be Vietnam Pro"/>
                        </a:rPr>
                        <a:t>Chỗ</a:t>
                      </a:r>
                    </a:p>
                  </a:txBody>
                  <a:tcPr anchor="ctr" marL="128016">
                    <a:solidFill>
                      <a:srgbClr val="ECF2FF"/>
                    </a:solidFill>
                  </a:tcPr>
                </a:tc>
                <a:tc>
                  <a:txBody>
                    <a:bodyPr wrap="square"/>
                    <a:lstStyle/>
                    <a:p>
                      <a:pPr>
                        <a:lnSpc>
                          <a:spcPct val="118000"/>
                        </a:lnSpc>
                        <a:spcAft>
                          <a:spcPts val="0"/>
                        </a:spcAft>
                      </a:pPr>
                      <a:r>
                        <a:rPr sz="1200" b="1">
                          <a:solidFill>
                            <a:srgbClr val="0066FF"/>
                          </a:solidFill>
                          <a:latin typeface="Be Vietnam Pro"/>
                        </a:rPr>
                        <a:t>Việc phải làm</a:t>
                      </a:r>
                    </a:p>
                  </a:txBody>
                  <a:tcPr anchor="ctr" marL="128016">
                    <a:solidFill>
                      <a:srgbClr val="ECF2FF"/>
                    </a:solidFill>
                  </a:tcPr>
                </a:tc>
                <a:tc>
                  <a:txBody>
                    <a:bodyPr wrap="square"/>
                    <a:lstStyle/>
                    <a:p>
                      <a:pPr>
                        <a:lnSpc>
                          <a:spcPct val="118000"/>
                        </a:lnSpc>
                        <a:spcAft>
                          <a:spcPts val="0"/>
                        </a:spcAft>
                      </a:pPr>
                      <a:r>
                        <a:rPr sz="1200" b="1">
                          <a:solidFill>
                            <a:srgbClr val="0066FF"/>
                          </a:solidFill>
                          <a:latin typeface="Be Vietnam Pro"/>
                        </a:rPr>
                        <a:t>Thời lượng</a:t>
                      </a:r>
                    </a:p>
                  </a:txBody>
                  <a:tcPr anchor="ctr" marL="128016">
                    <a:solidFill>
                      <a:srgbClr val="ECF2FF"/>
                    </a:solidFill>
                  </a:tcPr>
                </a:tc>
              </a:tr>
              <a:tr h="347472">
                <a:tc>
                  <a:txBody>
                    <a:bodyPr wrap="square"/>
                    <a:lstStyle/>
                    <a:p>
                      <a:pPr>
                        <a:lnSpc>
                          <a:spcPct val="118000"/>
                        </a:lnSpc>
                        <a:spcAft>
                          <a:spcPts val="0"/>
                        </a:spcAft>
                      </a:pPr>
                      <a:r>
                        <a:rPr sz="1250" b="0">
                          <a:solidFill>
                            <a:srgbClr val="111111"/>
                          </a:solidFill>
                          <a:latin typeface="Be Vietnam Pro"/>
                        </a:rPr>
                        <a:t>TODO 1</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Cấu hình TmnCode và HashSecret</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2 phút</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TODO 2</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Hàm ký HMAC-SHA512</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6 phút</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TODO 3</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Hàm verify chữ ký</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3 phút</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TODO 4</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Tạo URL thanh toán</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5 phút</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TODO 5</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Nhận IPN</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5 phút</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TODO 6</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ReturnURL và chốt trạng thái đơn</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4 phút</a:t>
                      </a:r>
                    </a:p>
                  </a:txBody>
                  <a:tcPr anchor="ctr" marL="128016">
                    <a:solidFill>
                      <a:srgbClr val="FFFFFF"/>
                    </a:solidFill>
                  </a:tcPr>
                </a:tc>
              </a:tr>
            </a:tbl>
          </a:graphicData>
        </a:graphic>
      </p:graphicFrame>
      <p:sp>
        <p:nvSpPr>
          <p:cNvPr id="4" name="TextBox 3"/>
          <p:cNvSpPr txBox="1"/>
          <p:nvPr/>
        </p:nvSpPr>
        <p:spPr>
          <a:xfrm>
            <a:off x="658368" y="4370832"/>
            <a:ext cx="10874959" cy="357187"/>
          </a:xfrm>
          <a:prstGeom prst="rect">
            <a:avLst/>
          </a:prstGeom>
          <a:noFill/>
        </p:spPr>
        <p:txBody>
          <a:bodyPr wrap="square">
            <a:spAutoFit/>
          </a:bodyPr>
          <a:lstStyle/>
          <a:p>
            <a:pPr>
              <a:lnSpc>
                <a:spcPct val="118000"/>
              </a:lnSpc>
              <a:spcAft>
                <a:spcPts val="400"/>
              </a:spcAft>
            </a:pPr>
            <a:r>
              <a:rPr sz="1550" b="0">
                <a:solidFill>
                  <a:srgbClr val="3F454D"/>
                </a:solidFill>
                <a:latin typeface="Be Vietnam Pro"/>
              </a:rPr>
              <a:t>Đơn hàng, giao diện và server đã viết sẵn trong file, mình không đụng tới. Ai gõ không kịp cứ ngồi xem, cuối buổi có bản làm xong.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TODO 1</a:t>
            </a:r>
          </a:p>
          <a:p>
            <a:pPr>
              <a:lnSpc>
                <a:spcPct val="118000"/>
              </a:lnSpc>
              <a:spcAft>
                <a:spcPts val="0"/>
              </a:spcAft>
            </a:pPr>
            <a:r>
              <a:rPr sz="3000" b="1">
                <a:solidFill>
                  <a:srgbClr val="111111"/>
                </a:solidFill>
                <a:latin typeface="Be Vietnam Pro"/>
              </a:rPr>
              <a:t>Secret nạp từ biến môi trường, không hardcode</a:t>
            </a:r>
          </a:p>
        </p:txBody>
      </p:sp>
      <p:sp>
        <p:nvSpPr>
          <p:cNvPr id="3" name="TextBox 2"/>
          <p:cNvSpPr txBox="1"/>
          <p:nvPr/>
        </p:nvSpPr>
        <p:spPr>
          <a:xfrm>
            <a:off x="658368" y="1719072"/>
            <a:ext cx="10874959" cy="219456"/>
          </a:xfrm>
          <a:prstGeom prst="rect">
            <a:avLst/>
          </a:prstGeom>
          <a:noFill/>
        </p:spPr>
        <p:txBody>
          <a:bodyPr wrap="square">
            <a:spAutoFit/>
          </a:bodyPr>
          <a:lstStyle/>
          <a:p>
            <a:pPr>
              <a:lnSpc>
                <a:spcPct val="118000"/>
              </a:lnSpc>
              <a:spcAft>
                <a:spcPts val="0"/>
              </a:spcAft>
            </a:pPr>
            <a:r>
              <a:rPr sz="1100" b="0">
                <a:solidFill>
                  <a:srgbClr val="6B7280"/>
                </a:solidFill>
                <a:latin typeface="Roboto Mono"/>
              </a:rPr>
              <a:t>ShopStart.java</a:t>
            </a:r>
          </a:p>
        </p:txBody>
      </p:sp>
      <p:sp>
        <p:nvSpPr>
          <p:cNvPr id="4" name="Rounded Rectangle 3"/>
          <p:cNvSpPr/>
          <p:nvPr/>
        </p:nvSpPr>
        <p:spPr>
          <a:xfrm>
            <a:off x="658368" y="1956816"/>
            <a:ext cx="10874959" cy="11252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E6EDF7"/>
                </a:solidFill>
                <a:latin typeface="Roboto Mono"/>
              </a:rPr>
              <a:t>static final String TMN_CODE    = env("VNPAY_TMN_CODE", "CHANGE_ME");</a:t>
            </a:r>
          </a:p>
          <a:p>
            <a:pPr>
              <a:lnSpc>
                <a:spcPct val="134000"/>
              </a:lnSpc>
              <a:spcAft>
                <a:spcPts val="0"/>
              </a:spcAft>
            </a:pPr>
            <a:r>
              <a:rPr sz="1250">
                <a:solidFill>
                  <a:srgbClr val="E6EDF7"/>
                </a:solidFill>
                <a:latin typeface="Roboto Mono"/>
              </a:rPr>
              <a:t>static final String HASH_SECRET = env("VNPAY_HASH_SECRET", "CHANGE_ME");</a:t>
            </a:r>
          </a:p>
          <a:p>
            <a:pPr>
              <a:lnSpc>
                <a:spcPct val="134000"/>
              </a:lnSpc>
              <a:spcAft>
                <a:spcPts val="0"/>
              </a:spcAft>
            </a:pPr>
            <a:r>
              <a:rPr sz="1250">
                <a:solidFill>
                  <a:srgbClr val="E6EDF7"/>
                </a:solidFill>
                <a:latin typeface="Roboto Mono"/>
              </a:rPr>
              <a:t>static final String RETURN_URL  = env("VNPAY_RETURN_URL",</a:t>
            </a:r>
          </a:p>
          <a:p>
            <a:pPr>
              <a:lnSpc>
                <a:spcPct val="134000"/>
              </a:lnSpc>
              <a:spcAft>
                <a:spcPts val="0"/>
              </a:spcAft>
            </a:pPr>
            <a:r>
              <a:rPr sz="1250">
                <a:solidFill>
                  <a:srgbClr val="E6EDF7"/>
                </a:solidFill>
                <a:latin typeface="Roboto Mono"/>
              </a:rPr>
              <a:t>                                      "http://localhost:8080/vnpay/return");</a:t>
            </a:r>
          </a:p>
        </p:txBody>
      </p:sp>
      <p:sp>
        <p:nvSpPr>
          <p:cNvPr id="5" name="Rounded Rectangle 4"/>
          <p:cNvSpPr/>
          <p:nvPr/>
        </p:nvSpPr>
        <p:spPr>
          <a:xfrm>
            <a:off x="658368" y="3264916"/>
            <a:ext cx="10874959" cy="91249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E6EDF7"/>
                </a:solidFill>
                <a:latin typeface="Roboto Mono"/>
              </a:rPr>
              <a:t>export VNPAY_TMN_CODE=xxxxxxxx</a:t>
            </a:r>
          </a:p>
          <a:p>
            <a:pPr>
              <a:lnSpc>
                <a:spcPct val="134000"/>
              </a:lnSpc>
              <a:spcAft>
                <a:spcPts val="0"/>
              </a:spcAft>
            </a:pPr>
            <a:r>
              <a:rPr sz="1250">
                <a:solidFill>
                  <a:srgbClr val="E6EDF7"/>
                </a:solidFill>
                <a:latin typeface="Roboto Mono"/>
              </a:rPr>
              <a:t>export VNPAY_HASH_SECRET=xxxxxxxxxxxxxxxx</a:t>
            </a:r>
          </a:p>
          <a:p>
            <a:pPr>
              <a:lnSpc>
                <a:spcPct val="134000"/>
              </a:lnSpc>
              <a:spcAft>
                <a:spcPts val="0"/>
              </a:spcAft>
            </a:pPr>
            <a:r>
              <a:rPr sz="1250">
                <a:solidFill>
                  <a:srgbClr val="E6EDF7"/>
                </a:solidFill>
                <a:latin typeface="Roboto Mono"/>
              </a:rPr>
              <a:t>java ShopStart.java</a:t>
            </a:r>
          </a:p>
        </p:txBody>
      </p:sp>
      <p:sp>
        <p:nvSpPr>
          <p:cNvPr id="6" name="Rounded Rectangle 5"/>
          <p:cNvSpPr/>
          <p:nvPr/>
        </p:nvSpPr>
        <p:spPr>
          <a:xfrm>
            <a:off x="658368" y="4360291"/>
            <a:ext cx="10874959" cy="798385"/>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4415155"/>
            <a:ext cx="40640" cy="688657"/>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4479163"/>
            <a:ext cx="10417759" cy="560641"/>
          </a:xfrm>
          <a:prstGeom prst="rect">
            <a:avLst/>
          </a:prstGeom>
          <a:noFill/>
        </p:spPr>
        <p:txBody>
          <a:bodyPr wrap="square">
            <a:spAutoFit/>
          </a:bodyPr>
          <a:lstStyle/>
          <a:p>
            <a:pPr>
              <a:lnSpc>
                <a:spcPct val="118000"/>
              </a:lnSpc>
              <a:spcAft>
                <a:spcPts val="400"/>
              </a:spcAft>
            </a:pPr>
            <a:r>
              <a:rPr sz="1400" b="1">
                <a:solidFill>
                  <a:srgbClr val="C42B22"/>
                </a:solidFill>
                <a:latin typeface="Be Vietnam Pro"/>
              </a:rPr>
              <a:t>Đừng hardcode secret rồi push lên GitHub</a:t>
            </a:r>
          </a:p>
          <a:p>
            <a:pPr>
              <a:lnSpc>
                <a:spcPct val="118000"/>
              </a:lnSpc>
              <a:spcAft>
                <a:spcPts val="0"/>
              </a:spcAft>
            </a:pPr>
            <a:r>
              <a:rPr sz="1350" b="0">
                <a:solidFill>
                  <a:srgbClr val="3F454D"/>
                </a:solidFill>
                <a:latin typeface="Be Vietnam Pro"/>
              </a:rPr>
              <a:t>Ai clone repo cũng ký được đơn thay bạn, và GitHub có bot quét chuyện này.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TODO 2</a:t>
            </a:r>
          </a:p>
          <a:p>
            <a:pPr>
              <a:lnSpc>
                <a:spcPct val="118000"/>
              </a:lnSpc>
              <a:spcAft>
                <a:spcPts val="0"/>
              </a:spcAft>
            </a:pPr>
            <a:r>
              <a:rPr sz="3000" b="1">
                <a:solidFill>
                  <a:srgbClr val="111111"/>
                </a:solidFill>
                <a:latin typeface="Be Vietnam Pro"/>
              </a:rPr>
              <a:t>Chữ ký chỉ gồm ba bước</a:t>
            </a:r>
          </a:p>
        </p:txBody>
      </p:sp>
      <p:sp>
        <p:nvSpPr>
          <p:cNvPr id="3" name="TextBox 2"/>
          <p:cNvSpPr txBox="1"/>
          <p:nvPr/>
        </p:nvSpPr>
        <p:spPr>
          <a:xfrm>
            <a:off x="658368" y="1719072"/>
            <a:ext cx="10874959" cy="357187"/>
          </a:xfrm>
          <a:prstGeom prst="rect">
            <a:avLst/>
          </a:prstGeom>
          <a:noFill/>
        </p:spPr>
        <p:txBody>
          <a:bodyPr wrap="square">
            <a:spAutoFit/>
          </a:bodyPr>
          <a:lstStyle/>
          <a:p>
            <a:pPr>
              <a:lnSpc>
                <a:spcPct val="118000"/>
              </a:lnSpc>
              <a:spcAft>
                <a:spcPts val="400"/>
              </a:spcAft>
            </a:pPr>
            <a:r>
              <a:rPr sz="1550" b="0">
                <a:solidFill>
                  <a:srgbClr val="3F454D"/>
                </a:solidFill>
                <a:latin typeface="Be Vietnam Pro"/>
              </a:rPr>
              <a:t>Sắp tham số theo alphabet, URL-encode phần giá trị, rồi băm HMAC-SHA512 ra hex chữ thường.</a:t>
            </a:r>
          </a:p>
        </p:txBody>
      </p:sp>
      <p:sp>
        <p:nvSpPr>
          <p:cNvPr id="4" name="TextBox 3"/>
          <p:cNvSpPr txBox="1"/>
          <p:nvPr/>
        </p:nvSpPr>
        <p:spPr>
          <a:xfrm>
            <a:off x="658368" y="2259139"/>
            <a:ext cx="10874959" cy="219456"/>
          </a:xfrm>
          <a:prstGeom prst="rect">
            <a:avLst/>
          </a:prstGeom>
          <a:noFill/>
        </p:spPr>
        <p:txBody>
          <a:bodyPr wrap="square">
            <a:spAutoFit/>
          </a:bodyPr>
          <a:lstStyle/>
          <a:p>
            <a:pPr>
              <a:lnSpc>
                <a:spcPct val="118000"/>
              </a:lnSpc>
              <a:spcAft>
                <a:spcPts val="0"/>
              </a:spcAft>
            </a:pPr>
            <a:r>
              <a:rPr sz="1100" b="0">
                <a:solidFill>
                  <a:srgbClr val="6B7280"/>
                </a:solidFill>
                <a:latin typeface="Roboto Mono"/>
              </a:rPr>
              <a:t>ShopStart.java</a:t>
            </a:r>
          </a:p>
        </p:txBody>
      </p:sp>
      <p:sp>
        <p:nvSpPr>
          <p:cNvPr id="5" name="Rounded Rectangle 4"/>
          <p:cNvSpPr/>
          <p:nvPr/>
        </p:nvSpPr>
        <p:spPr>
          <a:xfrm>
            <a:off x="658368" y="2496883"/>
            <a:ext cx="10874959" cy="303974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E6EDF7"/>
                </a:solidFill>
                <a:latin typeface="Roboto Mono"/>
              </a:rPr>
              <a:t>static String hmacSHA512(String secretKey, String data) {</a:t>
            </a:r>
          </a:p>
          <a:p>
            <a:pPr>
              <a:lnSpc>
                <a:spcPct val="134000"/>
              </a:lnSpc>
              <a:spcAft>
                <a:spcPts val="0"/>
              </a:spcAft>
            </a:pPr>
            <a:r>
              <a:rPr sz="1250">
                <a:solidFill>
                  <a:srgbClr val="E6EDF7"/>
                </a:solidFill>
                <a:latin typeface="Roboto Mono"/>
              </a:rPr>
              <a:t>    try {</a:t>
            </a:r>
          </a:p>
          <a:p>
            <a:pPr>
              <a:lnSpc>
                <a:spcPct val="134000"/>
              </a:lnSpc>
              <a:spcAft>
                <a:spcPts val="0"/>
              </a:spcAft>
            </a:pPr>
            <a:r>
              <a:rPr sz="1250">
                <a:solidFill>
                  <a:srgbClr val="E6EDF7"/>
                </a:solidFill>
                <a:latin typeface="Roboto Mono"/>
              </a:rPr>
              <a:t>        Mac mac = Mac.getInstance("HmacSHA512");</a:t>
            </a:r>
          </a:p>
          <a:p>
            <a:pPr>
              <a:lnSpc>
                <a:spcPct val="134000"/>
              </a:lnSpc>
              <a:spcAft>
                <a:spcPts val="0"/>
              </a:spcAft>
            </a:pPr>
            <a:r>
              <a:rPr sz="1250">
                <a:solidFill>
                  <a:srgbClr val="E6EDF7"/>
                </a:solidFill>
                <a:latin typeface="Roboto Mono"/>
              </a:rPr>
              <a:t>        mac.init(new SecretKeySpec(secretKey.getBytes(UTF_8), "HmacSHA512"));</a:t>
            </a:r>
          </a:p>
          <a:p>
            <a:pPr>
              <a:lnSpc>
                <a:spcPct val="134000"/>
              </a:lnSpc>
              <a:spcAft>
                <a:spcPts val="0"/>
              </a:spcAft>
            </a:pPr>
            <a:r>
              <a:rPr sz="1250">
                <a:solidFill>
                  <a:srgbClr val="E6EDF7"/>
                </a:solidFill>
                <a:latin typeface="Roboto Mono"/>
              </a:rPr>
              <a:t>        byte[] bytes = mac.doFinal(data.getBytes(UTF_8));</a:t>
            </a:r>
          </a:p>
          <a:p>
            <a:pPr>
              <a:lnSpc>
                <a:spcPct val="134000"/>
              </a:lnSpc>
              <a:spcAft>
                <a:spcPts val="0"/>
              </a:spcAft>
            </a:pPr>
          </a:p>
          <a:p>
            <a:pPr>
              <a:lnSpc>
                <a:spcPct val="134000"/>
              </a:lnSpc>
              <a:spcAft>
                <a:spcPts val="0"/>
              </a:spcAft>
            </a:pPr>
            <a:r>
              <a:rPr sz="1250">
                <a:solidFill>
                  <a:srgbClr val="E6EDF7"/>
                </a:solidFill>
                <a:latin typeface="Roboto Mono"/>
              </a:rPr>
              <a:t>        StringBuilder hex = new StringBuilder(bytes.length * 2);</a:t>
            </a:r>
          </a:p>
          <a:p>
            <a:pPr>
              <a:lnSpc>
                <a:spcPct val="134000"/>
              </a:lnSpc>
              <a:spcAft>
                <a:spcPts val="0"/>
              </a:spcAft>
            </a:pPr>
            <a:r>
              <a:rPr sz="1250">
                <a:solidFill>
                  <a:srgbClr val="E6EDF7"/>
                </a:solidFill>
                <a:latin typeface="Roboto Mono"/>
              </a:rPr>
              <a:t>        for (byte b : bytes) hex.append(String.format("%02x", b));</a:t>
            </a:r>
          </a:p>
          <a:p>
            <a:pPr>
              <a:lnSpc>
                <a:spcPct val="134000"/>
              </a:lnSpc>
              <a:spcAft>
                <a:spcPts val="0"/>
              </a:spcAft>
            </a:pPr>
            <a:r>
              <a:rPr sz="1250">
                <a:solidFill>
                  <a:srgbClr val="E6EDF7"/>
                </a:solidFill>
                <a:latin typeface="Roboto Mono"/>
              </a:rPr>
              <a:t>        return hex.toString();</a:t>
            </a:r>
          </a:p>
          <a:p>
            <a:pPr>
              <a:lnSpc>
                <a:spcPct val="134000"/>
              </a:lnSpc>
              <a:spcAft>
                <a:spcPts val="0"/>
              </a:spcAft>
            </a:pPr>
            <a:r>
              <a:rPr sz="1250">
                <a:solidFill>
                  <a:srgbClr val="E6EDF7"/>
                </a:solidFill>
                <a:latin typeface="Roboto Mono"/>
              </a:rPr>
              <a:t>    } catch (Exception e) {</a:t>
            </a:r>
          </a:p>
          <a:p>
            <a:pPr>
              <a:lnSpc>
                <a:spcPct val="134000"/>
              </a:lnSpc>
              <a:spcAft>
                <a:spcPts val="0"/>
              </a:spcAft>
            </a:pPr>
            <a:r>
              <a:rPr sz="1250">
                <a:solidFill>
                  <a:srgbClr val="E6EDF7"/>
                </a:solidFill>
                <a:latin typeface="Roboto Mono"/>
              </a:rPr>
              <a:t>        throw new IllegalStateException("Không tạo được HMAC-SHA512", e);</a:t>
            </a:r>
          </a:p>
          <a:p>
            <a:pPr>
              <a:lnSpc>
                <a:spcPct val="134000"/>
              </a:lnSpc>
              <a:spcAft>
                <a:spcPts val="0"/>
              </a:spcAft>
            </a:pPr>
            <a:r>
              <a:rPr sz="1250">
                <a:solidFill>
                  <a:srgbClr val="E6EDF7"/>
                </a:solidFill>
                <a:latin typeface="Roboto Mono"/>
              </a:rPr>
              <a:t>    }</a:t>
            </a:r>
          </a:p>
          <a:p>
            <a:pPr>
              <a:lnSpc>
                <a:spcPct val="134000"/>
              </a:lnSpc>
              <a:spcAft>
                <a:spcPts val="0"/>
              </a:spcAft>
            </a:pPr>
            <a:r>
              <a:rPr sz="1250">
                <a:solidFill>
                  <a:srgbClr val="E6EDF7"/>
                </a:solidFill>
                <a:latin typeface="Roboto Mono"/>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TODO 2</a:t>
            </a:r>
          </a:p>
          <a:p>
            <a:pPr>
              <a:lnSpc>
                <a:spcPct val="118000"/>
              </a:lnSpc>
              <a:spcAft>
                <a:spcPts val="0"/>
              </a:spcAft>
            </a:pPr>
            <a:r>
              <a:rPr sz="3000" b="1">
                <a:solidFill>
                  <a:srgbClr val="111111"/>
                </a:solidFill>
                <a:latin typeface="Be Vietnam Pro"/>
              </a:rPr>
              <a:t>Encode giá trị trước khi đem băm</a:t>
            </a:r>
          </a:p>
        </p:txBody>
      </p:sp>
      <p:sp>
        <p:nvSpPr>
          <p:cNvPr id="3" name="TextBox 2"/>
          <p:cNvSpPr txBox="1"/>
          <p:nvPr/>
        </p:nvSpPr>
        <p:spPr>
          <a:xfrm>
            <a:off x="658368" y="1719072"/>
            <a:ext cx="10874959" cy="219456"/>
          </a:xfrm>
          <a:prstGeom prst="rect">
            <a:avLst/>
          </a:prstGeom>
          <a:noFill/>
        </p:spPr>
        <p:txBody>
          <a:bodyPr wrap="square">
            <a:spAutoFit/>
          </a:bodyPr>
          <a:lstStyle/>
          <a:p>
            <a:pPr>
              <a:lnSpc>
                <a:spcPct val="118000"/>
              </a:lnSpc>
              <a:spcAft>
                <a:spcPts val="0"/>
              </a:spcAft>
            </a:pPr>
            <a:r>
              <a:rPr sz="1100" b="0">
                <a:solidFill>
                  <a:srgbClr val="6B7280"/>
                </a:solidFill>
                <a:latin typeface="Roboto Mono"/>
              </a:rPr>
              <a:t>ShopStart.java</a:t>
            </a:r>
          </a:p>
        </p:txBody>
      </p:sp>
      <p:sp>
        <p:nvSpPr>
          <p:cNvPr id="4" name="Rounded Rectangle 3"/>
          <p:cNvSpPr/>
          <p:nvPr/>
        </p:nvSpPr>
        <p:spPr>
          <a:xfrm>
            <a:off x="658368" y="1956816"/>
            <a:ext cx="10874959" cy="28270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E6EDF7"/>
                </a:solidFill>
                <a:latin typeface="Roboto Mono"/>
              </a:rPr>
              <a:t>static String buildQueryString(Map&lt;String, String&gt; params) {</a:t>
            </a:r>
          </a:p>
          <a:p>
            <a:pPr>
              <a:lnSpc>
                <a:spcPct val="134000"/>
              </a:lnSpc>
              <a:spcAft>
                <a:spcPts val="0"/>
              </a:spcAft>
            </a:pPr>
            <a:r>
              <a:rPr sz="1250">
                <a:solidFill>
                  <a:srgbClr val="E6EDF7"/>
                </a:solidFill>
                <a:latin typeface="Roboto Mono"/>
              </a:rPr>
              <a:t>    StringBuilder sb = new StringBuilder();</a:t>
            </a:r>
          </a:p>
          <a:p>
            <a:pPr>
              <a:lnSpc>
                <a:spcPct val="134000"/>
              </a:lnSpc>
              <a:spcAft>
                <a:spcPts val="0"/>
              </a:spcAft>
            </a:pPr>
          </a:p>
          <a:p>
            <a:pPr>
              <a:lnSpc>
                <a:spcPct val="134000"/>
              </a:lnSpc>
              <a:spcAft>
                <a:spcPts val="0"/>
              </a:spcAft>
            </a:pPr>
            <a:r>
              <a:rPr sz="1250">
                <a:solidFill>
                  <a:srgbClr val="E6EDF7"/>
                </a:solidFill>
                <a:latin typeface="Roboto Mono"/>
              </a:rPr>
              <a:t>    for (var e : new TreeMap&lt;&gt;(params).entrySet()) {</a:t>
            </a:r>
          </a:p>
          <a:p>
            <a:pPr>
              <a:lnSpc>
                <a:spcPct val="134000"/>
              </a:lnSpc>
              <a:spcAft>
                <a:spcPts val="0"/>
              </a:spcAft>
            </a:pPr>
            <a:r>
              <a:rPr sz="1250">
                <a:solidFill>
                  <a:srgbClr val="E6EDF7"/>
                </a:solidFill>
                <a:latin typeface="Roboto Mono"/>
              </a:rPr>
              <a:t>        if (e.getValue() == null || e.getValue().isEmpty()) continue;</a:t>
            </a:r>
          </a:p>
          <a:p>
            <a:pPr>
              <a:lnSpc>
                <a:spcPct val="134000"/>
              </a:lnSpc>
              <a:spcAft>
                <a:spcPts val="0"/>
              </a:spcAft>
            </a:pPr>
            <a:r>
              <a:rPr sz="1250">
                <a:solidFill>
                  <a:srgbClr val="E6EDF7"/>
                </a:solidFill>
                <a:latin typeface="Roboto Mono"/>
              </a:rPr>
              <a:t>        if (sb.length() &gt; 0) sb.append('&amp;');</a:t>
            </a:r>
          </a:p>
          <a:p>
            <a:pPr>
              <a:lnSpc>
                <a:spcPct val="134000"/>
              </a:lnSpc>
              <a:spcAft>
                <a:spcPts val="0"/>
              </a:spcAft>
            </a:pPr>
          </a:p>
          <a:p>
            <a:pPr>
              <a:lnSpc>
                <a:spcPct val="134000"/>
              </a:lnSpc>
              <a:spcAft>
                <a:spcPts val="0"/>
              </a:spcAft>
            </a:pPr>
            <a:r>
              <a:rPr sz="1250">
                <a:solidFill>
                  <a:srgbClr val="E6EDF7"/>
                </a:solidFill>
                <a:latin typeface="Roboto Mono"/>
              </a:rPr>
              <a:t>        sb.append(URLEncoder.encode(e.getKey(), US_ASCII)).append('=')</a:t>
            </a:r>
          </a:p>
          <a:p>
            <a:pPr>
              <a:lnSpc>
                <a:spcPct val="134000"/>
              </a:lnSpc>
              <a:spcAft>
                <a:spcPts val="0"/>
              </a:spcAft>
            </a:pPr>
            <a:r>
              <a:rPr sz="1250">
                <a:solidFill>
                  <a:srgbClr val="E6EDF7"/>
                </a:solidFill>
                <a:latin typeface="Roboto Mono"/>
              </a:rPr>
              <a:t>          .append(URLEncoder.encode(e.getValue(), US_ASCII));</a:t>
            </a:r>
          </a:p>
          <a:p>
            <a:pPr>
              <a:lnSpc>
                <a:spcPct val="134000"/>
              </a:lnSpc>
              <a:spcAft>
                <a:spcPts val="0"/>
              </a:spcAft>
            </a:pPr>
            <a:r>
              <a:rPr sz="1250">
                <a:solidFill>
                  <a:srgbClr val="E6EDF7"/>
                </a:solidFill>
                <a:latin typeface="Roboto Mono"/>
              </a:rPr>
              <a:t>    }</a:t>
            </a:r>
          </a:p>
          <a:p>
            <a:pPr>
              <a:lnSpc>
                <a:spcPct val="134000"/>
              </a:lnSpc>
              <a:spcAft>
                <a:spcPts val="0"/>
              </a:spcAft>
            </a:pPr>
            <a:r>
              <a:rPr sz="1250">
                <a:solidFill>
                  <a:srgbClr val="E6EDF7"/>
                </a:solidFill>
                <a:latin typeface="Roboto Mono"/>
              </a:rPr>
              <a:t>    return sb.toString();</a:t>
            </a:r>
          </a:p>
          <a:p>
            <a:pPr>
              <a:lnSpc>
                <a:spcPct val="134000"/>
              </a:lnSpc>
              <a:spcAft>
                <a:spcPts val="0"/>
              </a:spcAft>
            </a:pPr>
            <a:r>
              <a:rPr sz="1250">
                <a:solidFill>
                  <a:srgbClr val="E6EDF7"/>
                </a:solidFill>
                <a:latin typeface="Roboto Mono"/>
              </a:rPr>
              <a:t>}</a:t>
            </a:r>
          </a:p>
        </p:txBody>
      </p:sp>
      <p:sp>
        <p:nvSpPr>
          <p:cNvPr id="5" name="Rounded Rectangle 4"/>
          <p:cNvSpPr/>
          <p:nvPr/>
        </p:nvSpPr>
        <p:spPr>
          <a:xfrm>
            <a:off x="658368" y="4966716"/>
            <a:ext cx="5336895" cy="16733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113020"/>
            <a:ext cx="4934559" cy="139903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Lỗi thứ nhất</a:t>
            </a:r>
          </a:p>
          <a:p>
            <a:pPr>
              <a:lnSpc>
                <a:spcPct val="118000"/>
              </a:lnSpc>
              <a:spcAft>
                <a:spcPts val="0"/>
              </a:spcAft>
            </a:pPr>
            <a:r>
              <a:rPr sz="1350" b="0">
                <a:solidFill>
                  <a:srgbClr val="3F454D"/>
                </a:solidFill>
                <a:latin typeface="Be Vietnam Pro"/>
              </a:rPr>
              <a:t>Quên encode phần giá trị. vnp_OrderInfo có dấu cách là chữ ký lệch ngay.</a:t>
            </a:r>
          </a:p>
        </p:txBody>
      </p:sp>
      <p:sp>
        <p:nvSpPr>
          <p:cNvPr id="7" name="Rounded Rectangle 6"/>
          <p:cNvSpPr/>
          <p:nvPr/>
        </p:nvSpPr>
        <p:spPr>
          <a:xfrm>
            <a:off x="6196431" y="4966716"/>
            <a:ext cx="5336895" cy="16733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7599" y="5113020"/>
            <a:ext cx="4934559" cy="139903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Lỗi thứ hai</a:t>
            </a:r>
          </a:p>
          <a:p>
            <a:pPr>
              <a:lnSpc>
                <a:spcPct val="118000"/>
              </a:lnSpc>
              <a:spcAft>
                <a:spcPts val="0"/>
              </a:spcAft>
            </a:pPr>
            <a:r>
              <a:rPr sz="1350" b="0">
                <a:solidFill>
                  <a:srgbClr val="3F454D"/>
                </a:solidFill>
                <a:latin typeface="Be Vietnam Pro"/>
              </a:rPr>
              <a:t>Để lọt tham số rỗng vào chuỗi. VNPAY bỏ qua chúng, mình giữ lại là sai.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TODO 3</a:t>
            </a:r>
          </a:p>
          <a:p>
            <a:pPr>
              <a:lnSpc>
                <a:spcPct val="118000"/>
              </a:lnSpc>
              <a:spcAft>
                <a:spcPts val="0"/>
              </a:spcAft>
            </a:pPr>
            <a:r>
              <a:rPr sz="3000" b="1">
                <a:solidFill>
                  <a:srgbClr val="111111"/>
                </a:solidFill>
                <a:latin typeface="Be Vietnam Pro"/>
              </a:rPr>
              <a:t>Verify là ký lại rồi đem so</a:t>
            </a:r>
          </a:p>
        </p:txBody>
      </p:sp>
      <p:sp>
        <p:nvSpPr>
          <p:cNvPr id="3" name="TextBox 2"/>
          <p:cNvSpPr txBox="1"/>
          <p:nvPr/>
        </p:nvSpPr>
        <p:spPr>
          <a:xfrm>
            <a:off x="658368" y="1719072"/>
            <a:ext cx="10874959" cy="219456"/>
          </a:xfrm>
          <a:prstGeom prst="rect">
            <a:avLst/>
          </a:prstGeom>
          <a:noFill/>
        </p:spPr>
        <p:txBody>
          <a:bodyPr wrap="square">
            <a:spAutoFit/>
          </a:bodyPr>
          <a:lstStyle/>
          <a:p>
            <a:pPr>
              <a:lnSpc>
                <a:spcPct val="118000"/>
              </a:lnSpc>
              <a:spcAft>
                <a:spcPts val="0"/>
              </a:spcAft>
            </a:pPr>
            <a:r>
              <a:rPr sz="1100" b="0">
                <a:solidFill>
                  <a:srgbClr val="6B7280"/>
                </a:solidFill>
                <a:latin typeface="Roboto Mono"/>
              </a:rPr>
              <a:t>ShopStart.java</a:t>
            </a:r>
          </a:p>
        </p:txBody>
      </p:sp>
      <p:sp>
        <p:nvSpPr>
          <p:cNvPr id="4" name="Rounded Rectangle 3"/>
          <p:cNvSpPr/>
          <p:nvPr/>
        </p:nvSpPr>
        <p:spPr>
          <a:xfrm>
            <a:off x="658368" y="1956816"/>
            <a:ext cx="10874959" cy="261429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E6EDF7"/>
                </a:solidFill>
                <a:latin typeface="Roboto Mono"/>
              </a:rPr>
              <a:t>static boolean isValidSignature(Map&lt;String, String&gt; params) {</a:t>
            </a:r>
          </a:p>
          <a:p>
            <a:pPr>
              <a:lnSpc>
                <a:spcPct val="134000"/>
              </a:lnSpc>
              <a:spcAft>
                <a:spcPts val="0"/>
              </a:spcAft>
            </a:pPr>
            <a:r>
              <a:rPr sz="1250">
                <a:solidFill>
                  <a:srgbClr val="E6EDF7"/>
                </a:solidFill>
                <a:latin typeface="Roboto Mono"/>
              </a:rPr>
              <a:t>    String received = params.get("vnp_SecureHash");</a:t>
            </a:r>
          </a:p>
          <a:p>
            <a:pPr>
              <a:lnSpc>
                <a:spcPct val="134000"/>
              </a:lnSpc>
              <a:spcAft>
                <a:spcPts val="0"/>
              </a:spcAft>
            </a:pPr>
            <a:r>
              <a:rPr sz="1250">
                <a:solidFill>
                  <a:srgbClr val="E6EDF7"/>
                </a:solidFill>
                <a:latin typeface="Roboto Mono"/>
              </a:rPr>
              <a:t>    if (received == null || received.isBlank()) return false;</a:t>
            </a:r>
          </a:p>
          <a:p>
            <a:pPr>
              <a:lnSpc>
                <a:spcPct val="134000"/>
              </a:lnSpc>
              <a:spcAft>
                <a:spcPts val="0"/>
              </a:spcAft>
            </a:pPr>
          </a:p>
          <a:p>
            <a:pPr>
              <a:lnSpc>
                <a:spcPct val="134000"/>
              </a:lnSpc>
              <a:spcAft>
                <a:spcPts val="0"/>
              </a:spcAft>
            </a:pPr>
            <a:r>
              <a:rPr sz="1250">
                <a:solidFill>
                  <a:srgbClr val="E6EDF7"/>
                </a:solidFill>
                <a:latin typeface="Roboto Mono"/>
              </a:rPr>
              <a:t>    Map&lt;String, String&gt; clone = new TreeMap&lt;&gt;(params);</a:t>
            </a:r>
          </a:p>
          <a:p>
            <a:pPr>
              <a:lnSpc>
                <a:spcPct val="134000"/>
              </a:lnSpc>
              <a:spcAft>
                <a:spcPts val="0"/>
              </a:spcAft>
            </a:pPr>
            <a:r>
              <a:rPr sz="1250">
                <a:solidFill>
                  <a:srgbClr val="E6EDF7"/>
                </a:solidFill>
                <a:latin typeface="Roboto Mono"/>
              </a:rPr>
              <a:t>    clone.remove("vnp_SecureHash");</a:t>
            </a:r>
          </a:p>
          <a:p>
            <a:pPr>
              <a:lnSpc>
                <a:spcPct val="134000"/>
              </a:lnSpc>
              <a:spcAft>
                <a:spcPts val="0"/>
              </a:spcAft>
            </a:pPr>
            <a:r>
              <a:rPr sz="1250">
                <a:solidFill>
                  <a:srgbClr val="E6EDF7"/>
                </a:solidFill>
                <a:latin typeface="Roboto Mono"/>
              </a:rPr>
              <a:t>    clone.remove("vnp_SecureHashType");</a:t>
            </a:r>
          </a:p>
          <a:p>
            <a:pPr>
              <a:lnSpc>
                <a:spcPct val="134000"/>
              </a:lnSpc>
              <a:spcAft>
                <a:spcPts val="0"/>
              </a:spcAft>
            </a:pPr>
          </a:p>
          <a:p>
            <a:pPr>
              <a:lnSpc>
                <a:spcPct val="134000"/>
              </a:lnSpc>
              <a:spcAft>
                <a:spcPts val="0"/>
              </a:spcAft>
            </a:pPr>
            <a:r>
              <a:rPr sz="1250">
                <a:solidFill>
                  <a:srgbClr val="E6EDF7"/>
                </a:solidFill>
                <a:latin typeface="Roboto Mono"/>
              </a:rPr>
              <a:t>    String expected = hmacSHA512(HASH_SECRET, buildQueryString(clone));</a:t>
            </a:r>
          </a:p>
          <a:p>
            <a:pPr>
              <a:lnSpc>
                <a:spcPct val="134000"/>
              </a:lnSpc>
              <a:spcAft>
                <a:spcPts val="0"/>
              </a:spcAft>
            </a:pPr>
            <a:r>
              <a:rPr sz="1250">
                <a:solidFill>
                  <a:srgbClr val="E6EDF7"/>
                </a:solidFill>
                <a:latin typeface="Roboto Mono"/>
              </a:rPr>
              <a:t>    return constantTimeEquals(expected, received);</a:t>
            </a:r>
          </a:p>
          <a:p>
            <a:pPr>
              <a:lnSpc>
                <a:spcPct val="134000"/>
              </a:lnSpc>
              <a:spcAft>
                <a:spcPts val="0"/>
              </a:spcAft>
            </a:pPr>
            <a:r>
              <a:rPr sz="1250">
                <a:solidFill>
                  <a:srgbClr val="E6EDF7"/>
                </a:solidFill>
                <a:latin typeface="Roboto Mono"/>
              </a:rPr>
              <a:t>}</a:t>
            </a:r>
          </a:p>
        </p:txBody>
      </p:sp>
      <p:sp>
        <p:nvSpPr>
          <p:cNvPr id="5" name="Rounded Rectangle 4"/>
          <p:cNvSpPr/>
          <p:nvPr/>
        </p:nvSpPr>
        <p:spPr>
          <a:xfrm>
            <a:off x="658368" y="4753991"/>
            <a:ext cx="10874959" cy="798385"/>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4808855"/>
            <a:ext cx="40640" cy="688657"/>
          </a:xfrm>
          <a:prstGeom prst="rect">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4872863"/>
            <a:ext cx="10417759" cy="560641"/>
          </a:xfrm>
          <a:prstGeom prst="rect">
            <a:avLst/>
          </a:prstGeom>
          <a:noFill/>
        </p:spPr>
        <p:txBody>
          <a:bodyPr wrap="square">
            <a:spAutoFit/>
          </a:bodyPr>
          <a:lstStyle/>
          <a:p>
            <a:pPr>
              <a:lnSpc>
                <a:spcPct val="118000"/>
              </a:lnSpc>
              <a:spcAft>
                <a:spcPts val="400"/>
              </a:spcAft>
            </a:pPr>
            <a:r>
              <a:rPr sz="1400" b="1">
                <a:solidFill>
                  <a:srgbClr val="0066FF"/>
                </a:solidFill>
                <a:latin typeface="Be Vietnam Pro"/>
              </a:rPr>
              <a:t>Cách debug khi chữ ký không khớp</a:t>
            </a:r>
          </a:p>
          <a:p>
            <a:pPr>
              <a:lnSpc>
                <a:spcPct val="118000"/>
              </a:lnSpc>
              <a:spcAft>
                <a:spcPts val="0"/>
              </a:spcAft>
            </a:pPr>
            <a:r>
              <a:rPr sz="1350" b="0">
                <a:solidFill>
                  <a:srgbClr val="3F454D"/>
                </a:solidFill>
                <a:latin typeface="Be Vietnam Pro"/>
              </a:rPr>
              <a:t>In buildQueryString(clone) ra rồi so từng ký tự với query string trên thanh địa chỉ. Gần như luôn lòi ra một trong hai lỗi ở slide trước.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TODO 4</a:t>
            </a:r>
          </a:p>
          <a:p>
            <a:pPr>
              <a:lnSpc>
                <a:spcPct val="118000"/>
              </a:lnSpc>
              <a:spcAft>
                <a:spcPts val="0"/>
              </a:spcAft>
            </a:pPr>
            <a:r>
              <a:rPr sz="3000" b="1">
                <a:solidFill>
                  <a:srgbClr val="111111"/>
                </a:solidFill>
                <a:latin typeface="Be Vietnam Pro"/>
              </a:rPr>
              <a:t>Số tiền nhân 100, giờ theo GMT+7</a:t>
            </a:r>
          </a:p>
        </p:txBody>
      </p:sp>
      <p:graphicFrame>
        <p:nvGraphicFramePr>
          <p:cNvPr id="3" name="Table 2"/>
          <p:cNvGraphicFramePr>
            <a:graphicFrameLocks noGrp="1"/>
          </p:cNvGraphicFramePr>
          <p:nvPr/>
        </p:nvGraphicFramePr>
        <p:xfrm>
          <a:off x="658368" y="1719072"/>
          <a:ext cx="10874957" cy="1773936"/>
        </p:xfrm>
        <a:graphic>
          <a:graphicData uri="http://schemas.openxmlformats.org/drawingml/2006/table">
            <a:tbl>
              <a:tblPr firstRow="1" bandRow="1">
                <a:tableStyleId>{5C22544A-7EE6-4342-B048-85BDC9FD1C3A}</a:tableStyleId>
              </a:tblPr>
              <a:tblGrid>
                <a:gridCol w="2136152"/>
                <a:gridCol w="3301326"/>
                <a:gridCol w="5437479"/>
              </a:tblGrid>
              <a:tr h="384048">
                <a:tc>
                  <a:txBody>
                    <a:bodyPr wrap="square"/>
                    <a:lstStyle/>
                    <a:p>
                      <a:pPr>
                        <a:lnSpc>
                          <a:spcPct val="118000"/>
                        </a:lnSpc>
                        <a:spcAft>
                          <a:spcPts val="0"/>
                        </a:spcAft>
                      </a:pPr>
                      <a:r>
                        <a:rPr sz="1200" b="1">
                          <a:solidFill>
                            <a:srgbClr val="0066FF"/>
                          </a:solidFill>
                          <a:latin typeface="Be Vietnam Pro"/>
                        </a:rPr>
                        <a:t>Tham số</a:t>
                      </a:r>
                    </a:p>
                  </a:txBody>
                  <a:tcPr anchor="ctr" marL="128016">
                    <a:solidFill>
                      <a:srgbClr val="ECF2FF"/>
                    </a:solidFill>
                  </a:tcPr>
                </a:tc>
                <a:tc>
                  <a:txBody>
                    <a:bodyPr wrap="square"/>
                    <a:lstStyle/>
                    <a:p>
                      <a:pPr>
                        <a:lnSpc>
                          <a:spcPct val="118000"/>
                        </a:lnSpc>
                        <a:spcAft>
                          <a:spcPts val="0"/>
                        </a:spcAft>
                      </a:pPr>
                      <a:r>
                        <a:rPr sz="1200" b="1">
                          <a:solidFill>
                            <a:srgbClr val="0066FF"/>
                          </a:solidFill>
                          <a:latin typeface="Be Vietnam Pro"/>
                        </a:rPr>
                        <a:t>Giá trị mẫu</a:t>
                      </a:r>
                    </a:p>
                  </a:txBody>
                  <a:tcPr anchor="ctr" marL="128016">
                    <a:solidFill>
                      <a:srgbClr val="ECF2FF"/>
                    </a:solidFill>
                  </a:tcPr>
                </a:tc>
                <a:tc>
                  <a:txBody>
                    <a:bodyPr wrap="square"/>
                    <a:lstStyle/>
                    <a:p>
                      <a:pPr>
                        <a:lnSpc>
                          <a:spcPct val="118000"/>
                        </a:lnSpc>
                        <a:spcAft>
                          <a:spcPts val="0"/>
                        </a:spcAft>
                      </a:pPr>
                      <a:r>
                        <a:rPr sz="1200" b="1">
                          <a:solidFill>
                            <a:srgbClr val="0066FF"/>
                          </a:solidFill>
                          <a:latin typeface="Be Vietnam Pro"/>
                        </a:rPr>
                        <a:t>Chỗ dễ sai</a:t>
                      </a:r>
                    </a:p>
                  </a:txBody>
                  <a:tcPr anchor="ctr" marL="128016">
                    <a:solidFill>
                      <a:srgbClr val="ECF2FF"/>
                    </a:solidFill>
                  </a:tcPr>
                </a:tc>
              </a:tr>
              <a:tr h="347472">
                <a:tc>
                  <a:txBody>
                    <a:bodyPr wrap="square"/>
                    <a:lstStyle/>
                    <a:p>
                      <a:pPr>
                        <a:lnSpc>
                          <a:spcPct val="118000"/>
                        </a:lnSpc>
                        <a:spcAft>
                          <a:spcPts val="0"/>
                        </a:spcAft>
                      </a:pPr>
                      <a:r>
                        <a:rPr sz="1250" b="0">
                          <a:solidFill>
                            <a:srgbClr val="111111"/>
                          </a:solidFill>
                          <a:latin typeface="Be Vietnam Pro"/>
                        </a:rPr>
                        <a:t>vnp_Amount</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Roboto Mono"/>
                        </a:rPr>
                        <a:t>2500000</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Nhân 100 và là số nguyên. 25.000đ thành 2500000</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vnp_TxnRef</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Roboto Mono"/>
                        </a:rPr>
                        <a:t>20260920125606777443</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Duy nhất trong 24h theo TmnCode</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vnp_CreateDate</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Roboto Mono"/>
                        </a:rPr>
                        <a:t>20260920125606</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Giờ GMT+7, không phải giờ máy chủ</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vnp_BankCode</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Roboto Mono"/>
                        </a:rPr>
                        <a:t>NCB</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Bỏ trống thì VNPAY hiện trang chọn ngân hàng</a:t>
                      </a:r>
                    </a:p>
                  </a:txBody>
                  <a:tcPr anchor="ctr" marL="128016">
                    <a:solidFill>
                      <a:srgbClr val="FFFFFF"/>
                    </a:solidFill>
                  </a:tcPr>
                </a:tc>
              </a:tr>
            </a:tbl>
          </a:graphicData>
        </a:graphic>
      </p:graphicFrame>
      <p:sp>
        <p:nvSpPr>
          <p:cNvPr id="4" name="Rounded Rectangle 3"/>
          <p:cNvSpPr/>
          <p:nvPr/>
        </p:nvSpPr>
        <p:spPr>
          <a:xfrm>
            <a:off x="658368" y="3675888"/>
            <a:ext cx="10874959" cy="91249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E6EDF7"/>
                </a:solidFill>
                <a:latin typeface="Roboto Mono"/>
              </a:rPr>
              <a:t>p.put("vnp_Amount", String.valueOf(amount * 100));</a:t>
            </a:r>
          </a:p>
          <a:p>
            <a:pPr>
              <a:lnSpc>
                <a:spcPct val="134000"/>
              </a:lnSpc>
              <a:spcAft>
                <a:spcPts val="0"/>
              </a:spcAft>
            </a:pPr>
            <a:r>
              <a:rPr sz="1250">
                <a:solidFill>
                  <a:srgbClr val="E6EDF7"/>
                </a:solidFill>
                <a:latin typeface="Roboto Mono"/>
              </a:rPr>
              <a:t>String query = buildQueryString(p);</a:t>
            </a:r>
          </a:p>
          <a:p>
            <a:pPr>
              <a:lnSpc>
                <a:spcPct val="134000"/>
              </a:lnSpc>
              <a:spcAft>
                <a:spcPts val="0"/>
              </a:spcAft>
            </a:pPr>
            <a:r>
              <a:rPr sz="1250">
                <a:solidFill>
                  <a:srgbClr val="E6EDF7"/>
                </a:solidFill>
                <a:latin typeface="Roboto Mono"/>
              </a:rPr>
              <a:t>String url = PAY_URL + "?" + query + "&amp;vnp_SecureHash=" + hmacSHA512(HASH_SECRET, query);</a:t>
            </a:r>
          </a:p>
        </p:txBody>
      </p:sp>
      <p:sp>
        <p:nvSpPr>
          <p:cNvPr id="5" name="Rounded Rectangle 4"/>
          <p:cNvSpPr/>
          <p:nvPr/>
        </p:nvSpPr>
        <p:spPr>
          <a:xfrm>
            <a:off x="658368" y="4771263"/>
            <a:ext cx="10874959" cy="798385"/>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4826127"/>
            <a:ext cx="40640" cy="688657"/>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4890135"/>
            <a:ext cx="10417759" cy="560641"/>
          </a:xfrm>
          <a:prstGeom prst="rect">
            <a:avLst/>
          </a:prstGeom>
          <a:noFill/>
        </p:spPr>
        <p:txBody>
          <a:bodyPr wrap="square">
            <a:spAutoFit/>
          </a:bodyPr>
          <a:lstStyle/>
          <a:p>
            <a:pPr>
              <a:lnSpc>
                <a:spcPct val="118000"/>
              </a:lnSpc>
              <a:spcAft>
                <a:spcPts val="400"/>
              </a:spcAft>
            </a:pPr>
            <a:r>
              <a:rPr sz="1400" b="1">
                <a:solidFill>
                  <a:srgbClr val="C42B22"/>
                </a:solidFill>
                <a:latin typeface="Be Vietnam Pro"/>
              </a:rPr>
              <a:t>Cái bẫy nằm ngay trong code mẫu của chính VNPAY</a:t>
            </a:r>
          </a:p>
          <a:p>
            <a:pPr>
              <a:lnSpc>
                <a:spcPct val="118000"/>
              </a:lnSpc>
              <a:spcAft>
                <a:spcPts val="0"/>
              </a:spcAft>
            </a:pPr>
            <a:r>
              <a:rPr sz="1350" b="0">
                <a:solidFill>
                  <a:srgbClr val="3F454D"/>
                </a:solidFill>
                <a:latin typeface="Be Vietnam Pro"/>
              </a:rPr>
              <a:t>Demo của họ dùng Etc/GMT+7, mà theo POSIX nó là UTC trừ 7, lệch 14 tiếng, giao dịch hết hạn ngay lúc vừa tạo. Dùng ZoneId.of("Asia/Ho_Chi_Minh").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KIỂM TRA</a:t>
            </a:r>
          </a:p>
          <a:p>
            <a:pPr>
              <a:lnSpc>
                <a:spcPct val="118000"/>
              </a:lnSpc>
              <a:spcAft>
                <a:spcPts val="0"/>
              </a:spcAft>
            </a:pPr>
            <a:r>
              <a:rPr sz="3000" b="1">
                <a:solidFill>
                  <a:srgbClr val="111111"/>
                </a:solidFill>
                <a:latin typeface="Be Vietnam Pro"/>
              </a:rPr>
              <a:t>Chạy thử trước khi viết tiếp</a:t>
            </a:r>
          </a:p>
        </p:txBody>
      </p:sp>
      <p:sp>
        <p:nvSpPr>
          <p:cNvPr id="3" name="Rounded Rectangle 2"/>
          <p:cNvSpPr/>
          <p:nvPr/>
        </p:nvSpPr>
        <p:spPr>
          <a:xfrm>
            <a:off x="658368" y="1719072"/>
            <a:ext cx="10874959" cy="11252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E6EDF7"/>
                </a:solidFill>
                <a:latin typeface="Roboto Mono"/>
              </a:rPr>
              <a:t>export VNPAY_TMN_CODE=... VNPAY_HASH_SECRET=...</a:t>
            </a:r>
          </a:p>
          <a:p>
            <a:pPr>
              <a:lnSpc>
                <a:spcPct val="134000"/>
              </a:lnSpc>
              <a:spcAft>
                <a:spcPts val="0"/>
              </a:spcAft>
            </a:pPr>
            <a:r>
              <a:rPr sz="1250">
                <a:solidFill>
                  <a:srgbClr val="E6EDF7"/>
                </a:solidFill>
                <a:latin typeface="Roboto Mono"/>
              </a:rPr>
              <a:t>java ShopStart.java</a:t>
            </a:r>
          </a:p>
          <a:p>
            <a:pPr>
              <a:lnSpc>
                <a:spcPct val="134000"/>
              </a:lnSpc>
              <a:spcAft>
                <a:spcPts val="0"/>
              </a:spcAft>
            </a:pPr>
          </a:p>
          <a:p>
            <a:pPr>
              <a:lnSpc>
                <a:spcPct val="134000"/>
              </a:lnSpc>
              <a:spcAft>
                <a:spcPts val="0"/>
              </a:spcAft>
            </a:pPr>
            <a:r>
              <a:rPr sz="1250">
                <a:solidFill>
                  <a:srgbClr val="7D8CA3"/>
                </a:solidFill>
                <a:latin typeface="Roboto Mono"/>
              </a:rPr>
              <a:t># mở http://localhost:8080, bấm Mua ngay rồi Thanh toán</a:t>
            </a:r>
          </a:p>
        </p:txBody>
      </p:sp>
      <p:sp>
        <p:nvSpPr>
          <p:cNvPr id="4" name="Rounded Rectangle 3"/>
          <p:cNvSpPr/>
          <p:nvPr/>
        </p:nvSpPr>
        <p:spPr>
          <a:xfrm>
            <a:off x="658368" y="3027172"/>
            <a:ext cx="3490874" cy="16733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73476"/>
            <a:ext cx="3088538" cy="139903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Hiện form nhập thẻ NCB</a:t>
            </a:r>
          </a:p>
          <a:p>
            <a:pPr>
              <a:lnSpc>
                <a:spcPct val="118000"/>
              </a:lnSpc>
              <a:spcAft>
                <a:spcPts val="0"/>
              </a:spcAft>
            </a:pPr>
            <a:r>
              <a:rPr sz="1350" b="0">
                <a:solidFill>
                  <a:srgbClr val="3F454D"/>
                </a:solidFill>
                <a:latin typeface="Be Vietnam Pro"/>
              </a:rPr>
              <a:t>Chữ ký đúng rồi, đi tiếp phần ngrok.</a:t>
            </a:r>
          </a:p>
        </p:txBody>
      </p:sp>
      <p:sp>
        <p:nvSpPr>
          <p:cNvPr id="6" name="Rounded Rectangle 5"/>
          <p:cNvSpPr/>
          <p:nvPr/>
        </p:nvSpPr>
        <p:spPr>
          <a:xfrm>
            <a:off x="4350410" y="3027172"/>
            <a:ext cx="3490874" cy="16733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51578" y="3173476"/>
            <a:ext cx="3088538" cy="139903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Báo chữ ký không hợp lệ</a:t>
            </a:r>
          </a:p>
          <a:p>
            <a:pPr>
              <a:lnSpc>
                <a:spcPct val="118000"/>
              </a:lnSpc>
              <a:spcAft>
                <a:spcPts val="0"/>
              </a:spcAft>
            </a:pPr>
            <a:r>
              <a:rPr sz="1350" b="0">
                <a:solidFill>
                  <a:srgbClr val="3F454D"/>
                </a:solidFill>
                <a:latin typeface="Be Vietnam Pro"/>
              </a:rPr>
              <a:t>Sai HashSecret, hoặc quên encode ở TODO 2.</a:t>
            </a:r>
          </a:p>
        </p:txBody>
      </p:sp>
      <p:sp>
        <p:nvSpPr>
          <p:cNvPr id="8" name="Rounded Rectangle 7"/>
          <p:cNvSpPr/>
          <p:nvPr/>
        </p:nvSpPr>
        <p:spPr>
          <a:xfrm>
            <a:off x="8042452" y="3027172"/>
            <a:ext cx="3490874" cy="16733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3620" y="3173476"/>
            <a:ext cx="3088538" cy="139903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Báo website không tồn tại</a:t>
            </a:r>
          </a:p>
          <a:p>
            <a:pPr>
              <a:lnSpc>
                <a:spcPct val="118000"/>
              </a:lnSpc>
              <a:spcAft>
                <a:spcPts val="0"/>
              </a:spcAft>
            </a:pPr>
            <a:r>
              <a:rPr sz="1350" b="0">
                <a:solidFill>
                  <a:srgbClr val="3F454D"/>
                </a:solidFill>
                <a:latin typeface="Be Vietnam Pro"/>
              </a:rPr>
              <a:t>Sai TmnCode, hoặc vnp_ReturnUrl không khớp domain đã khai.</a:t>
            </a:r>
          </a:p>
        </p:txBody>
      </p:sp>
      <p:sp>
        <p:nvSpPr>
          <p:cNvPr id="10" name="Rounded Rectangle 9"/>
          <p:cNvSpPr/>
          <p:nvPr/>
        </p:nvSpPr>
        <p:spPr>
          <a:xfrm>
            <a:off x="658368" y="4883404"/>
            <a:ext cx="10874959" cy="1600200"/>
          </a:xfrm>
          <a:prstGeom prst="roundRect">
            <a:avLst>
              <a:gd name="adj" fmla="val 2000"/>
            </a:avLst>
          </a:prstGeom>
          <a:solidFill>
            <a:srgbClr val="EFF2F6"/>
          </a:solidFill>
          <a:ln w="12700">
            <a:solidFill>
              <a:srgbClr val="C3CBD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0">
                <a:solidFill>
                  <a:srgbClr val="6B7280"/>
                </a:solidFill>
                <a:latin typeface="Be Vietnam Pro"/>
              </a:rPr>
              <a:t>Chèn ảnh chụp trang nhập thẻ NCB của VNPAY vào ô này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BẮT BUỘC</a:t>
            </a:r>
          </a:p>
          <a:p>
            <a:pPr>
              <a:lnSpc>
                <a:spcPct val="118000"/>
              </a:lnSpc>
              <a:spcAft>
                <a:spcPts val="0"/>
              </a:spcAft>
            </a:pPr>
            <a:r>
              <a:rPr sz="3000" b="1">
                <a:solidFill>
                  <a:srgbClr val="111111"/>
                </a:solidFill>
                <a:latin typeface="Be Vietnam Pro"/>
              </a:rPr>
              <a:t>ngrok mở đường cho VNPAY gọi về máy</a:t>
            </a:r>
          </a:p>
        </p:txBody>
      </p:sp>
      <p:sp>
        <p:nvSpPr>
          <p:cNvPr id="3" name="TextBox 2"/>
          <p:cNvSpPr txBox="1"/>
          <p:nvPr/>
        </p:nvSpPr>
        <p:spPr>
          <a:xfrm>
            <a:off x="658368" y="1719072"/>
            <a:ext cx="10874959" cy="357187"/>
          </a:xfrm>
          <a:prstGeom prst="rect">
            <a:avLst/>
          </a:prstGeom>
          <a:noFill/>
        </p:spPr>
        <p:txBody>
          <a:bodyPr wrap="square">
            <a:spAutoFit/>
          </a:bodyPr>
          <a:lstStyle/>
          <a:p>
            <a:pPr>
              <a:lnSpc>
                <a:spcPct val="118000"/>
              </a:lnSpc>
              <a:spcAft>
                <a:spcPts val="400"/>
              </a:spcAft>
            </a:pPr>
            <a:r>
              <a:rPr sz="1550" b="0">
                <a:solidFill>
                  <a:srgbClr val="3F454D"/>
                </a:solidFill>
                <a:latin typeface="Be Vietnam Pro"/>
              </a:rPr>
              <a:t>IPN là cuộc gọi từ server VNPAY vào server mình. Máy ở localhost thì từ internet không ai thấy.</a:t>
            </a:r>
          </a:p>
        </p:txBody>
      </p:sp>
      <p:sp>
        <p:nvSpPr>
          <p:cNvPr id="4" name="Rounded Rectangle 3"/>
          <p:cNvSpPr/>
          <p:nvPr/>
        </p:nvSpPr>
        <p:spPr>
          <a:xfrm>
            <a:off x="658368" y="2259139"/>
            <a:ext cx="10874959" cy="912495"/>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E6EDF7"/>
                </a:solidFill>
                <a:latin typeface="Roboto Mono"/>
              </a:rPr>
              <a:t>ngrok http 8080</a:t>
            </a:r>
          </a:p>
          <a:p>
            <a:pPr>
              <a:lnSpc>
                <a:spcPct val="134000"/>
              </a:lnSpc>
              <a:spcAft>
                <a:spcPts val="0"/>
              </a:spcAft>
            </a:pPr>
          </a:p>
          <a:p>
            <a:pPr>
              <a:lnSpc>
                <a:spcPct val="134000"/>
              </a:lnSpc>
              <a:spcAft>
                <a:spcPts val="0"/>
              </a:spcAft>
            </a:pPr>
            <a:r>
              <a:rPr sz="1250">
                <a:solidFill>
                  <a:srgbClr val="E6EDF7"/>
                </a:solidFill>
                <a:latin typeface="Roboto Mono"/>
              </a:rPr>
              <a:t>Forwarding   https://a1b2-42-115-242-109.ngrok-free.app -&gt; http://localhost:8080</a:t>
            </a:r>
          </a:p>
        </p:txBody>
      </p:sp>
      <p:graphicFrame>
        <p:nvGraphicFramePr>
          <p:cNvPr id="5" name="Table 4"/>
          <p:cNvGraphicFramePr>
            <a:graphicFrameLocks noGrp="1"/>
          </p:cNvGraphicFramePr>
          <p:nvPr/>
        </p:nvGraphicFramePr>
        <p:xfrm>
          <a:off x="658368" y="3354514"/>
          <a:ext cx="10874958" cy="1078992"/>
        </p:xfrm>
        <a:graphic>
          <a:graphicData uri="http://schemas.openxmlformats.org/drawingml/2006/table">
            <a:tbl>
              <a:tblPr firstRow="1" bandRow="1">
                <a:tableStyleId>{5C22544A-7EE6-4342-B048-85BDC9FD1C3A}</a:tableStyleId>
              </a:tblPr>
              <a:tblGrid>
                <a:gridCol w="3301326"/>
                <a:gridCol w="7573632"/>
              </a:tblGrid>
              <a:tr h="384048">
                <a:tc>
                  <a:txBody>
                    <a:bodyPr wrap="square"/>
                    <a:lstStyle/>
                    <a:p>
                      <a:pPr>
                        <a:lnSpc>
                          <a:spcPct val="118000"/>
                        </a:lnSpc>
                        <a:spcAft>
                          <a:spcPts val="0"/>
                        </a:spcAft>
                      </a:pPr>
                      <a:r>
                        <a:rPr sz="1200" b="1">
                          <a:solidFill>
                            <a:srgbClr val="0066FF"/>
                          </a:solidFill>
                          <a:latin typeface="Be Vietnam Pro"/>
                        </a:rPr>
                        <a:t>Khai vào merchant portal</a:t>
                      </a:r>
                    </a:p>
                  </a:txBody>
                  <a:tcPr anchor="ctr" marL="128016">
                    <a:solidFill>
                      <a:srgbClr val="ECF2FF"/>
                    </a:solidFill>
                  </a:tcPr>
                </a:tc>
                <a:tc>
                  <a:txBody>
                    <a:bodyPr wrap="square"/>
                    <a:lstStyle/>
                    <a:p>
                      <a:pPr>
                        <a:lnSpc>
                          <a:spcPct val="118000"/>
                        </a:lnSpc>
                        <a:spcAft>
                          <a:spcPts val="0"/>
                        </a:spcAft>
                      </a:pPr>
                      <a:r>
                        <a:rPr sz="1200" b="1">
                          <a:solidFill>
                            <a:srgbClr val="0066FF"/>
                          </a:solidFill>
                          <a:latin typeface="Be Vietnam Pro"/>
                        </a:rPr>
                        <a:t>Giá trị</a:t>
                      </a:r>
                    </a:p>
                  </a:txBody>
                  <a:tcPr anchor="ctr" marL="128016">
                    <a:solidFill>
                      <a:srgbClr val="ECF2FF"/>
                    </a:solidFill>
                  </a:tcPr>
                </a:tc>
              </a:tr>
              <a:tr h="347472">
                <a:tc>
                  <a:txBody>
                    <a:bodyPr wrap="square"/>
                    <a:lstStyle/>
                    <a:p>
                      <a:pPr>
                        <a:lnSpc>
                          <a:spcPct val="118000"/>
                        </a:lnSpc>
                        <a:spcAft>
                          <a:spcPts val="0"/>
                        </a:spcAft>
                      </a:pPr>
                      <a:r>
                        <a:rPr sz="1250" b="0">
                          <a:solidFill>
                            <a:srgbClr val="111111"/>
                          </a:solidFill>
                          <a:latin typeface="Be Vietnam Pro"/>
                        </a:rPr>
                        <a:t>URL trả về</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Roboto Mono"/>
                        </a:rPr>
                        <a:t>https://a1b2-....ngrok-free.app/vnpay/return</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URL nhận kết quả IPN</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Roboto Mono"/>
                        </a:rPr>
                        <a:t>https://a1b2-....ngrok-free.app/vnpay/ipn</a:t>
                      </a:r>
                    </a:p>
                  </a:txBody>
                  <a:tcPr anchor="ctr" marL="128016">
                    <a:solidFill>
                      <a:srgbClr val="FFFFFF"/>
                    </a:solidFill>
                  </a:tcPr>
                </a:tc>
              </a:tr>
            </a:tbl>
          </a:graphicData>
        </a:graphic>
      </p:graphicFrame>
      <p:sp>
        <p:nvSpPr>
          <p:cNvPr id="6" name="Rounded Rectangle 5"/>
          <p:cNvSpPr/>
          <p:nvPr/>
        </p:nvSpPr>
        <p:spPr>
          <a:xfrm>
            <a:off x="658368" y="4616386"/>
            <a:ext cx="10874959" cy="798385"/>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4671250"/>
            <a:ext cx="40640" cy="688657"/>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4735258"/>
            <a:ext cx="10417759" cy="560641"/>
          </a:xfrm>
          <a:prstGeom prst="rect">
            <a:avLst/>
          </a:prstGeom>
          <a:noFill/>
        </p:spPr>
        <p:txBody>
          <a:bodyPr wrap="square">
            <a:spAutoFit/>
          </a:bodyPr>
          <a:lstStyle/>
          <a:p>
            <a:pPr>
              <a:lnSpc>
                <a:spcPct val="118000"/>
              </a:lnSpc>
              <a:spcAft>
                <a:spcPts val="400"/>
              </a:spcAft>
            </a:pPr>
            <a:r>
              <a:rPr sz="1400" b="1">
                <a:solidFill>
                  <a:srgbClr val="C42B22"/>
                </a:solidFill>
                <a:latin typeface="Be Vietnam Pro"/>
              </a:rPr>
              <a:t>Hai chuyện của bản ngrok miễn phí</a:t>
            </a:r>
          </a:p>
          <a:p>
            <a:pPr>
              <a:lnSpc>
                <a:spcPct val="118000"/>
              </a:lnSpc>
              <a:spcAft>
                <a:spcPts val="0"/>
              </a:spcAft>
            </a:pPr>
            <a:r>
              <a:rPr sz="1350" b="0">
                <a:solidFill>
                  <a:srgbClr val="3F454D"/>
                </a:solidFill>
                <a:latin typeface="Be Vietnam Pro"/>
              </a:rPr>
              <a:t>Địa chỉ đổi mỗi lần chạy lại nên phải khai lại trong portal, làm sát giờ demo. Lần đầu mở bằng trình duyệt sẽ gặp trang cảnh báo, bấm Visit Site là qua.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TODO 5</a:t>
            </a:r>
          </a:p>
          <a:p>
            <a:pPr>
              <a:lnSpc>
                <a:spcPct val="118000"/>
              </a:lnSpc>
              <a:spcAft>
                <a:spcPts val="0"/>
              </a:spcAft>
            </a:pPr>
            <a:r>
              <a:rPr sz="3000" b="1">
                <a:solidFill>
                  <a:srgbClr val="111111"/>
                </a:solidFill>
                <a:latin typeface="Be Vietnam Pro"/>
              </a:rPr>
              <a:t>IPN là nơi duy nhất được cộng tiền</a:t>
            </a:r>
          </a:p>
        </p:txBody>
      </p:sp>
      <p:sp>
        <p:nvSpPr>
          <p:cNvPr id="3" name="TextBox 2"/>
          <p:cNvSpPr txBox="1"/>
          <p:nvPr/>
        </p:nvSpPr>
        <p:spPr>
          <a:xfrm>
            <a:off x="658368" y="1719072"/>
            <a:ext cx="10874959" cy="357187"/>
          </a:xfrm>
          <a:prstGeom prst="rect">
            <a:avLst/>
          </a:prstGeom>
          <a:noFill/>
        </p:spPr>
        <p:txBody>
          <a:bodyPr wrap="square">
            <a:spAutoFit/>
          </a:bodyPr>
          <a:lstStyle/>
          <a:p>
            <a:pPr>
              <a:lnSpc>
                <a:spcPct val="118000"/>
              </a:lnSpc>
              <a:spcAft>
                <a:spcPts val="400"/>
              </a:spcAft>
            </a:pPr>
            <a:r>
              <a:rPr sz="1550" b="0">
                <a:solidFill>
                  <a:srgbClr val="3F454D"/>
                </a:solidFill>
                <a:latin typeface="Be Vietnam Pro"/>
              </a:rPr>
              <a:t>VNPAY retry tới khi nhận RspCode 00, nên hàm này gọi mấy lần cũng chỉ ghi nhận một lần.</a:t>
            </a:r>
          </a:p>
        </p:txBody>
      </p:sp>
      <p:sp>
        <p:nvSpPr>
          <p:cNvPr id="4" name="TextBox 3"/>
          <p:cNvSpPr txBox="1"/>
          <p:nvPr/>
        </p:nvSpPr>
        <p:spPr>
          <a:xfrm>
            <a:off x="658368" y="2259139"/>
            <a:ext cx="10874959" cy="219456"/>
          </a:xfrm>
          <a:prstGeom prst="rect">
            <a:avLst/>
          </a:prstGeom>
          <a:noFill/>
        </p:spPr>
        <p:txBody>
          <a:bodyPr wrap="square">
            <a:spAutoFit/>
          </a:bodyPr>
          <a:lstStyle/>
          <a:p>
            <a:pPr>
              <a:lnSpc>
                <a:spcPct val="118000"/>
              </a:lnSpc>
              <a:spcAft>
                <a:spcPts val="0"/>
              </a:spcAft>
            </a:pPr>
            <a:r>
              <a:rPr sz="1100" b="0">
                <a:solidFill>
                  <a:srgbClr val="6B7280"/>
                </a:solidFill>
                <a:latin typeface="Roboto Mono"/>
              </a:rPr>
              <a:t>ShopStart.java</a:t>
            </a:r>
          </a:p>
        </p:txBody>
      </p:sp>
      <p:sp>
        <p:nvSpPr>
          <p:cNvPr id="5" name="Rounded Rectangle 4"/>
          <p:cNvSpPr/>
          <p:nvPr/>
        </p:nvSpPr>
        <p:spPr>
          <a:xfrm>
            <a:off x="658368" y="2496883"/>
            <a:ext cx="10874959" cy="3745992"/>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00">
                <a:solidFill>
                  <a:srgbClr val="E6EDF7"/>
                </a:solidFill>
                <a:latin typeface="Roboto Mono"/>
              </a:rPr>
              <a:t>if (!isValidSignature(params))</a:t>
            </a:r>
          </a:p>
          <a:p>
            <a:pPr>
              <a:lnSpc>
                <a:spcPct val="134000"/>
              </a:lnSpc>
              <a:spcAft>
                <a:spcPts val="0"/>
              </a:spcAft>
            </a:pPr>
            <a:r>
              <a:rPr sz="1200">
                <a:solidFill>
                  <a:srgbClr val="E6EDF7"/>
                </a:solidFill>
                <a:latin typeface="Roboto Mono"/>
              </a:rPr>
              <a:t>    return rsp("97", "Invalid Checksum");</a:t>
            </a:r>
          </a:p>
          <a:p>
            <a:pPr>
              <a:lnSpc>
                <a:spcPct val="134000"/>
              </a:lnSpc>
              <a:spcAft>
                <a:spcPts val="0"/>
              </a:spcAft>
            </a:pPr>
          </a:p>
          <a:p>
            <a:pPr>
              <a:lnSpc>
                <a:spcPct val="134000"/>
              </a:lnSpc>
              <a:spcAft>
                <a:spcPts val="0"/>
              </a:spcAft>
            </a:pPr>
            <a:r>
              <a:rPr sz="1200">
                <a:solidFill>
                  <a:srgbClr val="E6EDF7"/>
                </a:solidFill>
                <a:latin typeface="Roboto Mono"/>
              </a:rPr>
              <a:t>Order order = ORDERS.get(params.get("vnp_TxnRef"));</a:t>
            </a:r>
          </a:p>
          <a:p>
            <a:pPr>
              <a:lnSpc>
                <a:spcPct val="134000"/>
              </a:lnSpc>
              <a:spcAft>
                <a:spcPts val="0"/>
              </a:spcAft>
            </a:pPr>
            <a:r>
              <a:rPr sz="1200">
                <a:solidFill>
                  <a:srgbClr val="E6EDF7"/>
                </a:solidFill>
                <a:latin typeface="Roboto Mono"/>
              </a:rPr>
              <a:t>if (order == null)              return rsp("01", "Order not Found");</a:t>
            </a:r>
          </a:p>
          <a:p>
            <a:pPr>
              <a:lnSpc>
                <a:spcPct val="134000"/>
              </a:lnSpc>
              <a:spcAft>
                <a:spcPts val="0"/>
              </a:spcAft>
            </a:pPr>
          </a:p>
          <a:p>
            <a:pPr>
              <a:lnSpc>
                <a:spcPct val="134000"/>
              </a:lnSpc>
              <a:spcAft>
                <a:spcPts val="0"/>
              </a:spcAft>
            </a:pPr>
            <a:r>
              <a:rPr sz="1200">
                <a:solidFill>
                  <a:srgbClr val="E6EDF7"/>
                </a:solidFill>
                <a:latin typeface="Roboto Mono"/>
              </a:rPr>
              <a:t>if (Long.parseLong(params.get("vnp_Amount")) != order.amount * 100)</a:t>
            </a:r>
          </a:p>
          <a:p>
            <a:pPr>
              <a:lnSpc>
                <a:spcPct val="134000"/>
              </a:lnSpc>
              <a:spcAft>
                <a:spcPts val="0"/>
              </a:spcAft>
            </a:pPr>
            <a:r>
              <a:rPr sz="1200">
                <a:solidFill>
                  <a:srgbClr val="E6EDF7"/>
                </a:solidFill>
                <a:latin typeface="Roboto Mono"/>
              </a:rPr>
              <a:t>    return rsp("04", "Invalid Amount");</a:t>
            </a:r>
          </a:p>
          <a:p>
            <a:pPr>
              <a:lnSpc>
                <a:spcPct val="134000"/>
              </a:lnSpc>
              <a:spcAft>
                <a:spcPts val="0"/>
              </a:spcAft>
            </a:pPr>
            <a:r>
              <a:rPr sz="1200">
                <a:solidFill>
                  <a:srgbClr val="E6EDF7"/>
                </a:solidFill>
                <a:latin typeface="Roboto Mono"/>
              </a:rPr>
              <a:t>synchronized (order) {</a:t>
            </a:r>
          </a:p>
          <a:p>
            <a:pPr>
              <a:lnSpc>
                <a:spcPct val="134000"/>
              </a:lnSpc>
              <a:spcAft>
                <a:spcPts val="0"/>
              </a:spcAft>
            </a:pPr>
            <a:r>
              <a:rPr sz="1200">
                <a:solidFill>
                  <a:srgbClr val="E6EDF7"/>
                </a:solidFill>
                <a:latin typeface="Roboto Mono"/>
              </a:rPr>
              <a:t>    if (!"PENDING".equals(order.status))</a:t>
            </a:r>
          </a:p>
          <a:p>
            <a:pPr>
              <a:lnSpc>
                <a:spcPct val="134000"/>
              </a:lnSpc>
              <a:spcAft>
                <a:spcPts val="0"/>
              </a:spcAft>
            </a:pPr>
            <a:r>
              <a:rPr sz="1200">
                <a:solidFill>
                  <a:srgbClr val="E6EDF7"/>
                </a:solidFill>
                <a:latin typeface="Roboto Mono"/>
              </a:rPr>
              <a:t>        return rsp("02", "Order already confirmed");</a:t>
            </a:r>
          </a:p>
          <a:p>
            <a:pPr>
              <a:lnSpc>
                <a:spcPct val="134000"/>
              </a:lnSpc>
              <a:spcAft>
                <a:spcPts val="0"/>
              </a:spcAft>
            </a:pPr>
          </a:p>
          <a:p>
            <a:pPr>
              <a:lnSpc>
                <a:spcPct val="134000"/>
              </a:lnSpc>
              <a:spcAft>
                <a:spcPts val="0"/>
              </a:spcAft>
            </a:pPr>
            <a:r>
              <a:rPr sz="1200">
                <a:solidFill>
                  <a:srgbClr val="E6EDF7"/>
                </a:solidFill>
                <a:latin typeface="Roboto Mono"/>
              </a:rPr>
              <a:t>    boolean paid = "00".equals(params.get("vnp_ResponseCode"))</a:t>
            </a:r>
          </a:p>
          <a:p>
            <a:pPr>
              <a:lnSpc>
                <a:spcPct val="134000"/>
              </a:lnSpc>
              <a:spcAft>
                <a:spcPts val="0"/>
              </a:spcAft>
            </a:pPr>
            <a:r>
              <a:rPr sz="1200">
                <a:solidFill>
                  <a:srgbClr val="E6EDF7"/>
                </a:solidFill>
                <a:latin typeface="Roboto Mono"/>
              </a:rPr>
              <a:t>                &amp;&amp; "00".equals(params.get("vnp_TransactionStatus"));</a:t>
            </a:r>
          </a:p>
          <a:p>
            <a:pPr>
              <a:lnSpc>
                <a:spcPct val="134000"/>
              </a:lnSpc>
              <a:spcAft>
                <a:spcPts val="0"/>
              </a:spcAft>
            </a:pPr>
            <a:r>
              <a:rPr sz="1200">
                <a:solidFill>
                  <a:srgbClr val="E6EDF7"/>
                </a:solidFill>
                <a:latin typeface="Roboto Mono"/>
              </a:rPr>
              <a:t>    order.status = paid ? "PAID" : "FAILED";</a:t>
            </a:r>
          </a:p>
          <a:p>
            <a:pPr>
              <a:lnSpc>
                <a:spcPct val="134000"/>
              </a:lnSpc>
              <a:spcAft>
                <a:spcPts val="0"/>
              </a:spcAft>
            </a:pPr>
            <a:r>
              <a:rPr sz="1200">
                <a:solidFill>
                  <a:srgbClr val="E6EDF7"/>
                </a:solidFill>
                <a:latin typeface="Roboto Mono"/>
              </a:rPr>
              <a:t>}</a:t>
            </a:r>
          </a:p>
          <a:p>
            <a:pPr>
              <a:lnSpc>
                <a:spcPct val="134000"/>
              </a:lnSpc>
              <a:spcAft>
                <a:spcPts val="0"/>
              </a:spcAft>
            </a:pPr>
            <a:r>
              <a:rPr sz="1200">
                <a:solidFill>
                  <a:srgbClr val="E6EDF7"/>
                </a:solidFill>
                <a:latin typeface="Roboto Mono"/>
              </a:rPr>
              <a:t>return rsp("00", "Confirm Success");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TODO 6</a:t>
            </a:r>
          </a:p>
          <a:p>
            <a:pPr>
              <a:lnSpc>
                <a:spcPct val="118000"/>
              </a:lnSpc>
              <a:spcAft>
                <a:spcPts val="0"/>
              </a:spcAft>
            </a:pPr>
            <a:r>
              <a:rPr sz="3000" b="1">
                <a:solidFill>
                  <a:srgbClr val="111111"/>
                </a:solidFill>
                <a:latin typeface="Be Vietnam Pro"/>
              </a:rPr>
              <a:t>ReturnURL chỉ dùng để vẽ màn hình</a:t>
            </a:r>
          </a:p>
        </p:txBody>
      </p:sp>
      <p:sp>
        <p:nvSpPr>
          <p:cNvPr id="3" name="TextBox 2"/>
          <p:cNvSpPr txBox="1"/>
          <p:nvPr/>
        </p:nvSpPr>
        <p:spPr>
          <a:xfrm>
            <a:off x="658368" y="1719072"/>
            <a:ext cx="10874959" cy="219456"/>
          </a:xfrm>
          <a:prstGeom prst="rect">
            <a:avLst/>
          </a:prstGeom>
          <a:noFill/>
        </p:spPr>
        <p:txBody>
          <a:bodyPr wrap="square">
            <a:spAutoFit/>
          </a:bodyPr>
          <a:lstStyle/>
          <a:p>
            <a:pPr>
              <a:lnSpc>
                <a:spcPct val="118000"/>
              </a:lnSpc>
              <a:spcAft>
                <a:spcPts val="0"/>
              </a:spcAft>
            </a:pPr>
            <a:r>
              <a:rPr sz="1100" b="0">
                <a:solidFill>
                  <a:srgbClr val="6B7280"/>
                </a:solidFill>
                <a:latin typeface="Roboto Mono"/>
              </a:rPr>
              <a:t>ShopStart.java</a:t>
            </a:r>
          </a:p>
        </p:txBody>
      </p:sp>
      <p:sp>
        <p:nvSpPr>
          <p:cNvPr id="4" name="Rounded Rectangle 3"/>
          <p:cNvSpPr/>
          <p:nvPr/>
        </p:nvSpPr>
        <p:spPr>
          <a:xfrm>
            <a:off x="658368" y="1956816"/>
            <a:ext cx="10874959" cy="155067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E6EDF7"/>
                </a:solidFill>
                <a:latin typeface="Roboto Mono"/>
              </a:rPr>
              <a:t>static String handleReturn(Map&lt;String, String&gt; params) {</a:t>
            </a:r>
          </a:p>
          <a:p>
            <a:pPr>
              <a:lnSpc>
                <a:spcPct val="134000"/>
              </a:lnSpc>
              <a:spcAft>
                <a:spcPts val="0"/>
              </a:spcAft>
            </a:pPr>
            <a:r>
              <a:rPr sz="1250">
                <a:solidFill>
                  <a:srgbClr val="E6EDF7"/>
                </a:solidFill>
                <a:latin typeface="Roboto Mono"/>
              </a:rPr>
              <a:t>    boolean valid = isValidSignature(params);</a:t>
            </a:r>
          </a:p>
          <a:p>
            <a:pPr>
              <a:lnSpc>
                <a:spcPct val="134000"/>
              </a:lnSpc>
              <a:spcAft>
                <a:spcPts val="0"/>
              </a:spcAft>
            </a:pPr>
            <a:r>
              <a:rPr sz="1250">
                <a:solidFill>
                  <a:srgbClr val="E6EDF7"/>
                </a:solidFill>
                <a:latin typeface="Roboto Mono"/>
              </a:rPr>
              <a:t>    String txnRef = params.getOrDefault("vnp_TxnRef", "");</a:t>
            </a:r>
          </a:p>
          <a:p>
            <a:pPr>
              <a:lnSpc>
                <a:spcPct val="134000"/>
              </a:lnSpc>
              <a:spcAft>
                <a:spcPts val="0"/>
              </a:spcAft>
            </a:pPr>
          </a:p>
          <a:p>
            <a:pPr>
              <a:lnSpc>
                <a:spcPct val="134000"/>
              </a:lnSpc>
              <a:spcAft>
                <a:spcPts val="0"/>
              </a:spcAft>
            </a:pPr>
            <a:r>
              <a:rPr sz="1250">
                <a:solidFill>
                  <a:srgbClr val="E6EDF7"/>
                </a:solidFill>
                <a:latin typeface="Roboto Mono"/>
              </a:rPr>
              <a:t>    return "/?txnRef=" + encode(txnRef) + "&amp;valid=" + valid;</a:t>
            </a:r>
          </a:p>
          <a:p>
            <a:pPr>
              <a:lnSpc>
                <a:spcPct val="134000"/>
              </a:lnSpc>
              <a:spcAft>
                <a:spcPts val="0"/>
              </a:spcAft>
            </a:pPr>
            <a:r>
              <a:rPr sz="1250">
                <a:solidFill>
                  <a:srgbClr val="E6EDF7"/>
                </a:solidFill>
                <a:latin typeface="Roboto Mono"/>
              </a:rPr>
              <a:t>}</a:t>
            </a:r>
          </a:p>
        </p:txBody>
      </p:sp>
      <p:sp>
        <p:nvSpPr>
          <p:cNvPr id="5" name="TextBox 4"/>
          <p:cNvSpPr txBox="1"/>
          <p:nvPr/>
        </p:nvSpPr>
        <p:spPr>
          <a:xfrm>
            <a:off x="658368" y="3690366"/>
            <a:ext cx="10874959" cy="219456"/>
          </a:xfrm>
          <a:prstGeom prst="rect">
            <a:avLst/>
          </a:prstGeom>
          <a:noFill/>
        </p:spPr>
        <p:txBody>
          <a:bodyPr wrap="square">
            <a:spAutoFit/>
          </a:bodyPr>
          <a:lstStyle/>
          <a:p>
            <a:pPr>
              <a:lnSpc>
                <a:spcPct val="118000"/>
              </a:lnSpc>
              <a:spcAft>
                <a:spcPts val="0"/>
              </a:spcAft>
            </a:pPr>
            <a:r>
              <a:rPr sz="1100" b="0">
                <a:solidFill>
                  <a:srgbClr val="6B7280"/>
                </a:solidFill>
                <a:latin typeface="Roboto Mono"/>
              </a:rPr>
              <a:t>trang kết quả, phía trình duyệt</a:t>
            </a:r>
          </a:p>
        </p:txBody>
      </p:sp>
      <p:sp>
        <p:nvSpPr>
          <p:cNvPr id="6" name="Rounded Rectangle 5"/>
          <p:cNvSpPr/>
          <p:nvPr/>
        </p:nvSpPr>
        <p:spPr>
          <a:xfrm>
            <a:off x="658368" y="3928110"/>
            <a:ext cx="10874959" cy="11252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7D8CA3"/>
                </a:solidFill>
                <a:latin typeface="Roboto Mono"/>
              </a:rPr>
              <a:t>// không đọc kết quả từ URL, hỏi lại server cho chắc</a:t>
            </a:r>
          </a:p>
          <a:p>
            <a:pPr>
              <a:lnSpc>
                <a:spcPct val="134000"/>
              </a:lnSpc>
              <a:spcAft>
                <a:spcPts val="0"/>
              </a:spcAft>
            </a:pPr>
            <a:r>
              <a:rPr sz="1250">
                <a:solidFill>
                  <a:srgbClr val="E6EDF7"/>
                </a:solidFill>
                <a:latin typeface="Roboto Mono"/>
              </a:rPr>
              <a:t>const res   = await fetch('/api/orders?txnRef=' + txnRef);</a:t>
            </a:r>
          </a:p>
          <a:p>
            <a:pPr>
              <a:lnSpc>
                <a:spcPct val="134000"/>
              </a:lnSpc>
              <a:spcAft>
                <a:spcPts val="0"/>
              </a:spcAft>
            </a:pPr>
            <a:r>
              <a:rPr sz="1250">
                <a:solidFill>
                  <a:srgbClr val="E6EDF7"/>
                </a:solidFill>
                <a:latin typeface="Roboto Mono"/>
              </a:rPr>
              <a:t>const order = await res.json();</a:t>
            </a:r>
          </a:p>
          <a:p>
            <a:pPr>
              <a:lnSpc>
                <a:spcPct val="134000"/>
              </a:lnSpc>
              <a:spcAft>
                <a:spcPts val="0"/>
              </a:spcAft>
            </a:pPr>
            <a:r>
              <a:rPr sz="1250">
                <a:solidFill>
                  <a:srgbClr val="E6EDF7"/>
                </a:solidFill>
                <a:latin typeface="Roboto Mono"/>
              </a:rPr>
              <a:t>if (order.status === 'PAID') showSuccess(order);</a:t>
            </a:r>
          </a:p>
        </p:txBody>
      </p:sp>
      <p:sp>
        <p:nvSpPr>
          <p:cNvPr id="7" name="Rounded Rectangle 6"/>
          <p:cNvSpPr/>
          <p:nvPr/>
        </p:nvSpPr>
        <p:spPr>
          <a:xfrm>
            <a:off x="658368" y="5236210"/>
            <a:ext cx="10874959" cy="798385"/>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5291074"/>
            <a:ext cx="40640" cy="688657"/>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5355082"/>
            <a:ext cx="10417759" cy="560641"/>
          </a:xfrm>
          <a:prstGeom prst="rect">
            <a:avLst/>
          </a:prstGeom>
          <a:noFill/>
        </p:spPr>
        <p:txBody>
          <a:bodyPr wrap="square">
            <a:spAutoFit/>
          </a:bodyPr>
          <a:lstStyle/>
          <a:p>
            <a:pPr>
              <a:lnSpc>
                <a:spcPct val="118000"/>
              </a:lnSpc>
              <a:spcAft>
                <a:spcPts val="400"/>
              </a:spcAft>
            </a:pPr>
            <a:r>
              <a:rPr sz="1400" b="1">
                <a:solidFill>
                  <a:srgbClr val="C42B22"/>
                </a:solidFill>
                <a:latin typeface="Be Vietnam Pro"/>
              </a:rPr>
              <a:t>Để ý cái không có ở đây</a:t>
            </a:r>
          </a:p>
          <a:p>
            <a:pPr>
              <a:lnSpc>
                <a:spcPct val="118000"/>
              </a:lnSpc>
              <a:spcAft>
                <a:spcPts val="0"/>
              </a:spcAft>
            </a:pPr>
            <a:r>
              <a:rPr sz="1350" b="0">
                <a:solidFill>
                  <a:srgbClr val="3F454D"/>
                </a:solidFill>
                <a:latin typeface="Be Vietnam Pro"/>
              </a:rPr>
              <a:t>Không một dòng nào đổi trạng thái đơn hàng. Tham số trên trình duyệt là dữ liệu do khách mang về, không phải sự thật.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TÌNH HUỐNG THẬT</a:t>
            </a:r>
          </a:p>
          <a:p>
            <a:pPr>
              <a:lnSpc>
                <a:spcPct val="118000"/>
              </a:lnSpc>
              <a:spcAft>
                <a:spcPts val="0"/>
              </a:spcAft>
            </a:pPr>
            <a:r>
              <a:rPr sz="3000" b="1">
                <a:solidFill>
                  <a:srgbClr val="111111"/>
                </a:solidFill>
                <a:latin typeface="Be Vietnam Pro"/>
              </a:rPr>
              <a:t>querydr cứu khi IPN không bao giờ về</a:t>
            </a:r>
          </a:p>
        </p:txBody>
      </p:sp>
      <p:sp>
        <p:nvSpPr>
          <p:cNvPr id="3" name="Rounded Rectangle 2"/>
          <p:cNvSpPr/>
          <p:nvPr/>
        </p:nvSpPr>
        <p:spPr>
          <a:xfrm>
            <a:off x="658368" y="1719072"/>
            <a:ext cx="10874959" cy="102984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73936"/>
            <a:ext cx="40640" cy="920114"/>
          </a:xfrm>
          <a:prstGeom prst="rect">
            <a:avLst/>
          </a:prstGeom>
          <a:solidFill>
            <a:srgbClr val="C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837944"/>
            <a:ext cx="10417759" cy="792098"/>
          </a:xfrm>
          <a:prstGeom prst="rect">
            <a:avLst/>
          </a:prstGeom>
          <a:noFill/>
        </p:spPr>
        <p:txBody>
          <a:bodyPr wrap="square">
            <a:spAutoFit/>
          </a:bodyPr>
          <a:lstStyle/>
          <a:p>
            <a:pPr>
              <a:lnSpc>
                <a:spcPct val="118000"/>
              </a:lnSpc>
              <a:spcAft>
                <a:spcPts val="400"/>
              </a:spcAft>
            </a:pPr>
            <a:r>
              <a:rPr sz="1400" b="1">
                <a:solidFill>
                  <a:srgbClr val="C42B22"/>
                </a:solidFill>
                <a:latin typeface="Be Vietnam Pro"/>
              </a:rPr>
              <a:t>Chuyện xảy ra lúc dựng bài này</a:t>
            </a:r>
          </a:p>
          <a:p>
            <a:pPr>
              <a:lnSpc>
                <a:spcPct val="118000"/>
              </a:lnSpc>
              <a:spcAft>
                <a:spcPts val="0"/>
              </a:spcAft>
            </a:pPr>
            <a:r>
              <a:rPr sz="1350" b="0">
                <a:solidFill>
                  <a:srgbClr val="3F454D"/>
                </a:solidFill>
                <a:latin typeface="Be Vietnam Pro"/>
              </a:rPr>
              <a:t>Portal sandbox không cho khai IPN URL. Danh sách website trống trơn, Cài đặt thông báo báo lỗi kết nối. Code đúng hết mà IPN không tới. Chỉ biết mỗi IPN thì demo chết tại chỗ.</a:t>
            </a:r>
          </a:p>
        </p:txBody>
      </p:sp>
      <p:sp>
        <p:nvSpPr>
          <p:cNvPr id="6" name="TextBox 5"/>
          <p:cNvSpPr txBox="1"/>
          <p:nvPr/>
        </p:nvSpPr>
        <p:spPr>
          <a:xfrm>
            <a:off x="658368" y="2931794"/>
            <a:ext cx="10874959" cy="357187"/>
          </a:xfrm>
          <a:prstGeom prst="rect">
            <a:avLst/>
          </a:prstGeom>
          <a:noFill/>
        </p:spPr>
        <p:txBody>
          <a:bodyPr wrap="square">
            <a:spAutoFit/>
          </a:bodyPr>
          <a:lstStyle/>
          <a:p>
            <a:pPr>
              <a:lnSpc>
                <a:spcPct val="118000"/>
              </a:lnSpc>
              <a:spcAft>
                <a:spcPts val="400"/>
              </a:spcAft>
            </a:pPr>
            <a:r>
              <a:rPr sz="1550" b="0">
                <a:solidFill>
                  <a:srgbClr val="3F454D"/>
                </a:solidFill>
                <a:latin typeface="Be Vietnam Pro"/>
              </a:rPr>
              <a:t>Đường lùi là gọi querydr để server tự hỏi VNPAY. Vẫn an toàn như IPN vì hỏi thẳng VNPAY, verify chữ ký của response, rồi so lại số tiền.</a:t>
            </a:r>
          </a:p>
        </p:txBody>
      </p:sp>
      <p:sp>
        <p:nvSpPr>
          <p:cNvPr id="7" name="Rounded Rectangle 6"/>
          <p:cNvSpPr/>
          <p:nvPr/>
        </p:nvSpPr>
        <p:spPr>
          <a:xfrm>
            <a:off x="658368" y="3471861"/>
            <a:ext cx="10874959" cy="1125220"/>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250">
                <a:solidFill>
                  <a:srgbClr val="7D8CA3"/>
                </a:solidFill>
                <a:latin typeface="Roboto Mono"/>
              </a:rPr>
              <a:t>// hash của querydr không sort alphabet, nối bằng '|' đúng thứ tự tài liệu</a:t>
            </a:r>
          </a:p>
          <a:p>
            <a:pPr>
              <a:lnSpc>
                <a:spcPct val="134000"/>
              </a:lnSpc>
              <a:spcAft>
                <a:spcPts val="0"/>
              </a:spcAft>
            </a:pPr>
            <a:r>
              <a:rPr sz="1250">
                <a:solidFill>
                  <a:srgbClr val="E6EDF7"/>
                </a:solidFill>
                <a:latin typeface="Roboto Mono"/>
              </a:rPr>
              <a:t>String hashData = String.join("|",</a:t>
            </a:r>
          </a:p>
          <a:p>
            <a:pPr>
              <a:lnSpc>
                <a:spcPct val="134000"/>
              </a:lnSpc>
              <a:spcAft>
                <a:spcPts val="0"/>
              </a:spcAft>
            </a:pPr>
            <a:r>
              <a:rPr sz="1250">
                <a:solidFill>
                  <a:srgbClr val="E6EDF7"/>
                </a:solidFill>
                <a:latin typeface="Roboto Mono"/>
              </a:rPr>
              <a:t>        requestId, "2.1.0", "querydr", TMN_CODE,</a:t>
            </a:r>
          </a:p>
          <a:p>
            <a:pPr>
              <a:lnSpc>
                <a:spcPct val="134000"/>
              </a:lnSpc>
              <a:spcAft>
                <a:spcPts val="0"/>
              </a:spcAft>
            </a:pPr>
            <a:r>
              <a:rPr sz="1250">
                <a:solidFill>
                  <a:srgbClr val="E6EDF7"/>
                </a:solidFill>
                <a:latin typeface="Roboto Mono"/>
              </a:rPr>
              <a:t>        txnRef, transactionDate, createDate, ipAddr, orderInfo);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DEMO</a:t>
            </a:r>
          </a:p>
          <a:p>
            <a:pPr>
              <a:lnSpc>
                <a:spcPct val="118000"/>
              </a:lnSpc>
              <a:spcAft>
                <a:spcPts val="0"/>
              </a:spcAft>
            </a:pPr>
            <a:r>
              <a:rPr sz="3000" b="1">
                <a:solidFill>
                  <a:srgbClr val="111111"/>
                </a:solidFill>
                <a:latin typeface="Be Vietnam Pro"/>
              </a:rPr>
              <a:t>Giao dịch thật đã chốt PAID bằng querydr</a:t>
            </a:r>
          </a:p>
        </p:txBody>
      </p:sp>
      <p:sp>
        <p:nvSpPr>
          <p:cNvPr id="3" name="Rounded Rectangle 2"/>
          <p:cNvSpPr/>
          <p:nvPr/>
        </p:nvSpPr>
        <p:spPr>
          <a:xfrm>
            <a:off x="658368" y="1719072"/>
            <a:ext cx="2567863" cy="9875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1847088"/>
            <a:ext cx="2202103" cy="749808"/>
          </a:xfrm>
          <a:prstGeom prst="rect">
            <a:avLst/>
          </a:prstGeom>
          <a:noFill/>
        </p:spPr>
        <p:txBody>
          <a:bodyPr wrap="square">
            <a:spAutoFit/>
          </a:bodyPr>
          <a:lstStyle/>
          <a:p>
            <a:pPr>
              <a:lnSpc>
                <a:spcPct val="118000"/>
              </a:lnSpc>
              <a:spcAft>
                <a:spcPts val="200"/>
              </a:spcAft>
            </a:pPr>
            <a:r>
              <a:rPr sz="2100" b="1">
                <a:solidFill>
                  <a:srgbClr val="0066FF"/>
                </a:solidFill>
                <a:latin typeface="Roboto Mono"/>
              </a:rPr>
              <a:t>25.000đ</a:t>
            </a:r>
          </a:p>
          <a:p>
            <a:pPr>
              <a:lnSpc>
                <a:spcPct val="118000"/>
              </a:lnSpc>
              <a:spcAft>
                <a:spcPts val="0"/>
              </a:spcAft>
            </a:pPr>
            <a:r>
              <a:rPr sz="1200" b="0">
                <a:solidFill>
                  <a:srgbClr val="6B7280"/>
                </a:solidFill>
                <a:latin typeface="Be Vietnam Pro"/>
              </a:rPr>
              <a:t>Số tiền</a:t>
            </a:r>
          </a:p>
        </p:txBody>
      </p:sp>
      <p:sp>
        <p:nvSpPr>
          <p:cNvPr id="5" name="Rounded Rectangle 4"/>
          <p:cNvSpPr/>
          <p:nvPr/>
        </p:nvSpPr>
        <p:spPr>
          <a:xfrm>
            <a:off x="3427399" y="1719072"/>
            <a:ext cx="2567863" cy="9875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10279" y="1847088"/>
            <a:ext cx="2202103" cy="749808"/>
          </a:xfrm>
          <a:prstGeom prst="rect">
            <a:avLst/>
          </a:prstGeom>
          <a:noFill/>
        </p:spPr>
        <p:txBody>
          <a:bodyPr wrap="square">
            <a:spAutoFit/>
          </a:bodyPr>
          <a:lstStyle/>
          <a:p>
            <a:pPr>
              <a:lnSpc>
                <a:spcPct val="118000"/>
              </a:lnSpc>
              <a:spcAft>
                <a:spcPts val="200"/>
              </a:spcAft>
            </a:pPr>
            <a:r>
              <a:rPr sz="2100" b="1">
                <a:solidFill>
                  <a:srgbClr val="0066FF"/>
                </a:solidFill>
                <a:latin typeface="Roboto Mono"/>
              </a:rPr>
              <a:t>15683165</a:t>
            </a:r>
          </a:p>
          <a:p>
            <a:pPr>
              <a:lnSpc>
                <a:spcPct val="118000"/>
              </a:lnSpc>
              <a:spcAft>
                <a:spcPts val="0"/>
              </a:spcAft>
            </a:pPr>
            <a:r>
              <a:rPr sz="1200" b="0">
                <a:solidFill>
                  <a:srgbClr val="6B7280"/>
                </a:solidFill>
                <a:latin typeface="Be Vietnam Pro"/>
              </a:rPr>
              <a:t>Mã GD tại VNPAY</a:t>
            </a:r>
          </a:p>
        </p:txBody>
      </p:sp>
      <p:sp>
        <p:nvSpPr>
          <p:cNvPr id="7" name="Rounded Rectangle 6"/>
          <p:cNvSpPr/>
          <p:nvPr/>
        </p:nvSpPr>
        <p:spPr>
          <a:xfrm>
            <a:off x="6196430" y="1719072"/>
            <a:ext cx="2567863" cy="9875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0" y="1847088"/>
            <a:ext cx="2202103" cy="749808"/>
          </a:xfrm>
          <a:prstGeom prst="rect">
            <a:avLst/>
          </a:prstGeom>
          <a:noFill/>
        </p:spPr>
        <p:txBody>
          <a:bodyPr wrap="square">
            <a:spAutoFit/>
          </a:bodyPr>
          <a:lstStyle/>
          <a:p>
            <a:pPr>
              <a:lnSpc>
                <a:spcPct val="118000"/>
              </a:lnSpc>
              <a:spcAft>
                <a:spcPts val="200"/>
              </a:spcAft>
            </a:pPr>
            <a:r>
              <a:rPr sz="2100" b="1">
                <a:solidFill>
                  <a:srgbClr val="0066FF"/>
                </a:solidFill>
                <a:latin typeface="Roboto Mono"/>
              </a:rPr>
              <a:t>PAID</a:t>
            </a:r>
          </a:p>
          <a:p>
            <a:pPr>
              <a:lnSpc>
                <a:spcPct val="118000"/>
              </a:lnSpc>
              <a:spcAft>
                <a:spcPts val="0"/>
              </a:spcAft>
            </a:pPr>
            <a:r>
              <a:rPr sz="1200" b="0">
                <a:solidFill>
                  <a:srgbClr val="6B7280"/>
                </a:solidFill>
                <a:latin typeface="Be Vietnam Pro"/>
              </a:rPr>
              <a:t>Trạng thái đơn</a:t>
            </a:r>
          </a:p>
        </p:txBody>
      </p:sp>
      <p:sp>
        <p:nvSpPr>
          <p:cNvPr id="9" name="Rounded Rectangle 8"/>
          <p:cNvSpPr/>
          <p:nvPr/>
        </p:nvSpPr>
        <p:spPr>
          <a:xfrm>
            <a:off x="8965461" y="1719072"/>
            <a:ext cx="2567863" cy="9875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8341" y="1847088"/>
            <a:ext cx="2202103" cy="749808"/>
          </a:xfrm>
          <a:prstGeom prst="rect">
            <a:avLst/>
          </a:prstGeom>
          <a:noFill/>
        </p:spPr>
        <p:txBody>
          <a:bodyPr wrap="square">
            <a:spAutoFit/>
          </a:bodyPr>
          <a:lstStyle/>
          <a:p>
            <a:pPr>
              <a:lnSpc>
                <a:spcPct val="118000"/>
              </a:lnSpc>
              <a:spcAft>
                <a:spcPts val="200"/>
              </a:spcAft>
            </a:pPr>
            <a:r>
              <a:rPr sz="2100" b="1">
                <a:solidFill>
                  <a:srgbClr val="0066FF"/>
                </a:solidFill>
                <a:latin typeface="Roboto Mono"/>
              </a:rPr>
              <a:t>querydr</a:t>
            </a:r>
          </a:p>
          <a:p>
            <a:pPr>
              <a:lnSpc>
                <a:spcPct val="118000"/>
              </a:lnSpc>
              <a:spcAft>
                <a:spcPts val="0"/>
              </a:spcAft>
            </a:pPr>
            <a:r>
              <a:rPr sz="1200" b="0">
                <a:solidFill>
                  <a:srgbClr val="6B7280"/>
                </a:solidFill>
                <a:latin typeface="Be Vietnam Pro"/>
              </a:rPr>
              <a:t>Nguồn chốt đơn</a:t>
            </a:r>
          </a:p>
        </p:txBody>
      </p:sp>
      <p:pic>
        <p:nvPicPr>
          <p:cNvPr id="11" name="Picture 10" descr="ket-qua.jpg"/>
          <p:cNvPicPr>
            <a:picLocks noChangeAspect="1"/>
          </p:cNvPicPr>
          <p:nvPr/>
        </p:nvPicPr>
        <p:blipFill>
          <a:blip r:embed="rId2"/>
          <a:stretch>
            <a:fillRect/>
          </a:stretch>
        </p:blipFill>
        <p:spPr>
          <a:xfrm>
            <a:off x="4074826" y="2889504"/>
            <a:ext cx="4042043" cy="2057400"/>
          </a:xfrm>
          <a:prstGeom prst="rect">
            <a:avLst/>
          </a:prstGeom>
        </p:spPr>
      </p:pic>
      <p:sp>
        <p:nvSpPr>
          <p:cNvPr id="12" name="Rounded Rectangle 11"/>
          <p:cNvSpPr/>
          <p:nvPr/>
        </p:nvSpPr>
        <p:spPr>
          <a:xfrm>
            <a:off x="658368" y="5221224"/>
            <a:ext cx="10874959" cy="470027"/>
          </a:xfrm>
          <a:prstGeom prst="roundRect">
            <a:avLst>
              <a:gd name="adj" fmla="val 3500"/>
            </a:avLst>
          </a:prstGeom>
          <a:solidFill>
            <a:srgbClr val="0C1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37744" tIns="118872" rIns="146304" bIns="91440"/>
          <a:lstStyle/>
          <a:p>
            <a:pPr algn="ctr">
              <a:lnSpc>
                <a:spcPct val="134000"/>
              </a:lnSpc>
              <a:spcAft>
                <a:spcPts val="0"/>
              </a:spcAft>
            </a:pPr>
            <a:r>
              <a:rPr sz="1150">
                <a:solidFill>
                  <a:srgbClr val="E6EDF7"/>
                </a:solidFill>
                <a:latin typeface="Roboto Mono"/>
              </a:rPr>
              <a:t>Chot bang querydr: txnRef=20260920125606777443 status=PAID transactionNo=15683165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ĐƯA VÀO ĐỒ ÁN</a:t>
            </a:r>
          </a:p>
          <a:p>
            <a:pPr>
              <a:lnSpc>
                <a:spcPct val="118000"/>
              </a:lnSpc>
              <a:spcAft>
                <a:spcPts val="0"/>
              </a:spcAft>
            </a:pPr>
            <a:r>
              <a:rPr sz="3000" b="1">
                <a:solidFill>
                  <a:srgbClr val="111111"/>
                </a:solidFill>
                <a:latin typeface="Be Vietnam Pro"/>
              </a:rPr>
              <a:t>Tách payment-service, secret để ngoài mã nguồn</a:t>
            </a:r>
          </a:p>
        </p:txBody>
      </p:sp>
      <p:sp>
        <p:nvSpPr>
          <p:cNvPr id="3" name="Rounded Rectangle 2"/>
          <p:cNvSpPr/>
          <p:nvPr/>
        </p:nvSpPr>
        <p:spPr>
          <a:xfrm>
            <a:off x="658368" y="1719072"/>
            <a:ext cx="5336895" cy="16733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65376"/>
            <a:ext cx="4934559" cy="139903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Ranh giới service</a:t>
            </a:r>
          </a:p>
          <a:p>
            <a:pPr>
              <a:lnSpc>
                <a:spcPct val="118000"/>
              </a:lnSpc>
              <a:spcAft>
                <a:spcPts val="0"/>
              </a:spcAft>
            </a:pPr>
            <a:r>
              <a:rPr sz="1350" b="0">
                <a:solidFill>
                  <a:srgbClr val="3F454D"/>
                </a:solidFill>
                <a:latin typeface="Be Vietnam Pro"/>
              </a:rPr>
              <a:t>payment-service đứng riêng. Service khác không gọi VNPAY, chúng nghe event OrderPaid.</a:t>
            </a:r>
          </a:p>
        </p:txBody>
      </p:sp>
      <p:sp>
        <p:nvSpPr>
          <p:cNvPr id="5" name="Rounded Rectangle 4"/>
          <p:cNvSpPr/>
          <p:nvPr/>
        </p:nvSpPr>
        <p:spPr>
          <a:xfrm>
            <a:off x="6196431" y="1719072"/>
            <a:ext cx="5336895" cy="16733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97599" y="1865376"/>
            <a:ext cx="4934559" cy="139903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Cấu hình và secret</a:t>
            </a:r>
          </a:p>
          <a:p>
            <a:pPr>
              <a:lnSpc>
                <a:spcPct val="118000"/>
              </a:lnSpc>
              <a:spcAft>
                <a:spcPts val="0"/>
              </a:spcAft>
            </a:pPr>
            <a:r>
              <a:rPr sz="1350" b="0">
                <a:solidFill>
                  <a:srgbClr val="3F454D"/>
                </a:solidFill>
                <a:latin typeface="Be Vietnam Pro"/>
              </a:rPr>
              <a:t>Dùng @ConfigurationProperties. HashSecret nạp từ Vault hoặc K8s Secret.</a:t>
            </a:r>
          </a:p>
        </p:txBody>
      </p:sp>
      <p:sp>
        <p:nvSpPr>
          <p:cNvPr id="7" name="Rounded Rectangle 6"/>
          <p:cNvSpPr/>
          <p:nvPr/>
        </p:nvSpPr>
        <p:spPr>
          <a:xfrm>
            <a:off x="658368" y="3575304"/>
            <a:ext cx="5336895" cy="16733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721608"/>
            <a:ext cx="4934559" cy="139903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Chống trùng ở tầng DB</a:t>
            </a:r>
          </a:p>
          <a:p>
            <a:pPr>
              <a:lnSpc>
                <a:spcPct val="118000"/>
              </a:lnSpc>
              <a:spcAft>
                <a:spcPts val="0"/>
              </a:spcAft>
            </a:pPr>
            <a:r>
              <a:rPr sz="1350" b="0">
                <a:solidFill>
                  <a:srgbClr val="3F454D"/>
                </a:solidFill>
                <a:latin typeface="Be Vietnam Pro"/>
              </a:rPr>
              <a:t>Bảng payment_transaction có UNIQUE(txn_ref) và optimistic lock. Demo dùng synchronized, chạy nhiều instance là không đủ.</a:t>
            </a:r>
          </a:p>
        </p:txBody>
      </p:sp>
      <p:sp>
        <p:nvSpPr>
          <p:cNvPr id="9" name="Rounded Rectangle 8"/>
          <p:cNvSpPr/>
          <p:nvPr/>
        </p:nvSpPr>
        <p:spPr>
          <a:xfrm>
            <a:off x="6196431" y="3575304"/>
            <a:ext cx="5336895" cy="1673352"/>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3721608"/>
            <a:ext cx="4934559" cy="1399032"/>
          </a:xfrm>
          <a:prstGeom prst="rect">
            <a:avLst/>
          </a:prstGeom>
          <a:noFill/>
        </p:spPr>
        <p:txBody>
          <a:bodyPr wrap="square">
            <a:spAutoFit/>
          </a:bodyPr>
          <a:lstStyle/>
          <a:p>
            <a:pPr>
              <a:lnSpc>
                <a:spcPct val="118000"/>
              </a:lnSpc>
              <a:spcAft>
                <a:spcPts val="500"/>
              </a:spcAft>
            </a:pPr>
            <a:r>
              <a:rPr sz="1500" b="1">
                <a:solidFill>
                  <a:srgbClr val="111111"/>
                </a:solidFill>
                <a:latin typeface="Be Vietnam Pro"/>
              </a:rPr>
              <a:t>Nhiều cổng thanh toán</a:t>
            </a:r>
          </a:p>
          <a:p>
            <a:pPr>
              <a:lnSpc>
                <a:spcPct val="118000"/>
              </a:lnSpc>
              <a:spcAft>
                <a:spcPts val="0"/>
              </a:spcAft>
            </a:pPr>
            <a:r>
              <a:rPr sz="1350" b="0">
                <a:solidFill>
                  <a:srgbClr val="3F454D"/>
                </a:solidFill>
                <a:latin typeface="Be Vietnam Pro"/>
              </a:rPr>
              <a:t>MoMo và ZaloPay mỗi bên ký một kiểu. Cần nhiều cổng thì bọc sau interface PaymentGateway.</a:t>
            </a:r>
          </a:p>
        </p:txBody>
      </p:sp>
      <p:sp>
        <p:nvSpPr>
          <p:cNvPr id="11" name="TextBox 10"/>
          <p:cNvSpPr txBox="1"/>
          <p:nvPr/>
        </p:nvSpPr>
        <p:spPr>
          <a:xfrm>
            <a:off x="658368" y="5431536"/>
            <a:ext cx="10874959" cy="571500"/>
          </a:xfrm>
          <a:prstGeom prst="rect">
            <a:avLst/>
          </a:prstGeom>
          <a:noFill/>
        </p:spPr>
        <p:txBody>
          <a:bodyPr wrap="square">
            <a:spAutoFit/>
          </a:bodyPr>
          <a:lstStyle/>
          <a:p>
            <a:pPr>
              <a:lnSpc>
                <a:spcPct val="118000"/>
              </a:lnSpc>
              <a:spcAft>
                <a:spcPts val="400"/>
              </a:spcAft>
            </a:pPr>
            <a:r>
              <a:rPr sz="1400" b="0">
                <a:solidFill>
                  <a:srgbClr val="3F454D"/>
                </a:solidFill>
                <a:latin typeface="Be Vietnam Pro"/>
              </a:rPr>
              <a:t>Đồ án nào dùng được: bán hàng online, đặt vé, đặt sân, đóng học phí, ví điện tử, quyên góp. Việc phải làm chỉ là thay chỗ lưu đơn hàng bằng repository của mình.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TỔNG KẾT</a:t>
            </a:r>
          </a:p>
          <a:p>
            <a:pPr>
              <a:lnSpc>
                <a:spcPct val="118000"/>
              </a:lnSpc>
              <a:spcAft>
                <a:spcPts val="0"/>
              </a:spcAft>
            </a:pPr>
            <a:r>
              <a:rPr sz="3000" b="1">
                <a:solidFill>
                  <a:srgbClr val="111111"/>
                </a:solidFill>
                <a:latin typeface="Be Vietnam Pro"/>
              </a:rPr>
              <a:t>Sáu quy tắc giữ cho tiền không thất thoát</a:t>
            </a:r>
          </a:p>
        </p:txBody>
      </p:sp>
      <p:graphicFrame>
        <p:nvGraphicFramePr>
          <p:cNvPr id="3" name="Table 2"/>
          <p:cNvGraphicFramePr>
            <a:graphicFrameLocks noGrp="1"/>
          </p:cNvGraphicFramePr>
          <p:nvPr/>
        </p:nvGraphicFramePr>
        <p:xfrm>
          <a:off x="658368" y="1719072"/>
          <a:ext cx="10874958" cy="2468880"/>
        </p:xfrm>
        <a:graphic>
          <a:graphicData uri="http://schemas.openxmlformats.org/drawingml/2006/table">
            <a:tbl>
              <a:tblPr firstRow="1" bandRow="1">
                <a:tableStyleId>{5C22544A-7EE6-4342-B048-85BDC9FD1C3A}</a:tableStyleId>
              </a:tblPr>
              <a:tblGrid>
                <a:gridCol w="4078109"/>
                <a:gridCol w="6796849"/>
              </a:tblGrid>
              <a:tr h="384048">
                <a:tc>
                  <a:txBody>
                    <a:bodyPr wrap="square"/>
                    <a:lstStyle/>
                    <a:p>
                      <a:pPr>
                        <a:lnSpc>
                          <a:spcPct val="118000"/>
                        </a:lnSpc>
                        <a:spcAft>
                          <a:spcPts val="0"/>
                        </a:spcAft>
                      </a:pPr>
                      <a:r>
                        <a:rPr sz="1200" b="1">
                          <a:solidFill>
                            <a:srgbClr val="0066FF"/>
                          </a:solidFill>
                          <a:latin typeface="Be Vietnam Pro"/>
                        </a:rPr>
                        <a:t>Quy tắc</a:t>
                      </a:r>
                    </a:p>
                  </a:txBody>
                  <a:tcPr anchor="ctr" marL="128016">
                    <a:solidFill>
                      <a:srgbClr val="ECF2FF"/>
                    </a:solidFill>
                  </a:tcPr>
                </a:tc>
                <a:tc>
                  <a:txBody>
                    <a:bodyPr wrap="square"/>
                    <a:lstStyle/>
                    <a:p>
                      <a:pPr>
                        <a:lnSpc>
                          <a:spcPct val="118000"/>
                        </a:lnSpc>
                        <a:spcAft>
                          <a:spcPts val="0"/>
                        </a:spcAft>
                      </a:pPr>
                      <a:r>
                        <a:rPr sz="1200" b="1">
                          <a:solidFill>
                            <a:srgbClr val="0066FF"/>
                          </a:solidFill>
                          <a:latin typeface="Be Vietnam Pro"/>
                        </a:rPr>
                        <a:t>Vì sao</a:t>
                      </a:r>
                    </a:p>
                  </a:txBody>
                  <a:tcPr anchor="ctr" marL="128016">
                    <a:solidFill>
                      <a:srgbClr val="ECF2FF"/>
                    </a:solidFill>
                  </a:tcPr>
                </a:tc>
              </a:tr>
              <a:tr h="347472">
                <a:tc>
                  <a:txBody>
                    <a:bodyPr wrap="square"/>
                    <a:lstStyle/>
                    <a:p>
                      <a:pPr>
                        <a:lnSpc>
                          <a:spcPct val="118000"/>
                        </a:lnSpc>
                        <a:spcAft>
                          <a:spcPts val="0"/>
                        </a:spcAft>
                      </a:pPr>
                      <a:r>
                        <a:rPr sz="1250" b="0">
                          <a:solidFill>
                            <a:srgbClr val="111111"/>
                          </a:solidFill>
                          <a:latin typeface="Be Vietnam Pro"/>
                        </a:rPr>
                        <a:t>Chỉ tin IPN và querydr</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Hai kênh server gọi server, có chữ ký</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So lại số tiền với DB</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Chặn trò sửa vnp_Amount trên URL</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Idempotent bằng trạng thái đơn</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VNPAY retry nhiều lần, đã xử lý thì trả 02</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vnp_TxnRef duy nhất trong 24h</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Thanh toán lại phải sinh mã mới</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Giờ Asia/Ho_Chi_Minh</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Etc/GMT+7 lệch 14 tiếng, đơn hết hạn ngay</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Không log secret và chữ ký</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Lộ HashSecret là mất quyền ký</a:t>
                      </a:r>
                    </a:p>
                  </a:txBody>
                  <a:tcPr anchor="ctr" marL="128016">
                    <a:solidFill>
                      <a:srgbClr val="FFFFFF"/>
                    </a:solidFill>
                  </a:tcPr>
                </a:tc>
              </a:tr>
            </a:tbl>
          </a:graphicData>
        </a:graphic>
      </p:graphicFrame>
      <p:sp>
        <p:nvSpPr>
          <p:cNvPr id="4" name="TextBox 3"/>
          <p:cNvSpPr txBox="1"/>
          <p:nvPr/>
        </p:nvSpPr>
        <p:spPr>
          <a:xfrm>
            <a:off x="658368" y="4370832"/>
            <a:ext cx="10874959" cy="571500"/>
          </a:xfrm>
          <a:prstGeom prst="rect">
            <a:avLst/>
          </a:prstGeom>
          <a:noFill/>
        </p:spPr>
        <p:txBody>
          <a:bodyPr wrap="square">
            <a:spAutoFit/>
          </a:bodyPr>
          <a:lstStyle/>
          <a:p>
            <a:pPr>
              <a:lnSpc>
                <a:spcPct val="118000"/>
              </a:lnSpc>
              <a:spcAft>
                <a:spcPts val="400"/>
              </a:spcAft>
            </a:pPr>
            <a:r>
              <a:rPr sz="1400" b="0">
                <a:solidFill>
                  <a:srgbClr val="3F454D"/>
                </a:solidFill>
                <a:latin typeface="Be Vietnam Pro"/>
              </a:rPr>
              <a:t>Giới hạn phải biết trước: bắt buộc redirect nên app mobile phải nhúng WebView, hoàn tiền phải gọi API refund rồi đối soát tay, và ngrok free đổi địa chỉ mỗi lần chạy.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HỎI ĐÁP</a:t>
            </a:r>
          </a:p>
          <a:p>
            <a:pPr>
              <a:lnSpc>
                <a:spcPct val="118000"/>
              </a:lnSpc>
              <a:spcAft>
                <a:spcPts val="0"/>
              </a:spcAft>
            </a:pPr>
            <a:r>
              <a:rPr sz="3000" b="1">
                <a:solidFill>
                  <a:srgbClr val="111111"/>
                </a:solidFill>
                <a:latin typeface="Be Vietnam Pro"/>
              </a:rPr>
              <a:t>Bốn câu chắc chắn bị hỏi</a:t>
            </a:r>
          </a:p>
        </p:txBody>
      </p:sp>
      <p:graphicFrame>
        <p:nvGraphicFramePr>
          <p:cNvPr id="3" name="Table 2"/>
          <p:cNvGraphicFramePr>
            <a:graphicFrameLocks noGrp="1"/>
          </p:cNvGraphicFramePr>
          <p:nvPr/>
        </p:nvGraphicFramePr>
        <p:xfrm>
          <a:off x="658368" y="1719072"/>
          <a:ext cx="10874958" cy="1773936"/>
        </p:xfrm>
        <a:graphic>
          <a:graphicData uri="http://schemas.openxmlformats.org/drawingml/2006/table">
            <a:tbl>
              <a:tblPr firstRow="1" bandRow="1">
                <a:tableStyleId>{5C22544A-7EE6-4342-B048-85BDC9FD1C3A}</a:tableStyleId>
              </a:tblPr>
              <a:tblGrid>
                <a:gridCol w="4272305"/>
                <a:gridCol w="6602653"/>
              </a:tblGrid>
              <a:tr h="384048">
                <a:tc>
                  <a:txBody>
                    <a:bodyPr wrap="square"/>
                    <a:lstStyle/>
                    <a:p>
                      <a:pPr>
                        <a:lnSpc>
                          <a:spcPct val="118000"/>
                        </a:lnSpc>
                        <a:spcAft>
                          <a:spcPts val="0"/>
                        </a:spcAft>
                      </a:pPr>
                      <a:r>
                        <a:rPr sz="1200" b="1">
                          <a:solidFill>
                            <a:srgbClr val="0066FF"/>
                          </a:solidFill>
                          <a:latin typeface="Be Vietnam Pro"/>
                        </a:rPr>
                        <a:t>Câu hỏi</a:t>
                      </a:r>
                    </a:p>
                  </a:txBody>
                  <a:tcPr anchor="ctr" marL="128016">
                    <a:solidFill>
                      <a:srgbClr val="ECF2FF"/>
                    </a:solidFill>
                  </a:tcPr>
                </a:tc>
                <a:tc>
                  <a:txBody>
                    <a:bodyPr wrap="square"/>
                    <a:lstStyle/>
                    <a:p>
                      <a:pPr>
                        <a:lnSpc>
                          <a:spcPct val="118000"/>
                        </a:lnSpc>
                        <a:spcAft>
                          <a:spcPts val="0"/>
                        </a:spcAft>
                      </a:pPr>
                      <a:r>
                        <a:rPr sz="1200" b="1">
                          <a:solidFill>
                            <a:srgbClr val="0066FF"/>
                          </a:solidFill>
                          <a:latin typeface="Be Vietnam Pro"/>
                        </a:rPr>
                        <a:t>Trả lời</a:t>
                      </a:r>
                    </a:p>
                  </a:txBody>
                  <a:tcPr anchor="ctr" marL="128016">
                    <a:solidFill>
                      <a:srgbClr val="ECF2FF"/>
                    </a:solidFill>
                  </a:tcPr>
                </a:tc>
              </a:tr>
              <a:tr h="347472">
                <a:tc>
                  <a:txBody>
                    <a:bodyPr wrap="square"/>
                    <a:lstStyle/>
                    <a:p>
                      <a:pPr>
                        <a:lnSpc>
                          <a:spcPct val="118000"/>
                        </a:lnSpc>
                        <a:spcAft>
                          <a:spcPts val="0"/>
                        </a:spcAft>
                      </a:pPr>
                      <a:r>
                        <a:rPr sz="1250" b="0">
                          <a:solidFill>
                            <a:srgbClr val="111111"/>
                          </a:solidFill>
                          <a:latin typeface="Be Vietnam Pro"/>
                        </a:rPr>
                        <a:t>IPN không về thì đơn treo mãi à?</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Job quét đơn PENDING quá hạn rồi gọi querydr chốt</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Sao phải cài ngrok?</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Cần địa chỉ công khai để VNPAY gọi vào, deploy server thật cũng được</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Sai chữ ký mà không hiểu vì sao?</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In hashData ra so từng ký tự, thường là quên encode</a:t>
                      </a:r>
                    </a:p>
                  </a:txBody>
                  <a:tcPr anchor="ctr" marL="128016">
                    <a:solidFill>
                      <a:srgbClr val="FFFFFF"/>
                    </a:solidFill>
                  </a:tcPr>
                </a:tc>
              </a:tr>
              <a:tr h="347472">
                <a:tc>
                  <a:txBody>
                    <a:bodyPr wrap="square"/>
                    <a:lstStyle/>
                    <a:p>
                      <a:pPr>
                        <a:lnSpc>
                          <a:spcPct val="118000"/>
                        </a:lnSpc>
                        <a:spcAft>
                          <a:spcPts val="0"/>
                        </a:spcAft>
                      </a:pPr>
                      <a:r>
                        <a:rPr sz="1250" b="0">
                          <a:solidFill>
                            <a:srgbClr val="111111"/>
                          </a:solidFill>
                          <a:latin typeface="Be Vietnam Pro"/>
                        </a:rPr>
                        <a:t>Chưa có thẻ thì test kiểu gì?</a:t>
                      </a:r>
                    </a:p>
                  </a:txBody>
                  <a:tcPr anchor="ctr" marL="128016">
                    <a:solidFill>
                      <a:srgbClr val="FFFFFF"/>
                    </a:solidFill>
                  </a:tcPr>
                </a:tc>
                <a:tc>
                  <a:txBody>
                    <a:bodyPr wrap="square"/>
                    <a:lstStyle/>
                    <a:p>
                      <a:pPr>
                        <a:lnSpc>
                          <a:spcPct val="118000"/>
                        </a:lnSpc>
                        <a:spcAft>
                          <a:spcPts val="0"/>
                        </a:spcAft>
                      </a:pPr>
                      <a:r>
                        <a:rPr sz="1250" b="0">
                          <a:solidFill>
                            <a:srgbClr val="3F454D"/>
                          </a:solidFill>
                          <a:latin typeface="Be Vietnam Pro"/>
                        </a:rPr>
                        <a:t>Phần ký và verify có unit test chạy offline</a:t>
                      </a:r>
                    </a:p>
                  </a:txBody>
                  <a:tcPr anchor="ctr" marL="128016">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658368" y="457200"/>
            <a:ext cx="10874959" cy="1078992"/>
          </a:xfrm>
          <a:prstGeom prst="rect">
            <a:avLst/>
          </a:prstGeom>
          <a:noFill/>
        </p:spPr>
        <p:txBody>
          <a:bodyPr wrap="square">
            <a:spAutoFit/>
          </a:bodyPr>
          <a:lstStyle/>
          <a:p>
            <a:pPr>
              <a:lnSpc>
                <a:spcPct val="118000"/>
              </a:lnSpc>
              <a:spcAft>
                <a:spcPts val="500"/>
              </a:spcAft>
            </a:pPr>
            <a:r>
              <a:rPr sz="1150" b="1">
                <a:solidFill>
                  <a:srgbClr val="0066FF"/>
                </a:solidFill>
                <a:latin typeface="Be Vietnam Pro"/>
              </a:rPr>
              <a:t>BÀN GIAO</a:t>
            </a:r>
          </a:p>
          <a:p>
            <a:pPr>
              <a:lnSpc>
                <a:spcPct val="118000"/>
              </a:lnSpc>
              <a:spcAft>
                <a:spcPts val="0"/>
              </a:spcAft>
            </a:pPr>
            <a:r>
              <a:rPr sz="3000" b="1">
                <a:solidFill>
                  <a:srgbClr val="111111"/>
                </a:solidFill>
                <a:latin typeface="Be Vietnam Pro"/>
              </a:rPr>
              <a:t>Ba bước để đưa vào đồ án của bạn</a:t>
            </a:r>
          </a:p>
        </p:txBody>
      </p:sp>
      <p:sp>
        <p:nvSpPr>
          <p:cNvPr id="3" name="Rounded Rectangle 2"/>
          <p:cNvSpPr/>
          <p:nvPr/>
        </p:nvSpPr>
        <p:spPr>
          <a:xfrm>
            <a:off x="658368" y="1719072"/>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74520"/>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1</a:t>
            </a:r>
          </a:p>
        </p:txBody>
      </p:sp>
      <p:sp>
        <p:nvSpPr>
          <p:cNvPr id="5" name="TextBox 4"/>
          <p:cNvSpPr txBox="1"/>
          <p:nvPr/>
        </p:nvSpPr>
        <p:spPr>
          <a:xfrm>
            <a:off x="1371600" y="1801368"/>
            <a:ext cx="1828800" cy="502920"/>
          </a:xfrm>
          <a:prstGeom prst="rect">
            <a:avLst/>
          </a:prstGeom>
          <a:noFill/>
        </p:spPr>
        <p:txBody>
          <a:bodyPr wrap="square">
            <a:spAutoFit/>
          </a:bodyPr>
          <a:lstStyle/>
          <a:p>
            <a:pPr>
              <a:lnSpc>
                <a:spcPct val="118000"/>
              </a:lnSpc>
              <a:spcAft>
                <a:spcPts val="0"/>
              </a:spcAft>
            </a:pPr>
            <a:r>
              <a:rPr sz="1100" b="1">
                <a:solidFill>
                  <a:srgbClr val="6B7280"/>
                </a:solidFill>
                <a:latin typeface="Be Vietnam Pro"/>
              </a:rPr>
              <a:t>Copy</a:t>
            </a:r>
          </a:p>
        </p:txBody>
      </p:sp>
      <p:sp>
        <p:nvSpPr>
          <p:cNvPr id="6" name="TextBox 5"/>
          <p:cNvSpPr txBox="1"/>
          <p:nvPr/>
        </p:nvSpPr>
        <p:spPr>
          <a:xfrm>
            <a:off x="3264408" y="1874520"/>
            <a:ext cx="8131759" cy="457200"/>
          </a:xfrm>
          <a:prstGeom prst="rect">
            <a:avLst/>
          </a:prstGeom>
          <a:noFill/>
        </p:spPr>
        <p:txBody>
          <a:bodyPr wrap="square">
            <a:spAutoFit/>
          </a:bodyPr>
          <a:lstStyle/>
          <a:p>
            <a:pPr>
              <a:lnSpc>
                <a:spcPct val="118000"/>
              </a:lnSpc>
              <a:spcAft>
                <a:spcPts val="0"/>
              </a:spcAft>
            </a:pPr>
            <a:r>
              <a:rPr sz="1350" b="0">
                <a:solidFill>
                  <a:srgbClr val="111111"/>
                </a:solidFill>
                <a:latin typeface="Be Vietnam Pro"/>
              </a:rPr>
              <a:t>Mang hai hàm hmacSHA512 và buildQueryString sang project</a:t>
            </a:r>
          </a:p>
        </p:txBody>
      </p:sp>
      <p:sp>
        <p:nvSpPr>
          <p:cNvPr id="7" name="Rounded Rectangle 6"/>
          <p:cNvSpPr/>
          <p:nvPr/>
        </p:nvSpPr>
        <p:spPr>
          <a:xfrm>
            <a:off x="658368" y="2468880"/>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2624328"/>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2</a:t>
            </a:r>
          </a:p>
        </p:txBody>
      </p:sp>
      <p:sp>
        <p:nvSpPr>
          <p:cNvPr id="9" name="TextBox 8"/>
          <p:cNvSpPr txBox="1"/>
          <p:nvPr/>
        </p:nvSpPr>
        <p:spPr>
          <a:xfrm>
            <a:off x="1371600" y="2551176"/>
            <a:ext cx="1828800" cy="502920"/>
          </a:xfrm>
          <a:prstGeom prst="rect">
            <a:avLst/>
          </a:prstGeom>
          <a:noFill/>
        </p:spPr>
        <p:txBody>
          <a:bodyPr wrap="square">
            <a:spAutoFit/>
          </a:bodyPr>
          <a:lstStyle/>
          <a:p>
            <a:pPr>
              <a:lnSpc>
                <a:spcPct val="118000"/>
              </a:lnSpc>
              <a:spcAft>
                <a:spcPts val="0"/>
              </a:spcAft>
            </a:pPr>
            <a:r>
              <a:rPr sz="1100" b="1">
                <a:solidFill>
                  <a:srgbClr val="6B7280"/>
                </a:solidFill>
                <a:latin typeface="Be Vietnam Pro"/>
              </a:rPr>
              <a:t>Thay</a:t>
            </a:r>
          </a:p>
        </p:txBody>
      </p:sp>
      <p:sp>
        <p:nvSpPr>
          <p:cNvPr id="10" name="TextBox 9"/>
          <p:cNvSpPr txBox="1"/>
          <p:nvPr/>
        </p:nvSpPr>
        <p:spPr>
          <a:xfrm>
            <a:off x="3264408" y="2624328"/>
            <a:ext cx="8131759" cy="457200"/>
          </a:xfrm>
          <a:prstGeom prst="rect">
            <a:avLst/>
          </a:prstGeom>
          <a:noFill/>
        </p:spPr>
        <p:txBody>
          <a:bodyPr wrap="square">
            <a:spAutoFit/>
          </a:bodyPr>
          <a:lstStyle/>
          <a:p>
            <a:pPr>
              <a:lnSpc>
                <a:spcPct val="118000"/>
              </a:lnSpc>
              <a:spcAft>
                <a:spcPts val="0"/>
              </a:spcAft>
            </a:pPr>
            <a:r>
              <a:rPr sz="1350" b="0">
                <a:solidFill>
                  <a:srgbClr val="111111"/>
                </a:solidFill>
                <a:latin typeface="Be Vietnam Pro"/>
              </a:rPr>
              <a:t>Đổi chỗ lưu đơn hàng sang repository sẵn có của bạn</a:t>
            </a:r>
          </a:p>
        </p:txBody>
      </p:sp>
      <p:sp>
        <p:nvSpPr>
          <p:cNvPr id="11" name="Rounded Rectangle 10"/>
          <p:cNvSpPr/>
          <p:nvPr/>
        </p:nvSpPr>
        <p:spPr>
          <a:xfrm>
            <a:off x="658368" y="3218688"/>
            <a:ext cx="10874959" cy="658368"/>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374136"/>
            <a:ext cx="384048" cy="347472"/>
          </a:xfrm>
          <a:prstGeom prst="roundRect">
            <a:avLst>
              <a:gd name="adj" fmla="val 35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8000"/>
              </a:lnSpc>
              <a:spcAft>
                <a:spcPts val="0"/>
              </a:spcAft>
            </a:pPr>
            <a:r>
              <a:rPr sz="1300" b="1">
                <a:solidFill>
                  <a:srgbClr val="3F454D"/>
                </a:solidFill>
                <a:latin typeface="Roboto Mono"/>
              </a:rPr>
              <a:t>3</a:t>
            </a:r>
          </a:p>
        </p:txBody>
      </p:sp>
      <p:sp>
        <p:nvSpPr>
          <p:cNvPr id="13" name="TextBox 12"/>
          <p:cNvSpPr txBox="1"/>
          <p:nvPr/>
        </p:nvSpPr>
        <p:spPr>
          <a:xfrm>
            <a:off x="1371600" y="3300984"/>
            <a:ext cx="1828800" cy="502920"/>
          </a:xfrm>
          <a:prstGeom prst="rect">
            <a:avLst/>
          </a:prstGeom>
          <a:noFill/>
        </p:spPr>
        <p:txBody>
          <a:bodyPr wrap="square">
            <a:spAutoFit/>
          </a:bodyPr>
          <a:lstStyle/>
          <a:p>
            <a:pPr>
              <a:lnSpc>
                <a:spcPct val="118000"/>
              </a:lnSpc>
              <a:spcAft>
                <a:spcPts val="0"/>
              </a:spcAft>
            </a:pPr>
            <a:r>
              <a:rPr sz="1100" b="1">
                <a:solidFill>
                  <a:srgbClr val="6B7280"/>
                </a:solidFill>
                <a:latin typeface="Be Vietnam Pro"/>
              </a:rPr>
              <a:t>Cấu hình</a:t>
            </a:r>
          </a:p>
        </p:txBody>
      </p:sp>
      <p:sp>
        <p:nvSpPr>
          <p:cNvPr id="14" name="TextBox 13"/>
          <p:cNvSpPr txBox="1"/>
          <p:nvPr/>
        </p:nvSpPr>
        <p:spPr>
          <a:xfrm>
            <a:off x="3264408" y="3374136"/>
            <a:ext cx="8131759" cy="457200"/>
          </a:xfrm>
          <a:prstGeom prst="rect">
            <a:avLst/>
          </a:prstGeom>
          <a:noFill/>
        </p:spPr>
        <p:txBody>
          <a:bodyPr wrap="square">
            <a:spAutoFit/>
          </a:bodyPr>
          <a:lstStyle/>
          <a:p>
            <a:pPr>
              <a:lnSpc>
                <a:spcPct val="118000"/>
              </a:lnSpc>
              <a:spcAft>
                <a:spcPts val="0"/>
              </a:spcAft>
            </a:pPr>
            <a:r>
              <a:rPr sz="1350" b="0">
                <a:solidFill>
                  <a:srgbClr val="111111"/>
                </a:solidFill>
                <a:latin typeface="Be Vietnam Pro"/>
              </a:rPr>
              <a:t>Nạp TmnCode và HashSecret từ biến môi trường</a:t>
            </a:r>
          </a:p>
        </p:txBody>
      </p:sp>
      <p:sp>
        <p:nvSpPr>
          <p:cNvPr id="15" name="Rounded Rectangle 14"/>
          <p:cNvSpPr/>
          <p:nvPr/>
        </p:nvSpPr>
        <p:spPr>
          <a:xfrm>
            <a:off x="658368" y="4151376"/>
            <a:ext cx="10874959" cy="798385"/>
          </a:xfrm>
          <a:prstGeom prst="roundRect">
            <a:avLst>
              <a:gd name="adj" fmla="val 3500"/>
            </a:avLst>
          </a:prstGeom>
          <a:solidFill>
            <a:srgbClr val="FFFFFF"/>
          </a:solidFill>
          <a:ln w="1270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206240"/>
            <a:ext cx="40640" cy="688657"/>
          </a:xfrm>
          <a:prstGeom prst="rect">
            <a:avLst/>
          </a:prstGeom>
          <a:solidFill>
            <a:srgbClr val="0B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270248"/>
            <a:ext cx="10417759" cy="560641"/>
          </a:xfrm>
          <a:prstGeom prst="rect">
            <a:avLst/>
          </a:prstGeom>
          <a:noFill/>
        </p:spPr>
        <p:txBody>
          <a:bodyPr wrap="square">
            <a:spAutoFit/>
          </a:bodyPr>
          <a:lstStyle/>
          <a:p>
            <a:pPr>
              <a:lnSpc>
                <a:spcPct val="118000"/>
              </a:lnSpc>
              <a:spcAft>
                <a:spcPts val="400"/>
              </a:spcAft>
            </a:pPr>
            <a:r>
              <a:rPr sz="1400" b="1">
                <a:solidFill>
                  <a:srgbClr val="0B6B47"/>
                </a:solidFill>
                <a:latin typeface="Be Vietnam Pro"/>
              </a:rPr>
              <a:t>Sau buổi hôm nay</a:t>
            </a:r>
          </a:p>
          <a:p>
            <a:pPr>
              <a:lnSpc>
                <a:spcPct val="118000"/>
              </a:lnSpc>
              <a:spcAft>
                <a:spcPts val="0"/>
              </a:spcAft>
            </a:pPr>
            <a:r>
              <a:rPr sz="1350" b="0">
                <a:solidFill>
                  <a:srgbClr val="3F454D"/>
                </a:solidFill>
                <a:latin typeface="Be Vietnam Pro"/>
              </a:rPr>
              <a:t>Mình bỏ VnpayDemo.java, tức bản đã điền xong sáu TODO, vào đúng thư mục Drive lúc nãy. Có gì không chạy cứ nhắn mình.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